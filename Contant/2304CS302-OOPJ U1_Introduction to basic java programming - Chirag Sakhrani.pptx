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2" r:id="rId2"/>
  </p:sldMasterIdLst>
  <p:notesMasterIdLst>
    <p:notesMasterId r:id="rId48"/>
  </p:notesMasterIdLst>
  <p:handoutMasterIdLst>
    <p:handoutMasterId r:id="rId49"/>
  </p:handoutMasterIdLst>
  <p:sldIdLst>
    <p:sldId id="308" r:id="rId3"/>
    <p:sldId id="257" r:id="rId4"/>
    <p:sldId id="2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7" r:id="rId13"/>
    <p:sldId id="366" r:id="rId14"/>
    <p:sldId id="368" r:id="rId15"/>
    <p:sldId id="369" r:id="rId16"/>
    <p:sldId id="370" r:id="rId17"/>
    <p:sldId id="372" r:id="rId18"/>
    <p:sldId id="373" r:id="rId19"/>
    <p:sldId id="375" r:id="rId20"/>
    <p:sldId id="374" r:id="rId21"/>
    <p:sldId id="371" r:id="rId22"/>
    <p:sldId id="378" r:id="rId23"/>
    <p:sldId id="399" r:id="rId24"/>
    <p:sldId id="377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9" r:id="rId33"/>
    <p:sldId id="388" r:id="rId34"/>
    <p:sldId id="387" r:id="rId35"/>
    <p:sldId id="386" r:id="rId36"/>
    <p:sldId id="391" r:id="rId37"/>
    <p:sldId id="392" r:id="rId38"/>
    <p:sldId id="390" r:id="rId39"/>
    <p:sldId id="394" r:id="rId40"/>
    <p:sldId id="393" r:id="rId41"/>
    <p:sldId id="376" r:id="rId42"/>
    <p:sldId id="397" r:id="rId43"/>
    <p:sldId id="400" r:id="rId44"/>
    <p:sldId id="396" r:id="rId45"/>
    <p:sldId id="398" r:id="rId46"/>
    <p:sldId id="358" r:id="rId47"/>
  </p:sldIdLst>
  <p:sldSz cx="12192000" cy="6858000"/>
  <p:notesSz cx="6858000" cy="9144000"/>
  <p:embeddedFontLst>
    <p:embeddedFont>
      <p:font typeface="Segoe UI Black" panose="020B0A02040204020203" pitchFamily="34" charset="0"/>
      <p:bold r:id="rId50"/>
      <p:boldItalic r:id="rId51"/>
    </p:embeddedFont>
    <p:embeddedFont>
      <p:font typeface="Open Sans Semibold" panose="020B0604020202020204" charset="0"/>
      <p:bold r:id="rId52"/>
      <p:boldItalic r:id="rId53"/>
    </p:embeddedFont>
    <p:embeddedFont>
      <p:font typeface="Wingdings 2" panose="05020102010507070707" pitchFamily="18" charset="2"/>
      <p:regular r:id="rId54"/>
    </p:embeddedFont>
    <p:embeddedFont>
      <p:font typeface="Mongolian Baiti" panose="03000500000000000000" pitchFamily="66" charset="0"/>
      <p:regular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Consolas" panose="020B0609020204030204" pitchFamily="49" charset="0"/>
      <p:regular r:id="rId60"/>
      <p:bold r:id="rId61"/>
      <p:italic r:id="rId62"/>
      <p:boldItalic r:id="rId63"/>
    </p:embeddedFont>
    <p:embeddedFont>
      <p:font typeface="Roboto Condensed Light" panose="02000000000000000000" pitchFamily="2" charset="0"/>
      <p:regular r:id="rId64"/>
      <p:italic r:id="rId65"/>
    </p:embeddedFont>
    <p:embeddedFont>
      <p:font typeface="Roboto Condensed" panose="02000000000000000000" pitchFamily="2" charset="0"/>
      <p:regular r:id="rId66"/>
      <p:bold r:id="rId67"/>
      <p:italic r:id="rId68"/>
      <p:boldItalic r:id="rId69"/>
    </p:embeddedFont>
    <p:embeddedFont>
      <p:font typeface="Wingdings 3" panose="05040102010807070707" pitchFamily="18" charset="2"/>
      <p:regular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Pauh9pXNYQpJEyTKierPeg==" hashData="cEAbCnE3eXLiAzhAH0LWgj790gGsotu4aRgTU4TGLlfyyUMxiGwUd+KVY3pItPprAjkRrQu8VEf4w2xHCndO2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ED524F"/>
    <a:srgbClr val="301B92"/>
    <a:srgbClr val="673BB7"/>
    <a:srgbClr val="607D8B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96404" autoAdjust="0"/>
  </p:normalViewPr>
  <p:slideViewPr>
    <p:cSldViewPr snapToGrid="0">
      <p:cViewPr varScale="1">
        <p:scale>
          <a:sx n="79" d="100"/>
          <a:sy n="79" d="100"/>
        </p:scale>
        <p:origin x="9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-3187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1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8" Type="http://schemas.openxmlformats.org/officeDocument/2006/relationships/slide" Target="slides/slide6.xml"/><Relationship Id="rId51" Type="http://schemas.openxmlformats.org/officeDocument/2006/relationships/font" Target="fonts/font2.fntdata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8B648-81D7-4B97-BE43-C82A41EFF62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14FB9-2BAE-423A-AD69-78200BE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90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11" Type="http://schemas.openxmlformats.org/officeDocument/2006/relationships/image" Target="../media/image9.jpeg"/><Relationship Id="rId5" Type="http://schemas.openxmlformats.org/officeDocument/2006/relationships/image" Target="../media/image15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4.jpe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Chirag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2304CS523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(JavaScript Frameworks)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Node Package Manager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Chirag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454199" y="6612110"/>
            <a:ext cx="52835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#2304CS302 (OOPJ)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Basic Java Programming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Chirag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2304CS523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(JavaScript Frameworks)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Node Package Manager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Chirag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2304CS523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(JavaScript Frameworks)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Node Package Manager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2105CS204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(WT2)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Node Package Manager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2105CS204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(WT2)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Node Package Manager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318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Darshan Institute of Computer Applications , Rajkot</a:t>
            </a:r>
          </a:p>
          <a:p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29420851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9846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521596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Chirag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2104CS512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(JSF)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1848502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495876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5313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0978197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0009926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0284227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52086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05732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68886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97230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99029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318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Applications 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CC06F6-21AB-DA1A-AA70-A3E11D1BE30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474" y="1609868"/>
            <a:ext cx="2116066" cy="211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30656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40071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0387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35433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49701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06558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34326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3365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318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Darshan Institute of Computer Applications , Rajkot</a:t>
            </a:r>
          </a:p>
          <a:p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6999035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71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8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Object Oriented Programming using Java </a:t>
            </a:r>
            <a:r>
              <a:rPr lang="en-IN" dirty="0"/>
              <a:t>(</a:t>
            </a:r>
            <a:r>
              <a:rPr lang="en-US" dirty="0"/>
              <a:t>2304CS302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508" y="997890"/>
            <a:ext cx="7582576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 Basic Java Programming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6C5B6-CA7E-D20E-2548-87ACCB95BDD8}"/>
              </a:ext>
            </a:extLst>
          </p:cNvPr>
          <p:cNvSpPr txBox="1"/>
          <p:nvPr/>
        </p:nvSpPr>
        <p:spPr>
          <a:xfrm>
            <a:off x="794508" y="4144065"/>
            <a:ext cx="83878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1" dirty="0">
                <a:effectLst/>
              </a:rPr>
              <a:t>CO1 : At the end of this course, students will be able to,</a:t>
            </a:r>
          </a:p>
          <a:p>
            <a:r>
              <a:rPr lang="en-US" sz="2200" dirty="0"/>
              <a:t>          use java constructs, features and libraries for simple problems.</a:t>
            </a:r>
            <a:endParaRPr lang="en-US" sz="2200" b="0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591523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sz="2400" b="1" dirty="0"/>
          </a:p>
          <a:p>
            <a:endParaRPr lang="en-US" sz="2200" b="1" dirty="0"/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Evolution of JAVA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Features of JAVA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JDK, JRE,JVM and Installation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/>
              <a:t>Configuring JAVA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/>
              <a:t>Basic structure of Java program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/>
              <a:t>Compiling Java program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/>
              <a:t>Running Java program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Identifiers, Data types and Type Casting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Command line arguments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Operators precedence and associativity</a:t>
            </a:r>
          </a:p>
        </p:txBody>
      </p:sp>
    </p:spTree>
    <p:extLst>
      <p:ext uri="{BB962C8B-B14F-4D97-AF65-F5344CB8AC3E}">
        <p14:creationId xmlns:p14="http://schemas.microsoft.com/office/powerpoint/2010/main" val="182151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</a:t>
            </a:r>
            <a:r>
              <a:rPr lang="en-IN" sz="3600" dirty="0"/>
              <a:t>volution of JAVA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was created by a team of programmers at Sun Microsystems of U.S.A in 1991.</a:t>
            </a:r>
          </a:p>
          <a:p>
            <a:r>
              <a:rPr lang="en-US" dirty="0"/>
              <a:t>This language was initially called </a:t>
            </a:r>
            <a:r>
              <a:rPr lang="en-US" dirty="0">
                <a:solidFill>
                  <a:srgbClr val="B71B1C"/>
                </a:solidFill>
              </a:rPr>
              <a:t>“Oak” </a:t>
            </a:r>
            <a:r>
              <a:rPr lang="en-US" dirty="0"/>
              <a:t>by </a:t>
            </a:r>
            <a:r>
              <a:rPr lang="en-US" dirty="0">
                <a:solidFill>
                  <a:srgbClr val="B71B1C"/>
                </a:solidFill>
              </a:rPr>
              <a:t>James Gosling </a:t>
            </a:r>
            <a:r>
              <a:rPr lang="en-US" dirty="0"/>
              <a:t>but renamed “Java” in </a:t>
            </a:r>
            <a:r>
              <a:rPr lang="en-US" dirty="0">
                <a:solidFill>
                  <a:srgbClr val="B71B1C"/>
                </a:solidFill>
              </a:rPr>
              <a:t>1995</a:t>
            </a:r>
            <a:r>
              <a:rPr lang="en-US" dirty="0"/>
              <a:t>.</a:t>
            </a:r>
          </a:p>
          <a:p>
            <a:r>
              <a:rPr lang="en-US" dirty="0"/>
              <a:t>Java was designed for the development of software for consumer electronics devices like TVs, VCRs, and such electronics machines.</a:t>
            </a:r>
          </a:p>
          <a:p>
            <a:r>
              <a:rPr lang="en-US" dirty="0"/>
              <a:t>When the World Wide Web became popular in 1994, sun realized that Java was the perfect programming language for the Web.</a:t>
            </a:r>
          </a:p>
          <a:p>
            <a:r>
              <a:rPr lang="en-US" dirty="0"/>
              <a:t>Late 1995 and early 1996 they released Java &amp; it was instant success.</a:t>
            </a:r>
          </a:p>
          <a:p>
            <a:r>
              <a:rPr lang="en-US" dirty="0"/>
              <a:t>Java is small, fast, efficient and easily portable to a wide range of hardware devices.</a:t>
            </a:r>
          </a:p>
          <a:p>
            <a:r>
              <a:rPr lang="en-US" dirty="0"/>
              <a:t>Java is an object-oriented language and here it differs from C.</a:t>
            </a:r>
          </a:p>
          <a:p>
            <a:r>
              <a:rPr lang="en-US" dirty="0"/>
              <a:t>Using Java we can create flexible, modular and reusable code.</a:t>
            </a:r>
          </a:p>
        </p:txBody>
      </p:sp>
    </p:spTree>
    <p:extLst>
      <p:ext uri="{BB962C8B-B14F-4D97-AF65-F5344CB8AC3E}">
        <p14:creationId xmlns:p14="http://schemas.microsoft.com/office/powerpoint/2010/main" val="130324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828D-D607-C22B-59B6-0E4E1B923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D9EA-3E1C-083B-7623-71764387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</a:t>
            </a:r>
            <a:r>
              <a:rPr lang="en-IN" sz="3600" dirty="0"/>
              <a:t>volution of JAVA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3F0B9-374C-5CDB-A458-E3023E650A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636"/>
          <a:stretch/>
        </p:blipFill>
        <p:spPr>
          <a:xfrm>
            <a:off x="1883779" y="1903069"/>
            <a:ext cx="7981950" cy="1628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DA3BBD-D4D6-3A66-FB64-837DE2BCFB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012"/>
          <a:stretch/>
        </p:blipFill>
        <p:spPr>
          <a:xfrm>
            <a:off x="1883779" y="3808069"/>
            <a:ext cx="79819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A54A-B589-0218-A514-0F1DFFF2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6124-05BC-C154-CC3F-D388F3E1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</a:t>
            </a:r>
            <a:r>
              <a:rPr lang="en-IN" sz="3600" dirty="0"/>
              <a:t>volution of JAVA</a:t>
            </a:r>
            <a:endParaRPr lang="en-US" sz="3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E7850E-3145-C3B5-3D05-0E5DD7302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544186"/>
              </p:ext>
            </p:extLst>
          </p:nvPr>
        </p:nvGraphicFramePr>
        <p:xfrm>
          <a:off x="357187" y="1064439"/>
          <a:ext cx="11477625" cy="3017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3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944">
                <a:tc>
                  <a:txBody>
                    <a:bodyPr/>
                    <a:lstStyle/>
                    <a:p>
                      <a:r>
                        <a:rPr lang="en-IN" dirty="0"/>
                        <a:t>Current 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Java SE 21 (as</a:t>
                      </a:r>
                      <a:r>
                        <a:rPr lang="en-IN" baseline="0" dirty="0"/>
                        <a:t> of jan-2023)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44">
                <a:tc>
                  <a:txBody>
                    <a:bodyPr/>
                    <a:lstStyle/>
                    <a:p>
                      <a:r>
                        <a:rPr lang="en-US" dirty="0"/>
                        <a:t>Version</a:t>
                      </a:r>
                      <a:r>
                        <a:rPr lang="en-US" baseline="0" dirty="0"/>
                        <a:t> we will 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Java SE 17 (LTS)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944">
                <a:tc>
                  <a:txBody>
                    <a:bodyPr/>
                    <a:lstStyle/>
                    <a:p>
                      <a:r>
                        <a:rPr lang="en-IN" dirty="0"/>
                        <a:t>Setup 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155</a:t>
                      </a:r>
                      <a:r>
                        <a:rPr lang="en-IN" baseline="0"/>
                        <a:t> </a:t>
                      </a:r>
                      <a:r>
                        <a:rPr lang="en-IN" baseline="0" dirty="0"/>
                        <a:t>MB (Linux), 152 MB (Windows x64)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710">
                <a:tc>
                  <a:txBody>
                    <a:bodyPr/>
                    <a:lstStyle/>
                    <a:p>
                      <a:r>
                        <a:rPr lang="en-IN" dirty="0"/>
                        <a:t>Download 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none" dirty="0">
                          <a:solidFill>
                            <a:srgbClr val="B71B1C"/>
                          </a:solidFill>
                          <a:hlinkClick r:id="rId2">
                            <a:extLst>
                              <a:ext uri="{A12FA001-AC4F-418D-AE19-62706E023703}">
                                <ahyp:hlinkClr xmlns=""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https://www.oracle.com/java/technologies/downloads/</a:t>
                      </a:r>
                      <a:endParaRPr lang="en-US" u="none" dirty="0">
                        <a:solidFill>
                          <a:srgbClr val="B71B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944">
                <a:tc>
                  <a:txBody>
                    <a:bodyPr/>
                    <a:lstStyle/>
                    <a:p>
                      <a:r>
                        <a:rPr lang="en-IN" dirty="0"/>
                        <a:t>Official</a:t>
                      </a:r>
                      <a:r>
                        <a:rPr lang="en-IN" baseline="0" dirty="0"/>
                        <a:t> Website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https://java.com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9718">
                <a:tc>
                  <a:txBody>
                    <a:bodyPr/>
                    <a:lstStyle/>
                    <a:p>
                      <a:r>
                        <a:rPr lang="en-IN" b="1" dirty="0"/>
                        <a:t>I</a:t>
                      </a:r>
                      <a:r>
                        <a:rPr lang="en-IN" dirty="0"/>
                        <a:t>ntegrated </a:t>
                      </a:r>
                      <a:r>
                        <a:rPr lang="en-IN" b="1" dirty="0"/>
                        <a:t>D</a:t>
                      </a:r>
                      <a:r>
                        <a:rPr lang="en-IN" dirty="0"/>
                        <a:t>evelopment </a:t>
                      </a:r>
                      <a:r>
                        <a:rPr lang="en-IN" b="1" dirty="0"/>
                        <a:t>E</a:t>
                      </a:r>
                      <a:r>
                        <a:rPr lang="en-IN" dirty="0"/>
                        <a:t>nvironment</a:t>
                      </a:r>
                    </a:p>
                    <a:p>
                      <a:r>
                        <a:rPr lang="en-IN" dirty="0"/>
                        <a:t>(IDE)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0" i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Eclipse </a:t>
                      </a:r>
                      <a:r>
                        <a:rPr lang="en-US" sz="1800" b="0" i="0" u="none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kern="1200" dirty="0">
                          <a:solidFill>
                            <a:srgbClr val="B71B1C"/>
                          </a:solidFill>
                          <a:latin typeface="+mn-lt"/>
                          <a:ea typeface="+mn-ea"/>
                          <a:cs typeface="+mn-cs"/>
                        </a:rPr>
                        <a:t>(going</a:t>
                      </a:r>
                      <a:r>
                        <a:rPr lang="en-US" sz="1800" b="0" i="0" u="none" kern="1200" baseline="0" dirty="0">
                          <a:solidFill>
                            <a:srgbClr val="B71B1C"/>
                          </a:solidFill>
                          <a:latin typeface="+mn-lt"/>
                          <a:ea typeface="+mn-ea"/>
                          <a:cs typeface="+mn-cs"/>
                        </a:rPr>
                        <a:t> to use this IDE in later chapters)</a:t>
                      </a:r>
                      <a:endParaRPr lang="en-US" sz="1800" b="0" i="0" u="none" kern="1200" dirty="0">
                        <a:solidFill>
                          <a:srgbClr val="B71B1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0" i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NetBeans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0" i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IntelliJ IDEA Community Edition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0" i="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BlueJ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8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FBE45-8325-A72F-72D9-25023590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51A11-B6DD-F219-EFC5-B82A86BC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Features </a:t>
            </a:r>
            <a:r>
              <a:rPr lang="en-IN" sz="3600" dirty="0"/>
              <a:t>of JAVA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7488EA-473D-ECE6-5CA9-E4CF7A08D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0" y="990600"/>
            <a:ext cx="10077450" cy="876300"/>
          </a:xfrm>
          <a:prstGeom prst="roundRect">
            <a:avLst/>
          </a:prstGeom>
          <a:ln cap="sq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200" dirty="0">
                <a:solidFill>
                  <a:srgbClr val="C00000"/>
                </a:solidFill>
              </a:rPr>
              <a:t>Simple:</a:t>
            </a:r>
            <a:r>
              <a:rPr lang="en-IN" sz="2200" dirty="0"/>
              <a:t> Java inherits C/C++ syntax and many object-oriented features of C++.</a:t>
            </a:r>
          </a:p>
        </p:txBody>
      </p:sp>
      <p:pic>
        <p:nvPicPr>
          <p:cNvPr id="5" name="Picture 4" descr="Simple feature of java - what is java - edureka">
            <a:extLst>
              <a:ext uri="{FF2B5EF4-FFF2-40B4-BE49-F238E27FC236}">
                <a16:creationId xmlns:a16="http://schemas.microsoft.com/office/drawing/2014/main" id="{EF16F0EB-9D96-227E-E034-1B7936FD6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9B7C2A-E42E-D571-D61E-8A6DFE0FDB70}"/>
              </a:ext>
            </a:extLst>
          </p:cNvPr>
          <p:cNvSpPr txBox="1">
            <a:spLocks/>
          </p:cNvSpPr>
          <p:nvPr/>
        </p:nvSpPr>
        <p:spPr>
          <a:xfrm>
            <a:off x="1557335" y="2230438"/>
            <a:ext cx="10082213" cy="960437"/>
          </a:xfrm>
          <a:prstGeom prst="round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200" dirty="0">
                <a:solidFill>
                  <a:srgbClr val="C00000"/>
                </a:solidFill>
              </a:rPr>
              <a:t>Object Oriented: </a:t>
            </a:r>
            <a:r>
              <a:rPr lang="en-IN" sz="2200" dirty="0"/>
              <a:t>“Everything is an object” paradigm, </a:t>
            </a:r>
            <a:r>
              <a:rPr lang="en-US" sz="2200" dirty="0"/>
              <a:t>which possess some state, behavior and all the operations are performed using these objects.</a:t>
            </a:r>
            <a:endParaRPr lang="en-IN" sz="220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3FFB87FA-6987-257B-4A31-AD7FD0E06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000" y="2230438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9A8139-7933-A293-78DB-04F114A9A21E}"/>
              </a:ext>
            </a:extLst>
          </p:cNvPr>
          <p:cNvSpPr txBox="1">
            <a:spLocks/>
          </p:cNvSpPr>
          <p:nvPr/>
        </p:nvSpPr>
        <p:spPr>
          <a:xfrm>
            <a:off x="1533523" y="3576637"/>
            <a:ext cx="10106025" cy="960437"/>
          </a:xfrm>
          <a:prstGeom prst="round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200" dirty="0">
                <a:solidFill>
                  <a:srgbClr val="C00000"/>
                </a:solidFill>
              </a:rPr>
              <a:t>Robust: </a:t>
            </a:r>
            <a:r>
              <a:rPr lang="en-US" sz="2200" dirty="0"/>
              <a:t> Java has a strong memory management system. It helps in eliminating error as it checks the code during compile and runtime.</a:t>
            </a:r>
            <a:endParaRPr lang="en-IN" sz="2200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F914351-2778-0669-DB27-EE649E4A1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2424" y="3576637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E703DA4-4CF4-DBFC-5B66-DBA290B774AD}"/>
              </a:ext>
            </a:extLst>
          </p:cNvPr>
          <p:cNvSpPr txBox="1">
            <a:spLocks/>
          </p:cNvSpPr>
          <p:nvPr/>
        </p:nvSpPr>
        <p:spPr>
          <a:xfrm>
            <a:off x="1533523" y="4922836"/>
            <a:ext cx="10106024" cy="944564"/>
          </a:xfrm>
          <a:prstGeom prst="round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200" dirty="0">
                <a:solidFill>
                  <a:srgbClr val="C00000"/>
                </a:solidFill>
              </a:rPr>
              <a:t>Multithreaded: </a:t>
            </a:r>
            <a:r>
              <a:rPr lang="en-US" sz="2200" dirty="0"/>
              <a:t>Java supports multiple threads of execution, including a set of synchronization primitives. This makes programming with threads much easier.</a:t>
            </a:r>
            <a:endParaRPr lang="en-IN" sz="2200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26C6AB11-72FC-93F7-2E57-9FF82407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2424" y="4922836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90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7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8A5EB-E859-5326-AF19-9C9A7009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0747-D9F3-0C34-B191-49DCB8D1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Features of JAVA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38FD89-3997-2BD4-046D-FEE794EE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0" y="990599"/>
            <a:ext cx="10134600" cy="971551"/>
          </a:xfrm>
          <a:prstGeom prst="roundRect">
            <a:avLst/>
          </a:prstGeom>
          <a:ln cap="sq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>
                <a:solidFill>
                  <a:srgbClr val="C00000"/>
                </a:solidFill>
              </a:rPr>
              <a:t>Architectural Neutral: </a:t>
            </a:r>
            <a:r>
              <a:rPr lang="en-US" sz="2200" dirty="0"/>
              <a:t>Java is platform independent which means that any application written on one platform can be easily ported to another platform.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BE370-BE4F-C8AB-DBEE-C90411985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000" y="990600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6A3FFF-599E-A254-AFE7-35B0F28BEA6F}"/>
              </a:ext>
            </a:extLst>
          </p:cNvPr>
          <p:cNvSpPr txBox="1">
            <a:spLocks/>
          </p:cNvSpPr>
          <p:nvPr/>
        </p:nvSpPr>
        <p:spPr>
          <a:xfrm>
            <a:off x="1562100" y="2369740"/>
            <a:ext cx="10134600" cy="971551"/>
          </a:xfrm>
          <a:prstGeom prst="round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200" dirty="0">
                <a:solidFill>
                  <a:srgbClr val="C00000"/>
                </a:solidFill>
              </a:rPr>
              <a:t>Interpreted: </a:t>
            </a:r>
            <a:r>
              <a:rPr lang="en-US" sz="2200" dirty="0"/>
              <a:t>Java is compiled to byte code, which are interpreted by a Java run-time environment.</a:t>
            </a:r>
            <a:r>
              <a:rPr lang="en-IN" sz="2200" dirty="0">
                <a:solidFill>
                  <a:srgbClr val="C00000"/>
                </a:solidFill>
              </a:rPr>
              <a:t> </a:t>
            </a:r>
            <a:endParaRPr lang="en-IN" sz="220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D4C6DA1C-D59B-8303-B6F2-84F3A5377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1475" y="2402681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A3F3266-AF61-EF39-2028-7C3554091955}"/>
              </a:ext>
            </a:extLst>
          </p:cNvPr>
          <p:cNvSpPr txBox="1">
            <a:spLocks/>
          </p:cNvSpPr>
          <p:nvPr/>
        </p:nvSpPr>
        <p:spPr>
          <a:xfrm>
            <a:off x="1552575" y="3748880"/>
            <a:ext cx="10144125" cy="1385095"/>
          </a:xfrm>
          <a:prstGeom prst="round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>
                <a:solidFill>
                  <a:srgbClr val="C00000"/>
                </a:solidFill>
              </a:rPr>
              <a:t>High Performance:</a:t>
            </a:r>
            <a:r>
              <a:rPr lang="en-US" sz="2200" dirty="0"/>
              <a:t> Java achieves high performance through the use of byte code which can be easily translated into native machine code. With the use of JIT (Just-In-Time) compilers, Java enables high performance. </a:t>
            </a:r>
            <a:endParaRPr lang="en-IN" sz="2200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F71DC7A-533F-92BE-68D7-F3D8B30AA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1475" y="3748880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79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1B5D3-411A-99BB-0A95-E483BB18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D547A-D8CC-FF3D-659F-642F4E4B8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Features of JAVA</a:t>
            </a:r>
            <a:endParaRPr lang="en-US" sz="3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696FB6-6657-BE66-AA1F-7F2C0CFFD470}"/>
              </a:ext>
            </a:extLst>
          </p:cNvPr>
          <p:cNvSpPr txBox="1">
            <a:spLocks/>
          </p:cNvSpPr>
          <p:nvPr/>
        </p:nvSpPr>
        <p:spPr>
          <a:xfrm>
            <a:off x="1562100" y="3429000"/>
            <a:ext cx="10125074" cy="1066800"/>
          </a:xfrm>
          <a:prstGeom prst="roundRect">
            <a:avLst/>
          </a:prstGeom>
          <a:ln cap="sq"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IN" sz="2200">
                <a:solidFill>
                  <a:srgbClr val="C00000"/>
                </a:solidFill>
              </a:rPr>
              <a:t>Dynamic: </a:t>
            </a:r>
            <a:r>
              <a:rPr lang="en-US" sz="2200"/>
              <a:t>Java has ability to adapt to an evolving environment which supports dynamic memory allocation due to which memory wastage is reduced and performance of the application is increased.</a:t>
            </a:r>
            <a:endParaRPr lang="en-IN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39F5AA-F4C5-B38F-7FD5-A61540210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000" y="3429000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FDF0907-EF3C-FBB2-F1FC-4976C27B8D15}"/>
              </a:ext>
            </a:extLst>
          </p:cNvPr>
          <p:cNvSpPr txBox="1">
            <a:spLocks/>
          </p:cNvSpPr>
          <p:nvPr/>
        </p:nvSpPr>
        <p:spPr>
          <a:xfrm>
            <a:off x="1566861" y="1066800"/>
            <a:ext cx="10120313" cy="1828800"/>
          </a:xfrm>
          <a:prstGeom prst="round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200" dirty="0">
                <a:solidFill>
                  <a:srgbClr val="C00000"/>
                </a:solidFill>
              </a:rPr>
              <a:t>Distributed: </a:t>
            </a:r>
            <a:r>
              <a:rPr lang="en-US" sz="2200" dirty="0"/>
              <a:t>Java provides a feature which helps to create distributed applications. Using Remote Method Invocation (RMI), a program can invoke a method of another program across a network and get the output. You can access files by calling the methods from any machine on the internet.</a:t>
            </a:r>
            <a:endParaRPr lang="en-IN" sz="2200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AE7AE60C-576C-22FC-6CAD-01B29ABE8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000" y="1070956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20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EF33-673B-A746-950B-15FB9A0C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ED6D41-2B09-89CA-5198-0B21DE98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Components of Java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F8BC9D-EA14-3B9A-4710-CA1173AD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2130" y="758669"/>
            <a:ext cx="4462041" cy="5590565"/>
          </a:xfrm>
        </p:spPr>
        <p:txBody>
          <a:bodyPr/>
          <a:lstStyle/>
          <a:p>
            <a:r>
              <a:rPr lang="en-US" dirty="0"/>
              <a:t>Java Virtual Machine (JVM)</a:t>
            </a:r>
          </a:p>
          <a:p>
            <a:r>
              <a:rPr lang="en-US" dirty="0"/>
              <a:t>Java Runtime Environment (JRE)</a:t>
            </a:r>
          </a:p>
          <a:p>
            <a:r>
              <a:rPr lang="en-US" dirty="0"/>
              <a:t>Java Development Kit (JDK)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D702A1-8CCB-5F73-A3B5-3E680E579B0B}"/>
              </a:ext>
            </a:extLst>
          </p:cNvPr>
          <p:cNvSpPr/>
          <p:nvPr/>
        </p:nvSpPr>
        <p:spPr>
          <a:xfrm>
            <a:off x="131180" y="1009649"/>
            <a:ext cx="8534400" cy="51689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B420C-FC91-27F1-E9F5-E762D5470ABE}"/>
              </a:ext>
            </a:extLst>
          </p:cNvPr>
          <p:cNvSpPr/>
          <p:nvPr/>
        </p:nvSpPr>
        <p:spPr>
          <a:xfrm>
            <a:off x="1121780" y="1987551"/>
            <a:ext cx="6553200" cy="3200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080282-8ECB-D801-6EA1-084B256441BF}"/>
              </a:ext>
            </a:extLst>
          </p:cNvPr>
          <p:cNvSpPr/>
          <p:nvPr/>
        </p:nvSpPr>
        <p:spPr>
          <a:xfrm>
            <a:off x="1731380" y="2139951"/>
            <a:ext cx="19050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Compiler (javac.exe)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Java Application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 Launcher (java.exe), </a:t>
            </a:r>
            <a:r>
              <a:rPr lang="en-US" b="1" dirty="0" err="1">
                <a:solidFill>
                  <a:schemeClr val="tx1"/>
                </a:solidFill>
              </a:rPr>
              <a:t>AppletViewer</a:t>
            </a:r>
            <a:r>
              <a:rPr lang="en-US" b="1" dirty="0">
                <a:solidFill>
                  <a:schemeClr val="tx1"/>
                </a:solidFill>
              </a:rPr>
              <a:t>, etc..</a:t>
            </a:r>
            <a:r>
              <a:rPr lang="en-US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6C4D7-264E-0C60-D16E-A8AA62F25C24}"/>
              </a:ext>
            </a:extLst>
          </p:cNvPr>
          <p:cNvSpPr/>
          <p:nvPr/>
        </p:nvSpPr>
        <p:spPr>
          <a:xfrm>
            <a:off x="4017380" y="2139951"/>
            <a:ext cx="3505200" cy="2667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FC74C283-3F08-A4CE-C141-35D001B93DD0}"/>
              </a:ext>
            </a:extLst>
          </p:cNvPr>
          <p:cNvSpPr/>
          <p:nvPr/>
        </p:nvSpPr>
        <p:spPr>
          <a:xfrm>
            <a:off x="4245980" y="2292351"/>
            <a:ext cx="1752600" cy="1066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Java Packages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(math, </a:t>
            </a:r>
            <a:r>
              <a:rPr lang="en-US" b="1" dirty="0" err="1">
                <a:solidFill>
                  <a:schemeClr val="tx1"/>
                </a:solidFill>
              </a:rPr>
              <a:t>util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awt</a:t>
            </a:r>
            <a:r>
              <a:rPr lang="en-US" b="1" dirty="0">
                <a:solidFill>
                  <a:schemeClr val="tx1"/>
                </a:solidFill>
              </a:rPr>
              <a:t> etc…)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4CE284E7-B6D9-4E29-6294-9D512D6B306A}"/>
              </a:ext>
            </a:extLst>
          </p:cNvPr>
          <p:cNvSpPr/>
          <p:nvPr/>
        </p:nvSpPr>
        <p:spPr>
          <a:xfrm>
            <a:off x="4245980" y="3587751"/>
            <a:ext cx="1752600" cy="1066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Runtime Libraries 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7BB368-646A-631E-0E14-1D211F1608BF}"/>
              </a:ext>
            </a:extLst>
          </p:cNvPr>
          <p:cNvSpPr/>
          <p:nvPr/>
        </p:nvSpPr>
        <p:spPr>
          <a:xfrm>
            <a:off x="6227180" y="2292351"/>
            <a:ext cx="1143000" cy="1219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JVM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198F31-0404-4B75-3A66-3BAAFF071437}"/>
              </a:ext>
            </a:extLst>
          </p:cNvPr>
          <p:cNvSpPr txBox="1"/>
          <p:nvPr/>
        </p:nvSpPr>
        <p:spPr>
          <a:xfrm>
            <a:off x="1655180" y="4806951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Development tools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952BD4-626D-EEBB-BD3D-A2E3A70C7F7F}"/>
              </a:ext>
            </a:extLst>
          </p:cNvPr>
          <p:cNvSpPr txBox="1"/>
          <p:nvPr/>
        </p:nvSpPr>
        <p:spPr>
          <a:xfrm>
            <a:off x="5388980" y="4806951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7A64F4-C843-F299-AB05-140FC39E7737}"/>
              </a:ext>
            </a:extLst>
          </p:cNvPr>
          <p:cNvSpPr txBox="1"/>
          <p:nvPr/>
        </p:nvSpPr>
        <p:spPr>
          <a:xfrm>
            <a:off x="4093580" y="114935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JDK</a:t>
            </a:r>
          </a:p>
        </p:txBody>
      </p:sp>
    </p:spTree>
    <p:extLst>
      <p:ext uri="{BB962C8B-B14F-4D97-AF65-F5344CB8AC3E}">
        <p14:creationId xmlns:p14="http://schemas.microsoft.com/office/powerpoint/2010/main" val="358893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uiExpand="1" animBg="1"/>
      <p:bldP spid="9" grpId="0" uiExpand="1" animBg="1"/>
      <p:bldP spid="10" grpId="0" uiExpand="1" animBg="1"/>
      <p:bldP spid="11" grpId="0" animBg="1"/>
      <p:bldP spid="12" grpId="0" animBg="1"/>
      <p:bldP spid="13" grpId="0" animBg="1"/>
      <p:bldP spid="14" grpId="0" animBg="1"/>
      <p:bldP spid="15" grpId="0" uiExpand="1"/>
      <p:bldP spid="16" grpId="0" uiExpand="1"/>
      <p:bldP spid="17" grpId="0" uiExpan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9757-39AA-CBFF-F58F-690572B1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542266-4271-C03B-7D8C-4DA772C3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Java Development Kit (JDK)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ABB2-CC63-A599-EB26-2B2FBC892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JDK contains tools to develop the Java programs and JRE to run the programs. </a:t>
            </a:r>
          </a:p>
          <a:p>
            <a:r>
              <a:rPr lang="en-US" dirty="0"/>
              <a:t>The tools include </a:t>
            </a:r>
          </a:p>
          <a:p>
            <a:pPr lvl="1"/>
            <a:r>
              <a:rPr lang="en-US" sz="2200" dirty="0">
                <a:solidFill>
                  <a:srgbClr val="B71B1C"/>
                </a:solidFill>
              </a:rPr>
              <a:t>compiler</a:t>
            </a:r>
            <a:r>
              <a:rPr lang="en-US" sz="2200" dirty="0"/>
              <a:t> (javac.exe), </a:t>
            </a:r>
          </a:p>
          <a:p>
            <a:pPr lvl="1"/>
            <a:r>
              <a:rPr lang="en-US" sz="2200" dirty="0">
                <a:solidFill>
                  <a:srgbClr val="B71B1C"/>
                </a:solidFill>
              </a:rPr>
              <a:t>Java application launcher</a:t>
            </a:r>
            <a:r>
              <a:rPr lang="en-US" sz="2200" dirty="0"/>
              <a:t> (java.exe), </a:t>
            </a:r>
          </a:p>
          <a:p>
            <a:pPr lvl="1"/>
            <a:r>
              <a:rPr lang="en-US" sz="2200" dirty="0">
                <a:solidFill>
                  <a:srgbClr val="B71B1C"/>
                </a:solidFill>
              </a:rPr>
              <a:t>Applet viewer</a:t>
            </a:r>
            <a:r>
              <a:rPr lang="en-US" sz="2200" dirty="0"/>
              <a:t>, etc… </a:t>
            </a:r>
          </a:p>
          <a:p>
            <a:r>
              <a:rPr lang="en-US" dirty="0"/>
              <a:t>Java application launcher (java.exe) opens a JRE, loads the class, and invokes its main method.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30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30F4E-FEDF-8595-4ED5-06D1F0D8E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F849FD-5310-BF4C-4CA8-68553A34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Java Development Kit (JDK)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C1096-9BF7-A5AC-227B-BCE2B03E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 JDK Editions</a:t>
            </a:r>
          </a:p>
          <a:p>
            <a:pPr lvl="1"/>
            <a:r>
              <a:rPr lang="en-US" sz="2200" dirty="0">
                <a:solidFill>
                  <a:srgbClr val="B71B1C"/>
                </a:solidFill>
              </a:rPr>
              <a:t>Java Standard Edition (J2SE)</a:t>
            </a:r>
          </a:p>
          <a:p>
            <a:pPr lvl="2"/>
            <a:r>
              <a:rPr lang="en-US" sz="2000" dirty="0"/>
              <a:t>J2SE can be used to develop client-side standalone applications or applets.</a:t>
            </a:r>
          </a:p>
          <a:p>
            <a:pPr lvl="1"/>
            <a:r>
              <a:rPr lang="en-US" sz="2200" dirty="0">
                <a:solidFill>
                  <a:srgbClr val="B71B1C"/>
                </a:solidFill>
              </a:rPr>
              <a:t>Java Enterprise Edition (J2EE)</a:t>
            </a:r>
          </a:p>
          <a:p>
            <a:pPr lvl="2"/>
            <a:r>
              <a:rPr lang="en-US" sz="2000" dirty="0"/>
              <a:t> J2EE can be used to develop server-side applications such as Java servlets and Java Server Page.</a:t>
            </a:r>
          </a:p>
          <a:p>
            <a:pPr lvl="1"/>
            <a:r>
              <a:rPr lang="en-US" sz="2200" dirty="0">
                <a:solidFill>
                  <a:srgbClr val="B71B1C"/>
                </a:solidFill>
              </a:rPr>
              <a:t>Java Micro Edition (J2ME)</a:t>
            </a:r>
          </a:p>
          <a:p>
            <a:pPr lvl="2"/>
            <a:r>
              <a:rPr lang="en-US" sz="2000" dirty="0"/>
              <a:t>J2ME can be used to develop applications for mobile devices such as cell phones.</a:t>
            </a:r>
          </a:p>
        </p:txBody>
      </p:sp>
    </p:spTree>
    <p:extLst>
      <p:ext uri="{BB962C8B-B14F-4D97-AF65-F5344CB8AC3E}">
        <p14:creationId xmlns:p14="http://schemas.microsoft.com/office/powerpoint/2010/main" val="227977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E142-947D-70E2-48AD-12A58EDE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69CC14-B594-8AF5-8829-4D29B5DF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Java Runtime Environment (JRE)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2C10E-C3B6-4B5C-A9FE-C648EC84E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JRE is required to run java applications. </a:t>
            </a:r>
          </a:p>
          <a:p>
            <a:r>
              <a:rPr lang="en-US" dirty="0"/>
              <a:t>It combines the </a:t>
            </a:r>
            <a:r>
              <a:rPr lang="en-US" dirty="0">
                <a:solidFill>
                  <a:srgbClr val="B71B1C"/>
                </a:solidFill>
              </a:rPr>
              <a:t>Java Virtual Machine (JVM)</a:t>
            </a:r>
            <a:r>
              <a:rPr lang="en-US" dirty="0"/>
              <a:t>, platform core classes and supporting libraries. </a:t>
            </a:r>
          </a:p>
          <a:p>
            <a:r>
              <a:rPr lang="en-US" dirty="0"/>
              <a:t>JRE is part of the </a:t>
            </a:r>
            <a:r>
              <a:rPr lang="en-US" dirty="0">
                <a:solidFill>
                  <a:srgbClr val="B71B1C"/>
                </a:solidFill>
              </a:rPr>
              <a:t>Java Development Kit (JDK)</a:t>
            </a:r>
            <a:r>
              <a:rPr lang="en-US" dirty="0"/>
              <a:t>, but can be downloaded separately.</a:t>
            </a:r>
          </a:p>
          <a:p>
            <a:r>
              <a:rPr lang="en-US" dirty="0"/>
              <a:t>It does not contain any development tools such as compiler, debugger, etc. </a:t>
            </a:r>
          </a:p>
        </p:txBody>
      </p:sp>
    </p:spTree>
    <p:extLst>
      <p:ext uri="{BB962C8B-B14F-4D97-AF65-F5344CB8AC3E}">
        <p14:creationId xmlns:p14="http://schemas.microsoft.com/office/powerpoint/2010/main" val="402017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E524-A158-15D4-66B5-6FB9ED0D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2D98CC-0E02-AEBE-3CEC-A6B2ADCC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Java Virtual Machine (JVM)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8B36-461E-7412-0D2D-D1B00C2E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>
                <a:solidFill>
                  <a:srgbClr val="B71B1C"/>
                </a:solidFill>
              </a:rPr>
              <a:t>JVM</a:t>
            </a:r>
            <a:r>
              <a:rPr lang="en-US" dirty="0"/>
              <a:t> is a virtual machine that enables a computer to run Java programs as well as programs written in other languages and compiled to Java Bytecode.</a:t>
            </a:r>
          </a:p>
          <a:p>
            <a:r>
              <a:rPr lang="en-US" dirty="0"/>
              <a:t>Bytecode is a highly optimized set of instructions designed to be executed by the Java Virtual Machine(JVM).</a:t>
            </a:r>
          </a:p>
          <a:p>
            <a:r>
              <a:rPr lang="en-US" dirty="0"/>
              <a:t>Byte code is intermediate representation of java source code.</a:t>
            </a:r>
          </a:p>
          <a:p>
            <a:r>
              <a:rPr lang="en-US" dirty="0"/>
              <a:t>Java compiler provides byte code by compiling Java Source Code.</a:t>
            </a:r>
          </a:p>
          <a:p>
            <a:r>
              <a:rPr lang="en-US" dirty="0"/>
              <a:t>Extension for java class file or byte code  is  ‘.class’, which is platform independent.</a:t>
            </a:r>
          </a:p>
          <a:p>
            <a:r>
              <a:rPr lang="en-US" dirty="0"/>
              <a:t>JVM is virtual because , It provides a machine interface that does not depend on the operating system and machine hardware architecture. </a:t>
            </a:r>
          </a:p>
          <a:p>
            <a:r>
              <a:rPr lang="en-US" dirty="0"/>
              <a:t>JVM interprets the byte code into the machine code. </a:t>
            </a:r>
          </a:p>
          <a:p>
            <a:r>
              <a:rPr lang="en-US" dirty="0">
                <a:solidFill>
                  <a:srgbClr val="B71B1C"/>
                </a:solidFill>
              </a:rPr>
              <a:t>JVM</a:t>
            </a:r>
            <a:r>
              <a:rPr lang="en-US" dirty="0"/>
              <a:t> itself is </a:t>
            </a:r>
            <a:r>
              <a:rPr lang="en-US" dirty="0">
                <a:solidFill>
                  <a:srgbClr val="B71B1C"/>
                </a:solidFill>
              </a:rPr>
              <a:t>platform dependent</a:t>
            </a:r>
            <a:r>
              <a:rPr lang="en-US" dirty="0"/>
              <a:t>, but </a:t>
            </a:r>
            <a:r>
              <a:rPr lang="en-US" dirty="0">
                <a:solidFill>
                  <a:srgbClr val="B71B1C"/>
                </a:solidFill>
              </a:rPr>
              <a:t>Java</a:t>
            </a:r>
            <a:r>
              <a:rPr lang="en-US" dirty="0"/>
              <a:t> is </a:t>
            </a:r>
            <a:r>
              <a:rPr lang="en-US" dirty="0">
                <a:solidFill>
                  <a:srgbClr val="B71B1C"/>
                </a:solidFill>
              </a:rPr>
              <a:t>Not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080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3E0A-F80D-B03B-B172-60DF8C0C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AEFF-6309-34D9-78DC-F6F76CE4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How Java become Platform Independent?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2B1043-9617-9F7D-A70A-A75B6516EDAC}"/>
              </a:ext>
            </a:extLst>
          </p:cNvPr>
          <p:cNvSpPr/>
          <p:nvPr/>
        </p:nvSpPr>
        <p:spPr>
          <a:xfrm>
            <a:off x="4962525" y="933450"/>
            <a:ext cx="1524000" cy="685800"/>
          </a:xfrm>
          <a:prstGeom prst="rect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Source code (Program)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BCD23AF-F427-472D-2234-28D028B53F4E}"/>
              </a:ext>
            </a:extLst>
          </p:cNvPr>
          <p:cNvSpPr/>
          <p:nvPr/>
        </p:nvSpPr>
        <p:spPr>
          <a:xfrm>
            <a:off x="4962525" y="1924050"/>
            <a:ext cx="1524000" cy="685800"/>
          </a:xfrm>
          <a:prstGeom prst="ellipse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Compiler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71750-E375-374A-2744-E093BBACF215}"/>
              </a:ext>
            </a:extLst>
          </p:cNvPr>
          <p:cNvSpPr/>
          <p:nvPr/>
        </p:nvSpPr>
        <p:spPr>
          <a:xfrm>
            <a:off x="4957762" y="2914650"/>
            <a:ext cx="1524000" cy="685800"/>
          </a:xfrm>
          <a:prstGeom prst="rect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Bytecode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78C6BE-CA73-13D2-3691-ABC1E0FC4605}"/>
              </a:ext>
            </a:extLst>
          </p:cNvPr>
          <p:cNvSpPr/>
          <p:nvPr/>
        </p:nvSpPr>
        <p:spPr>
          <a:xfrm>
            <a:off x="2914653" y="4210050"/>
            <a:ext cx="1747837" cy="685800"/>
          </a:xfrm>
          <a:prstGeom prst="ellipse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JVM</a:t>
            </a:r>
          </a:p>
          <a:p>
            <a:pPr algn="ctr"/>
            <a:r>
              <a:rPr lang="en-IN" dirty="0"/>
              <a:t>(Windows)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814D7A-A89F-D5FC-4232-100419A072BE}"/>
              </a:ext>
            </a:extLst>
          </p:cNvPr>
          <p:cNvSpPr/>
          <p:nvPr/>
        </p:nvSpPr>
        <p:spPr>
          <a:xfrm>
            <a:off x="4848224" y="4210050"/>
            <a:ext cx="1747837" cy="685800"/>
          </a:xfrm>
          <a:prstGeom prst="ellipse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JVM</a:t>
            </a:r>
          </a:p>
          <a:p>
            <a:pPr algn="ctr"/>
            <a:r>
              <a:rPr lang="en-IN" dirty="0"/>
              <a:t>(Linux)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B3ED2F-2CE2-32B6-F04A-4C6D484BBB54}"/>
              </a:ext>
            </a:extLst>
          </p:cNvPr>
          <p:cNvSpPr/>
          <p:nvPr/>
        </p:nvSpPr>
        <p:spPr>
          <a:xfrm>
            <a:off x="6777037" y="4210050"/>
            <a:ext cx="1747837" cy="685800"/>
          </a:xfrm>
          <a:prstGeom prst="ellipse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JVM </a:t>
            </a:r>
          </a:p>
          <a:p>
            <a:pPr algn="ctr"/>
            <a:r>
              <a:rPr lang="en-IN" dirty="0"/>
              <a:t>(Mac)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F0879-6614-D8F5-84D7-6D8CA373A486}"/>
              </a:ext>
            </a:extLst>
          </p:cNvPr>
          <p:cNvSpPr/>
          <p:nvPr/>
        </p:nvSpPr>
        <p:spPr>
          <a:xfrm>
            <a:off x="4960142" y="5276850"/>
            <a:ext cx="1524000" cy="685800"/>
          </a:xfrm>
          <a:prstGeom prst="rect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Machine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39C9AD-305D-11B9-9277-236625408DBF}"/>
              </a:ext>
            </a:extLst>
          </p:cNvPr>
          <p:cNvSpPr/>
          <p:nvPr/>
        </p:nvSpPr>
        <p:spPr>
          <a:xfrm>
            <a:off x="6888955" y="5276850"/>
            <a:ext cx="1524000" cy="685800"/>
          </a:xfrm>
          <a:prstGeom prst="rect">
            <a:avLst/>
          </a:prstGeom>
          <a:solidFill>
            <a:srgbClr val="B71B1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Machine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BBFCC-8019-5AC4-E15F-CC5F2CA4FB0E}"/>
              </a:ext>
            </a:extLst>
          </p:cNvPr>
          <p:cNvSpPr txBox="1"/>
          <p:nvPr/>
        </p:nvSpPr>
        <p:spPr>
          <a:xfrm>
            <a:off x="6537196" y="1044517"/>
            <a:ext cx="104708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sz="2000" dirty="0"/>
              <a:t>.java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E58A3-AA55-3241-73BA-9FD4A2A0B8EA}"/>
              </a:ext>
            </a:extLst>
          </p:cNvPr>
          <p:cNvSpPr txBox="1"/>
          <p:nvPr/>
        </p:nvSpPr>
        <p:spPr>
          <a:xfrm>
            <a:off x="6520563" y="2990850"/>
            <a:ext cx="112562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sz="2000" dirty="0"/>
              <a:t>.class file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BDD42E-5FC4-B5CA-F632-736099B15093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5724525" y="1619250"/>
            <a:ext cx="0" cy="304800"/>
          </a:xfrm>
          <a:prstGeom prst="straightConnector1">
            <a:avLst/>
          </a:prstGeom>
          <a:ln w="317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0560B7-480C-B92D-7EEA-18E33267B2F3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5719762" y="2609850"/>
            <a:ext cx="4763" cy="304800"/>
          </a:xfrm>
          <a:prstGeom prst="straightConnector1">
            <a:avLst/>
          </a:prstGeom>
          <a:ln w="317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E5B3A0-D621-08E8-0931-99F73E632E17}"/>
              </a:ext>
            </a:extLst>
          </p:cNvPr>
          <p:cNvGrpSpPr/>
          <p:nvPr/>
        </p:nvGrpSpPr>
        <p:grpSpPr>
          <a:xfrm>
            <a:off x="3779043" y="3600450"/>
            <a:ext cx="3881436" cy="622300"/>
            <a:chOff x="4226718" y="3657600"/>
            <a:chExt cx="3881436" cy="622300"/>
          </a:xfrm>
          <a:solidFill>
            <a:srgbClr val="B71B1C"/>
          </a:solidFill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A283E6-2952-9E8B-19F8-5860503CCEB1}"/>
                </a:ext>
              </a:extLst>
            </p:cNvPr>
            <p:cNvCxnSpPr/>
            <p:nvPr/>
          </p:nvCxnSpPr>
          <p:spPr>
            <a:xfrm>
              <a:off x="6172198" y="3657600"/>
              <a:ext cx="0" cy="228600"/>
            </a:xfrm>
            <a:prstGeom prst="line">
              <a:avLst/>
            </a:prstGeom>
            <a:grpFill/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1FC37D-E9D8-93DD-6301-296543F2B9FF}"/>
                </a:ext>
              </a:extLst>
            </p:cNvPr>
            <p:cNvCxnSpPr/>
            <p:nvPr/>
          </p:nvCxnSpPr>
          <p:spPr>
            <a:xfrm>
              <a:off x="4226718" y="3867150"/>
              <a:ext cx="3881436" cy="0"/>
            </a:xfrm>
            <a:prstGeom prst="line">
              <a:avLst/>
            </a:prstGeom>
            <a:grpFill/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A33DCB7-4EBB-938A-2177-55ECAEBC4C65}"/>
                </a:ext>
              </a:extLst>
            </p:cNvPr>
            <p:cNvCxnSpPr/>
            <p:nvPr/>
          </p:nvCxnSpPr>
          <p:spPr>
            <a:xfrm>
              <a:off x="4241004" y="3879850"/>
              <a:ext cx="2" cy="400050"/>
            </a:xfrm>
            <a:prstGeom prst="straightConnector1">
              <a:avLst/>
            </a:prstGeom>
            <a:grpFill/>
            <a:ln w="317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C2F2638-74C8-F18D-06B7-AD153F6F6C16}"/>
                </a:ext>
              </a:extLst>
            </p:cNvPr>
            <p:cNvCxnSpPr/>
            <p:nvPr/>
          </p:nvCxnSpPr>
          <p:spPr>
            <a:xfrm>
              <a:off x="8098630" y="3886200"/>
              <a:ext cx="1" cy="381000"/>
            </a:xfrm>
            <a:prstGeom prst="straightConnector1">
              <a:avLst/>
            </a:prstGeom>
            <a:grpFill/>
            <a:ln w="317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0F7BAE5-BBA8-5220-220F-4152CF579AA8}"/>
                </a:ext>
              </a:extLst>
            </p:cNvPr>
            <p:cNvCxnSpPr/>
            <p:nvPr/>
          </p:nvCxnSpPr>
          <p:spPr>
            <a:xfrm>
              <a:off x="6169816" y="3771900"/>
              <a:ext cx="2" cy="495300"/>
            </a:xfrm>
            <a:prstGeom prst="straightConnector1">
              <a:avLst/>
            </a:prstGeom>
            <a:grpFill/>
            <a:ln w="317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545857-2284-7F95-7B73-D4E5AA397A13}"/>
              </a:ext>
            </a:extLst>
          </p:cNvPr>
          <p:cNvGrpSpPr/>
          <p:nvPr/>
        </p:nvGrpSpPr>
        <p:grpSpPr>
          <a:xfrm>
            <a:off x="3026571" y="4895850"/>
            <a:ext cx="1524000" cy="1085850"/>
            <a:chOff x="3474246" y="4933950"/>
            <a:chExt cx="1524000" cy="1085850"/>
          </a:xfrm>
          <a:solidFill>
            <a:srgbClr val="B71B1C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049C3E9-FC6D-DBC8-DCC1-234A40A0D2AF}"/>
                </a:ext>
              </a:extLst>
            </p:cNvPr>
            <p:cNvSpPr/>
            <p:nvPr/>
          </p:nvSpPr>
          <p:spPr>
            <a:xfrm>
              <a:off x="3474246" y="5334000"/>
              <a:ext cx="1524000" cy="6858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Machine Code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59C9A52-DCD2-05C6-801A-1E606E44B16D}"/>
                </a:ext>
              </a:extLst>
            </p:cNvPr>
            <p:cNvCxnSpPr>
              <a:stCxn id="7" idx="4"/>
              <a:endCxn id="23" idx="0"/>
            </p:cNvCxnSpPr>
            <p:nvPr/>
          </p:nvCxnSpPr>
          <p:spPr>
            <a:xfrm flipH="1">
              <a:off x="4236246" y="4933950"/>
              <a:ext cx="28576" cy="400050"/>
            </a:xfrm>
            <a:prstGeom prst="straightConnector1">
              <a:avLst/>
            </a:prstGeom>
            <a:grpFill/>
            <a:ln w="317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01B408-C5F9-7A65-ADF6-8862C2164144}"/>
              </a:ext>
            </a:extLst>
          </p:cNvPr>
          <p:cNvCxnSpPr>
            <a:stCxn id="9" idx="4"/>
            <a:endCxn id="11" idx="0"/>
          </p:cNvCxnSpPr>
          <p:nvPr/>
        </p:nvCxnSpPr>
        <p:spPr>
          <a:xfrm flipH="1">
            <a:off x="7650955" y="4895850"/>
            <a:ext cx="1" cy="381000"/>
          </a:xfrm>
          <a:prstGeom prst="straightConnector1">
            <a:avLst/>
          </a:prstGeom>
          <a:ln w="317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6EB52C-D1AC-EA42-133C-F31EAD79BF94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flipH="1">
            <a:off x="5722142" y="4895850"/>
            <a:ext cx="1" cy="381000"/>
          </a:xfrm>
          <a:prstGeom prst="straightConnector1">
            <a:avLst/>
          </a:prstGeom>
          <a:ln w="317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4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2BA5D-412E-29C8-1D50-249BFC84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EB36C0-4C10-968B-29CD-6F7B91EC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Installing JDK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FC880C-B9DE-D531-3232-3644D735E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Download JDK for Windows platform (.exe) from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https://www.oracle.com/technetwork/java/javase/downloads/index.html</a:t>
            </a:r>
          </a:p>
          <a:p>
            <a:r>
              <a:rPr lang="en-US" dirty="0"/>
              <a:t>Install the executable of JDK</a:t>
            </a:r>
          </a:p>
          <a:p>
            <a:r>
              <a:rPr lang="en-US" dirty="0"/>
              <a:t>Set the path variable permanently of System variables by performing following steps</a:t>
            </a:r>
          </a:p>
          <a:p>
            <a:pPr lvl="1"/>
            <a:r>
              <a:rPr lang="en-US" dirty="0"/>
              <a:t>Go to "System Properties" (Right click This PC → Properties → Advanced System Settings)</a:t>
            </a:r>
          </a:p>
          <a:p>
            <a:pPr lvl="1"/>
            <a:r>
              <a:rPr lang="en-US" dirty="0"/>
              <a:t>Click on the "Environment variables" button under the "Advanced" tab</a:t>
            </a:r>
          </a:p>
          <a:p>
            <a:pPr lvl="1"/>
            <a:r>
              <a:rPr lang="en-US" dirty="0"/>
              <a:t>Then, select the "Path" variable in System variables and click on the "Edit" button</a:t>
            </a:r>
          </a:p>
          <a:p>
            <a:pPr lvl="1"/>
            <a:r>
              <a:rPr lang="en-US" dirty="0"/>
              <a:t>Click on the "New" button and add the path where Java is installed, followed by </a:t>
            </a:r>
            <a:r>
              <a:rPr lang="en-US" dirty="0">
                <a:latin typeface="Consolas" panose="020B0609020204030204" pitchFamily="49" charset="0"/>
              </a:rPr>
              <a:t>\bin</a:t>
            </a:r>
            <a:r>
              <a:rPr lang="en-US" dirty="0"/>
              <a:t>. By default, Java is installed in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C:\Program Files\Java\jdk-11.0.1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(If nothing else was specified when you installed it). In that case, You will have to add a new path with: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C:\Program Files\Java\jdk-11.0.1\bin</a:t>
            </a:r>
          </a:p>
          <a:p>
            <a:pPr lvl="1"/>
            <a:r>
              <a:rPr lang="en-US" dirty="0"/>
              <a:t>Then, click "OK", and save the settings</a:t>
            </a:r>
          </a:p>
          <a:p>
            <a:pPr lvl="1"/>
            <a:r>
              <a:rPr lang="en-US" dirty="0"/>
              <a:t>At last, open Command Prompt (cmd.exe) and type java -version to see if Java is running on your machine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E21B-FAF4-6058-666C-63A96BC3B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6012-F374-3932-00F3-D06A14A4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Setting Path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76A8A-6475-9F2F-6F53-F125D0169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17944" cy="5590565"/>
          </a:xfrm>
        </p:spPr>
        <p:txBody>
          <a:bodyPr/>
          <a:lstStyle/>
          <a:p>
            <a:r>
              <a:rPr lang="en-US" dirty="0"/>
              <a:t>The path is required to be set for using tools such as </a:t>
            </a:r>
            <a:r>
              <a:rPr lang="en-US" dirty="0" err="1">
                <a:solidFill>
                  <a:srgbClr val="C00000"/>
                </a:solidFill>
              </a:rPr>
              <a:t>javac</a:t>
            </a:r>
            <a:r>
              <a:rPr lang="en-US" dirty="0"/>
              <a:t>,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java</a:t>
            </a:r>
            <a:r>
              <a:rPr lang="en-US" dirty="0"/>
              <a:t>, etc.</a:t>
            </a:r>
          </a:p>
          <a:p>
            <a:r>
              <a:rPr lang="en-US" dirty="0"/>
              <a:t>If you are saving the Java source file inside the JDK/bin directory, the path is not required to be set because all the tools will be available in the current directory.</a:t>
            </a:r>
          </a:p>
          <a:p>
            <a:r>
              <a:rPr lang="en-US" dirty="0"/>
              <a:t>However, if you have your Java file outside the JDK/bin folder, it is necessary to set the path of JDK.</a:t>
            </a:r>
          </a:p>
          <a:p>
            <a:r>
              <a:rPr lang="en-US" dirty="0"/>
              <a:t>Setting path temporary using following steps:</a:t>
            </a:r>
          </a:p>
          <a:p>
            <a:pPr lvl="1"/>
            <a:r>
              <a:rPr lang="en-US" sz="2200" dirty="0"/>
              <a:t>Open the command prompt</a:t>
            </a:r>
          </a:p>
          <a:p>
            <a:pPr lvl="1"/>
            <a:r>
              <a:rPr lang="en-US" sz="2200" dirty="0"/>
              <a:t>Copy the path of the JDK/bin directory</a:t>
            </a:r>
          </a:p>
          <a:p>
            <a:pPr lvl="1"/>
            <a:r>
              <a:rPr lang="en-US" sz="2200" dirty="0"/>
              <a:t>Write in command prompt: set path=copied path</a:t>
            </a:r>
          </a:p>
          <a:p>
            <a:pPr lvl="1"/>
            <a:r>
              <a:rPr lang="en-US" sz="2200" dirty="0"/>
              <a:t>For Example: </a:t>
            </a:r>
            <a:r>
              <a:rPr lang="en-US" sz="2200" dirty="0">
                <a:solidFill>
                  <a:srgbClr val="B71B1C"/>
                </a:solidFill>
              </a:rPr>
              <a:t>set path=C:\Program Files\Java\jdk1.6.0_23\bin</a:t>
            </a:r>
          </a:p>
        </p:txBody>
      </p:sp>
    </p:spTree>
    <p:extLst>
      <p:ext uri="{BB962C8B-B14F-4D97-AF65-F5344CB8AC3E}">
        <p14:creationId xmlns:p14="http://schemas.microsoft.com/office/powerpoint/2010/main" val="351971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15437-F377-CA8A-7699-BDB862CF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615D-8016-D68B-5977-A8A64CA0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Setting Path Variable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906FC8-B414-958F-F609-3F29DE3958F5}"/>
              </a:ext>
            </a:extLst>
          </p:cNvPr>
          <p:cNvGrpSpPr/>
          <p:nvPr/>
        </p:nvGrpSpPr>
        <p:grpSpPr>
          <a:xfrm>
            <a:off x="0" y="733362"/>
            <a:ext cx="9144000" cy="1893824"/>
            <a:chOff x="4762" y="14287"/>
            <a:chExt cx="9144000" cy="18938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B171C8-9FDF-9C63-30F3-D9CE2A0E9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2" y="14287"/>
              <a:ext cx="9144000" cy="1893824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7461051-1744-26E2-86F8-98245DDDF846}"/>
                </a:ext>
              </a:extLst>
            </p:cNvPr>
            <p:cNvSpPr/>
            <p:nvPr/>
          </p:nvSpPr>
          <p:spPr>
            <a:xfrm>
              <a:off x="5963194" y="351599"/>
              <a:ext cx="609600" cy="609600"/>
            </a:xfrm>
            <a:prstGeom prst="ellips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65EFDF2-2066-7595-A0C8-973A5818060A}"/>
              </a:ext>
            </a:extLst>
          </p:cNvPr>
          <p:cNvGrpSpPr/>
          <p:nvPr/>
        </p:nvGrpSpPr>
        <p:grpSpPr>
          <a:xfrm>
            <a:off x="8267152" y="733362"/>
            <a:ext cx="3924848" cy="4458322"/>
            <a:chOff x="4762" y="1908111"/>
            <a:chExt cx="3924848" cy="445832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D387C5A-EB4B-5D05-039B-E7F4D77BA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2" y="1908111"/>
              <a:ext cx="3924848" cy="4458322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D2B5912-C8B4-30BD-EF59-3FA8A1ACDB1A}"/>
                </a:ext>
              </a:extLst>
            </p:cNvPr>
            <p:cNvSpPr/>
            <p:nvPr/>
          </p:nvSpPr>
          <p:spPr>
            <a:xfrm>
              <a:off x="152400" y="5242882"/>
              <a:ext cx="609600" cy="609600"/>
            </a:xfrm>
            <a:prstGeom prst="ellips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6911DED-5DFD-95CB-BB72-3E3EE93B9712}"/>
              </a:ext>
            </a:extLst>
          </p:cNvPr>
          <p:cNvGrpSpPr/>
          <p:nvPr/>
        </p:nvGrpSpPr>
        <p:grpSpPr>
          <a:xfrm>
            <a:off x="3062287" y="2536685"/>
            <a:ext cx="5204865" cy="2786451"/>
            <a:chOff x="3062287" y="2536685"/>
            <a:chExt cx="5204865" cy="278645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48AD91A-B14A-5664-2132-375BB75197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>
            <a:xfrm>
              <a:off x="3062287" y="2536685"/>
              <a:ext cx="5204865" cy="2786451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FE7283E-30DA-5DE7-EF37-7F5FAEC0C5F9}"/>
                </a:ext>
              </a:extLst>
            </p:cNvPr>
            <p:cNvSpPr/>
            <p:nvPr/>
          </p:nvSpPr>
          <p:spPr>
            <a:xfrm>
              <a:off x="5653632" y="4677733"/>
              <a:ext cx="609600" cy="609600"/>
            </a:xfrm>
            <a:prstGeom prst="ellips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5A8845-8A2C-1401-6A73-9A38E48B3FA4}"/>
              </a:ext>
            </a:extLst>
          </p:cNvPr>
          <p:cNvGrpSpPr/>
          <p:nvPr/>
        </p:nvGrpSpPr>
        <p:grpSpPr>
          <a:xfrm>
            <a:off x="0" y="4547913"/>
            <a:ext cx="5200103" cy="1706238"/>
            <a:chOff x="3943896" y="4694563"/>
            <a:chExt cx="5200103" cy="170623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FC4B0BC-B48E-13B7-A21C-D024564F90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4250"/>
            <a:stretch/>
          </p:blipFill>
          <p:spPr>
            <a:xfrm>
              <a:off x="3943896" y="4694563"/>
              <a:ext cx="5200103" cy="1706238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4BD7ACD-A5DC-3567-EE01-C067DE886167}"/>
                </a:ext>
              </a:extLst>
            </p:cNvPr>
            <p:cNvSpPr/>
            <p:nvPr/>
          </p:nvSpPr>
          <p:spPr>
            <a:xfrm>
              <a:off x="7010400" y="5286887"/>
              <a:ext cx="609600" cy="609600"/>
            </a:xfrm>
            <a:prstGeom prst="ellips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b="1" dirty="0">
                  <a:solidFill>
                    <a:srgbClr val="C00000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079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934C9-9479-2F18-9444-2A1D7D95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A37E-C24E-8745-3437-617D84FA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Hello World Java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617B-0F31-7838-C8FC-182CDE154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B71B1C"/>
                </a:solidFill>
              </a:rPr>
              <a:t>public class </a:t>
            </a:r>
            <a:r>
              <a:rPr lang="en-US" b="1" dirty="0">
                <a:solidFill>
                  <a:srgbClr val="000000"/>
                </a:solidFill>
              </a:rPr>
              <a:t>HelloWorld</a:t>
            </a: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en-US" b="1" dirty="0">
                <a:solidFill>
                  <a:srgbClr val="7F0055"/>
                </a:solidFill>
              </a:rPr>
              <a:t>	</a:t>
            </a:r>
            <a:r>
              <a:rPr lang="en-US" b="1" dirty="0">
                <a:solidFill>
                  <a:srgbClr val="B71B1C"/>
                </a:solidFill>
              </a:rPr>
              <a:t>public static void </a:t>
            </a:r>
            <a:r>
              <a:rPr lang="en-US" b="1" dirty="0">
                <a:solidFill>
                  <a:srgbClr val="000000"/>
                </a:solidFill>
              </a:rPr>
              <a:t>main(String[] </a:t>
            </a:r>
            <a:r>
              <a:rPr lang="en-US" b="1" dirty="0" err="1">
                <a:solidFill>
                  <a:srgbClr val="6A3E3E"/>
                </a:solidFill>
              </a:rPr>
              <a:t>args</a:t>
            </a:r>
            <a:r>
              <a:rPr lang="en-US" b="1" dirty="0">
                <a:solidFill>
                  <a:srgbClr val="000000"/>
                </a:solidFill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	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b="1" dirty="0">
                <a:solidFill>
                  <a:srgbClr val="B71B1C"/>
                </a:solidFill>
              </a:rPr>
              <a:t>System</a:t>
            </a:r>
            <a:r>
              <a:rPr lang="en-US" dirty="0">
                <a:solidFill>
                  <a:srgbClr val="000000"/>
                </a:solidFill>
              </a:rPr>
              <a:t>.</a:t>
            </a:r>
            <a:r>
              <a:rPr lang="en-US" b="1" i="1" dirty="0">
                <a:solidFill>
                  <a:srgbClr val="000000"/>
                </a:solidFill>
              </a:rPr>
              <a:t>out.println("Hello World");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	}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}</a:t>
            </a:r>
          </a:p>
          <a:p>
            <a:endParaRPr lang="en-US" dirty="0"/>
          </a:p>
          <a:p>
            <a:r>
              <a:rPr lang="en-US" dirty="0"/>
              <a:t>We have to save this in HelloWorld.java file as it has public class named HelloWorld.</a:t>
            </a:r>
          </a:p>
          <a:p>
            <a:r>
              <a:rPr lang="en-US" dirty="0"/>
              <a:t>String and System are inbuilt Java Classes.</a:t>
            </a:r>
          </a:p>
          <a:p>
            <a:r>
              <a:rPr lang="en-US" dirty="0"/>
              <a:t>Classes in java are always written in Camel case.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C1E6ED05-6B80-D3FC-8691-343EF7FB74F9}"/>
              </a:ext>
            </a:extLst>
          </p:cNvPr>
          <p:cNvSpPr/>
          <p:nvPr/>
        </p:nvSpPr>
        <p:spPr>
          <a:xfrm>
            <a:off x="5295900" y="238125"/>
            <a:ext cx="3962400" cy="676432"/>
          </a:xfrm>
          <a:prstGeom prst="wedgeRoundRectCallout">
            <a:avLst>
              <a:gd name="adj1" fmla="val -78055"/>
              <a:gd name="adj2" fmla="val 49230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File must be saved as HelloWorld.java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C225E153-82EE-AFEC-6A46-4107D61E32D7}"/>
              </a:ext>
            </a:extLst>
          </p:cNvPr>
          <p:cNvSpPr/>
          <p:nvPr/>
        </p:nvSpPr>
        <p:spPr>
          <a:xfrm>
            <a:off x="4914900" y="1066800"/>
            <a:ext cx="4724400" cy="685800"/>
          </a:xfrm>
          <a:prstGeom prst="wedgeRoundRectCallout">
            <a:avLst>
              <a:gd name="adj1" fmla="val -68441"/>
              <a:gd name="adj2" fmla="val 63549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method from where execution will start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283B5AE4-F6E6-FBD6-0643-050D3658C0E6}"/>
              </a:ext>
            </a:extLst>
          </p:cNvPr>
          <p:cNvSpPr/>
          <p:nvPr/>
        </p:nvSpPr>
        <p:spPr>
          <a:xfrm>
            <a:off x="6829425" y="2261805"/>
            <a:ext cx="3581400" cy="533400"/>
          </a:xfrm>
          <a:prstGeom prst="wedgeRoundRectCallout">
            <a:avLst>
              <a:gd name="adj1" fmla="val -95975"/>
              <a:gd name="adj2" fmla="val -75728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String must start with capital letter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5F0006BA-5D27-51F9-86A7-D6E7C16F1EC6}"/>
              </a:ext>
            </a:extLst>
          </p:cNvPr>
          <p:cNvSpPr/>
          <p:nvPr/>
        </p:nvSpPr>
        <p:spPr>
          <a:xfrm>
            <a:off x="1476375" y="3303204"/>
            <a:ext cx="3581400" cy="533400"/>
          </a:xfrm>
          <a:prstGeom prst="wedgeRoundRectCallout">
            <a:avLst>
              <a:gd name="adj1" fmla="val -42023"/>
              <a:gd name="adj2" fmla="val -97413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System must start with capital letter</a:t>
            </a:r>
          </a:p>
        </p:txBody>
      </p:sp>
    </p:spTree>
    <p:extLst>
      <p:ext uri="{BB962C8B-B14F-4D97-AF65-F5344CB8AC3E}">
        <p14:creationId xmlns:p14="http://schemas.microsoft.com/office/powerpoint/2010/main" val="86324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7F4D9-3D44-1319-79DC-BB896D5B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BD66C-0267-69A2-B862-9C4B4530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How to execute Java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E5A57-29C3-A863-B673-40043259D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Save the program with the same name as the public class with </a:t>
            </a:r>
            <a:r>
              <a:rPr lang="en-IN" b="1" dirty="0"/>
              <a:t>.java</a:t>
            </a:r>
            <a:r>
              <a:rPr lang="en-IN" dirty="0"/>
              <a:t> extension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A8358-2665-773F-F25A-BA90103C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0" y="1401454"/>
            <a:ext cx="877252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6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F37B-BE2B-C251-3F65-B30E6218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DD8C-ADB5-C21F-1B4F-96EA3F09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How to execute Java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E8FD5-51E5-D944-5D0D-F97869F42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Open command prompt (</a:t>
            </a:r>
            <a:r>
              <a:rPr lang="en-US" dirty="0" err="1"/>
              <a:t>cmd</a:t>
            </a:r>
            <a:r>
              <a:rPr lang="en-US" dirty="0"/>
              <a:t>) / terminal &amp; navigate to desired directory / folder.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Compile the “.java” file with </a:t>
            </a:r>
            <a:r>
              <a:rPr lang="en-US" b="1" dirty="0" err="1"/>
              <a:t>javac</a:t>
            </a:r>
            <a:r>
              <a:rPr lang="en-US" dirty="0"/>
              <a:t> command.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Execute the “.class” file with </a:t>
            </a:r>
            <a:r>
              <a:rPr lang="en-US" b="1" dirty="0"/>
              <a:t>java</a:t>
            </a:r>
            <a:r>
              <a:rPr lang="en-US" dirty="0"/>
              <a:t> command without extension.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36AF8-0163-73FB-2E51-D25CAECFA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77" y="1276350"/>
            <a:ext cx="7589997" cy="10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E5C0E0-CA40-6C59-6202-182DA3FF1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77" y="3102347"/>
            <a:ext cx="7588800" cy="1112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5A9406-4F54-3F92-9F25-78BCE8D302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38"/>
          <a:stretch/>
        </p:blipFill>
        <p:spPr>
          <a:xfrm>
            <a:off x="713777" y="4961101"/>
            <a:ext cx="747816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3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DBB49-D4F3-0856-0B94-C8419C7D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C890-4C59-900D-1125-33D7D301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Identifiers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9522-EFF4-E8D8-9760-7D9F7C61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Identifiers are used for class names, method names, variable names and more.</a:t>
            </a:r>
          </a:p>
          <a:p>
            <a:r>
              <a:rPr lang="en-IN" dirty="0"/>
              <a:t>An identifier may be any descriptive sequence of</a:t>
            </a:r>
          </a:p>
          <a:p>
            <a:pPr lvl="1"/>
            <a:r>
              <a:rPr lang="en-IN" sz="2200" dirty="0"/>
              <a:t>uppercase(A…Z) and lowercase(</a:t>
            </a:r>
            <a:r>
              <a:rPr lang="en-IN" sz="2200" dirty="0" err="1"/>
              <a:t>a..z</a:t>
            </a:r>
            <a:r>
              <a:rPr lang="en-IN" sz="2200" dirty="0"/>
              <a:t>) letters</a:t>
            </a:r>
          </a:p>
          <a:p>
            <a:pPr lvl="1"/>
            <a:r>
              <a:rPr lang="en-IN" sz="2200" dirty="0"/>
              <a:t>Numbers(0..9)</a:t>
            </a:r>
          </a:p>
          <a:p>
            <a:pPr lvl="1"/>
            <a:r>
              <a:rPr lang="en-IN" sz="2200" dirty="0"/>
              <a:t>Underscore(_) and dollar-sign($) characters</a:t>
            </a:r>
          </a:p>
          <a:p>
            <a:r>
              <a:rPr lang="en-IN" dirty="0"/>
              <a:t>Rules for Identifiers (other than above mention point)</a:t>
            </a:r>
          </a:p>
          <a:p>
            <a:pPr lvl="1"/>
            <a:r>
              <a:rPr lang="en-US" sz="2200" dirty="0"/>
              <a:t>There should not be any space in an identifier. For example, </a:t>
            </a:r>
            <a:r>
              <a:rPr lang="en-US" sz="2200" b="1" dirty="0">
                <a:solidFill>
                  <a:srgbClr val="C00000"/>
                </a:solidFill>
              </a:rPr>
              <a:t>darshan </a:t>
            </a:r>
            <a:r>
              <a:rPr lang="en-US" sz="2200" b="1" dirty="0" err="1">
                <a:solidFill>
                  <a:srgbClr val="C00000"/>
                </a:solidFill>
              </a:rPr>
              <a:t>uni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is an invalid identifier.</a:t>
            </a:r>
          </a:p>
          <a:p>
            <a:pPr lvl="1"/>
            <a:r>
              <a:rPr lang="en-US" sz="2200" dirty="0"/>
              <a:t>An identifier should not contain a number at the starting. For example, 123darshan is an invalid identifier.</a:t>
            </a:r>
          </a:p>
          <a:p>
            <a:pPr lvl="1"/>
            <a:r>
              <a:rPr lang="en-US" sz="2200" dirty="0"/>
              <a:t>We can't use the Java reserved keywords as an identifier such as int, float, double, char, etc. For example, int double is an invalid identifier in Java.</a:t>
            </a:r>
            <a:endParaRPr lang="en-IN" sz="22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215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5C48-11CE-D010-E8D2-02424F55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31DB-3211-70FC-6635-B5CB7D99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Identifiers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7425C-2372-7A66-E7F5-A8B6E2254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Examples for </a:t>
            </a:r>
            <a:r>
              <a:rPr lang="en-US" dirty="0">
                <a:solidFill>
                  <a:srgbClr val="B71B1C"/>
                </a:solidFill>
              </a:rPr>
              <a:t>valid</a:t>
            </a:r>
            <a:r>
              <a:rPr lang="en-US" dirty="0"/>
              <a:t> Identifiers,</a:t>
            </a:r>
          </a:p>
          <a:p>
            <a:pPr lvl="1"/>
            <a:r>
              <a:rPr lang="en-US" sz="2200" dirty="0" err="1"/>
              <a:t>AvgTemp</a:t>
            </a:r>
            <a:endParaRPr lang="en-US" sz="2200" dirty="0"/>
          </a:p>
          <a:p>
            <a:pPr lvl="1"/>
            <a:r>
              <a:rPr lang="en-US" sz="2200" dirty="0"/>
              <a:t>count</a:t>
            </a:r>
          </a:p>
          <a:p>
            <a:pPr lvl="1"/>
            <a:r>
              <a:rPr lang="en-US" sz="2200" dirty="0"/>
              <a:t>a4</a:t>
            </a:r>
          </a:p>
          <a:p>
            <a:pPr lvl="1"/>
            <a:r>
              <a:rPr lang="en-US" sz="2200" dirty="0"/>
              <a:t>$test</a:t>
            </a:r>
          </a:p>
          <a:p>
            <a:pPr lvl="1"/>
            <a:r>
              <a:rPr lang="en-US" sz="2200" dirty="0" err="1"/>
              <a:t>this</a:t>
            </a:r>
            <a:r>
              <a:rPr lang="en-US" sz="2200" dirty="0" err="1">
                <a:latin typeface="Consolas" panose="020B0609020204030204" pitchFamily="49" charset="0"/>
              </a:rPr>
              <a:t>_</a:t>
            </a:r>
            <a:r>
              <a:rPr lang="en-US" sz="2200" dirty="0" err="1"/>
              <a:t>is</a:t>
            </a:r>
            <a:r>
              <a:rPr lang="en-US" sz="2200" dirty="0" err="1">
                <a:latin typeface="Consolas" panose="020B0609020204030204" pitchFamily="49" charset="0"/>
              </a:rPr>
              <a:t>_</a:t>
            </a:r>
            <a:r>
              <a:rPr lang="en-US" sz="2200" dirty="0" err="1"/>
              <a:t>ok</a:t>
            </a:r>
            <a:endParaRPr lang="en-US" sz="22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dirty="0"/>
              <a:t>Examples for </a:t>
            </a:r>
            <a:r>
              <a:rPr lang="en-US" dirty="0">
                <a:solidFill>
                  <a:srgbClr val="B71B1C"/>
                </a:solidFill>
              </a:rPr>
              <a:t>invalid</a:t>
            </a:r>
            <a:r>
              <a:rPr lang="en-US" dirty="0"/>
              <a:t> Identifiers,</a:t>
            </a:r>
          </a:p>
          <a:p>
            <a:pPr lvl="1"/>
            <a:r>
              <a:rPr lang="en-US" sz="2200" dirty="0"/>
              <a:t>2count</a:t>
            </a:r>
          </a:p>
          <a:p>
            <a:pPr lvl="1"/>
            <a:r>
              <a:rPr lang="en-US" sz="2200" dirty="0"/>
              <a:t>High-temp</a:t>
            </a:r>
          </a:p>
          <a:p>
            <a:pPr lvl="1"/>
            <a:r>
              <a:rPr lang="en-US" sz="2200" dirty="0"/>
              <a:t>Ok/</a:t>
            </a:r>
            <a:r>
              <a:rPr lang="en-US" sz="2200" dirty="0" err="1"/>
              <a:t>NotOK</a:t>
            </a: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5037B-44F2-278B-8BE2-15C7EE510866}"/>
              </a:ext>
            </a:extLst>
          </p:cNvPr>
          <p:cNvSpPr txBox="1"/>
          <p:nvPr/>
        </p:nvSpPr>
        <p:spPr>
          <a:xfrm>
            <a:off x="2332444" y="3870844"/>
            <a:ext cx="40463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B71B1C"/>
                </a:solidFill>
              </a:rPr>
              <a:t>(Identifiers can not start with digit)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9C2CA-B29F-8238-AAC1-2D9352960E4A}"/>
              </a:ext>
            </a:extLst>
          </p:cNvPr>
          <p:cNvSpPr txBox="1"/>
          <p:nvPr/>
        </p:nvSpPr>
        <p:spPr>
          <a:xfrm>
            <a:off x="2332444" y="4231863"/>
            <a:ext cx="3873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B71B1C"/>
                </a:solidFill>
              </a:rPr>
              <a:t>(Identifiers can not contain dash)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9F8C9-745B-8EB8-B0E5-88D9F5FAD644}"/>
              </a:ext>
            </a:extLst>
          </p:cNvPr>
          <p:cNvSpPr txBox="1"/>
          <p:nvPr/>
        </p:nvSpPr>
        <p:spPr>
          <a:xfrm>
            <a:off x="2332444" y="4577085"/>
            <a:ext cx="40543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B71B1C"/>
                </a:solidFill>
              </a:rPr>
              <a:t>(Identifiers can not contains slash)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582C2A-7EB9-1F6D-6EEE-CD2F885283B8}"/>
              </a:ext>
            </a:extLst>
          </p:cNvPr>
          <p:cNvSpPr txBox="1">
            <a:spLocks/>
          </p:cNvSpPr>
          <p:nvPr/>
        </p:nvSpPr>
        <p:spPr>
          <a:xfrm>
            <a:off x="5538080" y="4573786"/>
            <a:ext cx="4597967" cy="1466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4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8DBBA-32A8-E5AC-BF0B-A3748BF0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C7533D-4F32-A596-7953-AD8E4C08614F}"/>
              </a:ext>
            </a:extLst>
          </p:cNvPr>
          <p:cNvGraphicFramePr>
            <a:graphicFrameLocks noGrp="1"/>
          </p:cNvGraphicFramePr>
          <p:nvPr/>
        </p:nvGraphicFramePr>
        <p:xfrm>
          <a:off x="160233" y="872066"/>
          <a:ext cx="11871535" cy="49445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53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3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3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3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889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for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Rajkot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_Name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If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Roll Number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Rs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_________a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int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_7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Identifier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C++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Java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C#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Compiler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___8__a__8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Who?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v.a.l.u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A_B_C_D_E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i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89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Int</a:t>
                      </a:r>
                      <a:endParaRPr lang="en-US" sz="2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A2020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2021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sum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a,b,c</a:t>
                      </a:r>
                      <a:endParaRPr lang="en-US" sz="2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i</a:t>
                      </a:r>
                      <a:r>
                        <a:rPr lang="en-US" sz="2400" dirty="0"/>
                        <a:t>;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ED5DA205-F3A5-BC17-4EE9-D6B5B8AAD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Identifier Name Valid or Invalid?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BA840E-0467-D5AD-0AD2-164EB204105C}"/>
              </a:ext>
            </a:extLst>
          </p:cNvPr>
          <p:cNvSpPr/>
          <p:nvPr/>
        </p:nvSpPr>
        <p:spPr>
          <a:xfrm>
            <a:off x="257175" y="1057275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F8CC4A-C317-0130-51DD-93903B9B2470}"/>
              </a:ext>
            </a:extLst>
          </p:cNvPr>
          <p:cNvSpPr/>
          <p:nvPr/>
        </p:nvSpPr>
        <p:spPr>
          <a:xfrm>
            <a:off x="8197215" y="1057275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EE99EB-5032-CA4E-7E02-4331DEB77185}"/>
              </a:ext>
            </a:extLst>
          </p:cNvPr>
          <p:cNvSpPr/>
          <p:nvPr/>
        </p:nvSpPr>
        <p:spPr>
          <a:xfrm>
            <a:off x="10182225" y="1057275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582FC-8BD0-79ED-15FC-192C3F5A1226}"/>
              </a:ext>
            </a:extLst>
          </p:cNvPr>
          <p:cNvSpPr/>
          <p:nvPr/>
        </p:nvSpPr>
        <p:spPr>
          <a:xfrm>
            <a:off x="2244090" y="2019300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4E3802-81E6-CA59-DC7D-69F1F1A1567B}"/>
              </a:ext>
            </a:extLst>
          </p:cNvPr>
          <p:cNvSpPr/>
          <p:nvPr/>
        </p:nvSpPr>
        <p:spPr>
          <a:xfrm>
            <a:off x="2244090" y="2999582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A037B8-6329-07B9-8E37-3B80DD82CAEC}"/>
              </a:ext>
            </a:extLst>
          </p:cNvPr>
          <p:cNvSpPr/>
          <p:nvPr/>
        </p:nvSpPr>
        <p:spPr>
          <a:xfrm>
            <a:off x="6140132" y="2999582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77EB3E-0F5C-10C3-834C-5609372A34F7}"/>
              </a:ext>
            </a:extLst>
          </p:cNvPr>
          <p:cNvSpPr/>
          <p:nvPr/>
        </p:nvSpPr>
        <p:spPr>
          <a:xfrm>
            <a:off x="257175" y="4005263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58E2A1-8D58-6A6D-EDE3-98C3ECB20349}"/>
              </a:ext>
            </a:extLst>
          </p:cNvPr>
          <p:cNvSpPr/>
          <p:nvPr/>
        </p:nvSpPr>
        <p:spPr>
          <a:xfrm>
            <a:off x="2242185" y="4005263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9E0D4-292D-2CEA-BFDB-014F07F4AC2A}"/>
              </a:ext>
            </a:extLst>
          </p:cNvPr>
          <p:cNvSpPr/>
          <p:nvPr/>
        </p:nvSpPr>
        <p:spPr>
          <a:xfrm>
            <a:off x="4227195" y="4005263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4FB57F-3391-23DF-8A3F-44EE9CEE2F6C}"/>
              </a:ext>
            </a:extLst>
          </p:cNvPr>
          <p:cNvSpPr/>
          <p:nvPr/>
        </p:nvSpPr>
        <p:spPr>
          <a:xfrm>
            <a:off x="10182225" y="4005263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C2310-1FFA-9907-1F84-D6A24DEA083B}"/>
              </a:ext>
            </a:extLst>
          </p:cNvPr>
          <p:cNvSpPr/>
          <p:nvPr/>
        </p:nvSpPr>
        <p:spPr>
          <a:xfrm>
            <a:off x="4227195" y="5018087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43FC6-16D4-68F4-C476-3F4E3B602906}"/>
              </a:ext>
            </a:extLst>
          </p:cNvPr>
          <p:cNvSpPr/>
          <p:nvPr/>
        </p:nvSpPr>
        <p:spPr>
          <a:xfrm>
            <a:off x="8197215" y="5018087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6918A6-798E-D50C-559D-C93611120DFB}"/>
              </a:ext>
            </a:extLst>
          </p:cNvPr>
          <p:cNvSpPr/>
          <p:nvPr/>
        </p:nvSpPr>
        <p:spPr>
          <a:xfrm>
            <a:off x="10182225" y="5018087"/>
            <a:ext cx="1743075" cy="614363"/>
          </a:xfrm>
          <a:prstGeom prst="rect">
            <a:avLst/>
          </a:prstGeom>
          <a:solidFill>
            <a:schemeClr val="accent6">
              <a:lumMod val="50000"/>
              <a:alpha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AE2A9C-6540-CF93-37B1-3E4C3CD37C94}"/>
              </a:ext>
            </a:extLst>
          </p:cNvPr>
          <p:cNvSpPr/>
          <p:nvPr/>
        </p:nvSpPr>
        <p:spPr>
          <a:xfrm>
            <a:off x="2242185" y="1057275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BD7A28-9D9C-D1D9-A589-9C47272E025A}"/>
              </a:ext>
            </a:extLst>
          </p:cNvPr>
          <p:cNvSpPr/>
          <p:nvPr/>
        </p:nvSpPr>
        <p:spPr>
          <a:xfrm>
            <a:off x="4227195" y="1057275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F95094-F571-7BA9-BAFA-9F5663BFFF58}"/>
              </a:ext>
            </a:extLst>
          </p:cNvPr>
          <p:cNvSpPr/>
          <p:nvPr/>
        </p:nvSpPr>
        <p:spPr>
          <a:xfrm>
            <a:off x="6134417" y="1057275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5E43C8-EB16-7994-9563-F5B46A49E386}"/>
              </a:ext>
            </a:extLst>
          </p:cNvPr>
          <p:cNvSpPr/>
          <p:nvPr/>
        </p:nvSpPr>
        <p:spPr>
          <a:xfrm>
            <a:off x="257175" y="2019300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465B50-F3AB-5CD6-91EF-A99DE288F398}"/>
              </a:ext>
            </a:extLst>
          </p:cNvPr>
          <p:cNvSpPr/>
          <p:nvPr/>
        </p:nvSpPr>
        <p:spPr>
          <a:xfrm>
            <a:off x="4231005" y="2019300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6AC868-C88E-F558-4B7D-719792AD6FF8}"/>
              </a:ext>
            </a:extLst>
          </p:cNvPr>
          <p:cNvSpPr/>
          <p:nvPr/>
        </p:nvSpPr>
        <p:spPr>
          <a:xfrm>
            <a:off x="6140132" y="2019300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E11234-7FF9-788C-8FF6-E773B7F21B2A}"/>
              </a:ext>
            </a:extLst>
          </p:cNvPr>
          <p:cNvSpPr/>
          <p:nvPr/>
        </p:nvSpPr>
        <p:spPr>
          <a:xfrm>
            <a:off x="8204835" y="2019300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E62D7F-81AE-E1FF-EF64-403F702B77AD}"/>
              </a:ext>
            </a:extLst>
          </p:cNvPr>
          <p:cNvSpPr/>
          <p:nvPr/>
        </p:nvSpPr>
        <p:spPr>
          <a:xfrm>
            <a:off x="10191748" y="2019300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5131D0-28BF-1013-650A-F19551E72630}"/>
              </a:ext>
            </a:extLst>
          </p:cNvPr>
          <p:cNvSpPr/>
          <p:nvPr/>
        </p:nvSpPr>
        <p:spPr>
          <a:xfrm>
            <a:off x="257175" y="2999582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978251-2C49-3759-B0D4-D6467AD39265}"/>
              </a:ext>
            </a:extLst>
          </p:cNvPr>
          <p:cNvSpPr/>
          <p:nvPr/>
        </p:nvSpPr>
        <p:spPr>
          <a:xfrm>
            <a:off x="4231005" y="2999582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1C1AA0-0ABC-5755-F730-D08B15F488FB}"/>
              </a:ext>
            </a:extLst>
          </p:cNvPr>
          <p:cNvSpPr/>
          <p:nvPr/>
        </p:nvSpPr>
        <p:spPr>
          <a:xfrm>
            <a:off x="8204835" y="2999582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526A64-9072-5437-BFF6-AC328BD2C43B}"/>
              </a:ext>
            </a:extLst>
          </p:cNvPr>
          <p:cNvSpPr/>
          <p:nvPr/>
        </p:nvSpPr>
        <p:spPr>
          <a:xfrm>
            <a:off x="10191748" y="2999582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28F532-24F2-5B54-EE8E-5DF2F6A54BCB}"/>
              </a:ext>
            </a:extLst>
          </p:cNvPr>
          <p:cNvSpPr/>
          <p:nvPr/>
        </p:nvSpPr>
        <p:spPr>
          <a:xfrm>
            <a:off x="6134417" y="4005263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8C77B8-4222-D069-F25C-45E0249F744C}"/>
              </a:ext>
            </a:extLst>
          </p:cNvPr>
          <p:cNvSpPr/>
          <p:nvPr/>
        </p:nvSpPr>
        <p:spPr>
          <a:xfrm>
            <a:off x="8197215" y="4005263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462020-98AD-33B3-25F7-49AE564F9C25}"/>
              </a:ext>
            </a:extLst>
          </p:cNvPr>
          <p:cNvSpPr/>
          <p:nvPr/>
        </p:nvSpPr>
        <p:spPr>
          <a:xfrm>
            <a:off x="257175" y="5018087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4B7D6E-97EB-4E98-3E2F-9E63378DDB3E}"/>
              </a:ext>
            </a:extLst>
          </p:cNvPr>
          <p:cNvSpPr/>
          <p:nvPr/>
        </p:nvSpPr>
        <p:spPr>
          <a:xfrm>
            <a:off x="2242185" y="5018087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D2D032-1BC9-99FA-BB7C-2A5C8481E082}"/>
              </a:ext>
            </a:extLst>
          </p:cNvPr>
          <p:cNvSpPr/>
          <p:nvPr/>
        </p:nvSpPr>
        <p:spPr>
          <a:xfrm>
            <a:off x="6134417" y="5018087"/>
            <a:ext cx="1743075" cy="614363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70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61D9D-02DE-40BB-8F7E-4551AE13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7892-4841-0D2F-AA4C-17838925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Data Types</a:t>
            </a:r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275852B-F3C7-9FFB-CC06-E1DFC4251500}"/>
              </a:ext>
            </a:extLst>
          </p:cNvPr>
          <p:cNvSpPr/>
          <p:nvPr/>
        </p:nvSpPr>
        <p:spPr>
          <a:xfrm>
            <a:off x="3402729" y="1465113"/>
            <a:ext cx="2845670" cy="648005"/>
          </a:xfrm>
          <a:custGeom>
            <a:avLst/>
            <a:gdLst>
              <a:gd name="connsiteX0" fmla="*/ 0 w 2845670"/>
              <a:gd name="connsiteY0" fmla="*/ 64801 h 648005"/>
              <a:gd name="connsiteX1" fmla="*/ 64801 w 2845670"/>
              <a:gd name="connsiteY1" fmla="*/ 0 h 648005"/>
              <a:gd name="connsiteX2" fmla="*/ 2780870 w 2845670"/>
              <a:gd name="connsiteY2" fmla="*/ 0 h 648005"/>
              <a:gd name="connsiteX3" fmla="*/ 2845671 w 2845670"/>
              <a:gd name="connsiteY3" fmla="*/ 64801 h 648005"/>
              <a:gd name="connsiteX4" fmla="*/ 2845670 w 2845670"/>
              <a:gd name="connsiteY4" fmla="*/ 583205 h 648005"/>
              <a:gd name="connsiteX5" fmla="*/ 2780869 w 2845670"/>
              <a:gd name="connsiteY5" fmla="*/ 648006 h 648005"/>
              <a:gd name="connsiteX6" fmla="*/ 64801 w 2845670"/>
              <a:gd name="connsiteY6" fmla="*/ 648005 h 648005"/>
              <a:gd name="connsiteX7" fmla="*/ 0 w 2845670"/>
              <a:gd name="connsiteY7" fmla="*/ 583204 h 648005"/>
              <a:gd name="connsiteX8" fmla="*/ 0 w 2845670"/>
              <a:gd name="connsiteY8" fmla="*/ 64801 h 64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5670" h="648005">
                <a:moveTo>
                  <a:pt x="0" y="64801"/>
                </a:moveTo>
                <a:cubicBezTo>
                  <a:pt x="0" y="29012"/>
                  <a:pt x="29012" y="0"/>
                  <a:pt x="64801" y="0"/>
                </a:cubicBezTo>
                <a:lnTo>
                  <a:pt x="2780870" y="0"/>
                </a:lnTo>
                <a:cubicBezTo>
                  <a:pt x="2816659" y="0"/>
                  <a:pt x="2845671" y="29012"/>
                  <a:pt x="2845671" y="64801"/>
                </a:cubicBezTo>
                <a:cubicBezTo>
                  <a:pt x="2845671" y="237602"/>
                  <a:pt x="2845670" y="410404"/>
                  <a:pt x="2845670" y="583205"/>
                </a:cubicBezTo>
                <a:cubicBezTo>
                  <a:pt x="2845670" y="618994"/>
                  <a:pt x="2816658" y="648006"/>
                  <a:pt x="2780869" y="648006"/>
                </a:cubicBezTo>
                <a:lnTo>
                  <a:pt x="64801" y="648005"/>
                </a:lnTo>
                <a:cubicBezTo>
                  <a:pt x="29012" y="648005"/>
                  <a:pt x="0" y="618993"/>
                  <a:pt x="0" y="583204"/>
                </a:cubicBezTo>
                <a:lnTo>
                  <a:pt x="0" y="64801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0419" tIns="110419" rIns="110419" bIns="110419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400" kern="1200" dirty="0"/>
              <a:t>Java Data types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6B1F18-745D-A6DE-9671-3B670C59358C}"/>
              </a:ext>
            </a:extLst>
          </p:cNvPr>
          <p:cNvGrpSpPr/>
          <p:nvPr/>
        </p:nvGrpSpPr>
        <p:grpSpPr>
          <a:xfrm>
            <a:off x="197037" y="3559513"/>
            <a:ext cx="7047652" cy="1650477"/>
            <a:chOff x="197037" y="3559513"/>
            <a:chExt cx="7047652" cy="165047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D525052-BFAD-5712-11FA-71D36F99BD2D}"/>
                </a:ext>
              </a:extLst>
            </p:cNvPr>
            <p:cNvSpPr/>
            <p:nvPr/>
          </p:nvSpPr>
          <p:spPr>
            <a:xfrm>
              <a:off x="2507640" y="3559513"/>
              <a:ext cx="333913" cy="100247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501235"/>
                  </a:lnTo>
                  <a:lnTo>
                    <a:pt x="333913" y="501235"/>
                  </a:lnTo>
                  <a:lnTo>
                    <a:pt x="333913" y="1002471"/>
                  </a:lnTo>
                </a:path>
              </a:pathLst>
            </a:custGeom>
            <a:noFill/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CE32340-E8A9-C046-F269-D5C923BF3975}"/>
                </a:ext>
              </a:extLst>
            </p:cNvPr>
            <p:cNvGrpSpPr/>
            <p:nvPr/>
          </p:nvGrpSpPr>
          <p:grpSpPr>
            <a:xfrm>
              <a:off x="197037" y="3559513"/>
              <a:ext cx="7047652" cy="1650477"/>
              <a:chOff x="197037" y="3559513"/>
              <a:chExt cx="7047652" cy="1650477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20038B40-A2E6-64DA-77F1-4F6535456FDF}"/>
                  </a:ext>
                </a:extLst>
              </p:cNvPr>
              <p:cNvSpPr/>
              <p:nvPr/>
            </p:nvSpPr>
            <p:spPr>
              <a:xfrm>
                <a:off x="867391" y="3559513"/>
                <a:ext cx="1640248" cy="1002471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1640248" y="0"/>
                    </a:moveTo>
                    <a:lnTo>
                      <a:pt x="1640248" y="501235"/>
                    </a:lnTo>
                    <a:lnTo>
                      <a:pt x="0" y="501235"/>
                    </a:lnTo>
                    <a:lnTo>
                      <a:pt x="0" y="1002471"/>
                    </a:lnTo>
                  </a:path>
                </a:pathLst>
              </a:custGeom>
              <a:noFill/>
            </p:spPr>
            <p:style>
              <a:lnRef idx="2">
                <a:schemeClr val="dk2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C21AD88-7598-6369-BA0D-C2F22D662DAD}"/>
                  </a:ext>
                </a:extLst>
              </p:cNvPr>
              <p:cNvSpPr/>
              <p:nvPr/>
            </p:nvSpPr>
            <p:spPr>
              <a:xfrm>
                <a:off x="197037" y="4561985"/>
                <a:ext cx="1340709" cy="648005"/>
              </a:xfrm>
              <a:custGeom>
                <a:avLst/>
                <a:gdLst>
                  <a:gd name="connsiteX0" fmla="*/ 0 w 1340709"/>
                  <a:gd name="connsiteY0" fmla="*/ 64801 h 648005"/>
                  <a:gd name="connsiteX1" fmla="*/ 64801 w 1340709"/>
                  <a:gd name="connsiteY1" fmla="*/ 0 h 648005"/>
                  <a:gd name="connsiteX2" fmla="*/ 1275909 w 1340709"/>
                  <a:gd name="connsiteY2" fmla="*/ 0 h 648005"/>
                  <a:gd name="connsiteX3" fmla="*/ 1340710 w 1340709"/>
                  <a:gd name="connsiteY3" fmla="*/ 64801 h 648005"/>
                  <a:gd name="connsiteX4" fmla="*/ 1340709 w 1340709"/>
                  <a:gd name="connsiteY4" fmla="*/ 583205 h 648005"/>
                  <a:gd name="connsiteX5" fmla="*/ 1275908 w 1340709"/>
                  <a:gd name="connsiteY5" fmla="*/ 648006 h 648005"/>
                  <a:gd name="connsiteX6" fmla="*/ 64801 w 1340709"/>
                  <a:gd name="connsiteY6" fmla="*/ 648005 h 648005"/>
                  <a:gd name="connsiteX7" fmla="*/ 0 w 1340709"/>
                  <a:gd name="connsiteY7" fmla="*/ 583204 h 648005"/>
                  <a:gd name="connsiteX8" fmla="*/ 0 w 1340709"/>
                  <a:gd name="connsiteY8" fmla="*/ 64801 h 64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40709" h="648005">
                    <a:moveTo>
                      <a:pt x="0" y="64801"/>
                    </a:moveTo>
                    <a:cubicBezTo>
                      <a:pt x="0" y="29012"/>
                      <a:pt x="29012" y="0"/>
                      <a:pt x="64801" y="0"/>
                    </a:cubicBezTo>
                    <a:lnTo>
                      <a:pt x="1275909" y="0"/>
                    </a:lnTo>
                    <a:cubicBezTo>
                      <a:pt x="1311698" y="0"/>
                      <a:pt x="1340710" y="29012"/>
                      <a:pt x="1340710" y="64801"/>
                    </a:cubicBezTo>
                    <a:cubicBezTo>
                      <a:pt x="1340710" y="237602"/>
                      <a:pt x="1340709" y="410404"/>
                      <a:pt x="1340709" y="583205"/>
                    </a:cubicBezTo>
                    <a:cubicBezTo>
                      <a:pt x="1340709" y="618994"/>
                      <a:pt x="1311697" y="648006"/>
                      <a:pt x="1275908" y="648006"/>
                    </a:cubicBezTo>
                    <a:lnTo>
                      <a:pt x="64801" y="648005"/>
                    </a:lnTo>
                    <a:cubicBezTo>
                      <a:pt x="29012" y="648005"/>
                      <a:pt x="0" y="618993"/>
                      <a:pt x="0" y="583204"/>
                    </a:cubicBezTo>
                    <a:lnTo>
                      <a:pt x="0" y="64801"/>
                    </a:lnTo>
                    <a:close/>
                  </a:path>
                </a:pathLst>
              </a:custGeom>
            </p:spPr>
            <p:style>
              <a:lnRef idx="2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0419" tIns="110419" rIns="110419" bIns="110419" numCol="1" spcCol="1270" anchor="ctr" anchorCtr="0">
                <a:noAutofit/>
              </a:bodyPr>
              <a:lstStyle/>
              <a:p>
                <a:pPr lvl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Integers</a:t>
                </a:r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01656572-269A-4E31-FE62-5D054DD363E3}"/>
                  </a:ext>
                </a:extLst>
              </p:cNvPr>
              <p:cNvSpPr/>
              <p:nvPr/>
            </p:nvSpPr>
            <p:spPr>
              <a:xfrm>
                <a:off x="1802497" y="4561985"/>
                <a:ext cx="2078112" cy="648005"/>
              </a:xfrm>
              <a:custGeom>
                <a:avLst/>
                <a:gdLst>
                  <a:gd name="connsiteX0" fmla="*/ 0 w 2078112"/>
                  <a:gd name="connsiteY0" fmla="*/ 64801 h 648005"/>
                  <a:gd name="connsiteX1" fmla="*/ 64801 w 2078112"/>
                  <a:gd name="connsiteY1" fmla="*/ 0 h 648005"/>
                  <a:gd name="connsiteX2" fmla="*/ 2013312 w 2078112"/>
                  <a:gd name="connsiteY2" fmla="*/ 0 h 648005"/>
                  <a:gd name="connsiteX3" fmla="*/ 2078113 w 2078112"/>
                  <a:gd name="connsiteY3" fmla="*/ 64801 h 648005"/>
                  <a:gd name="connsiteX4" fmla="*/ 2078112 w 2078112"/>
                  <a:gd name="connsiteY4" fmla="*/ 583205 h 648005"/>
                  <a:gd name="connsiteX5" fmla="*/ 2013311 w 2078112"/>
                  <a:gd name="connsiteY5" fmla="*/ 648006 h 648005"/>
                  <a:gd name="connsiteX6" fmla="*/ 64801 w 2078112"/>
                  <a:gd name="connsiteY6" fmla="*/ 648005 h 648005"/>
                  <a:gd name="connsiteX7" fmla="*/ 0 w 2078112"/>
                  <a:gd name="connsiteY7" fmla="*/ 583204 h 648005"/>
                  <a:gd name="connsiteX8" fmla="*/ 0 w 2078112"/>
                  <a:gd name="connsiteY8" fmla="*/ 64801 h 64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78112" h="648005">
                    <a:moveTo>
                      <a:pt x="0" y="64801"/>
                    </a:moveTo>
                    <a:cubicBezTo>
                      <a:pt x="0" y="29012"/>
                      <a:pt x="29012" y="0"/>
                      <a:pt x="64801" y="0"/>
                    </a:cubicBezTo>
                    <a:lnTo>
                      <a:pt x="2013312" y="0"/>
                    </a:lnTo>
                    <a:cubicBezTo>
                      <a:pt x="2049101" y="0"/>
                      <a:pt x="2078113" y="29012"/>
                      <a:pt x="2078113" y="64801"/>
                    </a:cubicBezTo>
                    <a:cubicBezTo>
                      <a:pt x="2078113" y="237602"/>
                      <a:pt x="2078112" y="410404"/>
                      <a:pt x="2078112" y="583205"/>
                    </a:cubicBezTo>
                    <a:cubicBezTo>
                      <a:pt x="2078112" y="618994"/>
                      <a:pt x="2049100" y="648006"/>
                      <a:pt x="2013311" y="648006"/>
                    </a:cubicBezTo>
                    <a:lnTo>
                      <a:pt x="64801" y="648005"/>
                    </a:lnTo>
                    <a:cubicBezTo>
                      <a:pt x="29012" y="648005"/>
                      <a:pt x="0" y="618993"/>
                      <a:pt x="0" y="583204"/>
                    </a:cubicBezTo>
                    <a:lnTo>
                      <a:pt x="0" y="64801"/>
                    </a:lnTo>
                    <a:close/>
                  </a:path>
                </a:pathLst>
              </a:custGeom>
            </p:spPr>
            <p:style>
              <a:lnRef idx="2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0419" tIns="110419" rIns="110419" bIns="110419" numCol="1" spcCol="1270" anchor="ctr" anchorCtr="0">
                <a:noAutofit/>
              </a:bodyPr>
              <a:lstStyle/>
              <a:p>
                <a:pPr lvl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Floating-point numbers</a:t>
                </a:r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9C8A03D-2558-B4FD-EAA7-52EFB5A68F2F}"/>
                  </a:ext>
                </a:extLst>
              </p:cNvPr>
              <p:cNvSpPr/>
              <p:nvPr/>
            </p:nvSpPr>
            <p:spPr>
              <a:xfrm>
                <a:off x="2507640" y="3559513"/>
                <a:ext cx="2406770" cy="1002471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501235"/>
                    </a:lnTo>
                    <a:lnTo>
                      <a:pt x="2406770" y="501235"/>
                    </a:lnTo>
                    <a:lnTo>
                      <a:pt x="2406770" y="1002471"/>
                    </a:lnTo>
                  </a:path>
                </a:pathLst>
              </a:custGeom>
              <a:noFill/>
            </p:spPr>
            <p:style>
              <a:lnRef idx="2">
                <a:schemeClr val="dk2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45793B21-66E6-37DC-3CAC-E5702C2AD269}"/>
                  </a:ext>
                </a:extLst>
              </p:cNvPr>
              <p:cNvSpPr/>
              <p:nvPr/>
            </p:nvSpPr>
            <p:spPr>
              <a:xfrm>
                <a:off x="4145361" y="4561985"/>
                <a:ext cx="1538099" cy="648005"/>
              </a:xfrm>
              <a:custGeom>
                <a:avLst/>
                <a:gdLst>
                  <a:gd name="connsiteX0" fmla="*/ 0 w 1538099"/>
                  <a:gd name="connsiteY0" fmla="*/ 64801 h 648005"/>
                  <a:gd name="connsiteX1" fmla="*/ 64801 w 1538099"/>
                  <a:gd name="connsiteY1" fmla="*/ 0 h 648005"/>
                  <a:gd name="connsiteX2" fmla="*/ 1473299 w 1538099"/>
                  <a:gd name="connsiteY2" fmla="*/ 0 h 648005"/>
                  <a:gd name="connsiteX3" fmla="*/ 1538100 w 1538099"/>
                  <a:gd name="connsiteY3" fmla="*/ 64801 h 648005"/>
                  <a:gd name="connsiteX4" fmla="*/ 1538099 w 1538099"/>
                  <a:gd name="connsiteY4" fmla="*/ 583205 h 648005"/>
                  <a:gd name="connsiteX5" fmla="*/ 1473298 w 1538099"/>
                  <a:gd name="connsiteY5" fmla="*/ 648006 h 648005"/>
                  <a:gd name="connsiteX6" fmla="*/ 64801 w 1538099"/>
                  <a:gd name="connsiteY6" fmla="*/ 648005 h 648005"/>
                  <a:gd name="connsiteX7" fmla="*/ 0 w 1538099"/>
                  <a:gd name="connsiteY7" fmla="*/ 583204 h 648005"/>
                  <a:gd name="connsiteX8" fmla="*/ 0 w 1538099"/>
                  <a:gd name="connsiteY8" fmla="*/ 64801 h 64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8099" h="648005">
                    <a:moveTo>
                      <a:pt x="0" y="64801"/>
                    </a:moveTo>
                    <a:cubicBezTo>
                      <a:pt x="0" y="29012"/>
                      <a:pt x="29012" y="0"/>
                      <a:pt x="64801" y="0"/>
                    </a:cubicBezTo>
                    <a:lnTo>
                      <a:pt x="1473299" y="0"/>
                    </a:lnTo>
                    <a:cubicBezTo>
                      <a:pt x="1509088" y="0"/>
                      <a:pt x="1538100" y="29012"/>
                      <a:pt x="1538100" y="64801"/>
                    </a:cubicBezTo>
                    <a:cubicBezTo>
                      <a:pt x="1538100" y="237602"/>
                      <a:pt x="1538099" y="410404"/>
                      <a:pt x="1538099" y="583205"/>
                    </a:cubicBezTo>
                    <a:cubicBezTo>
                      <a:pt x="1538099" y="618994"/>
                      <a:pt x="1509087" y="648006"/>
                      <a:pt x="1473298" y="648006"/>
                    </a:cubicBezTo>
                    <a:lnTo>
                      <a:pt x="64801" y="648005"/>
                    </a:lnTo>
                    <a:cubicBezTo>
                      <a:pt x="29012" y="648005"/>
                      <a:pt x="0" y="618993"/>
                      <a:pt x="0" y="583204"/>
                    </a:cubicBezTo>
                    <a:lnTo>
                      <a:pt x="0" y="64801"/>
                    </a:lnTo>
                    <a:close/>
                  </a:path>
                </a:pathLst>
              </a:custGeom>
            </p:spPr>
            <p:style>
              <a:lnRef idx="2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0419" tIns="110419" rIns="110419" bIns="110419" numCol="1" spcCol="1270" anchor="ctr" anchorCtr="0">
                <a:noAutofit/>
              </a:bodyPr>
              <a:lstStyle/>
              <a:p>
                <a:pPr lvl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Characters</a:t>
                </a:r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E97447A7-97D2-8505-6E5E-15E2A95E4C58}"/>
                  </a:ext>
                </a:extLst>
              </p:cNvPr>
              <p:cNvSpPr/>
              <p:nvPr/>
            </p:nvSpPr>
            <p:spPr>
              <a:xfrm>
                <a:off x="2507640" y="3559513"/>
                <a:ext cx="4088809" cy="1002471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501235"/>
                    </a:lnTo>
                    <a:lnTo>
                      <a:pt x="4088809" y="501235"/>
                    </a:lnTo>
                    <a:lnTo>
                      <a:pt x="4088809" y="1002471"/>
                    </a:lnTo>
                  </a:path>
                </a:pathLst>
              </a:custGeom>
              <a:noFill/>
            </p:spPr>
            <p:style>
              <a:lnRef idx="2">
                <a:schemeClr val="dk2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81F0885-EF76-F78A-FA6A-3B49CC049327}"/>
                  </a:ext>
                </a:extLst>
              </p:cNvPr>
              <p:cNvSpPr/>
              <p:nvPr/>
            </p:nvSpPr>
            <p:spPr>
              <a:xfrm>
                <a:off x="5948211" y="4561985"/>
                <a:ext cx="1296478" cy="648005"/>
              </a:xfrm>
              <a:custGeom>
                <a:avLst/>
                <a:gdLst>
                  <a:gd name="connsiteX0" fmla="*/ 0 w 1296478"/>
                  <a:gd name="connsiteY0" fmla="*/ 64801 h 648005"/>
                  <a:gd name="connsiteX1" fmla="*/ 64801 w 1296478"/>
                  <a:gd name="connsiteY1" fmla="*/ 0 h 648005"/>
                  <a:gd name="connsiteX2" fmla="*/ 1231678 w 1296478"/>
                  <a:gd name="connsiteY2" fmla="*/ 0 h 648005"/>
                  <a:gd name="connsiteX3" fmla="*/ 1296479 w 1296478"/>
                  <a:gd name="connsiteY3" fmla="*/ 64801 h 648005"/>
                  <a:gd name="connsiteX4" fmla="*/ 1296478 w 1296478"/>
                  <a:gd name="connsiteY4" fmla="*/ 583205 h 648005"/>
                  <a:gd name="connsiteX5" fmla="*/ 1231677 w 1296478"/>
                  <a:gd name="connsiteY5" fmla="*/ 648006 h 648005"/>
                  <a:gd name="connsiteX6" fmla="*/ 64801 w 1296478"/>
                  <a:gd name="connsiteY6" fmla="*/ 648005 h 648005"/>
                  <a:gd name="connsiteX7" fmla="*/ 0 w 1296478"/>
                  <a:gd name="connsiteY7" fmla="*/ 583204 h 648005"/>
                  <a:gd name="connsiteX8" fmla="*/ 0 w 1296478"/>
                  <a:gd name="connsiteY8" fmla="*/ 64801 h 64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6478" h="648005">
                    <a:moveTo>
                      <a:pt x="0" y="64801"/>
                    </a:moveTo>
                    <a:cubicBezTo>
                      <a:pt x="0" y="29012"/>
                      <a:pt x="29012" y="0"/>
                      <a:pt x="64801" y="0"/>
                    </a:cubicBezTo>
                    <a:lnTo>
                      <a:pt x="1231678" y="0"/>
                    </a:lnTo>
                    <a:cubicBezTo>
                      <a:pt x="1267467" y="0"/>
                      <a:pt x="1296479" y="29012"/>
                      <a:pt x="1296479" y="64801"/>
                    </a:cubicBezTo>
                    <a:cubicBezTo>
                      <a:pt x="1296479" y="237602"/>
                      <a:pt x="1296478" y="410404"/>
                      <a:pt x="1296478" y="583205"/>
                    </a:cubicBezTo>
                    <a:cubicBezTo>
                      <a:pt x="1296478" y="618994"/>
                      <a:pt x="1267466" y="648006"/>
                      <a:pt x="1231677" y="648006"/>
                    </a:cubicBezTo>
                    <a:lnTo>
                      <a:pt x="64801" y="648005"/>
                    </a:lnTo>
                    <a:cubicBezTo>
                      <a:pt x="29012" y="648005"/>
                      <a:pt x="0" y="618993"/>
                      <a:pt x="0" y="583204"/>
                    </a:cubicBezTo>
                    <a:lnTo>
                      <a:pt x="0" y="64801"/>
                    </a:lnTo>
                    <a:close/>
                  </a:path>
                </a:pathLst>
              </a:custGeom>
            </p:spPr>
            <p:style>
              <a:lnRef idx="2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0419" tIns="110419" rIns="110419" bIns="110419" numCol="1" spcCol="1270" anchor="ctr" anchorCtr="0">
                <a:noAutofit/>
              </a:bodyPr>
              <a:lstStyle/>
              <a:p>
                <a:pPr lvl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Boolean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BA88F0-A277-462F-6E34-9BA7D0F7FADD}"/>
              </a:ext>
            </a:extLst>
          </p:cNvPr>
          <p:cNvGrpSpPr/>
          <p:nvPr/>
        </p:nvGrpSpPr>
        <p:grpSpPr>
          <a:xfrm>
            <a:off x="1813811" y="2113118"/>
            <a:ext cx="7144524" cy="1449384"/>
            <a:chOff x="1813811" y="2113118"/>
            <a:chExt cx="7144524" cy="1449384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27661FB-91B6-D532-4497-659AEA0DC818}"/>
                </a:ext>
              </a:extLst>
            </p:cNvPr>
            <p:cNvSpPr/>
            <p:nvPr/>
          </p:nvSpPr>
          <p:spPr>
            <a:xfrm>
              <a:off x="2507640" y="2113118"/>
              <a:ext cx="2317923" cy="7983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2317923" y="0"/>
                  </a:moveTo>
                  <a:lnTo>
                    <a:pt x="2317923" y="399194"/>
                  </a:lnTo>
                  <a:lnTo>
                    <a:pt x="0" y="399194"/>
                  </a:lnTo>
                  <a:lnTo>
                    <a:pt x="0" y="798389"/>
                  </a:lnTo>
                </a:path>
              </a:pathLst>
            </a:custGeom>
            <a:noFill/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89B23E8-9B78-FA31-F1DF-5DEC371F7447}"/>
                </a:ext>
              </a:extLst>
            </p:cNvPr>
            <p:cNvSpPr/>
            <p:nvPr/>
          </p:nvSpPr>
          <p:spPr>
            <a:xfrm>
              <a:off x="1813811" y="2911508"/>
              <a:ext cx="1387658" cy="648005"/>
            </a:xfrm>
            <a:custGeom>
              <a:avLst/>
              <a:gdLst>
                <a:gd name="connsiteX0" fmla="*/ 0 w 1387658"/>
                <a:gd name="connsiteY0" fmla="*/ 64801 h 648005"/>
                <a:gd name="connsiteX1" fmla="*/ 64801 w 1387658"/>
                <a:gd name="connsiteY1" fmla="*/ 0 h 648005"/>
                <a:gd name="connsiteX2" fmla="*/ 1322858 w 1387658"/>
                <a:gd name="connsiteY2" fmla="*/ 0 h 648005"/>
                <a:gd name="connsiteX3" fmla="*/ 1387659 w 1387658"/>
                <a:gd name="connsiteY3" fmla="*/ 64801 h 648005"/>
                <a:gd name="connsiteX4" fmla="*/ 1387658 w 1387658"/>
                <a:gd name="connsiteY4" fmla="*/ 583205 h 648005"/>
                <a:gd name="connsiteX5" fmla="*/ 1322857 w 1387658"/>
                <a:gd name="connsiteY5" fmla="*/ 648006 h 648005"/>
                <a:gd name="connsiteX6" fmla="*/ 64801 w 1387658"/>
                <a:gd name="connsiteY6" fmla="*/ 648005 h 648005"/>
                <a:gd name="connsiteX7" fmla="*/ 0 w 1387658"/>
                <a:gd name="connsiteY7" fmla="*/ 583204 h 648005"/>
                <a:gd name="connsiteX8" fmla="*/ 0 w 1387658"/>
                <a:gd name="connsiteY8" fmla="*/ 64801 h 6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7658" h="648005">
                  <a:moveTo>
                    <a:pt x="0" y="64801"/>
                  </a:moveTo>
                  <a:cubicBezTo>
                    <a:pt x="0" y="29012"/>
                    <a:pt x="29012" y="0"/>
                    <a:pt x="64801" y="0"/>
                  </a:cubicBezTo>
                  <a:lnTo>
                    <a:pt x="1322858" y="0"/>
                  </a:lnTo>
                  <a:cubicBezTo>
                    <a:pt x="1358647" y="0"/>
                    <a:pt x="1387659" y="29012"/>
                    <a:pt x="1387659" y="64801"/>
                  </a:cubicBezTo>
                  <a:cubicBezTo>
                    <a:pt x="1387659" y="237602"/>
                    <a:pt x="1387658" y="410404"/>
                    <a:pt x="1387658" y="583205"/>
                  </a:cubicBezTo>
                  <a:cubicBezTo>
                    <a:pt x="1387658" y="618994"/>
                    <a:pt x="1358646" y="648006"/>
                    <a:pt x="1322857" y="648006"/>
                  </a:cubicBezTo>
                  <a:lnTo>
                    <a:pt x="64801" y="648005"/>
                  </a:lnTo>
                  <a:cubicBezTo>
                    <a:pt x="29012" y="648005"/>
                    <a:pt x="0" y="618993"/>
                    <a:pt x="0" y="583204"/>
                  </a:cubicBezTo>
                  <a:lnTo>
                    <a:pt x="0" y="64801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419" tIns="110419" rIns="110419" bIns="110419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400" kern="1200" dirty="0"/>
                <a:t>Primitive</a:t>
              </a: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57C682D-EDBD-A9BE-2881-8CCD27CE4A29}"/>
                </a:ext>
              </a:extLst>
            </p:cNvPr>
            <p:cNvSpPr/>
            <p:nvPr/>
          </p:nvSpPr>
          <p:spPr>
            <a:xfrm>
              <a:off x="4825564" y="2113118"/>
              <a:ext cx="3125128" cy="80137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00689"/>
                  </a:lnTo>
                  <a:lnTo>
                    <a:pt x="3125128" y="400689"/>
                  </a:lnTo>
                  <a:lnTo>
                    <a:pt x="3125128" y="801378"/>
                  </a:lnTo>
                </a:path>
              </a:pathLst>
            </a:custGeom>
            <a:noFill/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4FA003E-517C-CC74-9E1C-379F558436A9}"/>
                </a:ext>
              </a:extLst>
            </p:cNvPr>
            <p:cNvSpPr/>
            <p:nvPr/>
          </p:nvSpPr>
          <p:spPr>
            <a:xfrm>
              <a:off x="6943049" y="2914497"/>
              <a:ext cx="2015286" cy="648005"/>
            </a:xfrm>
            <a:custGeom>
              <a:avLst/>
              <a:gdLst>
                <a:gd name="connsiteX0" fmla="*/ 0 w 2015286"/>
                <a:gd name="connsiteY0" fmla="*/ 64801 h 648005"/>
                <a:gd name="connsiteX1" fmla="*/ 64801 w 2015286"/>
                <a:gd name="connsiteY1" fmla="*/ 0 h 648005"/>
                <a:gd name="connsiteX2" fmla="*/ 1950486 w 2015286"/>
                <a:gd name="connsiteY2" fmla="*/ 0 h 648005"/>
                <a:gd name="connsiteX3" fmla="*/ 2015287 w 2015286"/>
                <a:gd name="connsiteY3" fmla="*/ 64801 h 648005"/>
                <a:gd name="connsiteX4" fmla="*/ 2015286 w 2015286"/>
                <a:gd name="connsiteY4" fmla="*/ 583205 h 648005"/>
                <a:gd name="connsiteX5" fmla="*/ 1950485 w 2015286"/>
                <a:gd name="connsiteY5" fmla="*/ 648006 h 648005"/>
                <a:gd name="connsiteX6" fmla="*/ 64801 w 2015286"/>
                <a:gd name="connsiteY6" fmla="*/ 648005 h 648005"/>
                <a:gd name="connsiteX7" fmla="*/ 0 w 2015286"/>
                <a:gd name="connsiteY7" fmla="*/ 583204 h 648005"/>
                <a:gd name="connsiteX8" fmla="*/ 0 w 2015286"/>
                <a:gd name="connsiteY8" fmla="*/ 64801 h 6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5286" h="648005">
                  <a:moveTo>
                    <a:pt x="0" y="64801"/>
                  </a:moveTo>
                  <a:cubicBezTo>
                    <a:pt x="0" y="29012"/>
                    <a:pt x="29012" y="0"/>
                    <a:pt x="64801" y="0"/>
                  </a:cubicBezTo>
                  <a:lnTo>
                    <a:pt x="1950486" y="0"/>
                  </a:lnTo>
                  <a:cubicBezTo>
                    <a:pt x="1986275" y="0"/>
                    <a:pt x="2015287" y="29012"/>
                    <a:pt x="2015287" y="64801"/>
                  </a:cubicBezTo>
                  <a:cubicBezTo>
                    <a:pt x="2015287" y="237602"/>
                    <a:pt x="2015286" y="410404"/>
                    <a:pt x="2015286" y="583205"/>
                  </a:cubicBezTo>
                  <a:cubicBezTo>
                    <a:pt x="2015286" y="618994"/>
                    <a:pt x="1986274" y="648006"/>
                    <a:pt x="1950485" y="648006"/>
                  </a:cubicBezTo>
                  <a:lnTo>
                    <a:pt x="64801" y="648005"/>
                  </a:lnTo>
                  <a:cubicBezTo>
                    <a:pt x="29012" y="648005"/>
                    <a:pt x="0" y="618993"/>
                    <a:pt x="0" y="583204"/>
                  </a:cubicBezTo>
                  <a:lnTo>
                    <a:pt x="0" y="64801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419" tIns="110419" rIns="110419" bIns="110419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400" kern="1200" dirty="0"/>
                <a:t>Non-primitive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1E6B63-A5BB-CA6F-DF2D-9052C74EF139}"/>
              </a:ext>
            </a:extLst>
          </p:cNvPr>
          <p:cNvGrpSpPr/>
          <p:nvPr/>
        </p:nvGrpSpPr>
        <p:grpSpPr>
          <a:xfrm>
            <a:off x="7509441" y="3562502"/>
            <a:ext cx="1376864" cy="1647488"/>
            <a:chOff x="7509441" y="3562502"/>
            <a:chExt cx="882504" cy="1647488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3BB9866-1323-8E4C-3FE4-EEF71801A6EA}"/>
                </a:ext>
              </a:extLst>
            </p:cNvPr>
            <p:cNvSpPr/>
            <p:nvPr/>
          </p:nvSpPr>
          <p:spPr>
            <a:xfrm>
              <a:off x="7904973" y="3562502"/>
              <a:ext cx="91440" cy="9994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999483"/>
                  </a:lnTo>
                </a:path>
              </a:pathLst>
            </a:custGeom>
            <a:noFill/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FF1219E-6AD9-C588-8E22-EDDCDCEA9A10}"/>
                </a:ext>
              </a:extLst>
            </p:cNvPr>
            <p:cNvSpPr/>
            <p:nvPr/>
          </p:nvSpPr>
          <p:spPr>
            <a:xfrm>
              <a:off x="7509441" y="4561985"/>
              <a:ext cx="882504" cy="648005"/>
            </a:xfrm>
            <a:custGeom>
              <a:avLst/>
              <a:gdLst>
                <a:gd name="connsiteX0" fmla="*/ 0 w 882504"/>
                <a:gd name="connsiteY0" fmla="*/ 64801 h 648005"/>
                <a:gd name="connsiteX1" fmla="*/ 64801 w 882504"/>
                <a:gd name="connsiteY1" fmla="*/ 0 h 648005"/>
                <a:gd name="connsiteX2" fmla="*/ 817704 w 882504"/>
                <a:gd name="connsiteY2" fmla="*/ 0 h 648005"/>
                <a:gd name="connsiteX3" fmla="*/ 882505 w 882504"/>
                <a:gd name="connsiteY3" fmla="*/ 64801 h 648005"/>
                <a:gd name="connsiteX4" fmla="*/ 882504 w 882504"/>
                <a:gd name="connsiteY4" fmla="*/ 583205 h 648005"/>
                <a:gd name="connsiteX5" fmla="*/ 817703 w 882504"/>
                <a:gd name="connsiteY5" fmla="*/ 648006 h 648005"/>
                <a:gd name="connsiteX6" fmla="*/ 64801 w 882504"/>
                <a:gd name="connsiteY6" fmla="*/ 648005 h 648005"/>
                <a:gd name="connsiteX7" fmla="*/ 0 w 882504"/>
                <a:gd name="connsiteY7" fmla="*/ 583204 h 648005"/>
                <a:gd name="connsiteX8" fmla="*/ 0 w 882504"/>
                <a:gd name="connsiteY8" fmla="*/ 64801 h 6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2504" h="648005">
                  <a:moveTo>
                    <a:pt x="0" y="64801"/>
                  </a:moveTo>
                  <a:cubicBezTo>
                    <a:pt x="0" y="29012"/>
                    <a:pt x="29012" y="0"/>
                    <a:pt x="64801" y="0"/>
                  </a:cubicBezTo>
                  <a:lnTo>
                    <a:pt x="817704" y="0"/>
                  </a:lnTo>
                  <a:cubicBezTo>
                    <a:pt x="853493" y="0"/>
                    <a:pt x="882505" y="29012"/>
                    <a:pt x="882505" y="64801"/>
                  </a:cubicBezTo>
                  <a:cubicBezTo>
                    <a:pt x="882505" y="237602"/>
                    <a:pt x="882504" y="410404"/>
                    <a:pt x="882504" y="583205"/>
                  </a:cubicBezTo>
                  <a:cubicBezTo>
                    <a:pt x="882504" y="618994"/>
                    <a:pt x="853492" y="648006"/>
                    <a:pt x="817703" y="648006"/>
                  </a:cubicBezTo>
                  <a:lnTo>
                    <a:pt x="64801" y="648005"/>
                  </a:lnTo>
                  <a:cubicBezTo>
                    <a:pt x="29012" y="648005"/>
                    <a:pt x="0" y="618993"/>
                    <a:pt x="0" y="583204"/>
                  </a:cubicBezTo>
                  <a:lnTo>
                    <a:pt x="0" y="64801"/>
                  </a:lnTo>
                  <a:close/>
                </a:path>
              </a:pathLst>
            </a:cu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419" tIns="110419" rIns="110419" bIns="110419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400" kern="1200"/>
                <a:t>Class</a:t>
              </a:r>
              <a:endParaRPr lang="en-IN" sz="2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8653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A2011-8251-6E01-2568-EEB98F32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C844-A625-46A9-BB6A-C8A2903E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Primitive Data Types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8079A930-05C6-C6C8-DBFD-C9EF6869AE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9304656"/>
              </p:ext>
            </p:extLst>
          </p:nvPr>
        </p:nvGraphicFramePr>
        <p:xfrm>
          <a:off x="1714500" y="879304"/>
          <a:ext cx="8763001" cy="2240806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1659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3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Type</a:t>
                      </a:r>
                      <a:endParaRPr lang="en-US" b="1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Size</a:t>
                      </a:r>
                      <a:endParaRPr lang="en-US" b="1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Range</a:t>
                      </a:r>
                      <a:endParaRPr lang="en-US" b="1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Example</a:t>
                      </a:r>
                      <a:endParaRPr lang="en-US" b="1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byte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  <a:r>
                        <a:rPr lang="en-IN" baseline="0" dirty="0"/>
                        <a:t> Byte</a:t>
                      </a:r>
                      <a:endParaRPr lang="en-US" dirty="0">
                        <a:latin typeface="+mj-lt"/>
                        <a:cs typeface="Mongolian Baiti" pitchFamily="66" charset="0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-128 to 127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byte  a = 10;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3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short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/>
                        <a:t>2 Bytes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Mongolian Baiti" pitchFamily="66" charset="0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-32,768 to 32,767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short a = 200;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int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/>
                        <a:t>4 Bytes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Mongolian Baiti" pitchFamily="66" charset="0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-2,147,483,648</a:t>
                      </a:r>
                      <a:r>
                        <a:rPr lang="en-IN" baseline="0" dirty="0"/>
                        <a:t> to </a:t>
                      </a:r>
                      <a:r>
                        <a:rPr lang="en-IN" dirty="0"/>
                        <a:t>2,147,483,647</a:t>
                      </a:r>
                      <a:endParaRPr lang="en-IN" baseline="0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int</a:t>
                      </a:r>
                      <a:r>
                        <a:rPr lang="en-IN" dirty="0"/>
                        <a:t> a = 50000;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45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long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/>
                        <a:t>8 Bytes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Mongolian Baiti" pitchFamily="66" charset="0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/>
                        <a:t>-9,223,372,036,854,775,808 to 9,223,372,036,854,775,807</a:t>
                      </a:r>
                      <a:endParaRPr lang="en-IN" baseline="0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long a = 20;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51AF0F-3560-EA15-C19F-CD3032FA8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834141"/>
              </p:ext>
            </p:extLst>
          </p:nvPr>
        </p:nvGraphicFramePr>
        <p:xfrm>
          <a:off x="1714499" y="3120107"/>
          <a:ext cx="8763001" cy="1929880"/>
        </p:xfrm>
        <a:graphic>
          <a:graphicData uri="http://schemas.openxmlformats.org/drawingml/2006/table">
            <a:tbl>
              <a:tblPr bandRow="1" bandCol="1">
                <a:tableStyleId>{7E9639D4-E3E2-4D34-9284-5A2195B3D0D7}</a:tableStyleId>
              </a:tblPr>
              <a:tblGrid>
                <a:gridCol w="1659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49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float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/>
                        <a:t>4 Bytes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Mongolian Baiti" pitchFamily="66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>
                          <a:latin typeface="+mj-lt"/>
                        </a:rPr>
                        <a:t>1.4e-045 to 3.4e+038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float a = 10.2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IN" dirty="0"/>
                        <a:t>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9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double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/>
                        <a:t>8 Bytes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Mongolian Baiti" pitchFamily="66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>
                          <a:latin typeface="+mj-lt"/>
                        </a:rPr>
                        <a:t>4.9e-324 to 1.8e+308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double a =</a:t>
                      </a:r>
                      <a:r>
                        <a:rPr lang="en-IN" baseline="0" dirty="0"/>
                        <a:t> 10.2;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786887-0618-6993-F69B-B60999B6F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259346"/>
              </p:ext>
            </p:extLst>
          </p:nvPr>
        </p:nvGraphicFramePr>
        <p:xfrm>
          <a:off x="1714498" y="5048616"/>
          <a:ext cx="8763001" cy="675458"/>
        </p:xfrm>
        <a:graphic>
          <a:graphicData uri="http://schemas.openxmlformats.org/drawingml/2006/table">
            <a:tbl>
              <a:tblPr bandRow="1" bandCol="1">
                <a:tableStyleId>{7E9639D4-E3E2-4D34-9284-5A2195B3D0D7}</a:tableStyleId>
              </a:tblPr>
              <a:tblGrid>
                <a:gridCol w="1659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545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char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rgbClr val="CEE1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kern="1200" dirty="0"/>
                        <a:t>2 Bytes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Mongolian Baiti" pitchFamily="66" charset="0"/>
                      </a:endParaRPr>
                    </a:p>
                  </a:txBody>
                  <a:tcPr>
                    <a:solidFill>
                      <a:srgbClr val="CEE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0 to 65536  (Stores ASCII of character)</a:t>
                      </a:r>
                      <a:endParaRPr lang="en-IN" baseline="0" dirty="0">
                        <a:latin typeface="+mj-lt"/>
                      </a:endParaRPr>
                    </a:p>
                  </a:txBody>
                  <a:tcPr>
                    <a:solidFill>
                      <a:srgbClr val="CEE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char a = ‘a’;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rgbClr val="CEE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50FFB-E7BB-DED3-CBEA-C404ECCCB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6316"/>
              </p:ext>
            </p:extLst>
          </p:nvPr>
        </p:nvGraphicFramePr>
        <p:xfrm>
          <a:off x="1714497" y="5724074"/>
          <a:ext cx="8763001" cy="391337"/>
        </p:xfrm>
        <a:graphic>
          <a:graphicData uri="http://schemas.openxmlformats.org/drawingml/2006/table">
            <a:tbl>
              <a:tblPr bandRow="1" bandCol="1">
                <a:tableStyleId>{7E9639D4-E3E2-4D34-9284-5A2195B3D0D7}</a:tableStyleId>
              </a:tblPr>
              <a:tblGrid>
                <a:gridCol w="1659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337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boolean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rgbClr val="EFC3C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/>
                        <a:t>1 Byte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Mongolian Baiti" pitchFamily="66" charset="0"/>
                      </a:endParaRPr>
                    </a:p>
                  </a:txBody>
                  <a:tcPr>
                    <a:solidFill>
                      <a:srgbClr val="EFC3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/>
                        <a:t> true or false</a:t>
                      </a:r>
                      <a:endParaRPr lang="en-US" dirty="0">
                        <a:latin typeface="+mj-lt"/>
                      </a:endParaRPr>
                    </a:p>
                  </a:txBody>
                  <a:tcPr marL="30480" marR="30480" marT="30480" marB="30480">
                    <a:solidFill>
                      <a:srgbClr val="EFC3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boolean</a:t>
                      </a:r>
                      <a:r>
                        <a:rPr lang="en-IN" dirty="0"/>
                        <a:t> a = true;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rgbClr val="EFC3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7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4672-C34C-6F52-8BB4-FF30C57E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8D76F-EA8D-2E0A-2BD2-89D7092E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Escape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1B02-1CF5-19C5-A586-17DC12C40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Escape sequences in general are used to signal an alternative interpretation of a series of characters.</a:t>
            </a:r>
          </a:p>
          <a:p>
            <a:r>
              <a:rPr lang="en-US" dirty="0"/>
              <a:t>For example, if you want to put quotes within quotes you must use the escape sequence, </a:t>
            </a:r>
            <a:r>
              <a:rPr lang="en-US" dirty="0">
                <a:latin typeface="Consolas" panose="020B0609020204030204" pitchFamily="49" charset="0"/>
              </a:rPr>
              <a:t>\</a:t>
            </a:r>
            <a:r>
              <a:rPr lang="en-US" dirty="0"/>
              <a:t>", on the interior quotes.</a:t>
            </a:r>
          </a:p>
          <a:p>
            <a:pPr marL="0" indent="0" algn="ctr">
              <a:buNone/>
            </a:pPr>
            <a:r>
              <a:rPr lang="en-US" b="1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b="1" i="1" dirty="0" err="1">
                <a:solidFill>
                  <a:srgbClr val="000000"/>
                </a:solidFill>
                <a:latin typeface="Consolas"/>
              </a:rPr>
              <a:t>out.println</a:t>
            </a:r>
            <a:r>
              <a:rPr lang="en-US" b="1" i="1" dirty="0">
                <a:solidFill>
                  <a:srgbClr val="000000"/>
                </a:solidFill>
                <a:latin typeface="Consolas"/>
              </a:rPr>
              <a:t>("Good Morning \"World\"");</a:t>
            </a:r>
            <a:endParaRPr lang="en-IN" b="1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E08840-9252-5444-07F9-EB2F327DF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437534"/>
              </p:ext>
            </p:extLst>
          </p:nvPr>
        </p:nvGraphicFramePr>
        <p:xfrm>
          <a:off x="608337" y="3134360"/>
          <a:ext cx="8534400" cy="2595880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28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Escape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\’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Single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 quote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\”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Double quote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\\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Backslash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\r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Carriage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\n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 Line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Tab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47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C0A4-C191-48C5-4659-207F5A8E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3D3C-BFCA-ECEA-68D1-930567EBC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Type Casting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A89B6-2361-8A4D-1D17-3B8E1CBF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Assigning a value of one type to a variable of another type is known as Type Casting.</a:t>
            </a:r>
          </a:p>
          <a:p>
            <a:r>
              <a:rPr lang="en-US" dirty="0"/>
              <a:t>In Java, type casting is classified into two types,</a:t>
            </a:r>
          </a:p>
          <a:p>
            <a:pPr marL="914400" lvl="1" indent="-457200"/>
            <a:r>
              <a:rPr lang="en-US" dirty="0"/>
              <a:t>Widening/Automatic Type Casting (Implicit)</a:t>
            </a:r>
          </a:p>
          <a:p>
            <a:pPr marL="914400" lvl="1" indent="-457200">
              <a:buNone/>
            </a:pPr>
            <a:endParaRPr lang="en-IN" dirty="0"/>
          </a:p>
          <a:p>
            <a:pPr marL="914400" lvl="1" indent="-457200">
              <a:buNone/>
            </a:pPr>
            <a:endParaRPr lang="en-IN" dirty="0"/>
          </a:p>
          <a:p>
            <a:pPr marL="914400" lvl="1" indent="-457200">
              <a:buNone/>
            </a:pPr>
            <a:endParaRPr lang="en-IN" dirty="0"/>
          </a:p>
          <a:p>
            <a:pPr marL="914400" lvl="1" indent="-457200">
              <a:buNone/>
            </a:pPr>
            <a:endParaRPr lang="en-IN" dirty="0"/>
          </a:p>
          <a:p>
            <a:pPr marL="914400" lvl="1" indent="-457200">
              <a:buNone/>
            </a:pPr>
            <a:endParaRPr lang="en-IN" dirty="0"/>
          </a:p>
          <a:p>
            <a:pPr marL="914400" lvl="1" indent="-457200"/>
            <a:r>
              <a:rPr lang="en-US" dirty="0"/>
              <a:t>Narrowing Type Casting(Explicitly done)</a:t>
            </a:r>
          </a:p>
          <a:p>
            <a:pPr marL="914400" lvl="1" indent="-45720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4" descr="narrowing-type-conversion">
            <a:extLst>
              <a:ext uri="{FF2B5EF4-FFF2-40B4-BE49-F238E27FC236}">
                <a16:creationId xmlns:a16="http://schemas.microsoft.com/office/drawing/2014/main" id="{8E0A0A0A-D648-244B-EA20-C982FB0EF9F7}"/>
              </a:ext>
            </a:extLst>
          </p:cNvPr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4934" y="4460281"/>
            <a:ext cx="6120000" cy="1620000"/>
          </a:xfrm>
          <a:prstGeom prst="rect">
            <a:avLst/>
          </a:prstGeom>
          <a:noFill/>
        </p:spPr>
      </p:pic>
      <p:pic>
        <p:nvPicPr>
          <p:cNvPr id="5" name="Picture 2" descr="widening-type-conversion">
            <a:extLst>
              <a:ext uri="{FF2B5EF4-FFF2-40B4-BE49-F238E27FC236}">
                <a16:creationId xmlns:a16="http://schemas.microsoft.com/office/drawing/2014/main" id="{E594C680-DFD8-78AD-D5B6-B14C1080620E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4934" y="2124422"/>
            <a:ext cx="6120000" cy="162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81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2AFA-DF79-9F6D-7631-EAA707E4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6F07-BFAB-5367-6112-E4C04356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Automatic 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E77A-8EB6-AC72-535B-D205EF210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When one type of data is assigned to other type of variable , an </a:t>
            </a:r>
            <a:r>
              <a:rPr lang="en-US" i="1" dirty="0"/>
              <a:t>automatic type conversion</a:t>
            </a:r>
            <a:r>
              <a:rPr lang="en-US" dirty="0"/>
              <a:t> will take place if the following two conditions are satisfied:</a:t>
            </a:r>
          </a:p>
          <a:p>
            <a:pPr lvl="1"/>
            <a:r>
              <a:rPr lang="en-US" dirty="0"/>
              <a:t>The two types are compatible</a:t>
            </a:r>
          </a:p>
          <a:p>
            <a:pPr lvl="1"/>
            <a:r>
              <a:rPr lang="en-US" dirty="0"/>
              <a:t>The destination type is larger than the source type</a:t>
            </a:r>
          </a:p>
          <a:p>
            <a:r>
              <a:rPr lang="en-US" dirty="0"/>
              <a:t>Such type of casting is called “</a:t>
            </a:r>
            <a:r>
              <a:rPr lang="en-US" i="1" dirty="0"/>
              <a:t>widening conversion”.</a:t>
            </a:r>
          </a:p>
          <a:p>
            <a:r>
              <a:rPr lang="en-US" dirty="0"/>
              <a:t>Example:</a:t>
            </a:r>
          </a:p>
          <a:p>
            <a:pPr lvl="1">
              <a:buNone/>
            </a:pPr>
            <a:r>
              <a:rPr lang="en-US" dirty="0" err="1"/>
              <a:t>int</a:t>
            </a:r>
            <a:r>
              <a:rPr lang="en-US" dirty="0"/>
              <a:t> can always hold values of byte and short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A67C5-791E-7D24-038A-BD0223DB7B98}"/>
              </a:ext>
            </a:extLst>
          </p:cNvPr>
          <p:cNvSpPr txBox="1"/>
          <p:nvPr/>
        </p:nvSpPr>
        <p:spPr>
          <a:xfrm>
            <a:off x="732213" y="3658726"/>
            <a:ext cx="5867400" cy="1477328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71B1C"/>
                </a:solidFill>
                <a:latin typeface="Consolas"/>
              </a:rPr>
              <a:t>public static void main(String[] </a:t>
            </a:r>
            <a:r>
              <a:rPr lang="en-US" b="1" dirty="0" err="1">
                <a:solidFill>
                  <a:srgbClr val="B71B1C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B71B1C"/>
                </a:solidFill>
                <a:latin typeface="Consolas"/>
              </a:rPr>
              <a:t>) {</a:t>
            </a:r>
          </a:p>
          <a:p>
            <a:pPr lvl="1"/>
            <a:r>
              <a:rPr lang="en-US" b="1" dirty="0">
                <a:solidFill>
                  <a:srgbClr val="B71B1C"/>
                </a:solidFill>
                <a:latin typeface="Consolas"/>
              </a:rPr>
              <a:t>byte b = 5;</a:t>
            </a:r>
          </a:p>
          <a:p>
            <a:pPr lvl="1"/>
            <a:r>
              <a:rPr lang="en-US" b="1" dirty="0">
                <a:solidFill>
                  <a:srgbClr val="B71B1C"/>
                </a:solidFill>
                <a:latin typeface="Consolas"/>
              </a:rPr>
              <a:t>//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√ this is correct</a:t>
            </a:r>
          </a:p>
          <a:p>
            <a:pPr lvl="1"/>
            <a:r>
              <a:rPr lang="en-US" b="1" dirty="0" err="1">
                <a:solidFill>
                  <a:srgbClr val="B71B1C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B71B1C"/>
                </a:solidFill>
                <a:latin typeface="Consolas"/>
              </a:rPr>
              <a:t> a = b; 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4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5E65C-321A-6CE7-0515-EE52D252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73BD-61F5-9193-6427-0EE9143C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Casting Incompatible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33CDE-0970-77A6-CA2D-1EF1FA88E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To create a conversion between two incompatible types, you must use a </a:t>
            </a:r>
            <a:r>
              <a:rPr lang="en-US" i="1" dirty="0"/>
              <a:t>cast</a:t>
            </a:r>
          </a:p>
          <a:p>
            <a:r>
              <a:rPr lang="en-US" dirty="0"/>
              <a:t>A </a:t>
            </a:r>
            <a:r>
              <a:rPr lang="en-US" i="1" dirty="0"/>
              <a:t>cast</a:t>
            </a:r>
            <a:r>
              <a:rPr lang="en-US" dirty="0"/>
              <a:t> is an explicit type conversion.</a:t>
            </a:r>
          </a:p>
          <a:p>
            <a:r>
              <a:rPr lang="en-US" dirty="0"/>
              <a:t>Such type is called “</a:t>
            </a:r>
            <a:r>
              <a:rPr lang="en-US" i="1" dirty="0"/>
              <a:t>narrowing conversion”.</a:t>
            </a:r>
            <a:endParaRPr lang="en-US" dirty="0"/>
          </a:p>
          <a:p>
            <a:r>
              <a:rPr lang="en-US" dirty="0"/>
              <a:t>Syntax:</a:t>
            </a:r>
          </a:p>
          <a:p>
            <a:pPr lvl="1">
              <a:buNone/>
            </a:pPr>
            <a:r>
              <a:rPr lang="en-US" dirty="0"/>
              <a:t>(target-type) value</a:t>
            </a:r>
          </a:p>
          <a:p>
            <a:r>
              <a:rPr lang="en-US" dirty="0"/>
              <a:t>Example: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62E95-CE76-8383-6154-42EC86894548}"/>
              </a:ext>
            </a:extLst>
          </p:cNvPr>
          <p:cNvSpPr txBox="1"/>
          <p:nvPr/>
        </p:nvSpPr>
        <p:spPr>
          <a:xfrm>
            <a:off x="690649" y="3530138"/>
            <a:ext cx="5867400" cy="203132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/>
              </a:rPr>
              <a:t>public static void main(String[] </a:t>
            </a:r>
            <a:r>
              <a:rPr lang="en-US" b="1" dirty="0" err="1">
                <a:solidFill>
                  <a:srgbClr val="C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) {</a:t>
            </a:r>
          </a:p>
          <a:p>
            <a:pPr lvl="1"/>
            <a:r>
              <a:rPr lang="en-US" b="1" dirty="0" err="1">
                <a:solidFill>
                  <a:srgbClr val="C00000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 a = 5;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nsolas"/>
              </a:rPr>
              <a:t>// × this is not correct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latin typeface="Consolas"/>
              </a:rPr>
              <a:t>byte b = a; 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nsolas"/>
              </a:rPr>
              <a:t>// √ this is correct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latin typeface="Consolas"/>
              </a:rPr>
              <a:t>byte b = (byte)a ;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0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6916-63A1-1F86-1FC8-299A59B0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F71A-1DE3-4C32-DE47-C1F87439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Java Command Line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CA8CF-C9DD-336F-3FE9-F608C9C0D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3"/>
            <a:ext cx="11929641" cy="5590565"/>
          </a:xfrm>
        </p:spPr>
        <p:txBody>
          <a:bodyPr/>
          <a:lstStyle/>
          <a:p>
            <a:r>
              <a:rPr lang="en-US" dirty="0"/>
              <a:t>The java command-line argument is an argument i.e. passed at the time of running the java program.</a:t>
            </a:r>
          </a:p>
          <a:p>
            <a:r>
              <a:rPr lang="en-US" dirty="0"/>
              <a:t>The arguments passed from the console can be received in the java program and it can be used as an input.</a:t>
            </a:r>
          </a:p>
          <a:p>
            <a:r>
              <a:rPr lang="en-US" dirty="0"/>
              <a:t>So, it provides a convenient way to check the behavior of the program for the different values. You can pass N (1,2,3 and so on) numbers of arguments from the command prompt.</a:t>
            </a:r>
          </a:p>
          <a:p>
            <a:r>
              <a:rPr lang="en-US" dirty="0"/>
              <a:t>Example: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2F08A-6E8A-05E8-7E24-96CFF9425078}"/>
              </a:ext>
            </a:extLst>
          </p:cNvPr>
          <p:cNvSpPr txBox="1"/>
          <p:nvPr/>
        </p:nvSpPr>
        <p:spPr>
          <a:xfrm>
            <a:off x="671599" y="3658726"/>
            <a:ext cx="5867400" cy="175432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/>
              </a:rPr>
              <a:t>class </a:t>
            </a:r>
            <a:r>
              <a:rPr lang="en-US" b="1" dirty="0" err="1">
                <a:solidFill>
                  <a:srgbClr val="C00000"/>
                </a:solidFill>
                <a:latin typeface="Consolas"/>
              </a:rPr>
              <a:t>CommandLineExample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{  </a:t>
            </a:r>
          </a:p>
          <a:p>
            <a:r>
              <a:rPr lang="en-US" b="1" dirty="0">
                <a:solidFill>
                  <a:srgbClr val="C00000"/>
                </a:solidFill>
                <a:latin typeface="Consolas"/>
              </a:rPr>
              <a:t>public static void main(String </a:t>
            </a:r>
            <a:r>
              <a:rPr lang="en-US" b="1" dirty="0" err="1">
                <a:solidFill>
                  <a:srgbClr val="C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[]){  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/>
              </a:rPr>
              <a:t>System.out.println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("Your first argument is: "+</a:t>
            </a:r>
            <a:r>
              <a:rPr lang="en-US" b="1" dirty="0" err="1">
                <a:solidFill>
                  <a:srgbClr val="C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[0]);  </a:t>
            </a:r>
          </a:p>
          <a:p>
            <a:r>
              <a:rPr lang="en-US" b="1" dirty="0">
                <a:solidFill>
                  <a:srgbClr val="C00000"/>
                </a:solidFill>
                <a:latin typeface="Consolas"/>
              </a:rPr>
              <a:t>}  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}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AA8B2-1DCE-E767-CC47-70987F29E151}"/>
              </a:ext>
            </a:extLst>
          </p:cNvPr>
          <p:cNvSpPr txBox="1"/>
          <p:nvPr/>
        </p:nvSpPr>
        <p:spPr>
          <a:xfrm>
            <a:off x="6648450" y="3658726"/>
            <a:ext cx="5412370" cy="1477328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/>
              </a:rPr>
              <a:t>compile by &gt; </a:t>
            </a:r>
            <a:r>
              <a:rPr lang="en-US" b="1" dirty="0" err="1">
                <a:solidFill>
                  <a:srgbClr val="C00000"/>
                </a:solidFill>
                <a:latin typeface="Consolas"/>
              </a:rPr>
              <a:t>javac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 CommandLineExample.java  </a:t>
            </a:r>
          </a:p>
          <a:p>
            <a:r>
              <a:rPr lang="en-US" b="1" dirty="0">
                <a:solidFill>
                  <a:srgbClr val="C00000"/>
                </a:solidFill>
                <a:latin typeface="Consolas"/>
              </a:rPr>
              <a:t>run by &gt; java </a:t>
            </a:r>
            <a:r>
              <a:rPr lang="en-US" b="1" dirty="0" err="1">
                <a:solidFill>
                  <a:srgbClr val="C00000"/>
                </a:solidFill>
                <a:latin typeface="Consolas"/>
              </a:rPr>
              <a:t>CommandLineExample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/>
              </a:rPr>
              <a:t>sonoo</a:t>
            </a:r>
            <a:r>
              <a:rPr lang="en-US" b="1" dirty="0">
                <a:solidFill>
                  <a:srgbClr val="C00000"/>
                </a:solidFill>
                <a:latin typeface="Consolas"/>
              </a:rPr>
              <a:t> </a:t>
            </a:r>
          </a:p>
          <a:p>
            <a:endParaRPr lang="en-US" b="1" dirty="0">
              <a:solidFill>
                <a:srgbClr val="C00000"/>
              </a:solidFill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</a:rPr>
              <a:t>Output: Your first argument is: </a:t>
            </a:r>
            <a:r>
              <a:rPr lang="en-US" dirty="0" err="1">
                <a:solidFill>
                  <a:srgbClr val="000000"/>
                </a:solidFill>
              </a:rPr>
              <a:t>sonoo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61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5" animBg="1"/>
      <p:bldP spid="5" grpId="0" build="p" bldLvl="5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E460-556F-D41A-CED8-D245BE0D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7068-E6FC-1D5F-1931-E061040F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8243B-F324-3524-DC5E-A2A95C07E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571500" indent="-571500">
              <a:buFont typeface="+mj-lt"/>
              <a:buAutoNum type="arabicPeriod"/>
            </a:pPr>
            <a:r>
              <a:rPr lang="en-US" dirty="0"/>
              <a:t>Arithmetic Operators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/>
              <a:t>Relational Operators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/>
              <a:t>Bitwise Operators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/>
              <a:t>Logical Operators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/>
              <a:t>Assignment Operators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/>
              <a:t>Conditional / Ternary Operator</a:t>
            </a:r>
          </a:p>
          <a:p>
            <a:pPr marL="571500" indent="-571500">
              <a:buFont typeface="+mj-lt"/>
              <a:buAutoNum type="arabicPeriod"/>
            </a:pPr>
            <a:r>
              <a:rPr lang="en-IN" dirty="0"/>
              <a:t>Instance of Operator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8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6918-6C1B-12DC-AB89-872D2B1DD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9998-C3A4-313C-3DEF-125B17784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Arithmetic Operator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8D4C9-F86F-19AA-FBA8-DABF7D026761}"/>
              </a:ext>
            </a:extLst>
          </p:cNvPr>
          <p:cNvSpPr txBox="1"/>
          <p:nvPr/>
        </p:nvSpPr>
        <p:spPr>
          <a:xfrm>
            <a:off x="0" y="711201"/>
            <a:ext cx="2286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Note : </a:t>
            </a:r>
            <a:r>
              <a:rPr lang="en-IN" dirty="0"/>
              <a:t>A = 10 &amp; B = 20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AC25DB-3FF2-8E78-54BB-CC7E9B4A5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0889598"/>
              </p:ext>
            </p:extLst>
          </p:nvPr>
        </p:nvGraphicFramePr>
        <p:xfrm>
          <a:off x="1790700" y="1269000"/>
          <a:ext cx="8610600" cy="4320000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1242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2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Operator</a:t>
                      </a:r>
                      <a:endParaRPr lang="en-US" sz="2000" b="1" dirty="0"/>
                    </a:p>
                  </a:txBody>
                  <a:tcPr marL="28287" marR="28287" marT="28287" marB="282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en-US" sz="2000" b="1" dirty="0"/>
                    </a:p>
                  </a:txBody>
                  <a:tcPr marL="28287" marR="28287" marT="28287" marB="282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Example</a:t>
                      </a:r>
                      <a:endParaRPr lang="en-US" sz="2000" b="1" dirty="0"/>
                    </a:p>
                  </a:txBody>
                  <a:tcPr marL="28287" marR="28287" marT="28287" marB="2828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+ B = 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- B = 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* B = 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 / A 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Modulus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 % A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B++ = 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B-- = 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90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B9FB-87BE-D878-A06A-7DF50115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42D2-67EF-3222-9D97-40E2781E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3974A-3B83-840D-1E16-0BBF7FCFA8B0}"/>
              </a:ext>
            </a:extLst>
          </p:cNvPr>
          <p:cNvSpPr txBox="1"/>
          <p:nvPr/>
        </p:nvSpPr>
        <p:spPr>
          <a:xfrm>
            <a:off x="0" y="721598"/>
            <a:ext cx="2286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Note : </a:t>
            </a:r>
            <a:r>
              <a:rPr lang="en-IN" dirty="0"/>
              <a:t>A = 10 &amp; B = 20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E7067B-EE9A-849C-2F86-0880638336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480946"/>
              </p:ext>
            </p:extLst>
          </p:nvPr>
        </p:nvGraphicFramePr>
        <p:xfrm>
          <a:off x="1905000" y="1470660"/>
          <a:ext cx="8610600" cy="3780000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1242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2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j-lt"/>
                        </a:rPr>
                        <a:t>Operator</a:t>
                      </a:r>
                      <a:endParaRPr lang="en-US" sz="2000" b="1" dirty="0">
                        <a:latin typeface="+mj-lt"/>
                      </a:endParaRPr>
                    </a:p>
                  </a:txBody>
                  <a:tcPr marL="28287" marR="28287" marT="28287" marB="282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j-lt"/>
                        </a:rPr>
                        <a:t>Description</a:t>
                      </a:r>
                      <a:endParaRPr lang="en-US" sz="2000" b="1" dirty="0">
                        <a:latin typeface="+mj-lt"/>
                      </a:endParaRPr>
                    </a:p>
                  </a:txBody>
                  <a:tcPr marL="28287" marR="28287" marT="28287" marB="282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j-lt"/>
                        </a:rPr>
                        <a:t>Example</a:t>
                      </a:r>
                      <a:endParaRPr lang="en-US" sz="2000" b="1" dirty="0">
                        <a:latin typeface="+mj-lt"/>
                      </a:endParaRPr>
                    </a:p>
                  </a:txBody>
                  <a:tcPr marL="28287" marR="28287" marT="28287" marB="2828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Equals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(A == B) is not true.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Not Equals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(A != B) is true.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(A &gt; B) is not true.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(A &lt; B) is true.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Greater than</a:t>
                      </a:r>
                      <a:r>
                        <a:rPr lang="en-US" sz="2000" baseline="0" dirty="0">
                          <a:latin typeface="+mn-lt"/>
                        </a:rPr>
                        <a:t> equals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(A &gt;= B) is not true.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Less than equals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(A &lt;= B) is true.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8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0E2FE-9162-6BF0-4D3A-D3613A2AC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AE55-332A-93DA-FC7F-86DBD53C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Bitwise Operators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69648-9B8F-F9FD-17CB-130518DEE5C3}"/>
              </a:ext>
            </a:extLst>
          </p:cNvPr>
          <p:cNvSpPr txBox="1"/>
          <p:nvPr/>
        </p:nvSpPr>
        <p:spPr>
          <a:xfrm>
            <a:off x="0" y="711201"/>
            <a:ext cx="22860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Note : </a:t>
            </a:r>
            <a:r>
              <a:rPr lang="en-IN" dirty="0"/>
              <a:t>A = 60 &amp; B = 13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6BC9C0-6CE3-8193-0002-106EE0B1B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90248"/>
              </p:ext>
            </p:extLst>
          </p:nvPr>
        </p:nvGraphicFramePr>
        <p:xfrm>
          <a:off x="1790701" y="1170495"/>
          <a:ext cx="8610598" cy="4694400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Binary AND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 &amp; B = 12 which is 0000 1100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Binary OR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 | B = 61 which is 0011 1101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Binary XOR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 ^ B = 49 which is 0011 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Binary Ones Complement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~A  = -61 which is 1100 0011 in 2's complement form due to a signed binary number.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Binary Left Shift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 &lt;&lt; 2 = 240 which is 1111 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Binary Right Shift Operator.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 &gt;&gt; 2 = 15 which is 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&gt;&gt;&gt;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Shift right zero fill operator.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 &gt;&gt;&gt;2 = 15 which is 0000 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87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0EDE-937F-9939-D1A8-4AB1A331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3629-46A0-EE93-7322-63104A1EF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Logical Operators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BF183-3394-1BC8-0CEF-F415618A7CFC}"/>
              </a:ext>
            </a:extLst>
          </p:cNvPr>
          <p:cNvSpPr txBox="1"/>
          <p:nvPr/>
        </p:nvSpPr>
        <p:spPr>
          <a:xfrm>
            <a:off x="0" y="738939"/>
            <a:ext cx="2819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Note : </a:t>
            </a:r>
            <a:r>
              <a:rPr lang="en-IN" dirty="0"/>
              <a:t>A = true &amp; B = false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E5DDF4-A503-13EF-96FD-AA25F7DA4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758534"/>
              </p:ext>
            </p:extLst>
          </p:nvPr>
        </p:nvGraphicFramePr>
        <p:xfrm>
          <a:off x="1943100" y="1269000"/>
          <a:ext cx="8305799" cy="2160000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1883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Operator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Example</a:t>
                      </a:r>
                      <a:endParaRPr 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Logical AND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(A &amp;&amp; B) is false.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Logical OR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(A || B) is true.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Logical NOT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!(A &amp;&amp; B) is true.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53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C4E2-D8E5-AC8A-EEE2-BA2485CC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B917-3541-576F-53B6-4093209A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10F1FA-8EB2-922E-CEF7-8DDF0D689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073407"/>
              </p:ext>
            </p:extLst>
          </p:nvPr>
        </p:nvGraphicFramePr>
        <p:xfrm>
          <a:off x="890587" y="838201"/>
          <a:ext cx="10410826" cy="4752000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146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2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Operator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Description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Example</a:t>
                      </a:r>
                      <a:endParaRPr 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Simple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 = A + B will assign value of A + B into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Add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 += A is equivalent to C = C +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Subtract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 -= A is equivalent to C = C -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Multiply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 *= A is equivalent to C = C *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Divide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 /= A is equivalent to C = C /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Modulus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 %= A is equivalent to C = C %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Left shift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 &lt;&lt;= 2 is same as C = C &lt;&lt;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&gt;&gt;=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Right shift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 &gt;&gt;= 2 is same as C = C &gt;&gt;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&amp;=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Bitwise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 &amp;= 2 is same as C = C &amp;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^=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bitwise exclusive OR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 ^= 2 is same as C = C ^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|=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bitwise inclusive OR and assignment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 |= 2 is same as C = C |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89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F3AA-03AC-0503-EAF4-B1FC04D2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B72F-2BC8-BA25-610B-42CDE9CB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Conditional Operator (Ternary)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C48DB-3F37-226E-FCFE-F8D369E6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Conditional Operator ( ? : )</a:t>
            </a:r>
          </a:p>
          <a:p>
            <a:pPr lvl="1"/>
            <a:r>
              <a:rPr lang="en-US" dirty="0"/>
              <a:t>Syntax:</a:t>
            </a:r>
          </a:p>
          <a:p>
            <a:pPr lvl="2">
              <a:buNone/>
            </a:pPr>
            <a:r>
              <a:rPr lang="en-US" dirty="0"/>
              <a:t>variable x = </a:t>
            </a:r>
            <a:r>
              <a:rPr lang="en-US" dirty="0">
                <a:solidFill>
                  <a:srgbClr val="B71B1C"/>
                </a:solidFill>
              </a:rPr>
              <a:t>(expression) </a:t>
            </a:r>
            <a:r>
              <a:rPr lang="en-US" dirty="0"/>
              <a:t>? </a:t>
            </a:r>
            <a:r>
              <a:rPr lang="en-US" dirty="0">
                <a:solidFill>
                  <a:schemeClr val="tx2"/>
                </a:solidFill>
              </a:rPr>
              <a:t>value if true </a:t>
            </a:r>
            <a:r>
              <a:rPr lang="en-US" dirty="0"/>
              <a:t>: </a:t>
            </a:r>
            <a:r>
              <a:rPr lang="en-US" dirty="0">
                <a:solidFill>
                  <a:schemeClr val="tx2"/>
                </a:solidFill>
              </a:rPr>
              <a:t>value if false</a:t>
            </a:r>
          </a:p>
          <a:p>
            <a:pPr lvl="1"/>
            <a:r>
              <a:rPr lang="en-US" dirty="0"/>
              <a:t>Example:</a:t>
            </a:r>
          </a:p>
          <a:p>
            <a:pPr lvl="1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>
                <a:cs typeface="Courier New" pitchFamily="49" charset="0"/>
              </a:rPr>
              <a:t>	</a:t>
            </a:r>
            <a:r>
              <a:rPr lang="pt-BR" sz="2400" dirty="0">
                <a:cs typeface="Courier New" pitchFamily="49" charset="0"/>
              </a:rPr>
              <a:t>b = (a == 1) ? 20 : 30;</a:t>
            </a:r>
            <a:endParaRPr lang="en-US" dirty="0"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2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6F0C-E139-627D-08D9-673C58AD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883E-BCF9-DA2B-790C-F7EC584D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Operator Precedence &amp; Associativity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3BA20-9F4A-7B1D-85B6-1FF7CED5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How does java evaluate </a:t>
            </a:r>
            <a:r>
              <a:rPr lang="en-IN" dirty="0">
                <a:cs typeface="Courier New" pitchFamily="49" charset="0"/>
              </a:rPr>
              <a:t>1 + 10 * 9 ?</a:t>
            </a:r>
          </a:p>
          <a:p>
            <a:pPr lvl="1"/>
            <a:r>
              <a:rPr lang="en-IN" dirty="0">
                <a:cs typeface="Courier New" pitchFamily="49" charset="0"/>
              </a:rPr>
              <a:t>(1 + 10 ) * 9  = 99   </a:t>
            </a:r>
            <a:r>
              <a:rPr lang="en-IN" b="1" dirty="0">
                <a:cs typeface="Courier New" pitchFamily="49" charset="0"/>
              </a:rPr>
              <a:t>OR    </a:t>
            </a:r>
            <a:r>
              <a:rPr lang="en-IN" dirty="0">
                <a:cs typeface="Courier New" pitchFamily="49" charset="0"/>
              </a:rPr>
              <a:t>1  + (10 * 9) = 91</a:t>
            </a:r>
          </a:p>
          <a:p>
            <a:r>
              <a:rPr lang="en-IN" dirty="0">
                <a:cs typeface="Courier New" pitchFamily="49" charset="0"/>
              </a:rPr>
              <a:t>To get the correct answer for the given problem Java came up with Operator precedence. ( multiplication have higher precedence than addition so correct answer will be </a:t>
            </a:r>
            <a:r>
              <a:rPr lang="en-IN" b="1" dirty="0">
                <a:cs typeface="Courier New" pitchFamily="49" charset="0"/>
              </a:rPr>
              <a:t>91 </a:t>
            </a:r>
            <a:r>
              <a:rPr lang="en-IN" dirty="0">
                <a:cs typeface="Courier New" pitchFamily="49" charset="0"/>
              </a:rPr>
              <a:t>in this case)</a:t>
            </a:r>
          </a:p>
          <a:p>
            <a:r>
              <a:rPr lang="en-IN" dirty="0">
                <a:cs typeface="Courier New" pitchFamily="49" charset="0"/>
              </a:rPr>
              <a:t>For Operator, associativity means that when the same operator appears in a row, then to which direction the expression will be evaluated.</a:t>
            </a:r>
          </a:p>
          <a:p>
            <a:r>
              <a:rPr lang="en-IN" dirty="0">
                <a:cs typeface="Courier New" pitchFamily="49" charset="0"/>
              </a:rPr>
              <a:t>How does java evaluate </a:t>
            </a:r>
            <a:r>
              <a:rPr lang="en-IN" dirty="0">
                <a:latin typeface="Courier New" pitchFamily="49" charset="0"/>
                <a:cs typeface="Courier New" pitchFamily="49" charset="0"/>
              </a:rPr>
              <a:t>1 * 2 + 3 * 4 / 5 ???</a:t>
            </a:r>
          </a:p>
          <a:p>
            <a:pPr>
              <a:buNone/>
            </a:pPr>
            <a:r>
              <a:rPr lang="en-IN" dirty="0">
                <a:latin typeface="Courier New" pitchFamily="49" charset="0"/>
                <a:cs typeface="Courier New" pitchFamily="49" charset="0"/>
              </a:rPr>
              <a:t>					2   +   12	 / 5</a:t>
            </a:r>
          </a:p>
          <a:p>
            <a:pPr>
              <a:buNone/>
            </a:pPr>
            <a:r>
              <a:rPr lang="en-IN" dirty="0">
                <a:latin typeface="Courier New" pitchFamily="49" charset="0"/>
                <a:cs typeface="Courier New" pitchFamily="49" charset="0"/>
              </a:rPr>
              <a:t>					2	+	2.4</a:t>
            </a:r>
            <a:endParaRPr lang="en-IN" dirty="0">
              <a:cs typeface="Courier New" pitchFamily="49" charset="0"/>
            </a:endParaRPr>
          </a:p>
          <a:p>
            <a:pPr>
              <a:buNone/>
            </a:pPr>
            <a:r>
              <a:rPr lang="en-IN" dirty="0">
                <a:latin typeface="Courier New" pitchFamily="49" charset="0"/>
                <a:cs typeface="Courier New" pitchFamily="49" charset="0"/>
              </a:rPr>
              <a:t>						4.4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D1E4EB-86AD-6ACE-C666-55F155CA7FCC}"/>
              </a:ext>
            </a:extLst>
          </p:cNvPr>
          <p:cNvCxnSpPr/>
          <p:nvPr/>
        </p:nvCxnSpPr>
        <p:spPr>
          <a:xfrm>
            <a:off x="3474720" y="3564774"/>
            <a:ext cx="83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79D4C8-51FF-4D72-83C7-4D77A1CECCD8}"/>
              </a:ext>
            </a:extLst>
          </p:cNvPr>
          <p:cNvCxnSpPr/>
          <p:nvPr/>
        </p:nvCxnSpPr>
        <p:spPr>
          <a:xfrm>
            <a:off x="3963785" y="3564774"/>
            <a:ext cx="0" cy="1759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88519A-BAC9-922A-C521-61877535C7DC}"/>
              </a:ext>
            </a:extLst>
          </p:cNvPr>
          <p:cNvCxnSpPr/>
          <p:nvPr/>
        </p:nvCxnSpPr>
        <p:spPr>
          <a:xfrm>
            <a:off x="4919949" y="3564774"/>
            <a:ext cx="83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1C5E6B-C7F3-2399-EDE1-A5C8B88B7493}"/>
              </a:ext>
            </a:extLst>
          </p:cNvPr>
          <p:cNvCxnSpPr/>
          <p:nvPr/>
        </p:nvCxnSpPr>
        <p:spPr>
          <a:xfrm>
            <a:off x="5504411" y="3564774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3D0FDA-76AC-4C26-F883-8220941AA55D}"/>
              </a:ext>
            </a:extLst>
          </p:cNvPr>
          <p:cNvCxnSpPr/>
          <p:nvPr/>
        </p:nvCxnSpPr>
        <p:spPr>
          <a:xfrm>
            <a:off x="5419898" y="4038005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BC541F-FE8B-0199-86ED-AFB8CBBAC9E1}"/>
              </a:ext>
            </a:extLst>
          </p:cNvPr>
          <p:cNvCxnSpPr/>
          <p:nvPr/>
        </p:nvCxnSpPr>
        <p:spPr>
          <a:xfrm>
            <a:off x="5953298" y="4081549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650D8A-0C6F-4A7E-9695-9D07E0402092}"/>
              </a:ext>
            </a:extLst>
          </p:cNvPr>
          <p:cNvCxnSpPr/>
          <p:nvPr/>
        </p:nvCxnSpPr>
        <p:spPr>
          <a:xfrm>
            <a:off x="3904210" y="4513811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A27432-73C0-27D6-D095-DCE472EB1B9A}"/>
              </a:ext>
            </a:extLst>
          </p:cNvPr>
          <p:cNvCxnSpPr/>
          <p:nvPr/>
        </p:nvCxnSpPr>
        <p:spPr>
          <a:xfrm>
            <a:off x="5047210" y="4513811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54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550BC-F71A-C9F5-4B4D-49594171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551E-B309-97FA-F85D-760445FD5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pPr lvl="0"/>
            <a:r>
              <a:rPr lang="en-US" sz="3600" dirty="0">
                <a:ea typeface="Open Sans Semibold" panose="020B0706030804020204" pitchFamily="34" charset="0"/>
                <a:cs typeface="Open Sans Semibold" panose="020B0706030804020204" pitchFamily="34" charset="0"/>
              </a:rPr>
              <a:t>Precedence of Java Operators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CC1D3B-A7F9-8AC6-A474-722037269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19241"/>
              </p:ext>
            </p:extLst>
          </p:nvPr>
        </p:nvGraphicFramePr>
        <p:xfrm>
          <a:off x="1752600" y="990600"/>
          <a:ext cx="8686800" cy="5364480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Category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Operator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Associativity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Postfix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() [] . (dot operator)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Unary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++ - - ! 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Right to left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Multiplicative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* / %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Additive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+ -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Shift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&gt;&gt; &gt;&gt;&gt; &lt;&lt;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Relational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&gt; &gt;= &lt; &lt;=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Equality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== !=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Bitwise AND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&amp;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Bitwise XOR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^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Bitwise OR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|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Logical AND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&amp;&amp;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Logical OR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||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Conditional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?: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Right to left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Assignment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= += -= *= /= %= &gt;&gt;= &lt;&lt;= &amp;= ^= |=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Right to left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Comma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,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Left to right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249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30ED9-ECE7-E398-0247-2060FED1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8AE9-EC2B-0DFE-8A54-62829069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Operators Precedence &amp;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1989-AEB2-7CFD-DFDC-87BD64260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9146170" cy="5590565"/>
          </a:xfrm>
        </p:spPr>
        <p:txBody>
          <a:bodyPr/>
          <a:lstStyle/>
          <a:p>
            <a:r>
              <a:rPr lang="en-US" dirty="0"/>
              <a:t>Operators Precedence and Associativity are two characteristics of operators that determine the </a:t>
            </a:r>
            <a:r>
              <a:rPr lang="en-US" dirty="0">
                <a:solidFill>
                  <a:srgbClr val="002060"/>
                </a:solidFill>
              </a:rPr>
              <a:t>evaluation order</a:t>
            </a:r>
            <a:r>
              <a:rPr lang="en-US" dirty="0"/>
              <a:t> of sub-expressions in </a:t>
            </a:r>
            <a:r>
              <a:rPr lang="en-US" dirty="0">
                <a:solidFill>
                  <a:srgbClr val="002060"/>
                </a:solidFill>
              </a:rPr>
              <a:t>absence</a:t>
            </a:r>
            <a:r>
              <a:rPr lang="en-US" dirty="0"/>
              <a:t> of </a:t>
            </a:r>
            <a:r>
              <a:rPr lang="en-US" dirty="0">
                <a:solidFill>
                  <a:srgbClr val="002060"/>
                </a:solidFill>
              </a:rPr>
              <a:t>brackets</a:t>
            </a:r>
            <a:r>
              <a:rPr lang="en-US" dirty="0"/>
              <a:t>.</a:t>
            </a:r>
          </a:p>
          <a:p>
            <a:r>
              <a:rPr lang="en-US" dirty="0"/>
              <a:t>Operator precedence determines which operation is performed first in an expression with more than one operators with different precedence.</a:t>
            </a:r>
          </a:p>
          <a:p>
            <a:pPr lvl="1"/>
            <a:r>
              <a:rPr lang="en-US" sz="2200" dirty="0">
                <a:solidFill>
                  <a:srgbClr val="002060"/>
                </a:solidFill>
              </a:rPr>
              <a:t>a=10 + 20 * 30 </a:t>
            </a:r>
            <a:r>
              <a:rPr lang="en-US" sz="2200" dirty="0"/>
              <a:t>is calculated as </a:t>
            </a:r>
            <a:r>
              <a:rPr lang="en-US" sz="2200" dirty="0">
                <a:solidFill>
                  <a:srgbClr val="002060"/>
                </a:solidFill>
              </a:rPr>
              <a:t>10 + (20 * 30) </a:t>
            </a:r>
            <a:r>
              <a:rPr lang="en-US" sz="2200" dirty="0"/>
              <a:t>and not as </a:t>
            </a:r>
            <a:r>
              <a:rPr lang="en-US" sz="2200" dirty="0">
                <a:solidFill>
                  <a:srgbClr val="002060"/>
                </a:solidFill>
              </a:rPr>
              <a:t>(10 + 20) * 30 </a:t>
            </a:r>
            <a:r>
              <a:rPr lang="en-US" sz="2200" dirty="0"/>
              <a:t>so answer is </a:t>
            </a:r>
            <a:r>
              <a:rPr lang="en-US" sz="2200" dirty="0">
                <a:solidFill>
                  <a:srgbClr val="002060"/>
                </a:solidFill>
              </a:rPr>
              <a:t>610.</a:t>
            </a:r>
          </a:p>
          <a:p>
            <a:r>
              <a:rPr lang="en-US" dirty="0">
                <a:solidFill>
                  <a:srgbClr val="002060"/>
                </a:solidFill>
              </a:rPr>
              <a:t>Operators Associativity </a:t>
            </a:r>
            <a:r>
              <a:rPr lang="en-US" dirty="0"/>
              <a:t>is used when two operators of same precedence appear in an expression. Associativity can be either Left to Right (</a:t>
            </a:r>
            <a:r>
              <a:rPr lang="en-US" dirty="0">
                <a:solidFill>
                  <a:srgbClr val="002060"/>
                </a:solidFill>
              </a:rPr>
              <a:t>L to R</a:t>
            </a:r>
            <a:r>
              <a:rPr lang="en-US" dirty="0"/>
              <a:t>) or Right to Left (</a:t>
            </a:r>
            <a:r>
              <a:rPr lang="en-US" dirty="0">
                <a:solidFill>
                  <a:srgbClr val="002060"/>
                </a:solidFill>
              </a:rPr>
              <a:t>R to L</a:t>
            </a:r>
            <a:r>
              <a:rPr lang="en-US" dirty="0"/>
              <a:t>).</a:t>
            </a:r>
          </a:p>
          <a:p>
            <a:pPr lvl="1"/>
            <a:r>
              <a:rPr lang="en-US" sz="2200" dirty="0">
                <a:solidFill>
                  <a:srgbClr val="002060"/>
                </a:solidFill>
              </a:rPr>
              <a:t>a=100 / 10 * 10</a:t>
            </a:r>
          </a:p>
          <a:p>
            <a:pPr lvl="2"/>
            <a:r>
              <a:rPr lang="en-US" sz="2000" dirty="0"/>
              <a:t>If Left to Right means (100 / 10) * 10 then answer is 100</a:t>
            </a:r>
          </a:p>
          <a:p>
            <a:pPr lvl="2"/>
            <a:r>
              <a:rPr lang="en-US" sz="2000" dirty="0"/>
              <a:t>If Right to Left means 100 / (10 * 10) then answer is 1</a:t>
            </a:r>
          </a:p>
          <a:p>
            <a:pPr lvl="2"/>
            <a:r>
              <a:rPr lang="en-US" sz="2000" dirty="0"/>
              <a:t>Division (/) &amp; Multiplication (*) are Left to Right associative so the answer is </a:t>
            </a:r>
            <a:r>
              <a:rPr lang="en-US" sz="2000" b="1" dirty="0">
                <a:solidFill>
                  <a:srgbClr val="002060"/>
                </a:solidFill>
              </a:rPr>
              <a:t>100.</a:t>
            </a:r>
          </a:p>
        </p:txBody>
      </p:sp>
      <p:pic>
        <p:nvPicPr>
          <p:cNvPr id="4" name="Picture 2" descr="Highest precedence in Java - Javatpoint">
            <a:extLst>
              <a:ext uri="{FF2B5EF4-FFF2-40B4-BE49-F238E27FC236}">
                <a16:creationId xmlns:a16="http://schemas.microsoft.com/office/drawing/2014/main" id="{12488D2E-C0CC-E57A-81DD-474F42D6C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538" y="863444"/>
            <a:ext cx="2494112" cy="149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76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4240F-7656-41C1-1129-852A0912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8146-9C2A-5CB9-F863-78317159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Operators Precedence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0965-6021-4D5A-5161-5FA650EA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013070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dirty="0">
                <a:solidFill>
                  <a:srgbClr val="002060"/>
                </a:solidFill>
              </a:rPr>
              <a:t>Associativity</a:t>
            </a:r>
            <a:r>
              <a:rPr lang="en-US" dirty="0"/>
              <a:t> is only used when there are two or more operators of same precedence.</a:t>
            </a:r>
          </a:p>
          <a:p>
            <a:pPr marL="0" indent="0">
              <a:buNone/>
            </a:pPr>
            <a:r>
              <a:rPr lang="en-US" dirty="0"/>
              <a:t>2) All operators with the same </a:t>
            </a:r>
            <a:r>
              <a:rPr lang="en-US" dirty="0">
                <a:solidFill>
                  <a:srgbClr val="002060"/>
                </a:solidFill>
              </a:rPr>
              <a:t>precedence</a:t>
            </a:r>
            <a:r>
              <a:rPr lang="en-US" dirty="0"/>
              <a:t> have same associativity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224A7-C1F2-F232-C7F7-441E313E1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829878"/>
              </p:ext>
            </p:extLst>
          </p:nvPr>
        </p:nvGraphicFramePr>
        <p:xfrm>
          <a:off x="265471" y="1706253"/>
          <a:ext cx="10107561" cy="4829472"/>
        </p:xfrm>
        <a:graphic>
          <a:graphicData uri="http://schemas.openxmlformats.org/drawingml/2006/table">
            <a:tbl>
              <a:tblPr/>
              <a:tblGrid>
                <a:gridCol w="99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dirty="0">
                          <a:effectLst/>
                        </a:rPr>
                        <a:t>Priority</a:t>
                      </a: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dirty="0">
                          <a:effectLst/>
                        </a:rPr>
                        <a:t>Operator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dirty="0">
                          <a:effectLst/>
                        </a:rPr>
                        <a:t>Description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dirty="0">
                          <a:effectLst/>
                        </a:rPr>
                        <a:t> </a:t>
                      </a:r>
                      <a:r>
                        <a:rPr lang="en-US" sz="1200" b="1" dirty="0">
                          <a:effectLst/>
                        </a:rPr>
                        <a:t>Associativity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67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1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( )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[ ]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.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-&gt;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a++ a—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Parentheses (function call)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Brackets (array subscript)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Member selection via object name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Member selection via pointer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Postfix increment/decrement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946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2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++a —a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+ –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! ~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(</a:t>
                      </a:r>
                      <a:r>
                        <a:rPr lang="en-US" sz="1500" b="0" i="1" dirty="0">
                          <a:effectLst/>
                        </a:rPr>
                        <a:t>type</a:t>
                      </a:r>
                      <a:r>
                        <a:rPr lang="en-US" sz="1500" b="0" dirty="0">
                          <a:effectLst/>
                        </a:rPr>
                        <a:t>)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*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&amp;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 err="1">
                          <a:effectLst/>
                        </a:rPr>
                        <a:t>sizeof</a:t>
                      </a:r>
                      <a:endParaRPr lang="en-US" sz="1500" b="0" dirty="0">
                        <a:effectLst/>
                      </a:endParaRP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Prefix increment/decrement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Unary plus/minus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Logical negation/bitwise complement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Cast (convert value to temporary value of </a:t>
                      </a:r>
                      <a:r>
                        <a:rPr lang="en-US" sz="1500" b="0" i="1" dirty="0">
                          <a:effectLst/>
                        </a:rPr>
                        <a:t>type</a:t>
                      </a:r>
                      <a:r>
                        <a:rPr lang="en-US" sz="1500" b="0" dirty="0">
                          <a:effectLst/>
                        </a:rPr>
                        <a:t>)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De-reference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Address (of operand)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Determine size in bytes on this implementation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dirty="0">
                          <a:effectLst/>
                        </a:rPr>
                        <a:t>right-to-left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3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*  /  %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Multiplication/division/modulus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4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+  –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Addition/subtraction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5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>
                          <a:effectLst/>
                        </a:rPr>
                        <a:t>&lt;&lt;  &gt;&gt;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Bitwise shift left, Bitwise shift right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40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6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&lt;  &lt;=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&gt;  &gt;=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Relational less than/less than or equal to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Relational greater than/greater  than or equal to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38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8219-8D47-FED1-6B7B-6CB12253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9C93-B87E-42C5-ED77-5F6C5B66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Operators Precedence and Associativity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BD2F27-9FFD-340C-535E-265D8B266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772414"/>
              </p:ext>
            </p:extLst>
          </p:nvPr>
        </p:nvGraphicFramePr>
        <p:xfrm>
          <a:off x="258095" y="1039543"/>
          <a:ext cx="10026448" cy="4478148"/>
        </p:xfrm>
        <a:graphic>
          <a:graphicData uri="http://schemas.openxmlformats.org/drawingml/2006/table">
            <a:tbl>
              <a:tblPr/>
              <a:tblGrid>
                <a:gridCol w="1034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0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dirty="0">
                          <a:effectLst/>
                        </a:rPr>
                        <a:t>Priority</a:t>
                      </a: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dirty="0">
                          <a:effectLst/>
                        </a:rPr>
                        <a:t>Operator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dirty="0">
                          <a:effectLst/>
                        </a:rPr>
                        <a:t>Description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dirty="0">
                          <a:effectLst/>
                        </a:rPr>
                        <a:t> </a:t>
                      </a:r>
                      <a:r>
                        <a:rPr lang="en-US" sz="1200" b="1" dirty="0">
                          <a:effectLst/>
                        </a:rPr>
                        <a:t>Associativity</a:t>
                      </a:r>
                      <a:endParaRPr lang="en-US" sz="1200" b="0" dirty="0">
                        <a:effectLst/>
                      </a:endParaRPr>
                    </a:p>
                  </a:txBody>
                  <a:tcPr marL="45720" marR="45720" marT="7964" marB="7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7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==  !=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is equal to/is not equal to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8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&amp;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Bitwise AND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9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^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Bitwise exclusive OR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10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|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Bitwise OR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11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&amp;&amp;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Logical AND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12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| |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Logical OR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13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? :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Ternary conditional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right-to-left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31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14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=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+=  -=  *=  /=  %=  &amp;=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^=  |=</a:t>
                      </a:r>
                    </a:p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/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&lt;&lt;=  &gt;&gt;=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Assignment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Shorthand Assignments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Bitwise exclusive/inclusive</a:t>
                      </a:r>
                    </a:p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assignment</a:t>
                      </a:r>
                      <a:br>
                        <a:rPr lang="en-US" sz="1500" b="0" dirty="0">
                          <a:effectLst/>
                        </a:rPr>
                      </a:br>
                      <a:r>
                        <a:rPr lang="en-US" sz="1500" b="0" dirty="0">
                          <a:effectLst/>
                        </a:rPr>
                        <a:t>Bitwise shift left/right</a:t>
                      </a:r>
                    </a:p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assignment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dirty="0">
                          <a:effectLst/>
                        </a:rPr>
                        <a:t>right-to-left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1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15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0" dirty="0">
                          <a:effectLst/>
                        </a:rPr>
                        <a:t>,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0" dirty="0">
                          <a:effectLst/>
                        </a:rPr>
                        <a:t>Comma (separate expressions)</a:t>
                      </a:r>
                    </a:p>
                  </a:txBody>
                  <a:tcPr marL="45720" marR="45720" marT="55746" marB="55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dirty="0">
                          <a:effectLst/>
                        </a:rPr>
                        <a:t>left-to-right</a:t>
                      </a:r>
                    </a:p>
                  </a:txBody>
                  <a:tcPr marL="45720" marR="45720" marT="55746" marB="557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4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68B3-3FA5-043B-5197-3FCA44E7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30CD-400A-FBF6-97FD-A16CB74D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A135CC9D-B26F-0E02-0058-869E5B87D8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967567"/>
              </p:ext>
            </p:extLst>
          </p:nvPr>
        </p:nvGraphicFramePr>
        <p:xfrm>
          <a:off x="131764" y="863600"/>
          <a:ext cx="796925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  <a:endParaRPr lang="en-IN" dirty="0"/>
                    </a:p>
                  </a:txBody>
                  <a:tcPr marL="137169" marR="13716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Exercise</a:t>
                      </a:r>
                      <a:endParaRPr lang="en-IN" dirty="0"/>
                    </a:p>
                  </a:txBody>
                  <a:tcPr marL="137169" marR="1371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 marL="137169" marR="137169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dirty="0" err="1"/>
                        <a:t>int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=1;   </a:t>
                      </a:r>
                    </a:p>
                    <a:p>
                      <a:r>
                        <a:rPr lang="en-IN" dirty="0"/>
                        <a:t>  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=2+2*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++;</a:t>
                      </a:r>
                    </a:p>
                  </a:txBody>
                  <a:tcPr marL="137169" marR="13716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 marL="137169" marR="137169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a=2,b=7,c=10;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c=a==b;</a:t>
                      </a:r>
                    </a:p>
                  </a:txBody>
                  <a:tcPr marL="137169" marR="1371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 marL="137169" marR="137169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a=2,b=7,c=10;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c=a!=b;</a:t>
                      </a:r>
                    </a:p>
                  </a:txBody>
                  <a:tcPr marL="137169" marR="13716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 marL="137169" marR="13716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int</a:t>
                      </a:r>
                      <a:r>
                        <a:rPr lang="en-IN" baseline="0" dirty="0"/>
                        <a:t> a=</a:t>
                      </a:r>
                      <a:r>
                        <a:rPr lang="en-IN" dirty="0"/>
                        <a:t>100 + 200 / 10 - 3 * 10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9" marR="13716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 marL="137169" marR="137169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= 2, b = 6, c = 12, d;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 = a * b + c / b;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System.out.println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(“The value of d= “+d);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9" marR="13716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4B8A63-1F95-3F8A-21B8-F285257315C4}"/>
              </a:ext>
            </a:extLst>
          </p:cNvPr>
          <p:cNvGraphicFramePr>
            <a:graphicFrameLocks noGrp="1"/>
          </p:cNvGraphicFramePr>
          <p:nvPr/>
        </p:nvGraphicFramePr>
        <p:xfrm>
          <a:off x="8110538" y="868362"/>
          <a:ext cx="3076575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Answer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4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  <a:p>
                      <a:pPr algn="ctr"/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algn="ctr"/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90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  <a:p>
                      <a:pPr algn="ctr"/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71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D37F-03FD-C98F-BB6D-5E3CD763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7FE5-4394-0EFE-E1DD-4C905B22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998B-E294-4386-3EA4-F27342D6D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65569" cy="5590565"/>
          </a:xfrm>
        </p:spPr>
        <p:txBody>
          <a:bodyPr/>
          <a:lstStyle/>
          <a:p>
            <a:r>
              <a:rPr lang="en-US" sz="2200" dirty="0"/>
              <a:t>Describe all java features.</a:t>
            </a:r>
          </a:p>
          <a:p>
            <a:r>
              <a:rPr lang="en-US" sz="2200" dirty="0"/>
              <a:t>Why java is known as platform independent programming language ?</a:t>
            </a:r>
          </a:p>
          <a:p>
            <a:r>
              <a:rPr lang="en-US" sz="2200" dirty="0"/>
              <a:t>Describe following terms in detail.</a:t>
            </a:r>
          </a:p>
          <a:p>
            <a:pPr lvl="1"/>
            <a:r>
              <a:rPr lang="en-US" dirty="0"/>
              <a:t>JDK</a:t>
            </a:r>
          </a:p>
          <a:p>
            <a:pPr lvl="1"/>
            <a:r>
              <a:rPr lang="en-US" dirty="0"/>
              <a:t>JRE</a:t>
            </a:r>
          </a:p>
          <a:p>
            <a:pPr lvl="1"/>
            <a:r>
              <a:rPr lang="en-US" dirty="0"/>
              <a:t>JVM</a:t>
            </a:r>
          </a:p>
          <a:p>
            <a:pPr lvl="1"/>
            <a:r>
              <a:rPr lang="en-US" dirty="0"/>
              <a:t>Bytecode</a:t>
            </a:r>
          </a:p>
          <a:p>
            <a:r>
              <a:rPr lang="en-US" sz="2200" dirty="0"/>
              <a:t>How can we set path in Java?</a:t>
            </a:r>
          </a:p>
          <a:p>
            <a:r>
              <a:rPr lang="en-US" sz="2200" dirty="0"/>
              <a:t>Explain datatypes in Java.</a:t>
            </a:r>
          </a:p>
          <a:p>
            <a:r>
              <a:rPr lang="en-US" sz="2200" dirty="0"/>
              <a:t>Discuss Identifiers in Java.</a:t>
            </a:r>
          </a:p>
          <a:p>
            <a:r>
              <a:rPr lang="en-US" sz="2200" dirty="0"/>
              <a:t>Describe types of datatype conversion.</a:t>
            </a:r>
          </a:p>
          <a:p>
            <a:r>
              <a:rPr lang="en-US" sz="2200" dirty="0"/>
              <a:t>Explain java command line arguments.</a:t>
            </a:r>
          </a:p>
          <a:p>
            <a:r>
              <a:rPr lang="en-US" sz="2200" dirty="0"/>
              <a:t>Demonstrate type of operators with example.</a:t>
            </a:r>
          </a:p>
          <a:p>
            <a:r>
              <a:rPr lang="en-US" sz="2200" dirty="0"/>
              <a:t>Explain operator precedence and associativity.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35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Object Oriented Programming using Java </a:t>
            </a:r>
            <a:r>
              <a:rPr lang="en-IN" dirty="0"/>
              <a:t>(</a:t>
            </a:r>
            <a:r>
              <a:rPr lang="en-US" dirty="0"/>
              <a:t>2304CS302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6726</TotalTime>
  <Words>3364</Words>
  <Application>Microsoft Office PowerPoint</Application>
  <PresentationFormat>Widescreen</PresentationFormat>
  <Paragraphs>672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60" baseType="lpstr">
      <vt:lpstr>Segoe UI Black</vt:lpstr>
      <vt:lpstr>Open Sans Semibold</vt:lpstr>
      <vt:lpstr>Wingdings 2</vt:lpstr>
      <vt:lpstr>Courier New</vt:lpstr>
      <vt:lpstr>Mongolian Baiti</vt:lpstr>
      <vt:lpstr>Times New Roman</vt:lpstr>
      <vt:lpstr>Wingdings</vt:lpstr>
      <vt:lpstr>Calibri</vt:lpstr>
      <vt:lpstr>Consolas</vt:lpstr>
      <vt:lpstr>Arial</vt:lpstr>
      <vt:lpstr>Roboto Condensed Light</vt:lpstr>
      <vt:lpstr>Roboto Condensed</vt:lpstr>
      <vt:lpstr>Wingdings 3</vt:lpstr>
      <vt:lpstr>Office Theme</vt:lpstr>
      <vt:lpstr>1_Office Theme</vt:lpstr>
      <vt:lpstr>Unit-01  Introduction to Basic Java Programming</vt:lpstr>
      <vt:lpstr>PowerPoint Presentation</vt:lpstr>
      <vt:lpstr>Evolution of JAVA</vt:lpstr>
      <vt:lpstr>Evolution of JAVA</vt:lpstr>
      <vt:lpstr>Evolution of JAVA</vt:lpstr>
      <vt:lpstr>Features of JAVA</vt:lpstr>
      <vt:lpstr>Features of JAVA</vt:lpstr>
      <vt:lpstr>Features of JAVA</vt:lpstr>
      <vt:lpstr>Components of Java</vt:lpstr>
      <vt:lpstr>Java Development Kit (JDK)</vt:lpstr>
      <vt:lpstr>Java Development Kit (JDK)</vt:lpstr>
      <vt:lpstr>Java Runtime Environment (JRE)</vt:lpstr>
      <vt:lpstr>Java Virtual Machine (JVM)</vt:lpstr>
      <vt:lpstr>How Java become Platform Independent?</vt:lpstr>
      <vt:lpstr>Installing JDK</vt:lpstr>
      <vt:lpstr>Setting Path variable</vt:lpstr>
      <vt:lpstr>Setting Path Variable</vt:lpstr>
      <vt:lpstr>Hello World Java Program</vt:lpstr>
      <vt:lpstr>How to execute Java Program?</vt:lpstr>
      <vt:lpstr>How to execute Java Program?</vt:lpstr>
      <vt:lpstr>Identifiers</vt:lpstr>
      <vt:lpstr>Identifiers</vt:lpstr>
      <vt:lpstr>Identifier Name Valid or Invalid? </vt:lpstr>
      <vt:lpstr>Data Types</vt:lpstr>
      <vt:lpstr>Primitive Data Types</vt:lpstr>
      <vt:lpstr>Escape Sequences</vt:lpstr>
      <vt:lpstr>Type Casting</vt:lpstr>
      <vt:lpstr>Automatic Type Casting</vt:lpstr>
      <vt:lpstr>Casting Incompatible Types</vt:lpstr>
      <vt:lpstr>Java Command Line Arguments</vt:lpstr>
      <vt:lpstr>Operators</vt:lpstr>
      <vt:lpstr>Arithmetic Operator</vt:lpstr>
      <vt:lpstr>Relational Operators</vt:lpstr>
      <vt:lpstr>Bitwise Operators</vt:lpstr>
      <vt:lpstr>Logical Operators </vt:lpstr>
      <vt:lpstr>Assignment Operators</vt:lpstr>
      <vt:lpstr>Conditional Operator (Ternary)</vt:lpstr>
      <vt:lpstr>Operator Precedence &amp; Associativity</vt:lpstr>
      <vt:lpstr>Precedence of Java Operators</vt:lpstr>
      <vt:lpstr>Operators Precedence &amp; Associativity</vt:lpstr>
      <vt:lpstr>Operators Precedence and Associativity</vt:lpstr>
      <vt:lpstr>Operators Precedence and Associativity</vt:lpstr>
      <vt:lpstr>Exercise</vt:lpstr>
      <vt:lpstr>FAQ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1062</cp:revision>
  <dcterms:created xsi:type="dcterms:W3CDTF">2020-05-01T05:09:15Z</dcterms:created>
  <dcterms:modified xsi:type="dcterms:W3CDTF">2025-06-12T15:57:56Z</dcterms:modified>
</cp:coreProperties>
</file>