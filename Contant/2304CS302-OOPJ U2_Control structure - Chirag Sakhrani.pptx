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avi" ContentType="video/x-msvide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92" r:id="rId2"/>
  </p:sldMasterIdLst>
  <p:notesMasterIdLst>
    <p:notesMasterId r:id="rId41"/>
  </p:notesMasterIdLst>
  <p:handoutMasterIdLst>
    <p:handoutMasterId r:id="rId42"/>
  </p:handoutMasterIdLst>
  <p:sldIdLst>
    <p:sldId id="308" r:id="rId3"/>
    <p:sldId id="257" r:id="rId4"/>
    <p:sldId id="395" r:id="rId5"/>
    <p:sldId id="397" r:id="rId6"/>
    <p:sldId id="402" r:id="rId7"/>
    <p:sldId id="396" r:id="rId8"/>
    <p:sldId id="401" r:id="rId9"/>
    <p:sldId id="400" r:id="rId10"/>
    <p:sldId id="399" r:id="rId11"/>
    <p:sldId id="398" r:id="rId12"/>
    <p:sldId id="407" r:id="rId13"/>
    <p:sldId id="406" r:id="rId14"/>
    <p:sldId id="405" r:id="rId15"/>
    <p:sldId id="404" r:id="rId16"/>
    <p:sldId id="403" r:id="rId17"/>
    <p:sldId id="412" r:id="rId18"/>
    <p:sldId id="411" r:id="rId19"/>
    <p:sldId id="410" r:id="rId20"/>
    <p:sldId id="413" r:id="rId21"/>
    <p:sldId id="409" r:id="rId22"/>
    <p:sldId id="408" r:id="rId23"/>
    <p:sldId id="420" r:id="rId24"/>
    <p:sldId id="419" r:id="rId25"/>
    <p:sldId id="418" r:id="rId26"/>
    <p:sldId id="417" r:id="rId27"/>
    <p:sldId id="416" r:id="rId28"/>
    <p:sldId id="415" r:id="rId29"/>
    <p:sldId id="422" r:id="rId30"/>
    <p:sldId id="421" r:id="rId31"/>
    <p:sldId id="424" r:id="rId32"/>
    <p:sldId id="423" r:id="rId33"/>
    <p:sldId id="425" r:id="rId34"/>
    <p:sldId id="414" r:id="rId35"/>
    <p:sldId id="428" r:id="rId36"/>
    <p:sldId id="431" r:id="rId37"/>
    <p:sldId id="430" r:id="rId38"/>
    <p:sldId id="429" r:id="rId39"/>
    <p:sldId id="358" r:id="rId40"/>
  </p:sldIdLst>
  <p:sldSz cx="12192000" cy="6858000"/>
  <p:notesSz cx="6858000" cy="9144000"/>
  <p:embeddedFontLst>
    <p:embeddedFont>
      <p:font typeface="Wingdings 2" panose="05020102010507070707" pitchFamily="18" charset="2"/>
      <p:regular r:id="rId43"/>
    </p:embeddedFont>
    <p:embeddedFont>
      <p:font typeface="Roboto Condensed Light" panose="02000000000000000000" pitchFamily="2" charset="0"/>
      <p:regular r:id="rId44"/>
      <p:italic r:id="rId45"/>
    </p:embeddedFont>
    <p:embeddedFont>
      <p:font typeface="Calibri" panose="020F0502020204030204" pitchFamily="34" charset="0"/>
      <p:regular r:id="rId46"/>
      <p:bold r:id="rId47"/>
      <p:italic r:id="rId48"/>
      <p:boldItalic r:id="rId49"/>
    </p:embeddedFont>
    <p:embeddedFont>
      <p:font typeface="Cambria" panose="02040503050406030204" pitchFamily="18" charset="0"/>
      <p:regular r:id="rId50"/>
      <p:bold r:id="rId51"/>
      <p:italic r:id="rId52"/>
      <p:boldItalic r:id="rId53"/>
    </p:embeddedFont>
    <p:embeddedFont>
      <p:font typeface="Consolas" panose="020B0609020204030204" pitchFamily="49" charset="0"/>
      <p:regular r:id="rId54"/>
      <p:bold r:id="rId55"/>
      <p:italic r:id="rId56"/>
      <p:boldItalic r:id="rId57"/>
    </p:embeddedFont>
    <p:embeddedFont>
      <p:font typeface="Segoe UI Black" panose="020B0A02040204020203" pitchFamily="34" charset="0"/>
      <p:bold r:id="rId58"/>
      <p:boldItalic r:id="rId59"/>
    </p:embeddedFont>
    <p:embeddedFont>
      <p:font typeface="Wingdings 3" panose="05040102010807070707" pitchFamily="18" charset="2"/>
      <p:regular r:id="rId60"/>
    </p:embeddedFont>
    <p:embeddedFont>
      <p:font typeface="Roboto Condensed" panose="02000000000000000000" pitchFamily="2" charset="0"/>
      <p:regular r:id="rId61"/>
      <p:bold r:id="rId62"/>
      <p:italic r:id="rId63"/>
      <p:boldItalic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g6uSRTTug5ZNOiBExDBAEQ==" hashData="aNnny2xjum9bLXWPHfpo+ZHWuRoBhoWC2pLMdcDLRw2ZCB9EGmij3/f4JAh13TSw4Rf4DFaX8+TLCI4Vc3pLjw=="/>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ED524F"/>
    <a:srgbClr val="301B92"/>
    <a:srgbClr val="673BB7"/>
    <a:srgbClr val="607D8B"/>
    <a:srgbClr val="B71B1C"/>
    <a:srgbClr val="F54337"/>
    <a:srgbClr val="D81A60"/>
    <a:srgbClr val="890E4F"/>
    <a:srgbClr val="EA1E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2" autoAdjust="0"/>
    <p:restoredTop sz="96404" autoAdjust="0"/>
  </p:normalViewPr>
  <p:slideViewPr>
    <p:cSldViewPr snapToGrid="0">
      <p:cViewPr varScale="1">
        <p:scale>
          <a:sx n="79" d="100"/>
          <a:sy n="79" d="100"/>
        </p:scale>
        <p:origin x="960"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187"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font" Target="fonts/font13.fntdata"/><Relationship Id="rId63" Type="http://schemas.openxmlformats.org/officeDocument/2006/relationships/font" Target="fonts/font21.fntdata"/><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3.fntdata"/><Relationship Id="rId53" Type="http://schemas.openxmlformats.org/officeDocument/2006/relationships/font" Target="fonts/font11.fntdata"/><Relationship Id="rId58" Type="http://schemas.openxmlformats.org/officeDocument/2006/relationships/font" Target="fonts/font16.fntdata"/><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font" Target="fonts/font19.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1.fntdata"/><Relationship Id="rId48" Type="http://schemas.openxmlformats.org/officeDocument/2006/relationships/font" Target="fonts/font6.fntdata"/><Relationship Id="rId56" Type="http://schemas.openxmlformats.org/officeDocument/2006/relationships/font" Target="fonts/font14.fntdata"/><Relationship Id="rId64" Type="http://schemas.openxmlformats.org/officeDocument/2006/relationships/font" Target="fonts/font22.fntdata"/><Relationship Id="rId8" Type="http://schemas.openxmlformats.org/officeDocument/2006/relationships/slide" Target="slides/slide6.xml"/><Relationship Id="rId51" Type="http://schemas.openxmlformats.org/officeDocument/2006/relationships/font" Target="fonts/font9.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4.fntdata"/><Relationship Id="rId59" Type="http://schemas.openxmlformats.org/officeDocument/2006/relationships/font" Target="fonts/font17.fntdata"/><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notesMaster" Target="notesMasters/notesMaster1.xml"/><Relationship Id="rId54" Type="http://schemas.openxmlformats.org/officeDocument/2006/relationships/font" Target="fonts/font12.fntdata"/><Relationship Id="rId62"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7.fntdata"/><Relationship Id="rId57" Type="http://schemas.openxmlformats.org/officeDocument/2006/relationships/font" Target="fonts/font15.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2.fntdata"/><Relationship Id="rId52" Type="http://schemas.openxmlformats.org/officeDocument/2006/relationships/font" Target="fonts/font10.fntdata"/><Relationship Id="rId60" Type="http://schemas.openxmlformats.org/officeDocument/2006/relationships/font" Target="fonts/font18.fntdata"/><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CB8B648-81D7-4B97-BE43-C82A41EFF624}" type="datetimeFigureOut">
              <a:rPr lang="en-US" smtClean="0"/>
              <a:t>6/12/2025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E14FB9-2BAE-423A-AD69-78200BE88C93}" type="slidenum">
              <a:rPr lang="en-US" smtClean="0"/>
              <a:t>‹#›</a:t>
            </a:fld>
            <a:endParaRPr lang="en-US"/>
          </a:p>
        </p:txBody>
      </p:sp>
    </p:spTree>
    <p:extLst>
      <p:ext uri="{BB962C8B-B14F-4D97-AF65-F5344CB8AC3E}">
        <p14:creationId xmlns:p14="http://schemas.microsoft.com/office/powerpoint/2010/main" val="1389690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3.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4.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11" Type="http://schemas.openxmlformats.org/officeDocument/2006/relationships/image" Target="../media/image9.jpeg"/><Relationship Id="rId5" Type="http://schemas.openxmlformats.org/officeDocument/2006/relationships/image" Target="../media/image15.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4.jpe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454199" y="6612110"/>
            <a:ext cx="52835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#2304CS302 (OOPJ)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02 – Control Structure, Function and Array</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2304CS523</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(JavaScript Frameworks)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Arjun</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V.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Bala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b="1" dirty="0">
                <a:solidFill>
                  <a:schemeClr val="tx1"/>
                </a:solidFill>
              </a:rPr>
              <a:t>2105CS204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(WT2)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Node Package Manager</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1294208517"/>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264298465"/>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721798" y="86119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5521596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Chirag</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K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Sakhrani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653367" y="6604000"/>
            <a:ext cx="48852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2104CS512</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(JSF)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31848502"/>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556000" y="6604000"/>
            <a:ext cx="50800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495876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374685313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594100" y="6604000"/>
            <a:ext cx="5003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0978197"/>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0000992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75567" y="6604000"/>
            <a:ext cx="524086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2104CS304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(WP)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JavaScript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0284227"/>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520867"/>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1272057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74268886"/>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117097230"/>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81089902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338554"/>
          </a:xfrm>
          <a:prstGeom prst="rect">
            <a:avLst/>
          </a:prstGeom>
          <a:noFill/>
        </p:spPr>
        <p:txBody>
          <a:bodyPr wrap="none" rtlCol="0">
            <a:spAutoFit/>
          </a:bodyPr>
          <a:lstStyle/>
          <a:p>
            <a:r>
              <a:rPr lang="en-US" sz="1600" dirty="0"/>
              <a:t>Darshan Institute of Computer Applications ,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7CCC06F6-21AB-DA1A-AA70-A3E11D1BE30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644474" y="1609868"/>
            <a:ext cx="2116066" cy="2116066"/>
          </a:xfrm>
          <a:prstGeom prst="rect">
            <a:avLst/>
          </a:prstGeom>
        </p:spPr>
      </p:pic>
    </p:spTree>
    <p:extLst>
      <p:ext uri="{BB962C8B-B14F-4D97-AF65-F5344CB8AC3E}">
        <p14:creationId xmlns:p14="http://schemas.microsoft.com/office/powerpoint/2010/main" val="136773065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977840071"/>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226103874"/>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44043543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28954970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105606558"/>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109134326"/>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499073365"/>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318811"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Darshan Institute of Computer Applications , Rajkot</a:t>
            </a:r>
          </a:p>
          <a:p>
            <a:endParaRPr lang="en-US" sz="1600" dirty="0"/>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369990358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slideLayout" Target="../slideLayouts/slideLayout40.xml"/><Relationship Id="rId3" Type="http://schemas.openxmlformats.org/officeDocument/2006/relationships/slideLayout" Target="../slideLayouts/slideLayout25.xml"/><Relationship Id="rId21" Type="http://schemas.openxmlformats.org/officeDocument/2006/relationships/slideLayout" Target="../slideLayouts/slideLayout43.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20" Type="http://schemas.openxmlformats.org/officeDocument/2006/relationships/slideLayout" Target="../slideLayouts/slideLayout42.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23" Type="http://schemas.openxmlformats.org/officeDocument/2006/relationships/theme" Target="../theme/theme2.xml"/><Relationship Id="rId10" Type="http://schemas.openxmlformats.org/officeDocument/2006/relationships/slideLayout" Target="../slideLayouts/slideLayout32.xml"/><Relationship Id="rId19" Type="http://schemas.openxmlformats.org/officeDocument/2006/relationships/slideLayout" Target="../slideLayouts/slideLayout41.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 Id="rId22"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6/12/2025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715"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6/12/2025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350828334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avi"/><Relationship Id="rId1" Type="http://schemas.microsoft.com/office/2007/relationships/media" Target="../media/media1.avi"/><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2.avi"/><Relationship Id="rId1" Type="http://schemas.microsoft.com/office/2007/relationships/media" Target="../media/media2.avi"/><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chirag.sakhrani@darshan.ac.in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8401191184</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US" dirty="0"/>
              <a:t>Department of Computer Applications</a:t>
            </a:r>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6" name="Picture Placeholder 15"/>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569" y="5197789"/>
            <a:ext cx="1353599" cy="1353599"/>
          </a:xfrm>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794508" y="997890"/>
            <a:ext cx="7582576" cy="2578780"/>
          </a:xfrm>
        </p:spPr>
        <p:txBody>
          <a:bodyPr/>
          <a:lstStyle/>
          <a:p>
            <a:r>
              <a:rPr lang="en-US" sz="4800" b="0" dirty="0">
                <a:latin typeface="Roboto Condensed Light" panose="02000000000000000000" pitchFamily="2" charset="0"/>
                <a:ea typeface="Roboto Condensed Light" panose="02000000000000000000" pitchFamily="2" charset="0"/>
              </a:rPr>
              <a:t>Unit-02</a:t>
            </a:r>
            <a:r>
              <a:rPr lang="en-US" dirty="0"/>
              <a:t> </a:t>
            </a:r>
            <a:br>
              <a:rPr lang="en-US" dirty="0"/>
            </a:br>
            <a:r>
              <a:rPr lang="en-US" dirty="0"/>
              <a:t>Control Structure, Function and Array </a:t>
            </a:r>
          </a:p>
        </p:txBody>
      </p:sp>
      <p:sp>
        <p:nvSpPr>
          <p:cNvPr id="4" name="TextBox 3">
            <a:extLst>
              <a:ext uri="{FF2B5EF4-FFF2-40B4-BE49-F238E27FC236}">
                <a16:creationId xmlns:a16="http://schemas.microsoft.com/office/drawing/2014/main" id="{9166C5B6-CA7E-D20E-2548-87ACCB95BDD8}"/>
              </a:ext>
            </a:extLst>
          </p:cNvPr>
          <p:cNvSpPr txBox="1"/>
          <p:nvPr/>
        </p:nvSpPr>
        <p:spPr>
          <a:xfrm>
            <a:off x="794508" y="4144065"/>
            <a:ext cx="8949260" cy="769441"/>
          </a:xfrm>
          <a:prstGeom prst="rect">
            <a:avLst/>
          </a:prstGeom>
          <a:noFill/>
        </p:spPr>
        <p:txBody>
          <a:bodyPr wrap="square">
            <a:spAutoFit/>
          </a:bodyPr>
          <a:lstStyle/>
          <a:p>
            <a:r>
              <a:rPr lang="en-US" sz="2200" b="1" i="1" dirty="0">
                <a:effectLst/>
              </a:rPr>
              <a:t>CO2 : At the end of this course, students will be able to,</a:t>
            </a:r>
          </a:p>
          <a:p>
            <a:r>
              <a:rPr lang="en-US" sz="2200" dirty="0"/>
              <a:t>          apply the concept of array and control structure to solve the problem.</a:t>
            </a:r>
            <a:endParaRPr lang="en-US" sz="2200" b="0" i="1" dirty="0">
              <a:effectLst/>
            </a:endParaRPr>
          </a:p>
        </p:txBody>
      </p:sp>
    </p:spTree>
    <p:extLst>
      <p:ext uri="{BB962C8B-B14F-4D97-AF65-F5344CB8AC3E}">
        <p14:creationId xmlns:p14="http://schemas.microsoft.com/office/powerpoint/2010/main" val="243652001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700532"/>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5915230" cy="6217087"/>
          </a:xfrm>
          <a:prstGeom prst="rect">
            <a:avLst/>
          </a:prstGeom>
          <a:noFill/>
        </p:spPr>
        <p:txBody>
          <a:bodyPr wrap="square" rtlCol="0">
            <a:spAutoFit/>
          </a:bodyPr>
          <a:lstStyle/>
          <a:p>
            <a:r>
              <a:rPr lang="en-IN" sz="2400" b="1" dirty="0"/>
              <a:t>Outline</a:t>
            </a:r>
            <a:endParaRPr lang="en-US" sz="2400" b="1" dirty="0"/>
          </a:p>
          <a:p>
            <a:endParaRPr lang="en-US" sz="2200" b="1" dirty="0"/>
          </a:p>
          <a:p>
            <a:pPr indent="446088">
              <a:buFont typeface="Wingdings" pitchFamily="2" charset="2"/>
              <a:buChar char="ü"/>
            </a:pPr>
            <a:r>
              <a:rPr lang="en-US" sz="2200" dirty="0"/>
              <a:t>Control Structure</a:t>
            </a:r>
          </a:p>
          <a:p>
            <a:pPr marL="800100" lvl="1" indent="-342900">
              <a:buFont typeface="Wingdings" panose="05000000000000000000" pitchFamily="2" charset="2"/>
              <a:buChar char="§"/>
            </a:pPr>
            <a:r>
              <a:rPr lang="en-US" sz="2200" dirty="0"/>
              <a:t>If statement</a:t>
            </a:r>
          </a:p>
          <a:p>
            <a:pPr marL="800100" lvl="1" indent="-342900">
              <a:buFont typeface="Wingdings" panose="05000000000000000000" pitchFamily="2" charset="2"/>
              <a:buChar char="§"/>
            </a:pPr>
            <a:r>
              <a:rPr lang="en-US" sz="2200" dirty="0"/>
              <a:t>If-else statement</a:t>
            </a:r>
          </a:p>
          <a:p>
            <a:pPr marL="800100" lvl="1" indent="-342900">
              <a:buFont typeface="Wingdings" panose="05000000000000000000" pitchFamily="2" charset="2"/>
              <a:buChar char="§"/>
            </a:pPr>
            <a:r>
              <a:rPr lang="en-US" sz="2200" dirty="0"/>
              <a:t>If-else ladder statement</a:t>
            </a:r>
          </a:p>
          <a:p>
            <a:pPr marL="800100" lvl="1" indent="-342900">
              <a:buFont typeface="Wingdings" panose="05000000000000000000" pitchFamily="2" charset="2"/>
              <a:buChar char="§"/>
            </a:pPr>
            <a:r>
              <a:rPr lang="en-US" sz="2200" dirty="0"/>
              <a:t>Switch statement</a:t>
            </a:r>
          </a:p>
          <a:p>
            <a:pPr marL="800100" lvl="1" indent="-342900">
              <a:buFont typeface="Wingdings" panose="05000000000000000000" pitchFamily="2" charset="2"/>
              <a:buChar char="§"/>
            </a:pPr>
            <a:r>
              <a:rPr lang="en-US" sz="2200" dirty="0"/>
              <a:t>While loop</a:t>
            </a:r>
          </a:p>
          <a:p>
            <a:pPr marL="800100" lvl="1" indent="-342900">
              <a:buFont typeface="Wingdings" panose="05000000000000000000" pitchFamily="2" charset="2"/>
              <a:buChar char="§"/>
            </a:pPr>
            <a:r>
              <a:rPr lang="en-US" sz="2200" dirty="0"/>
              <a:t>Do-while loop</a:t>
            </a:r>
          </a:p>
          <a:p>
            <a:pPr marL="800100" lvl="1" indent="-342900">
              <a:buFont typeface="Wingdings" panose="05000000000000000000" pitchFamily="2" charset="2"/>
              <a:buChar char="§"/>
            </a:pPr>
            <a:r>
              <a:rPr lang="en-US" sz="2200" dirty="0"/>
              <a:t>For</a:t>
            </a:r>
          </a:p>
          <a:p>
            <a:pPr marL="800100" lvl="1" indent="-342900">
              <a:buFont typeface="Wingdings" panose="05000000000000000000" pitchFamily="2" charset="2"/>
              <a:buChar char="§"/>
            </a:pPr>
            <a:r>
              <a:rPr lang="en-US" sz="2200" dirty="0"/>
              <a:t>Foreach</a:t>
            </a:r>
          </a:p>
          <a:p>
            <a:pPr marL="800100" lvl="1" indent="-342900">
              <a:buFont typeface="Wingdings" panose="05000000000000000000" pitchFamily="2" charset="2"/>
              <a:buChar char="§"/>
            </a:pPr>
            <a:r>
              <a:rPr lang="en-US" sz="2200" dirty="0"/>
              <a:t>Break</a:t>
            </a:r>
          </a:p>
          <a:p>
            <a:pPr marL="800100" lvl="1" indent="-342900">
              <a:buFont typeface="Wingdings" panose="05000000000000000000" pitchFamily="2" charset="2"/>
              <a:buChar char="§"/>
            </a:pPr>
            <a:r>
              <a:rPr lang="en-US" sz="2200" dirty="0"/>
              <a:t>Continue</a:t>
            </a:r>
          </a:p>
          <a:p>
            <a:pPr indent="446088">
              <a:buFont typeface="Wingdings" pitchFamily="2" charset="2"/>
              <a:buChar char="ü"/>
            </a:pPr>
            <a:r>
              <a:rPr lang="en-US" sz="2200" dirty="0"/>
              <a:t>Array</a:t>
            </a:r>
          </a:p>
          <a:p>
            <a:pPr marL="800100" lvl="1" indent="-342900">
              <a:buFont typeface="Wingdings" panose="05000000000000000000" pitchFamily="2" charset="2"/>
              <a:buChar char="§"/>
            </a:pPr>
            <a:r>
              <a:rPr lang="en-US" sz="2200" dirty="0"/>
              <a:t>One Dimensional Array</a:t>
            </a:r>
          </a:p>
          <a:p>
            <a:pPr marL="800100" lvl="1" indent="-342900">
              <a:buFont typeface="Wingdings" panose="05000000000000000000" pitchFamily="2" charset="2"/>
              <a:buChar char="§"/>
            </a:pPr>
            <a:r>
              <a:rPr lang="en-US" sz="2200" dirty="0"/>
              <a:t>Multi Dimensional Array</a:t>
            </a:r>
          </a:p>
          <a:p>
            <a:pPr marL="342900" indent="-342900">
              <a:buFont typeface="Wingdings" panose="05000000000000000000" pitchFamily="2" charset="2"/>
              <a:buChar char="ü"/>
            </a:pPr>
            <a:r>
              <a:rPr lang="en-US" sz="2200" dirty="0"/>
              <a:t>Function</a:t>
            </a:r>
          </a:p>
          <a:p>
            <a:pPr indent="446088">
              <a:buFont typeface="Wingdings" pitchFamily="2" charset="2"/>
              <a:buChar char="ü"/>
            </a:pPr>
            <a:endParaRPr lang="en-US" sz="2200" dirty="0"/>
          </a:p>
        </p:txBody>
      </p:sp>
    </p:spTree>
    <p:extLst>
      <p:ext uri="{BB962C8B-B14F-4D97-AF65-F5344CB8AC3E}">
        <p14:creationId xmlns:p14="http://schemas.microsoft.com/office/powerpoint/2010/main" val="182151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22" presetClass="entr" presetSubtype="1"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ipe(up)">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par>
                          <p:cTn id="19" fill="hold">
                            <p:stCondLst>
                              <p:cond delay="1000"/>
                            </p:stCondLst>
                            <p:childTnLst>
                              <p:par>
                                <p:cTn id="20" presetID="1"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par>
                          <p:cTn id="22" fill="hold">
                            <p:stCondLst>
                              <p:cond delay="1000"/>
                            </p:stCondLst>
                            <p:childTnLst>
                              <p:par>
                                <p:cTn id="23" presetID="22" presetClass="entr" presetSubtype="1"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up)">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9">
                                            <p:txEl>
                                              <p:pRg st="15" end="15"/>
                                            </p:txEl>
                                          </p:spTgt>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9">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2667-06B3-F8FA-E84E-964DCF2A8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010C7-11B1-2A1E-E695-4B35743C6C43}"/>
              </a:ext>
            </a:extLst>
          </p:cNvPr>
          <p:cNvSpPr>
            <a:spLocks noGrp="1"/>
          </p:cNvSpPr>
          <p:nvPr>
            <p:ph type="title"/>
          </p:nvPr>
        </p:nvSpPr>
        <p:spPr>
          <a:xfrm>
            <a:off x="0" y="1"/>
            <a:ext cx="12192000" cy="711200"/>
          </a:xfrm>
        </p:spPr>
        <p:txBody>
          <a:bodyPr/>
          <a:lstStyle/>
          <a:p>
            <a:r>
              <a:rPr lang="en-US" dirty="0"/>
              <a:t>Control Statements</a:t>
            </a:r>
          </a:p>
        </p:txBody>
      </p:sp>
      <p:sp>
        <p:nvSpPr>
          <p:cNvPr id="3" name="Content Placeholder 2">
            <a:extLst>
              <a:ext uri="{FF2B5EF4-FFF2-40B4-BE49-F238E27FC236}">
                <a16:creationId xmlns:a16="http://schemas.microsoft.com/office/drawing/2014/main" id="{1D49F28B-4D56-2E71-A5A6-D6044236A846}"/>
              </a:ext>
            </a:extLst>
          </p:cNvPr>
          <p:cNvSpPr>
            <a:spLocks noGrp="1"/>
          </p:cNvSpPr>
          <p:nvPr>
            <p:ph idx="1"/>
          </p:nvPr>
        </p:nvSpPr>
        <p:spPr>
          <a:xfrm>
            <a:off x="131180" y="863444"/>
            <a:ext cx="11929641" cy="5590565"/>
          </a:xfrm>
        </p:spPr>
        <p:txBody>
          <a:bodyPr/>
          <a:lstStyle/>
          <a:p>
            <a:r>
              <a:rPr lang="en-US" dirty="0"/>
              <a:t>Control Statements in Java is one of the fundamentals required for Java Programming. It allows the smooth flow of a program.</a:t>
            </a:r>
          </a:p>
          <a:p>
            <a:r>
              <a:rPr lang="en-US" dirty="0"/>
              <a:t>Statement can simply be defined as an instruction given to the computer to perform specific operations. </a:t>
            </a:r>
          </a:p>
          <a:p>
            <a:r>
              <a:rPr lang="en-US" dirty="0"/>
              <a:t>A control statement in java is a statement that determines whether the other statements will be executed or not.</a:t>
            </a:r>
          </a:p>
          <a:p>
            <a:r>
              <a:rPr lang="en-US" dirty="0"/>
              <a:t>Control statements in Java,</a:t>
            </a:r>
          </a:p>
          <a:p>
            <a:pPr lvl="1"/>
            <a:r>
              <a:rPr lang="en-US" sz="2200" dirty="0"/>
              <a:t>If statement</a:t>
            </a:r>
          </a:p>
          <a:p>
            <a:pPr lvl="1"/>
            <a:r>
              <a:rPr lang="en-US" sz="2200" dirty="0"/>
              <a:t>If-else statement</a:t>
            </a:r>
          </a:p>
          <a:p>
            <a:pPr lvl="1"/>
            <a:r>
              <a:rPr lang="en-US" sz="2200" dirty="0"/>
              <a:t>If-else ladder statement</a:t>
            </a:r>
          </a:p>
          <a:p>
            <a:pPr lvl="1"/>
            <a:r>
              <a:rPr lang="en-US" sz="2200" dirty="0"/>
              <a:t>Switch statement</a:t>
            </a:r>
          </a:p>
        </p:txBody>
      </p:sp>
    </p:spTree>
    <p:extLst>
      <p:ext uri="{BB962C8B-B14F-4D97-AF65-F5344CB8AC3E}">
        <p14:creationId xmlns:p14="http://schemas.microsoft.com/office/powerpoint/2010/main" val="46303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9CA6D-D724-5D89-A1D4-DDBE9EB467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A587E5-34B2-3B3A-B318-43AAFB331B3A}"/>
              </a:ext>
            </a:extLst>
          </p:cNvPr>
          <p:cNvSpPr>
            <a:spLocks noGrp="1"/>
          </p:cNvSpPr>
          <p:nvPr>
            <p:ph type="title"/>
          </p:nvPr>
        </p:nvSpPr>
        <p:spPr>
          <a:xfrm>
            <a:off x="0" y="1"/>
            <a:ext cx="12192000" cy="711200"/>
          </a:xfrm>
        </p:spPr>
        <p:txBody>
          <a:bodyPr/>
          <a:lstStyle/>
          <a:p>
            <a:r>
              <a:rPr lang="en-IN" dirty="0"/>
              <a:t>if statement</a:t>
            </a:r>
            <a:endParaRPr lang="en-US" dirty="0"/>
          </a:p>
        </p:txBody>
      </p:sp>
      <p:sp>
        <p:nvSpPr>
          <p:cNvPr id="3" name="Content Placeholder 2">
            <a:extLst>
              <a:ext uri="{FF2B5EF4-FFF2-40B4-BE49-F238E27FC236}">
                <a16:creationId xmlns:a16="http://schemas.microsoft.com/office/drawing/2014/main" id="{6E0D0C04-472E-2AD5-15EF-BBB42E6BB9C6}"/>
              </a:ext>
            </a:extLst>
          </p:cNvPr>
          <p:cNvSpPr>
            <a:spLocks noGrp="1"/>
          </p:cNvSpPr>
          <p:nvPr>
            <p:ph idx="1"/>
          </p:nvPr>
        </p:nvSpPr>
        <p:spPr>
          <a:xfrm>
            <a:off x="131180" y="863444"/>
            <a:ext cx="11929641" cy="5590565"/>
          </a:xfrm>
        </p:spPr>
        <p:txBody>
          <a:bodyPr/>
          <a:lstStyle/>
          <a:p>
            <a:r>
              <a:rPr lang="en-US" dirty="0"/>
              <a:t>if statement tests the condition. It executes the if block if condition is true.</a:t>
            </a:r>
          </a:p>
          <a:p>
            <a:endParaRPr lang="en-US" dirty="0"/>
          </a:p>
        </p:txBody>
      </p:sp>
      <p:sp>
        <p:nvSpPr>
          <p:cNvPr id="4" name="TextBox 3">
            <a:extLst>
              <a:ext uri="{FF2B5EF4-FFF2-40B4-BE49-F238E27FC236}">
                <a16:creationId xmlns:a16="http://schemas.microsoft.com/office/drawing/2014/main" id="{7810816C-3E6F-FB4E-2516-8AE11132E233}"/>
              </a:ext>
            </a:extLst>
          </p:cNvPr>
          <p:cNvSpPr txBox="1"/>
          <p:nvPr/>
        </p:nvSpPr>
        <p:spPr>
          <a:xfrm>
            <a:off x="4441371" y="1733332"/>
            <a:ext cx="7361854" cy="2585323"/>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IfStatementDemo</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a:t>
            </a:r>
          </a:p>
          <a:p>
            <a:pPr lvl="1"/>
            <a:r>
              <a:rPr lang="en-US" dirty="0">
                <a:solidFill>
                  <a:srgbClr val="000000"/>
                </a:solidFill>
                <a:latin typeface="Consolas"/>
              </a:rPr>
              <a:t>{</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a</a:t>
            </a:r>
            <a:r>
              <a:rPr lang="en-US" b="1" dirty="0">
                <a:solidFill>
                  <a:srgbClr val="000000"/>
                </a:solidFill>
                <a:latin typeface="Consolas"/>
              </a:rPr>
              <a:t> = 10, </a:t>
            </a:r>
            <a:r>
              <a:rPr lang="en-US" b="1" dirty="0">
                <a:solidFill>
                  <a:srgbClr val="6A3E3E"/>
                </a:solidFill>
                <a:latin typeface="Consolas"/>
              </a:rPr>
              <a:t>b</a:t>
            </a:r>
            <a:r>
              <a:rPr lang="en-US" b="1" dirty="0">
                <a:solidFill>
                  <a:srgbClr val="000000"/>
                </a:solidFill>
                <a:latin typeface="Consolas"/>
              </a:rPr>
              <a:t> = 20;</a:t>
            </a:r>
          </a:p>
          <a:p>
            <a:pPr lvl="2"/>
            <a:r>
              <a:rPr lang="en-US" b="1" dirty="0">
                <a:solidFill>
                  <a:srgbClr val="7F0055"/>
                </a:solidFill>
                <a:latin typeface="Consolas"/>
              </a:rPr>
              <a:t>if</a:t>
            </a:r>
            <a:r>
              <a:rPr lang="en-US" b="1" dirty="0">
                <a:solidFill>
                  <a:srgbClr val="000000"/>
                </a:solidFill>
                <a:latin typeface="Consolas"/>
              </a:rPr>
              <a:t>( </a:t>
            </a:r>
            <a:r>
              <a:rPr lang="en-US" b="1" dirty="0">
                <a:solidFill>
                  <a:srgbClr val="6A3E3E"/>
                </a:solidFill>
                <a:latin typeface="Consolas"/>
              </a:rPr>
              <a:t>a </a:t>
            </a:r>
            <a:r>
              <a:rPr lang="en-US" b="1" dirty="0">
                <a:solidFill>
                  <a:srgbClr val="000000"/>
                </a:solidFill>
                <a:latin typeface="Consolas"/>
              </a:rPr>
              <a:t>&lt; </a:t>
            </a:r>
            <a:r>
              <a:rPr lang="en-US" b="1" dirty="0">
                <a:solidFill>
                  <a:srgbClr val="6A3E3E"/>
                </a:solidFill>
                <a:latin typeface="Consolas"/>
              </a:rPr>
              <a:t>b </a:t>
            </a:r>
            <a:r>
              <a:rPr lang="en-US" b="1" dirty="0">
                <a:solidFill>
                  <a:srgbClr val="000000"/>
                </a:solidFill>
                <a:latin typeface="Consolas"/>
              </a:rPr>
              <a:t>) {</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 is smaller than B"</a:t>
            </a:r>
            <a:r>
              <a:rPr lang="en-US" b="1" i="1"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
        <p:nvSpPr>
          <p:cNvPr id="5" name="Rounded Rectangle 5">
            <a:extLst>
              <a:ext uri="{FF2B5EF4-FFF2-40B4-BE49-F238E27FC236}">
                <a16:creationId xmlns:a16="http://schemas.microsoft.com/office/drawing/2014/main" id="{5A388682-B5CD-093D-8745-B2D0A37DC912}"/>
              </a:ext>
            </a:extLst>
          </p:cNvPr>
          <p:cNvSpPr/>
          <p:nvPr/>
        </p:nvSpPr>
        <p:spPr>
          <a:xfrm>
            <a:off x="1521019" y="1431396"/>
            <a:ext cx="1212012" cy="48308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6" name="Rectangle 5">
            <a:extLst>
              <a:ext uri="{FF2B5EF4-FFF2-40B4-BE49-F238E27FC236}">
                <a16:creationId xmlns:a16="http://schemas.microsoft.com/office/drawing/2014/main" id="{6D83C574-033A-89C2-7E7F-15CE340F178E}"/>
              </a:ext>
            </a:extLst>
          </p:cNvPr>
          <p:cNvSpPr/>
          <p:nvPr/>
        </p:nvSpPr>
        <p:spPr>
          <a:xfrm>
            <a:off x="1379426" y="3791687"/>
            <a:ext cx="1492370" cy="707366"/>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Statements</a:t>
            </a:r>
          </a:p>
        </p:txBody>
      </p:sp>
      <p:sp>
        <p:nvSpPr>
          <p:cNvPr id="7" name="Rectangle 6">
            <a:extLst>
              <a:ext uri="{FF2B5EF4-FFF2-40B4-BE49-F238E27FC236}">
                <a16:creationId xmlns:a16="http://schemas.microsoft.com/office/drawing/2014/main" id="{7AC4B8A5-BE67-1C2E-36CB-9D7C2A2F363D}"/>
              </a:ext>
            </a:extLst>
          </p:cNvPr>
          <p:cNvSpPr/>
          <p:nvPr/>
        </p:nvSpPr>
        <p:spPr>
          <a:xfrm>
            <a:off x="1379426" y="4768239"/>
            <a:ext cx="1492370" cy="707366"/>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Next Statements</a:t>
            </a:r>
          </a:p>
        </p:txBody>
      </p:sp>
      <p:sp>
        <p:nvSpPr>
          <p:cNvPr id="8" name="Rounded Rectangle 9">
            <a:extLst>
              <a:ext uri="{FF2B5EF4-FFF2-40B4-BE49-F238E27FC236}">
                <a16:creationId xmlns:a16="http://schemas.microsoft.com/office/drawing/2014/main" id="{AB20E2E1-BDDD-7F0E-7520-03FD352F62B0}"/>
              </a:ext>
            </a:extLst>
          </p:cNvPr>
          <p:cNvSpPr/>
          <p:nvPr/>
        </p:nvSpPr>
        <p:spPr>
          <a:xfrm>
            <a:off x="1659784" y="5766947"/>
            <a:ext cx="931653" cy="483080"/>
          </a:xfrm>
          <a:prstGeom prst="ellipse">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End</a:t>
            </a:r>
          </a:p>
        </p:txBody>
      </p:sp>
      <p:sp>
        <p:nvSpPr>
          <p:cNvPr id="9" name="Diamond 8">
            <a:extLst>
              <a:ext uri="{FF2B5EF4-FFF2-40B4-BE49-F238E27FC236}">
                <a16:creationId xmlns:a16="http://schemas.microsoft.com/office/drawing/2014/main" id="{D3517A7B-72AE-B970-79F9-63FD363CC4FB}"/>
              </a:ext>
            </a:extLst>
          </p:cNvPr>
          <p:cNvSpPr/>
          <p:nvPr/>
        </p:nvSpPr>
        <p:spPr>
          <a:xfrm>
            <a:off x="914400" y="2125462"/>
            <a:ext cx="2425249" cy="1129503"/>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Condition</a:t>
            </a:r>
          </a:p>
        </p:txBody>
      </p:sp>
      <p:cxnSp>
        <p:nvCxnSpPr>
          <p:cNvPr id="10" name="Straight Arrow Connector 9">
            <a:extLst>
              <a:ext uri="{FF2B5EF4-FFF2-40B4-BE49-F238E27FC236}">
                <a16:creationId xmlns:a16="http://schemas.microsoft.com/office/drawing/2014/main" id="{D33ACF54-7B5A-45EE-520C-83DBB0F1D7EC}"/>
              </a:ext>
            </a:extLst>
          </p:cNvPr>
          <p:cNvCxnSpPr>
            <a:stCxn id="5" idx="4"/>
            <a:endCxn id="9" idx="0"/>
          </p:cNvCxnSpPr>
          <p:nvPr/>
        </p:nvCxnSpPr>
        <p:spPr>
          <a:xfrm>
            <a:off x="2127025" y="1914476"/>
            <a:ext cx="0" cy="21098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D33C5C1-1024-5785-5961-FEE262DA08F5}"/>
              </a:ext>
            </a:extLst>
          </p:cNvPr>
          <p:cNvCxnSpPr>
            <a:stCxn id="9" idx="2"/>
          </p:cNvCxnSpPr>
          <p:nvPr/>
        </p:nvCxnSpPr>
        <p:spPr>
          <a:xfrm>
            <a:off x="2127025" y="3254965"/>
            <a:ext cx="0" cy="536722"/>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3D47E45-7BE4-1DF1-B838-B750FB7BF135}"/>
              </a:ext>
            </a:extLst>
          </p:cNvPr>
          <p:cNvCxnSpPr>
            <a:stCxn id="6" idx="2"/>
          </p:cNvCxnSpPr>
          <p:nvPr/>
        </p:nvCxnSpPr>
        <p:spPr>
          <a:xfrm>
            <a:off x="2125611" y="4499053"/>
            <a:ext cx="0" cy="25955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2AAA27C-294A-1D98-B701-60A3E259867B}"/>
              </a:ext>
            </a:extLst>
          </p:cNvPr>
          <p:cNvCxnSpPr/>
          <p:nvPr/>
        </p:nvCxnSpPr>
        <p:spPr>
          <a:xfrm>
            <a:off x="2125611" y="5502114"/>
            <a:ext cx="2" cy="27084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a:extLst>
              <a:ext uri="{FF2B5EF4-FFF2-40B4-BE49-F238E27FC236}">
                <a16:creationId xmlns:a16="http://schemas.microsoft.com/office/drawing/2014/main" id="{9C97CDE1-FE77-3E9F-DC6B-5B0EE5FD7E10}"/>
              </a:ext>
            </a:extLst>
          </p:cNvPr>
          <p:cNvCxnSpPr>
            <a:stCxn id="9" idx="3"/>
            <a:endCxn id="7" idx="3"/>
          </p:cNvCxnSpPr>
          <p:nvPr/>
        </p:nvCxnSpPr>
        <p:spPr>
          <a:xfrm flipH="1">
            <a:off x="2871796" y="2690214"/>
            <a:ext cx="467853" cy="2431708"/>
          </a:xfrm>
          <a:prstGeom prst="bentConnector3">
            <a:avLst>
              <a:gd name="adj1" fmla="val -48862"/>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A56D9FC-ACF5-0ADD-813B-7B786FD257FE}"/>
              </a:ext>
            </a:extLst>
          </p:cNvPr>
          <p:cNvSpPr txBox="1"/>
          <p:nvPr/>
        </p:nvSpPr>
        <p:spPr>
          <a:xfrm>
            <a:off x="1690130" y="3295007"/>
            <a:ext cx="595035" cy="369332"/>
          </a:xfrm>
          <a:prstGeom prst="rect">
            <a:avLst/>
          </a:prstGeom>
          <a:noFill/>
          <a:ln>
            <a:noFill/>
          </a:ln>
        </p:spPr>
        <p:txBody>
          <a:bodyPr wrap="none" rtlCol="0">
            <a:spAutoFit/>
          </a:bodyPr>
          <a:lstStyle/>
          <a:p>
            <a:r>
              <a:rPr lang="en-IN" dirty="0"/>
              <a:t>True</a:t>
            </a:r>
          </a:p>
        </p:txBody>
      </p:sp>
      <p:sp>
        <p:nvSpPr>
          <p:cNvPr id="16" name="TextBox 15">
            <a:extLst>
              <a:ext uri="{FF2B5EF4-FFF2-40B4-BE49-F238E27FC236}">
                <a16:creationId xmlns:a16="http://schemas.microsoft.com/office/drawing/2014/main" id="{C1C3BA1C-7F83-E4E3-9D38-8388EF0FAD46}"/>
              </a:ext>
            </a:extLst>
          </p:cNvPr>
          <p:cNvSpPr txBox="1"/>
          <p:nvPr/>
        </p:nvSpPr>
        <p:spPr>
          <a:xfrm>
            <a:off x="3491061" y="3634780"/>
            <a:ext cx="671979" cy="369332"/>
          </a:xfrm>
          <a:prstGeom prst="rect">
            <a:avLst/>
          </a:prstGeom>
          <a:noFill/>
          <a:ln>
            <a:noFill/>
          </a:ln>
        </p:spPr>
        <p:txBody>
          <a:bodyPr wrap="none" rtlCol="0">
            <a:spAutoFit/>
          </a:bodyPr>
          <a:lstStyle/>
          <a:p>
            <a:r>
              <a:rPr lang="en-IN" dirty="0"/>
              <a:t>False</a:t>
            </a:r>
          </a:p>
        </p:txBody>
      </p:sp>
    </p:spTree>
    <p:extLst>
      <p:ext uri="{BB962C8B-B14F-4D97-AF65-F5344CB8AC3E}">
        <p14:creationId xmlns:p14="http://schemas.microsoft.com/office/powerpoint/2010/main" val="162443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up)">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wipe(up)">
                                      <p:cBhvr>
                                        <p:cTn id="60" dur="500"/>
                                        <p:tgtEl>
                                          <p:spTgt spid="11"/>
                                        </p:tgtEl>
                                      </p:cBhvr>
                                    </p:animEffect>
                                  </p:childTnLst>
                                </p:cTn>
                              </p:par>
                              <p:par>
                                <p:cTn id="61" presetID="1"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12"/>
                                        </p:tgtEl>
                                        <p:attrNameLst>
                                          <p:attrName>style.visibility</p:attrName>
                                        </p:attrNameLst>
                                      </p:cBhvr>
                                      <p:to>
                                        <p:strVal val="visible"/>
                                      </p:to>
                                    </p:set>
                                    <p:animEffect transition="in" filter="wipe(up)">
                                      <p:cBhvr>
                                        <p:cTn id="71" dur="500"/>
                                        <p:tgtEl>
                                          <p:spTgt spid="12"/>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2" fill="hold" nodeType="clickEffect">
                                  <p:stCondLst>
                                    <p:cond delay="0"/>
                                  </p:stCondLst>
                                  <p:childTnLst>
                                    <p:set>
                                      <p:cBhvr>
                                        <p:cTn id="79" dur="1" fill="hold">
                                          <p:stCondLst>
                                            <p:cond delay="0"/>
                                          </p:stCondLst>
                                        </p:cTn>
                                        <p:tgtEl>
                                          <p:spTgt spid="14"/>
                                        </p:tgtEl>
                                        <p:attrNameLst>
                                          <p:attrName>style.visibility</p:attrName>
                                        </p:attrNameLst>
                                      </p:cBhvr>
                                      <p:to>
                                        <p:strVal val="visible"/>
                                      </p:to>
                                    </p:set>
                                    <p:animEffect transition="in" filter="wipe(right)">
                                      <p:cBhvr>
                                        <p:cTn id="80" dur="500"/>
                                        <p:tgtEl>
                                          <p:spTgt spid="14"/>
                                        </p:tgtEl>
                                      </p:cBhvr>
                                    </p:animEffect>
                                  </p:childTnLst>
                                </p:cTn>
                              </p:par>
                              <p:par>
                                <p:cTn id="81" presetID="1" presetClass="entr" presetSubtype="0" fill="hold" grpId="0" nodeType="withEffect">
                                  <p:stCondLst>
                                    <p:cond delay="0"/>
                                  </p:stCondLst>
                                  <p:childTnLst>
                                    <p:set>
                                      <p:cBhvr>
                                        <p:cTn id="82" dur="1" fill="hold">
                                          <p:stCondLst>
                                            <p:cond delay="0"/>
                                          </p:stCondLst>
                                        </p:cTn>
                                        <p:tgtEl>
                                          <p:spTgt spid="1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13"/>
                                        </p:tgtEl>
                                        <p:attrNameLst>
                                          <p:attrName>style.visibility</p:attrName>
                                        </p:attrNameLst>
                                      </p:cBhvr>
                                      <p:to>
                                        <p:strVal val="visible"/>
                                      </p:to>
                                    </p:set>
                                    <p:animEffect transition="in" filter="wipe(up)">
                                      <p:cBhvr>
                                        <p:cTn id="87" dur="500"/>
                                        <p:tgtEl>
                                          <p:spTgt spid="13"/>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nimBg="1"/>
      <p:bldP spid="5" grpId="0" animBg="1"/>
      <p:bldP spid="6" grpId="0" animBg="1"/>
      <p:bldP spid="7" grpId="0" animBg="1"/>
      <p:bldP spid="8" grpId="0" animBg="1"/>
      <p:bldP spid="9" grpId="0" animBg="1"/>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3AAA0-635C-F76A-2BF3-8FE9DE84F4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4826E5-39F9-86F4-B953-2DFED8CE3355}"/>
              </a:ext>
            </a:extLst>
          </p:cNvPr>
          <p:cNvSpPr>
            <a:spLocks noGrp="1"/>
          </p:cNvSpPr>
          <p:nvPr>
            <p:ph type="title"/>
          </p:nvPr>
        </p:nvSpPr>
        <p:spPr>
          <a:xfrm>
            <a:off x="0" y="1"/>
            <a:ext cx="12192000" cy="711200"/>
          </a:xfrm>
        </p:spPr>
        <p:txBody>
          <a:bodyPr/>
          <a:lstStyle/>
          <a:p>
            <a:r>
              <a:rPr lang="en-IN" dirty="0"/>
              <a:t>if-else statement</a:t>
            </a:r>
            <a:endParaRPr lang="en-US" dirty="0"/>
          </a:p>
        </p:txBody>
      </p:sp>
      <p:sp>
        <p:nvSpPr>
          <p:cNvPr id="3" name="Content Placeholder 2">
            <a:extLst>
              <a:ext uri="{FF2B5EF4-FFF2-40B4-BE49-F238E27FC236}">
                <a16:creationId xmlns:a16="http://schemas.microsoft.com/office/drawing/2014/main" id="{0F82FD1B-209F-5CE8-9332-B04CFAFDE59F}"/>
              </a:ext>
            </a:extLst>
          </p:cNvPr>
          <p:cNvSpPr>
            <a:spLocks noGrp="1"/>
          </p:cNvSpPr>
          <p:nvPr>
            <p:ph idx="1"/>
          </p:nvPr>
        </p:nvSpPr>
        <p:spPr>
          <a:xfrm>
            <a:off x="131180" y="863444"/>
            <a:ext cx="11929641" cy="5590565"/>
          </a:xfrm>
        </p:spPr>
        <p:txBody>
          <a:bodyPr/>
          <a:lstStyle/>
          <a:p>
            <a:r>
              <a:rPr lang="en-US" dirty="0"/>
              <a:t>if-else statement also tests the condition. It executes the if block if condition is true otherwise else block is executed.</a:t>
            </a:r>
          </a:p>
        </p:txBody>
      </p:sp>
      <p:sp>
        <p:nvSpPr>
          <p:cNvPr id="4" name="TextBox 3">
            <a:extLst>
              <a:ext uri="{FF2B5EF4-FFF2-40B4-BE49-F238E27FC236}">
                <a16:creationId xmlns:a16="http://schemas.microsoft.com/office/drawing/2014/main" id="{88D1199F-CB2D-0053-2DB4-16D797760FC2}"/>
              </a:ext>
            </a:extLst>
          </p:cNvPr>
          <p:cNvSpPr txBox="1"/>
          <p:nvPr/>
        </p:nvSpPr>
        <p:spPr>
          <a:xfrm>
            <a:off x="5691674" y="1614730"/>
            <a:ext cx="6335486" cy="3970318"/>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IfElseStatementDemo</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a:t>
            </a:r>
          </a:p>
          <a:p>
            <a:pPr lvl="1"/>
            <a:r>
              <a:rPr lang="en-US" dirty="0">
                <a:solidFill>
                  <a:srgbClr val="000000"/>
                </a:solidFill>
                <a:latin typeface="Consolas"/>
              </a:rPr>
              <a:t>{</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a</a:t>
            </a:r>
            <a:r>
              <a:rPr lang="en-US" b="1" dirty="0">
                <a:solidFill>
                  <a:srgbClr val="000000"/>
                </a:solidFill>
                <a:latin typeface="Consolas"/>
              </a:rPr>
              <a:t> = 10, </a:t>
            </a:r>
            <a:r>
              <a:rPr lang="en-US" b="1" dirty="0">
                <a:solidFill>
                  <a:srgbClr val="6A3E3E"/>
                </a:solidFill>
                <a:latin typeface="Consolas"/>
              </a:rPr>
              <a:t>b</a:t>
            </a:r>
            <a:r>
              <a:rPr lang="en-US" b="1" dirty="0">
                <a:solidFill>
                  <a:srgbClr val="000000"/>
                </a:solidFill>
                <a:latin typeface="Consolas"/>
              </a:rPr>
              <a:t> = 20;</a:t>
            </a:r>
          </a:p>
          <a:p>
            <a:pPr lvl="2"/>
            <a:r>
              <a:rPr lang="en-US" b="1" dirty="0">
                <a:solidFill>
                  <a:srgbClr val="7F0055"/>
                </a:solidFill>
                <a:latin typeface="Consolas"/>
              </a:rPr>
              <a:t>if</a:t>
            </a:r>
            <a:r>
              <a:rPr lang="en-US" b="1" dirty="0">
                <a:solidFill>
                  <a:srgbClr val="000000"/>
                </a:solidFill>
                <a:latin typeface="Consolas"/>
              </a:rPr>
              <a:t>(</a:t>
            </a:r>
            <a:r>
              <a:rPr lang="en-US" b="1" dirty="0">
                <a:solidFill>
                  <a:srgbClr val="6A3E3E"/>
                </a:solidFill>
                <a:latin typeface="Consolas"/>
              </a:rPr>
              <a:t>a</a:t>
            </a:r>
            <a:r>
              <a:rPr lang="en-US" b="1" dirty="0">
                <a:solidFill>
                  <a:srgbClr val="000000"/>
                </a:solidFill>
                <a:latin typeface="Consolas"/>
              </a:rPr>
              <a:t>&lt;</a:t>
            </a:r>
            <a:r>
              <a:rPr lang="en-US" b="1" dirty="0">
                <a:solidFill>
                  <a:srgbClr val="6A3E3E"/>
                </a:solidFill>
                <a:latin typeface="Consolas"/>
              </a:rPr>
              <a:t>b</a:t>
            </a:r>
            <a:r>
              <a:rPr lang="en-US" b="1" dirty="0">
                <a:solidFill>
                  <a:srgbClr val="000000"/>
                </a:solidFill>
                <a:latin typeface="Consolas"/>
              </a:rPr>
              <a:t>) {</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 is smaller than B"</a:t>
            </a:r>
            <a:r>
              <a:rPr lang="en-US" b="1" i="1" dirty="0">
                <a:solidFill>
                  <a:srgbClr val="000000"/>
                </a:solidFill>
                <a:latin typeface="Consolas"/>
              </a:rPr>
              <a:t>);</a:t>
            </a:r>
          </a:p>
          <a:p>
            <a:pPr lvl="2"/>
            <a:r>
              <a:rPr lang="en-US" dirty="0">
                <a:solidFill>
                  <a:srgbClr val="000000"/>
                </a:solidFill>
                <a:latin typeface="Consolas"/>
              </a:rPr>
              <a:t>}</a:t>
            </a:r>
          </a:p>
          <a:p>
            <a:pPr lvl="2"/>
            <a:r>
              <a:rPr lang="en-US" b="1" dirty="0">
                <a:solidFill>
                  <a:srgbClr val="7F0055"/>
                </a:solidFill>
                <a:latin typeface="Consolas"/>
              </a:rPr>
              <a:t>else</a:t>
            </a:r>
            <a:r>
              <a:rPr lang="en-US" b="1" dirty="0">
                <a:solidFill>
                  <a:srgbClr val="000000"/>
                </a:solidFill>
                <a:latin typeface="Consolas"/>
              </a:rPr>
              <a:t> {</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 is not smaller than B"</a:t>
            </a:r>
            <a:r>
              <a:rPr lang="en-US" b="1" i="1"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endParaRPr lang="en-US" dirty="0"/>
          </a:p>
        </p:txBody>
      </p:sp>
      <p:sp>
        <p:nvSpPr>
          <p:cNvPr id="5" name="Rounded Rectangle 4">
            <a:extLst>
              <a:ext uri="{FF2B5EF4-FFF2-40B4-BE49-F238E27FC236}">
                <a16:creationId xmlns:a16="http://schemas.microsoft.com/office/drawing/2014/main" id="{C80A1114-86D4-E282-BAA9-B31F42CA8703}"/>
              </a:ext>
            </a:extLst>
          </p:cNvPr>
          <p:cNvSpPr/>
          <p:nvPr/>
        </p:nvSpPr>
        <p:spPr>
          <a:xfrm>
            <a:off x="2208860" y="1614730"/>
            <a:ext cx="1212010" cy="483080"/>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Start</a:t>
            </a:r>
          </a:p>
        </p:txBody>
      </p:sp>
      <p:sp>
        <p:nvSpPr>
          <p:cNvPr id="6" name="Rectangle 5">
            <a:extLst>
              <a:ext uri="{FF2B5EF4-FFF2-40B4-BE49-F238E27FC236}">
                <a16:creationId xmlns:a16="http://schemas.microsoft.com/office/drawing/2014/main" id="{6DC5FA3E-0E64-04A8-2E36-0BE0A31FDAA5}"/>
              </a:ext>
            </a:extLst>
          </p:cNvPr>
          <p:cNvSpPr/>
          <p:nvPr/>
        </p:nvSpPr>
        <p:spPr>
          <a:xfrm>
            <a:off x="135897" y="3348065"/>
            <a:ext cx="1492370" cy="707366"/>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Statements</a:t>
            </a:r>
          </a:p>
        </p:txBody>
      </p:sp>
      <p:sp>
        <p:nvSpPr>
          <p:cNvPr id="7" name="Rectangle 6">
            <a:extLst>
              <a:ext uri="{FF2B5EF4-FFF2-40B4-BE49-F238E27FC236}">
                <a16:creationId xmlns:a16="http://schemas.microsoft.com/office/drawing/2014/main" id="{466A3E82-36B4-585A-E786-0758AF20D4FB}"/>
              </a:ext>
            </a:extLst>
          </p:cNvPr>
          <p:cNvSpPr/>
          <p:nvPr/>
        </p:nvSpPr>
        <p:spPr>
          <a:xfrm>
            <a:off x="2059134" y="4921358"/>
            <a:ext cx="1492370" cy="707366"/>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Next Statements</a:t>
            </a:r>
          </a:p>
        </p:txBody>
      </p:sp>
      <p:sp>
        <p:nvSpPr>
          <p:cNvPr id="8" name="Rounded Rectangle 7">
            <a:extLst>
              <a:ext uri="{FF2B5EF4-FFF2-40B4-BE49-F238E27FC236}">
                <a16:creationId xmlns:a16="http://schemas.microsoft.com/office/drawing/2014/main" id="{EA5EBA5C-7639-7AAF-CF61-499FDC59A28E}"/>
              </a:ext>
            </a:extLst>
          </p:cNvPr>
          <p:cNvSpPr/>
          <p:nvPr/>
        </p:nvSpPr>
        <p:spPr>
          <a:xfrm>
            <a:off x="2339492" y="5960554"/>
            <a:ext cx="931653" cy="483080"/>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End</a:t>
            </a:r>
          </a:p>
        </p:txBody>
      </p:sp>
      <p:sp>
        <p:nvSpPr>
          <p:cNvPr id="9" name="Diamond 8">
            <a:extLst>
              <a:ext uri="{FF2B5EF4-FFF2-40B4-BE49-F238E27FC236}">
                <a16:creationId xmlns:a16="http://schemas.microsoft.com/office/drawing/2014/main" id="{81FE357B-9CA7-572E-89E4-645A96647179}"/>
              </a:ext>
            </a:extLst>
          </p:cNvPr>
          <p:cNvSpPr/>
          <p:nvPr/>
        </p:nvSpPr>
        <p:spPr>
          <a:xfrm>
            <a:off x="1675259" y="2374395"/>
            <a:ext cx="2346235" cy="1129503"/>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Condition</a:t>
            </a:r>
          </a:p>
        </p:txBody>
      </p:sp>
      <p:cxnSp>
        <p:nvCxnSpPr>
          <p:cNvPr id="10" name="Straight Arrow Connector 9">
            <a:extLst>
              <a:ext uri="{FF2B5EF4-FFF2-40B4-BE49-F238E27FC236}">
                <a16:creationId xmlns:a16="http://schemas.microsoft.com/office/drawing/2014/main" id="{D24071CD-6D48-F341-6B91-279186D20902}"/>
              </a:ext>
            </a:extLst>
          </p:cNvPr>
          <p:cNvCxnSpPr/>
          <p:nvPr/>
        </p:nvCxnSpPr>
        <p:spPr>
          <a:xfrm>
            <a:off x="2829715" y="2097810"/>
            <a:ext cx="0" cy="276585"/>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B2C36ADE-F4B6-07BE-26A3-41F5FADF5FBF}"/>
              </a:ext>
            </a:extLst>
          </p:cNvPr>
          <p:cNvCxnSpPr>
            <a:stCxn id="7" idx="2"/>
          </p:cNvCxnSpPr>
          <p:nvPr/>
        </p:nvCxnSpPr>
        <p:spPr>
          <a:xfrm>
            <a:off x="2805319" y="5628724"/>
            <a:ext cx="0" cy="331830"/>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D9657E54-078A-A5EE-7E1F-87BFA5B11BF9}"/>
              </a:ext>
            </a:extLst>
          </p:cNvPr>
          <p:cNvCxnSpPr>
            <a:stCxn id="9" idx="3"/>
            <a:endCxn id="16" idx="0"/>
          </p:cNvCxnSpPr>
          <p:nvPr/>
        </p:nvCxnSpPr>
        <p:spPr>
          <a:xfrm>
            <a:off x="4021494" y="2939147"/>
            <a:ext cx="746185" cy="413872"/>
          </a:xfrm>
          <a:prstGeom prst="bentConnector2">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F30AEFB-31D6-6126-CE93-667828E24F8C}"/>
              </a:ext>
            </a:extLst>
          </p:cNvPr>
          <p:cNvSpPr txBox="1"/>
          <p:nvPr/>
        </p:nvSpPr>
        <p:spPr>
          <a:xfrm>
            <a:off x="1033232" y="2538017"/>
            <a:ext cx="595035" cy="369332"/>
          </a:xfrm>
          <a:prstGeom prst="rect">
            <a:avLst/>
          </a:prstGeom>
          <a:noFill/>
          <a:ln>
            <a:noFill/>
          </a:ln>
        </p:spPr>
        <p:txBody>
          <a:bodyPr wrap="none" rtlCol="0">
            <a:spAutoFit/>
          </a:bodyPr>
          <a:lstStyle/>
          <a:p>
            <a:r>
              <a:rPr lang="en-IN" dirty="0"/>
              <a:t>True</a:t>
            </a:r>
          </a:p>
        </p:txBody>
      </p:sp>
      <p:sp>
        <p:nvSpPr>
          <p:cNvPr id="14" name="TextBox 13">
            <a:extLst>
              <a:ext uri="{FF2B5EF4-FFF2-40B4-BE49-F238E27FC236}">
                <a16:creationId xmlns:a16="http://schemas.microsoft.com/office/drawing/2014/main" id="{FB148D0E-1622-550D-C111-C93B81E98FD4}"/>
              </a:ext>
            </a:extLst>
          </p:cNvPr>
          <p:cNvSpPr txBox="1"/>
          <p:nvPr/>
        </p:nvSpPr>
        <p:spPr>
          <a:xfrm>
            <a:off x="3935380" y="2538017"/>
            <a:ext cx="671979" cy="369332"/>
          </a:xfrm>
          <a:prstGeom prst="rect">
            <a:avLst/>
          </a:prstGeom>
          <a:noFill/>
          <a:ln>
            <a:noFill/>
          </a:ln>
        </p:spPr>
        <p:txBody>
          <a:bodyPr wrap="none" rtlCol="0">
            <a:spAutoFit/>
          </a:bodyPr>
          <a:lstStyle/>
          <a:p>
            <a:r>
              <a:rPr lang="en-IN" dirty="0"/>
              <a:t>False</a:t>
            </a:r>
          </a:p>
        </p:txBody>
      </p:sp>
      <p:cxnSp>
        <p:nvCxnSpPr>
          <p:cNvPr id="15" name="Elbow Connector 14">
            <a:extLst>
              <a:ext uri="{FF2B5EF4-FFF2-40B4-BE49-F238E27FC236}">
                <a16:creationId xmlns:a16="http://schemas.microsoft.com/office/drawing/2014/main" id="{7DEB9178-3281-2898-4E9D-3F83333F9A70}"/>
              </a:ext>
            </a:extLst>
          </p:cNvPr>
          <p:cNvCxnSpPr>
            <a:stCxn id="9" idx="1"/>
            <a:endCxn id="6" idx="0"/>
          </p:cNvCxnSpPr>
          <p:nvPr/>
        </p:nvCxnSpPr>
        <p:spPr>
          <a:xfrm rot="10800000" flipV="1">
            <a:off x="882083" y="2939147"/>
            <a:ext cx="793177" cy="4089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25CDDF64-558F-8608-58B5-1674F03BAC24}"/>
              </a:ext>
            </a:extLst>
          </p:cNvPr>
          <p:cNvSpPr/>
          <p:nvPr/>
        </p:nvSpPr>
        <p:spPr>
          <a:xfrm>
            <a:off x="4021494" y="3353019"/>
            <a:ext cx="1492370" cy="707366"/>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Statements</a:t>
            </a:r>
          </a:p>
        </p:txBody>
      </p:sp>
      <p:cxnSp>
        <p:nvCxnSpPr>
          <p:cNvPr id="17" name="Elbow Connector 16">
            <a:extLst>
              <a:ext uri="{FF2B5EF4-FFF2-40B4-BE49-F238E27FC236}">
                <a16:creationId xmlns:a16="http://schemas.microsoft.com/office/drawing/2014/main" id="{910EAD38-5CA9-0AC2-FD13-0ED50FB12BD9}"/>
              </a:ext>
            </a:extLst>
          </p:cNvPr>
          <p:cNvCxnSpPr>
            <a:stCxn id="6" idx="2"/>
            <a:endCxn id="7" idx="0"/>
          </p:cNvCxnSpPr>
          <p:nvPr/>
        </p:nvCxnSpPr>
        <p:spPr>
          <a:xfrm rot="16200000" flipH="1">
            <a:off x="1410737" y="3526775"/>
            <a:ext cx="865927" cy="192323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a:extLst>
              <a:ext uri="{FF2B5EF4-FFF2-40B4-BE49-F238E27FC236}">
                <a16:creationId xmlns:a16="http://schemas.microsoft.com/office/drawing/2014/main" id="{ADA2BFA9-D0AF-2E90-B546-0D48A24C78E1}"/>
              </a:ext>
            </a:extLst>
          </p:cNvPr>
          <p:cNvCxnSpPr>
            <a:stCxn id="16" idx="2"/>
            <a:endCxn id="7" idx="0"/>
          </p:cNvCxnSpPr>
          <p:nvPr/>
        </p:nvCxnSpPr>
        <p:spPr>
          <a:xfrm rot="5400000">
            <a:off x="3356013" y="3509691"/>
            <a:ext cx="860973" cy="196236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072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nodeType="click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wipe(up)">
                                      <p:cBhvr>
                                        <p:cTn id="63" dur="500"/>
                                        <p:tgtEl>
                                          <p:spTgt spid="10"/>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nodeType="clickEffect">
                                  <p:stCondLst>
                                    <p:cond delay="0"/>
                                  </p:stCondLst>
                                  <p:childTnLst>
                                    <p:set>
                                      <p:cBhvr>
                                        <p:cTn id="71" dur="1" fill="hold">
                                          <p:stCondLst>
                                            <p:cond delay="0"/>
                                          </p:stCondLst>
                                        </p:cTn>
                                        <p:tgtEl>
                                          <p:spTgt spid="15"/>
                                        </p:tgtEl>
                                        <p:attrNameLst>
                                          <p:attrName>style.visibility</p:attrName>
                                        </p:attrNameLst>
                                      </p:cBhvr>
                                      <p:to>
                                        <p:strVal val="visible"/>
                                      </p:to>
                                    </p:set>
                                    <p:animEffect transition="in" filter="wipe(up)">
                                      <p:cBhvr>
                                        <p:cTn id="72" dur="500"/>
                                        <p:tgtEl>
                                          <p:spTgt spid="15"/>
                                        </p:tgtEl>
                                      </p:cBhvr>
                                    </p:animEffect>
                                  </p:childTnLst>
                                </p:cTn>
                              </p:par>
                              <p:par>
                                <p:cTn id="73" presetID="1" presetClass="entr" presetSubtype="0" fill="hold" grpId="0" nodeType="with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up)">
                                      <p:cBhvr>
                                        <p:cTn id="83" dur="500"/>
                                        <p:tgtEl>
                                          <p:spTgt spid="17"/>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7"/>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12"/>
                                        </p:tgtEl>
                                        <p:attrNameLst>
                                          <p:attrName>style.visibility</p:attrName>
                                        </p:attrNameLst>
                                      </p:cBhvr>
                                      <p:to>
                                        <p:strVal val="visible"/>
                                      </p:to>
                                    </p:set>
                                    <p:animEffect transition="in" filter="wipe(up)">
                                      <p:cBhvr>
                                        <p:cTn id="92" dur="500"/>
                                        <p:tgtEl>
                                          <p:spTgt spid="12"/>
                                        </p:tgtEl>
                                      </p:cBhvr>
                                    </p:animEffect>
                                  </p:childTnLst>
                                </p:cTn>
                              </p:par>
                              <p:par>
                                <p:cTn id="93" presetID="1" presetClass="entr" presetSubtype="0" fill="hold" grpId="0" nodeType="withEffect">
                                  <p:stCondLst>
                                    <p:cond delay="0"/>
                                  </p:stCondLst>
                                  <p:childTnLst>
                                    <p:set>
                                      <p:cBhvr>
                                        <p:cTn id="94" dur="1" fill="hold">
                                          <p:stCondLst>
                                            <p:cond delay="0"/>
                                          </p:stCondLst>
                                        </p:cTn>
                                        <p:tgtEl>
                                          <p:spTgt spid="1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6"/>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nodeType="click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wipe(up)">
                                      <p:cBhvr>
                                        <p:cTn id="103" dur="500"/>
                                        <p:tgtEl>
                                          <p:spTgt spid="1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wipe(up)">
                                      <p:cBhvr>
                                        <p:cTn id="108" dur="500"/>
                                        <p:tgtEl>
                                          <p:spTgt spid="11"/>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nimBg="1"/>
      <p:bldP spid="5" grpId="0" animBg="1"/>
      <p:bldP spid="6" grpId="0" animBg="1"/>
      <p:bldP spid="7" grpId="0" animBg="1"/>
      <p:bldP spid="8" grpId="0" animBg="1"/>
      <p:bldP spid="9" grpId="0" animBg="1"/>
      <p:bldP spid="13" grpId="0"/>
      <p:bldP spid="14" grpId="0"/>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6FBC4-C5BE-94AF-BD18-2C39EE50C1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39777F-BEB8-7DBD-30F6-8B6FEFF556AF}"/>
              </a:ext>
            </a:extLst>
          </p:cNvPr>
          <p:cNvSpPr>
            <a:spLocks noGrp="1"/>
          </p:cNvSpPr>
          <p:nvPr>
            <p:ph type="title"/>
          </p:nvPr>
        </p:nvSpPr>
        <p:spPr>
          <a:xfrm>
            <a:off x="0" y="1"/>
            <a:ext cx="12192000" cy="711200"/>
          </a:xfrm>
        </p:spPr>
        <p:txBody>
          <a:bodyPr/>
          <a:lstStyle/>
          <a:p>
            <a:r>
              <a:rPr lang="en-IN" dirty="0"/>
              <a:t>if-else-if ladder statement</a:t>
            </a:r>
            <a:endParaRPr lang="en-US" dirty="0"/>
          </a:p>
        </p:txBody>
      </p:sp>
      <p:sp>
        <p:nvSpPr>
          <p:cNvPr id="3" name="Content Placeholder 2">
            <a:extLst>
              <a:ext uri="{FF2B5EF4-FFF2-40B4-BE49-F238E27FC236}">
                <a16:creationId xmlns:a16="http://schemas.microsoft.com/office/drawing/2014/main" id="{DDA5F16B-86AE-00AA-52B1-E8890E4247C1}"/>
              </a:ext>
            </a:extLst>
          </p:cNvPr>
          <p:cNvSpPr>
            <a:spLocks noGrp="1"/>
          </p:cNvSpPr>
          <p:nvPr>
            <p:ph idx="1"/>
          </p:nvPr>
        </p:nvSpPr>
        <p:spPr>
          <a:xfrm>
            <a:off x="131180" y="863444"/>
            <a:ext cx="11929641" cy="5590565"/>
          </a:xfrm>
        </p:spPr>
        <p:txBody>
          <a:bodyPr/>
          <a:lstStyle/>
          <a:p>
            <a:r>
              <a:rPr lang="en-US" dirty="0"/>
              <a:t>if-else-if ladder statement executes one condition from multiple statements.</a:t>
            </a:r>
          </a:p>
        </p:txBody>
      </p:sp>
      <p:sp>
        <p:nvSpPr>
          <p:cNvPr id="4" name="Rounded Rectangle 4">
            <a:extLst>
              <a:ext uri="{FF2B5EF4-FFF2-40B4-BE49-F238E27FC236}">
                <a16:creationId xmlns:a16="http://schemas.microsoft.com/office/drawing/2014/main" id="{AAE8C9A0-9296-A4A1-E59B-6AFE356EEB3B}"/>
              </a:ext>
            </a:extLst>
          </p:cNvPr>
          <p:cNvSpPr/>
          <p:nvPr/>
        </p:nvSpPr>
        <p:spPr>
          <a:xfrm>
            <a:off x="619669" y="1312866"/>
            <a:ext cx="844684" cy="327716"/>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Start</a:t>
            </a:r>
          </a:p>
        </p:txBody>
      </p:sp>
      <p:sp>
        <p:nvSpPr>
          <p:cNvPr id="5" name="Rectangle 4">
            <a:extLst>
              <a:ext uri="{FF2B5EF4-FFF2-40B4-BE49-F238E27FC236}">
                <a16:creationId xmlns:a16="http://schemas.microsoft.com/office/drawing/2014/main" id="{846AC162-ABB4-766F-BDDF-27CA2274B8DC}"/>
              </a:ext>
            </a:extLst>
          </p:cNvPr>
          <p:cNvSpPr/>
          <p:nvPr/>
        </p:nvSpPr>
        <p:spPr>
          <a:xfrm>
            <a:off x="451194" y="4098164"/>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sp>
        <p:nvSpPr>
          <p:cNvPr id="6" name="Rectangle 5">
            <a:extLst>
              <a:ext uri="{FF2B5EF4-FFF2-40B4-BE49-F238E27FC236}">
                <a16:creationId xmlns:a16="http://schemas.microsoft.com/office/drawing/2014/main" id="{E36FBB33-64A9-60D5-94AF-D57AFFB2CFF4}"/>
              </a:ext>
            </a:extLst>
          </p:cNvPr>
          <p:cNvSpPr/>
          <p:nvPr/>
        </p:nvSpPr>
        <p:spPr>
          <a:xfrm>
            <a:off x="2728592" y="5318450"/>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Next Statements</a:t>
            </a:r>
          </a:p>
        </p:txBody>
      </p:sp>
      <p:sp>
        <p:nvSpPr>
          <p:cNvPr id="7" name="Rounded Rectangle 7">
            <a:extLst>
              <a:ext uri="{FF2B5EF4-FFF2-40B4-BE49-F238E27FC236}">
                <a16:creationId xmlns:a16="http://schemas.microsoft.com/office/drawing/2014/main" id="{E4028C80-3B6E-EB2D-91B2-25DA89039C40}"/>
              </a:ext>
            </a:extLst>
          </p:cNvPr>
          <p:cNvSpPr/>
          <p:nvPr/>
        </p:nvSpPr>
        <p:spPr>
          <a:xfrm>
            <a:off x="2929385" y="6118313"/>
            <a:ext cx="746524" cy="327716"/>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End</a:t>
            </a:r>
          </a:p>
        </p:txBody>
      </p:sp>
      <p:cxnSp>
        <p:nvCxnSpPr>
          <p:cNvPr id="8" name="Straight Arrow Connector 7">
            <a:extLst>
              <a:ext uri="{FF2B5EF4-FFF2-40B4-BE49-F238E27FC236}">
                <a16:creationId xmlns:a16="http://schemas.microsoft.com/office/drawing/2014/main" id="{9CB11706-F55F-A17A-79E2-79B36E943FA0}"/>
              </a:ext>
            </a:extLst>
          </p:cNvPr>
          <p:cNvCxnSpPr/>
          <p:nvPr/>
        </p:nvCxnSpPr>
        <p:spPr>
          <a:xfrm>
            <a:off x="1058798" y="1640582"/>
            <a:ext cx="3092" cy="23487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02F2F6F-1979-DCC5-DCF8-BB94EE704C45}"/>
              </a:ext>
            </a:extLst>
          </p:cNvPr>
          <p:cNvCxnSpPr>
            <a:stCxn id="6" idx="2"/>
          </p:cNvCxnSpPr>
          <p:nvPr/>
        </p:nvCxnSpPr>
        <p:spPr>
          <a:xfrm>
            <a:off x="3326502" y="5798319"/>
            <a:ext cx="0" cy="327593"/>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38">
            <a:extLst>
              <a:ext uri="{FF2B5EF4-FFF2-40B4-BE49-F238E27FC236}">
                <a16:creationId xmlns:a16="http://schemas.microsoft.com/office/drawing/2014/main" id="{07501BAE-75E7-A24C-F7B7-2EC225E6B5BF}"/>
              </a:ext>
            </a:extLst>
          </p:cNvPr>
          <p:cNvCxnSpPr>
            <a:endCxn id="17" idx="1"/>
          </p:cNvCxnSpPr>
          <p:nvPr/>
        </p:nvCxnSpPr>
        <p:spPr>
          <a:xfrm>
            <a:off x="1961703" y="2360561"/>
            <a:ext cx="459291" cy="532707"/>
          </a:xfrm>
          <a:prstGeom prst="bentConnector3">
            <a:avLst>
              <a:gd name="adj1" fmla="val 50000"/>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8CA6162-339E-DBD3-3005-D99B1D7F251F}"/>
              </a:ext>
            </a:extLst>
          </p:cNvPr>
          <p:cNvSpPr txBox="1"/>
          <p:nvPr/>
        </p:nvSpPr>
        <p:spPr>
          <a:xfrm>
            <a:off x="333193" y="3687251"/>
            <a:ext cx="574058" cy="307777"/>
          </a:xfrm>
          <a:prstGeom prst="rect">
            <a:avLst/>
          </a:prstGeom>
          <a:noFill/>
          <a:ln>
            <a:noFill/>
          </a:ln>
        </p:spPr>
        <p:txBody>
          <a:bodyPr wrap="square" rtlCol="0">
            <a:spAutoFit/>
          </a:bodyPr>
          <a:lstStyle/>
          <a:p>
            <a:r>
              <a:rPr lang="en-IN" sz="1400" dirty="0"/>
              <a:t>True</a:t>
            </a:r>
          </a:p>
        </p:txBody>
      </p:sp>
      <p:sp>
        <p:nvSpPr>
          <p:cNvPr id="12" name="TextBox 11">
            <a:extLst>
              <a:ext uri="{FF2B5EF4-FFF2-40B4-BE49-F238E27FC236}">
                <a16:creationId xmlns:a16="http://schemas.microsoft.com/office/drawing/2014/main" id="{934F8516-3BCE-4096-CE16-CA6D7F3746E1}"/>
              </a:ext>
            </a:extLst>
          </p:cNvPr>
          <p:cNvSpPr txBox="1"/>
          <p:nvPr/>
        </p:nvSpPr>
        <p:spPr>
          <a:xfrm>
            <a:off x="2153940" y="2313223"/>
            <a:ext cx="781706" cy="307777"/>
          </a:xfrm>
          <a:prstGeom prst="rect">
            <a:avLst/>
          </a:prstGeom>
          <a:noFill/>
          <a:ln>
            <a:noFill/>
          </a:ln>
        </p:spPr>
        <p:txBody>
          <a:bodyPr wrap="square" rtlCol="0">
            <a:spAutoFit/>
          </a:bodyPr>
          <a:lstStyle/>
          <a:p>
            <a:r>
              <a:rPr lang="en-IN" sz="1400" dirty="0"/>
              <a:t>False</a:t>
            </a:r>
          </a:p>
        </p:txBody>
      </p:sp>
      <p:sp>
        <p:nvSpPr>
          <p:cNvPr id="13" name="Rectangle 12">
            <a:extLst>
              <a:ext uri="{FF2B5EF4-FFF2-40B4-BE49-F238E27FC236}">
                <a16:creationId xmlns:a16="http://schemas.microsoft.com/office/drawing/2014/main" id="{C6B36BEE-272B-F5A9-6F5C-7814C504C464}"/>
              </a:ext>
            </a:extLst>
          </p:cNvPr>
          <p:cNvSpPr/>
          <p:nvPr/>
        </p:nvSpPr>
        <p:spPr>
          <a:xfrm>
            <a:off x="2728589" y="4118739"/>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cxnSp>
        <p:nvCxnSpPr>
          <p:cNvPr id="14" name="Elbow Connector 42">
            <a:extLst>
              <a:ext uri="{FF2B5EF4-FFF2-40B4-BE49-F238E27FC236}">
                <a16:creationId xmlns:a16="http://schemas.microsoft.com/office/drawing/2014/main" id="{334C157D-C21B-A019-43F6-5242AA234224}"/>
              </a:ext>
            </a:extLst>
          </p:cNvPr>
          <p:cNvCxnSpPr>
            <a:stCxn id="5" idx="2"/>
          </p:cNvCxnSpPr>
          <p:nvPr/>
        </p:nvCxnSpPr>
        <p:spPr>
          <a:xfrm rot="16200000" flipH="1">
            <a:off x="1847655" y="3779481"/>
            <a:ext cx="656440" cy="2253543"/>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F982167-B0E8-0DEF-6C2A-E50132664E25}"/>
              </a:ext>
            </a:extLst>
          </p:cNvPr>
          <p:cNvSpPr/>
          <p:nvPr/>
        </p:nvSpPr>
        <p:spPr>
          <a:xfrm>
            <a:off x="4995373" y="4155250"/>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cxnSp>
        <p:nvCxnSpPr>
          <p:cNvPr id="16" name="Straight Arrow Connector 15">
            <a:extLst>
              <a:ext uri="{FF2B5EF4-FFF2-40B4-BE49-F238E27FC236}">
                <a16:creationId xmlns:a16="http://schemas.microsoft.com/office/drawing/2014/main" id="{D9CC2275-4344-2592-7FE0-5D21E210E069}"/>
              </a:ext>
            </a:extLst>
          </p:cNvPr>
          <p:cNvCxnSpPr/>
          <p:nvPr/>
        </p:nvCxnSpPr>
        <p:spPr>
          <a:xfrm>
            <a:off x="1056199" y="2743682"/>
            <a:ext cx="5691" cy="13753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Diamond 16">
            <a:extLst>
              <a:ext uri="{FF2B5EF4-FFF2-40B4-BE49-F238E27FC236}">
                <a16:creationId xmlns:a16="http://schemas.microsoft.com/office/drawing/2014/main" id="{528DC34C-57A3-53ED-D20D-FAA897AA32A2}"/>
              </a:ext>
            </a:extLst>
          </p:cNvPr>
          <p:cNvSpPr/>
          <p:nvPr/>
        </p:nvSpPr>
        <p:spPr>
          <a:xfrm>
            <a:off x="2420994" y="2510147"/>
            <a:ext cx="1811011"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t>Cndtn</a:t>
            </a:r>
            <a:r>
              <a:rPr lang="en-IN" sz="1400" dirty="0"/>
              <a:t> 2</a:t>
            </a:r>
          </a:p>
        </p:txBody>
      </p:sp>
      <p:sp>
        <p:nvSpPr>
          <p:cNvPr id="18" name="Diamond 17">
            <a:extLst>
              <a:ext uri="{FF2B5EF4-FFF2-40B4-BE49-F238E27FC236}">
                <a16:creationId xmlns:a16="http://schemas.microsoft.com/office/drawing/2014/main" id="{B1B8E3BB-29E0-F24B-CB00-3D662B9ED3F2}"/>
              </a:ext>
            </a:extLst>
          </p:cNvPr>
          <p:cNvSpPr/>
          <p:nvPr/>
        </p:nvSpPr>
        <p:spPr>
          <a:xfrm>
            <a:off x="4691295" y="3074898"/>
            <a:ext cx="1811011"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t>Cndtn</a:t>
            </a:r>
            <a:r>
              <a:rPr lang="en-IN" sz="1400" dirty="0"/>
              <a:t> 3</a:t>
            </a:r>
          </a:p>
        </p:txBody>
      </p:sp>
      <p:cxnSp>
        <p:nvCxnSpPr>
          <p:cNvPr id="19" name="Elbow Connector 47">
            <a:extLst>
              <a:ext uri="{FF2B5EF4-FFF2-40B4-BE49-F238E27FC236}">
                <a16:creationId xmlns:a16="http://schemas.microsoft.com/office/drawing/2014/main" id="{AE3CC6B6-4A59-7FEA-DEF4-E7E0802FEF01}"/>
              </a:ext>
            </a:extLst>
          </p:cNvPr>
          <p:cNvCxnSpPr>
            <a:stCxn id="17" idx="3"/>
            <a:endCxn id="18" idx="1"/>
          </p:cNvCxnSpPr>
          <p:nvPr/>
        </p:nvCxnSpPr>
        <p:spPr>
          <a:xfrm>
            <a:off x="4232005" y="2893268"/>
            <a:ext cx="459290" cy="564751"/>
          </a:xfrm>
          <a:prstGeom prst="bentConnector3">
            <a:avLst>
              <a:gd name="adj1" fmla="val 50000"/>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F12CB26-1B7A-00F8-B6A3-990438B71C25}"/>
              </a:ext>
            </a:extLst>
          </p:cNvPr>
          <p:cNvSpPr txBox="1"/>
          <p:nvPr/>
        </p:nvSpPr>
        <p:spPr>
          <a:xfrm>
            <a:off x="4437235" y="2888075"/>
            <a:ext cx="713350" cy="307777"/>
          </a:xfrm>
          <a:prstGeom prst="rect">
            <a:avLst/>
          </a:prstGeom>
          <a:noFill/>
          <a:ln>
            <a:noFill/>
          </a:ln>
        </p:spPr>
        <p:txBody>
          <a:bodyPr wrap="square" rtlCol="0">
            <a:spAutoFit/>
          </a:bodyPr>
          <a:lstStyle/>
          <a:p>
            <a:r>
              <a:rPr lang="en-IN" sz="1400" dirty="0"/>
              <a:t>False</a:t>
            </a:r>
          </a:p>
        </p:txBody>
      </p:sp>
      <p:cxnSp>
        <p:nvCxnSpPr>
          <p:cNvPr id="21" name="Straight Arrow Connector 20">
            <a:extLst>
              <a:ext uri="{FF2B5EF4-FFF2-40B4-BE49-F238E27FC236}">
                <a16:creationId xmlns:a16="http://schemas.microsoft.com/office/drawing/2014/main" id="{A34192CB-50E4-EE76-A223-D60CA348D516}"/>
              </a:ext>
            </a:extLst>
          </p:cNvPr>
          <p:cNvCxnSpPr>
            <a:stCxn id="17" idx="2"/>
          </p:cNvCxnSpPr>
          <p:nvPr/>
        </p:nvCxnSpPr>
        <p:spPr>
          <a:xfrm>
            <a:off x="3326500" y="3276389"/>
            <a:ext cx="2" cy="8426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1E6A485-CF3F-32FB-6C0B-F43F6A49834C}"/>
              </a:ext>
            </a:extLst>
          </p:cNvPr>
          <p:cNvCxnSpPr>
            <a:stCxn id="18" idx="2"/>
          </p:cNvCxnSpPr>
          <p:nvPr/>
        </p:nvCxnSpPr>
        <p:spPr>
          <a:xfrm>
            <a:off x="5596801" y="3841140"/>
            <a:ext cx="0" cy="314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637EBCB-D9A6-80F3-EDE2-AA2E2E339C97}"/>
              </a:ext>
            </a:extLst>
          </p:cNvPr>
          <p:cNvSpPr txBox="1"/>
          <p:nvPr/>
        </p:nvSpPr>
        <p:spPr>
          <a:xfrm>
            <a:off x="2728589" y="3811271"/>
            <a:ext cx="574058" cy="307777"/>
          </a:xfrm>
          <a:prstGeom prst="rect">
            <a:avLst/>
          </a:prstGeom>
          <a:noFill/>
          <a:ln>
            <a:noFill/>
          </a:ln>
        </p:spPr>
        <p:txBody>
          <a:bodyPr wrap="square" rtlCol="0">
            <a:spAutoFit/>
          </a:bodyPr>
          <a:lstStyle/>
          <a:p>
            <a:r>
              <a:rPr lang="en-IN" sz="1400" dirty="0"/>
              <a:t>True</a:t>
            </a:r>
          </a:p>
        </p:txBody>
      </p:sp>
      <p:sp>
        <p:nvSpPr>
          <p:cNvPr id="24" name="TextBox 23">
            <a:extLst>
              <a:ext uri="{FF2B5EF4-FFF2-40B4-BE49-F238E27FC236}">
                <a16:creationId xmlns:a16="http://schemas.microsoft.com/office/drawing/2014/main" id="{7AAEC02B-60DE-A1A7-5823-23261B6787E1}"/>
              </a:ext>
            </a:extLst>
          </p:cNvPr>
          <p:cNvSpPr txBox="1"/>
          <p:nvPr/>
        </p:nvSpPr>
        <p:spPr>
          <a:xfrm>
            <a:off x="4954136" y="3865477"/>
            <a:ext cx="574058" cy="307777"/>
          </a:xfrm>
          <a:prstGeom prst="rect">
            <a:avLst/>
          </a:prstGeom>
          <a:noFill/>
          <a:ln>
            <a:noFill/>
          </a:ln>
        </p:spPr>
        <p:txBody>
          <a:bodyPr wrap="square" rtlCol="0">
            <a:spAutoFit/>
          </a:bodyPr>
          <a:lstStyle/>
          <a:p>
            <a:r>
              <a:rPr lang="en-IN" sz="1400" dirty="0"/>
              <a:t>True</a:t>
            </a:r>
          </a:p>
        </p:txBody>
      </p:sp>
      <p:cxnSp>
        <p:nvCxnSpPr>
          <p:cNvPr id="25" name="Straight Arrow Connector 24">
            <a:extLst>
              <a:ext uri="{FF2B5EF4-FFF2-40B4-BE49-F238E27FC236}">
                <a16:creationId xmlns:a16="http://schemas.microsoft.com/office/drawing/2014/main" id="{90D0735A-C286-4187-FA67-9C415512AE31}"/>
              </a:ext>
            </a:extLst>
          </p:cNvPr>
          <p:cNvCxnSpPr>
            <a:stCxn id="13" idx="2"/>
            <a:endCxn id="6" idx="0"/>
          </p:cNvCxnSpPr>
          <p:nvPr/>
        </p:nvCxnSpPr>
        <p:spPr>
          <a:xfrm>
            <a:off x="3326499" y="4598608"/>
            <a:ext cx="3" cy="719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54">
            <a:extLst>
              <a:ext uri="{FF2B5EF4-FFF2-40B4-BE49-F238E27FC236}">
                <a16:creationId xmlns:a16="http://schemas.microsoft.com/office/drawing/2014/main" id="{36110A2C-69CE-45DB-5650-69DDA3F8AC94}"/>
              </a:ext>
            </a:extLst>
          </p:cNvPr>
          <p:cNvCxnSpPr>
            <a:stCxn id="15" idx="2"/>
          </p:cNvCxnSpPr>
          <p:nvPr/>
        </p:nvCxnSpPr>
        <p:spPr>
          <a:xfrm rot="5400000">
            <a:off x="4160216" y="3801406"/>
            <a:ext cx="599354" cy="226678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BBECE337-60C2-CF0D-7A2D-4104065EA7FD}"/>
              </a:ext>
            </a:extLst>
          </p:cNvPr>
          <p:cNvSpPr/>
          <p:nvPr/>
        </p:nvSpPr>
        <p:spPr>
          <a:xfrm>
            <a:off x="6581772" y="4272936"/>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cxnSp>
        <p:nvCxnSpPr>
          <p:cNvPr id="28" name="Elbow Connector 56">
            <a:extLst>
              <a:ext uri="{FF2B5EF4-FFF2-40B4-BE49-F238E27FC236}">
                <a16:creationId xmlns:a16="http://schemas.microsoft.com/office/drawing/2014/main" id="{7EDE622A-0A35-A030-7163-A8A85B0C700F}"/>
              </a:ext>
            </a:extLst>
          </p:cNvPr>
          <p:cNvCxnSpPr>
            <a:stCxn id="18" idx="3"/>
          </p:cNvCxnSpPr>
          <p:nvPr/>
        </p:nvCxnSpPr>
        <p:spPr>
          <a:xfrm>
            <a:off x="6502306" y="3458019"/>
            <a:ext cx="677377" cy="81491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57">
            <a:extLst>
              <a:ext uri="{FF2B5EF4-FFF2-40B4-BE49-F238E27FC236}">
                <a16:creationId xmlns:a16="http://schemas.microsoft.com/office/drawing/2014/main" id="{C3E480C6-9E05-E5EE-A0C5-EBA9C05C61BC}"/>
              </a:ext>
            </a:extLst>
          </p:cNvPr>
          <p:cNvCxnSpPr>
            <a:stCxn id="27" idx="2"/>
          </p:cNvCxnSpPr>
          <p:nvPr/>
        </p:nvCxnSpPr>
        <p:spPr>
          <a:xfrm rot="5400000">
            <a:off x="5000331" y="3055122"/>
            <a:ext cx="481668" cy="387703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0E949E5-BDB6-A1A7-79EA-77BE72B6B6D1}"/>
              </a:ext>
            </a:extLst>
          </p:cNvPr>
          <p:cNvSpPr txBox="1"/>
          <p:nvPr/>
        </p:nvSpPr>
        <p:spPr>
          <a:xfrm>
            <a:off x="6531419" y="3151125"/>
            <a:ext cx="713350" cy="307777"/>
          </a:xfrm>
          <a:prstGeom prst="rect">
            <a:avLst/>
          </a:prstGeom>
          <a:noFill/>
          <a:ln>
            <a:noFill/>
          </a:ln>
        </p:spPr>
        <p:txBody>
          <a:bodyPr wrap="square" rtlCol="0">
            <a:spAutoFit/>
          </a:bodyPr>
          <a:lstStyle/>
          <a:p>
            <a:r>
              <a:rPr lang="en-IN" sz="1400" dirty="0"/>
              <a:t>False</a:t>
            </a:r>
          </a:p>
        </p:txBody>
      </p:sp>
      <p:sp>
        <p:nvSpPr>
          <p:cNvPr id="31" name="Diamond 30">
            <a:extLst>
              <a:ext uri="{FF2B5EF4-FFF2-40B4-BE49-F238E27FC236}">
                <a16:creationId xmlns:a16="http://schemas.microsoft.com/office/drawing/2014/main" id="{DBAF355C-1D4A-9BFD-F05E-80FFFA6A0502}"/>
              </a:ext>
            </a:extLst>
          </p:cNvPr>
          <p:cNvSpPr/>
          <p:nvPr/>
        </p:nvSpPr>
        <p:spPr>
          <a:xfrm>
            <a:off x="136506" y="1897258"/>
            <a:ext cx="1811011"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err="1"/>
              <a:t>Cndtn</a:t>
            </a:r>
            <a:r>
              <a:rPr lang="en-IN" sz="1400" dirty="0"/>
              <a:t> 1</a:t>
            </a:r>
          </a:p>
        </p:txBody>
      </p:sp>
    </p:spTree>
    <p:extLst>
      <p:ext uri="{BB962C8B-B14F-4D97-AF65-F5344CB8AC3E}">
        <p14:creationId xmlns:p14="http://schemas.microsoft.com/office/powerpoint/2010/main" val="175099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1"/>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up)">
                                      <p:cBhvr>
                                        <p:cTn id="51" dur="500"/>
                                        <p:tgtEl>
                                          <p:spTgt spid="21"/>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wipe(up)">
                                      <p:cBhvr>
                                        <p:cTn id="62" dur="5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up)">
                                      <p:cBhvr>
                                        <p:cTn id="67" dur="500"/>
                                        <p:tgtEl>
                                          <p:spTgt spid="19"/>
                                        </p:tgtEl>
                                      </p:cBhvr>
                                    </p:animEffect>
                                  </p:childTnLst>
                                </p:cTn>
                              </p:par>
                              <p:par>
                                <p:cTn id="68" presetID="1" presetClass="entr" presetSubtype="0" fill="hold" grpId="0" nodeType="withEffect">
                                  <p:stCondLst>
                                    <p:cond delay="0"/>
                                  </p:stCondLst>
                                  <p:childTnLst>
                                    <p:set>
                                      <p:cBhvr>
                                        <p:cTn id="69" dur="1" fill="hold">
                                          <p:stCondLst>
                                            <p:cond delay="0"/>
                                          </p:stCondLst>
                                        </p:cTn>
                                        <p:tgtEl>
                                          <p:spTgt spid="20"/>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wipe(up)">
                                      <p:cBhvr>
                                        <p:cTn id="78" dur="500"/>
                                        <p:tgtEl>
                                          <p:spTgt spid="22"/>
                                        </p:tgtEl>
                                      </p:cBhvr>
                                    </p:animEffect>
                                  </p:childTnLst>
                                </p:cTn>
                              </p:par>
                              <p:par>
                                <p:cTn id="79" presetID="1" presetClass="entr" presetSubtype="0" fill="hold" grpId="0" nodeType="with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5"/>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wipe(up)">
                                      <p:cBhvr>
                                        <p:cTn id="89" dur="500"/>
                                        <p:tgtEl>
                                          <p:spTgt spid="26"/>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28"/>
                                        </p:tgtEl>
                                        <p:attrNameLst>
                                          <p:attrName>style.visibility</p:attrName>
                                        </p:attrNameLst>
                                      </p:cBhvr>
                                      <p:to>
                                        <p:strVal val="visible"/>
                                      </p:to>
                                    </p:set>
                                    <p:animEffect transition="in" filter="wipe(up)">
                                      <p:cBhvr>
                                        <p:cTn id="94" dur="500"/>
                                        <p:tgtEl>
                                          <p:spTgt spid="28"/>
                                        </p:tgtEl>
                                      </p:cBhvr>
                                    </p:animEffect>
                                  </p:childTnLst>
                                </p:cTn>
                              </p:par>
                              <p:par>
                                <p:cTn id="95" presetID="1" presetClass="entr" presetSubtype="0" fill="hold" grpId="0" nodeType="withEffect">
                                  <p:stCondLst>
                                    <p:cond delay="0"/>
                                  </p:stCondLst>
                                  <p:childTnLst>
                                    <p:set>
                                      <p:cBhvr>
                                        <p:cTn id="96" dur="1" fill="hold">
                                          <p:stCondLst>
                                            <p:cond delay="0"/>
                                          </p:stCondLst>
                                        </p:cTn>
                                        <p:tgtEl>
                                          <p:spTgt spid="3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wipe(up)">
                                      <p:cBhvr>
                                        <p:cTn id="105" dur="500"/>
                                        <p:tgtEl>
                                          <p:spTgt spid="29"/>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nodeType="clickEffect">
                                  <p:stCondLst>
                                    <p:cond delay="0"/>
                                  </p:stCondLst>
                                  <p:childTnLst>
                                    <p:set>
                                      <p:cBhvr>
                                        <p:cTn id="109" dur="1" fill="hold">
                                          <p:stCondLst>
                                            <p:cond delay="0"/>
                                          </p:stCondLst>
                                        </p:cTn>
                                        <p:tgtEl>
                                          <p:spTgt spid="9"/>
                                        </p:tgtEl>
                                        <p:attrNameLst>
                                          <p:attrName>style.visibility</p:attrName>
                                        </p:attrNameLst>
                                      </p:cBhvr>
                                      <p:to>
                                        <p:strVal val="visible"/>
                                      </p:to>
                                    </p:set>
                                    <p:animEffect transition="in" filter="wipe(down)">
                                      <p:cBhvr>
                                        <p:cTn id="110" dur="500"/>
                                        <p:tgtEl>
                                          <p:spTgt spid="9"/>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p:bldP spid="12" grpId="0"/>
      <p:bldP spid="13" grpId="0" animBg="1"/>
      <p:bldP spid="15" grpId="0" animBg="1"/>
      <p:bldP spid="17" grpId="0" animBg="1"/>
      <p:bldP spid="18" grpId="0" animBg="1"/>
      <p:bldP spid="20" grpId="0"/>
      <p:bldP spid="23" grpId="0"/>
      <p:bldP spid="24" grpId="0"/>
      <p:bldP spid="27" grpId="0" animBg="1"/>
      <p:bldP spid="30" grpId="0"/>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BE61F-EF01-A900-FCDC-4FD185E66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25E28-DE21-E10F-2304-72D38AA849F4}"/>
              </a:ext>
            </a:extLst>
          </p:cNvPr>
          <p:cNvSpPr>
            <a:spLocks noGrp="1"/>
          </p:cNvSpPr>
          <p:nvPr>
            <p:ph type="title"/>
          </p:nvPr>
        </p:nvSpPr>
        <p:spPr>
          <a:xfrm>
            <a:off x="0" y="1"/>
            <a:ext cx="12192000" cy="711200"/>
          </a:xfrm>
        </p:spPr>
        <p:txBody>
          <a:bodyPr/>
          <a:lstStyle/>
          <a:p>
            <a:r>
              <a:rPr lang="en-IN" dirty="0"/>
              <a:t>if-else-if ladder statement</a:t>
            </a:r>
            <a:endParaRPr lang="en-US" dirty="0"/>
          </a:p>
        </p:txBody>
      </p:sp>
      <p:sp>
        <p:nvSpPr>
          <p:cNvPr id="3" name="TextBox 2">
            <a:extLst>
              <a:ext uri="{FF2B5EF4-FFF2-40B4-BE49-F238E27FC236}">
                <a16:creationId xmlns:a16="http://schemas.microsoft.com/office/drawing/2014/main" id="{EEFD28BF-C893-01D2-F1E2-EBAB40A66DDB}"/>
              </a:ext>
            </a:extLst>
          </p:cNvPr>
          <p:cNvSpPr txBox="1"/>
          <p:nvPr/>
        </p:nvSpPr>
        <p:spPr>
          <a:xfrm>
            <a:off x="326573" y="905973"/>
            <a:ext cx="7119256" cy="5078313"/>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IfElseStatementDemo</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a:t>
            </a:r>
          </a:p>
          <a:p>
            <a:pPr lvl="1"/>
            <a:r>
              <a:rPr lang="en-US" dirty="0">
                <a:solidFill>
                  <a:srgbClr val="000000"/>
                </a:solidFill>
                <a:latin typeface="Consolas"/>
              </a:rPr>
              <a:t>{</a:t>
            </a:r>
            <a:endParaRPr lang="en-US" b="1" dirty="0">
              <a:solidFill>
                <a:srgbClr val="7F0055"/>
              </a:solidFill>
              <a:latin typeface="Consolas"/>
            </a:endParaRPr>
          </a:p>
          <a:p>
            <a:r>
              <a:rPr lang="en-US" b="1" dirty="0">
                <a:solidFill>
                  <a:srgbClr val="7F0055"/>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marks</a:t>
            </a:r>
            <a:r>
              <a:rPr lang="en-US" b="1" dirty="0">
                <a:solidFill>
                  <a:srgbClr val="000000"/>
                </a:solidFill>
                <a:latin typeface="Consolas"/>
              </a:rPr>
              <a:t> = 65;</a:t>
            </a:r>
          </a:p>
          <a:p>
            <a:endParaRPr lang="en-US" b="1" dirty="0">
              <a:solidFill>
                <a:srgbClr val="000000"/>
              </a:solidFill>
              <a:latin typeface="Consolas"/>
            </a:endParaRPr>
          </a:p>
          <a:p>
            <a:r>
              <a:rPr lang="en-US" b="1" dirty="0">
                <a:solidFill>
                  <a:srgbClr val="7F0055"/>
                </a:solidFill>
                <a:latin typeface="Consolas"/>
              </a:rPr>
              <a:t>	if</a:t>
            </a:r>
            <a:r>
              <a:rPr lang="en-US" b="1" dirty="0">
                <a:solidFill>
                  <a:srgbClr val="000000"/>
                </a:solidFill>
                <a:latin typeface="Consolas"/>
              </a:rPr>
              <a:t> (</a:t>
            </a:r>
            <a:r>
              <a:rPr lang="en-US" b="1" dirty="0">
                <a:solidFill>
                  <a:srgbClr val="6A3E3E"/>
                </a:solidFill>
                <a:latin typeface="Consolas"/>
              </a:rPr>
              <a:t>marks</a:t>
            </a:r>
            <a:r>
              <a:rPr lang="en-US" b="1" dirty="0">
                <a:solidFill>
                  <a:srgbClr val="000000"/>
                </a:solidFill>
                <a:latin typeface="Consolas"/>
              </a:rPr>
              <a:t> &lt; 60) {</a:t>
            </a:r>
          </a:p>
          <a:p>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"fail"</a:t>
            </a:r>
            <a:r>
              <a:rPr lang="en-US" b="1" i="1" dirty="0">
                <a:solidFill>
                  <a:srgbClr val="000000"/>
                </a:solidFill>
                <a:latin typeface="Consolas"/>
              </a:rPr>
              <a:t>);</a:t>
            </a:r>
          </a:p>
          <a:p>
            <a:r>
              <a:rPr lang="en-US" dirty="0">
                <a:solidFill>
                  <a:srgbClr val="000000"/>
                </a:solidFill>
                <a:latin typeface="Consolas"/>
              </a:rPr>
              <a:t>	} </a:t>
            </a:r>
            <a:r>
              <a:rPr lang="en-US" b="1" dirty="0">
                <a:solidFill>
                  <a:srgbClr val="7F0055"/>
                </a:solidFill>
                <a:latin typeface="Consolas"/>
              </a:rPr>
              <a:t>else</a:t>
            </a:r>
            <a:r>
              <a:rPr lang="en-US" b="1" dirty="0">
                <a:solidFill>
                  <a:srgbClr val="000000"/>
                </a:solidFill>
                <a:latin typeface="Consolas"/>
              </a:rPr>
              <a:t> </a:t>
            </a:r>
            <a:r>
              <a:rPr lang="en-US" b="1" dirty="0">
                <a:solidFill>
                  <a:srgbClr val="7F0055"/>
                </a:solidFill>
                <a:latin typeface="Consolas"/>
              </a:rPr>
              <a:t>if</a:t>
            </a:r>
            <a:r>
              <a:rPr lang="en-US" b="1" dirty="0">
                <a:solidFill>
                  <a:srgbClr val="000000"/>
                </a:solidFill>
                <a:latin typeface="Consolas"/>
              </a:rPr>
              <a:t> (</a:t>
            </a:r>
            <a:r>
              <a:rPr lang="en-US" b="1" dirty="0">
                <a:solidFill>
                  <a:srgbClr val="6A3E3E"/>
                </a:solidFill>
                <a:latin typeface="Consolas"/>
              </a:rPr>
              <a:t>marks</a:t>
            </a:r>
            <a:r>
              <a:rPr lang="en-US" b="1" dirty="0">
                <a:solidFill>
                  <a:srgbClr val="000000"/>
                </a:solidFill>
                <a:latin typeface="Consolas"/>
              </a:rPr>
              <a:t> &gt;= 60 &amp;&amp; </a:t>
            </a:r>
            <a:r>
              <a:rPr lang="en-US" b="1" dirty="0">
                <a:solidFill>
                  <a:srgbClr val="6A3E3E"/>
                </a:solidFill>
                <a:latin typeface="Consolas"/>
              </a:rPr>
              <a:t>marks</a:t>
            </a:r>
            <a:r>
              <a:rPr lang="en-US" b="1" dirty="0">
                <a:solidFill>
                  <a:srgbClr val="000000"/>
                </a:solidFill>
                <a:latin typeface="Consolas"/>
              </a:rPr>
              <a:t> &lt; 80) {</a:t>
            </a:r>
          </a:p>
          <a:p>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"B grade"</a:t>
            </a:r>
            <a:r>
              <a:rPr lang="en-US" b="1" i="1" dirty="0">
                <a:solidFill>
                  <a:srgbClr val="000000"/>
                </a:solidFill>
                <a:latin typeface="Consolas"/>
              </a:rPr>
              <a:t>);</a:t>
            </a:r>
          </a:p>
          <a:p>
            <a:r>
              <a:rPr lang="en-US" dirty="0">
                <a:solidFill>
                  <a:srgbClr val="000000"/>
                </a:solidFill>
                <a:latin typeface="Consolas"/>
              </a:rPr>
              <a:t>	} </a:t>
            </a:r>
            <a:r>
              <a:rPr lang="en-US" b="1" dirty="0">
                <a:solidFill>
                  <a:srgbClr val="7F0055"/>
                </a:solidFill>
                <a:latin typeface="Consolas"/>
              </a:rPr>
              <a:t>else</a:t>
            </a:r>
            <a:r>
              <a:rPr lang="en-US" b="1" dirty="0">
                <a:solidFill>
                  <a:srgbClr val="000000"/>
                </a:solidFill>
                <a:latin typeface="Consolas"/>
              </a:rPr>
              <a:t> </a:t>
            </a:r>
            <a:r>
              <a:rPr lang="en-US" b="1" dirty="0">
                <a:solidFill>
                  <a:srgbClr val="7F0055"/>
                </a:solidFill>
                <a:latin typeface="Consolas"/>
              </a:rPr>
              <a:t>if</a:t>
            </a:r>
            <a:r>
              <a:rPr lang="en-US" b="1" dirty="0">
                <a:solidFill>
                  <a:srgbClr val="000000"/>
                </a:solidFill>
                <a:latin typeface="Consolas"/>
              </a:rPr>
              <a:t> (</a:t>
            </a:r>
            <a:r>
              <a:rPr lang="en-US" b="1" dirty="0">
                <a:solidFill>
                  <a:srgbClr val="6A3E3E"/>
                </a:solidFill>
                <a:latin typeface="Consolas"/>
              </a:rPr>
              <a:t>marks</a:t>
            </a:r>
            <a:r>
              <a:rPr lang="en-US" b="1" dirty="0">
                <a:solidFill>
                  <a:srgbClr val="000000"/>
                </a:solidFill>
                <a:latin typeface="Consolas"/>
              </a:rPr>
              <a:t> &gt;= 80 &amp;&amp; </a:t>
            </a:r>
            <a:r>
              <a:rPr lang="en-US" b="1" dirty="0">
                <a:solidFill>
                  <a:srgbClr val="6A3E3E"/>
                </a:solidFill>
                <a:latin typeface="Consolas"/>
              </a:rPr>
              <a:t>marks</a:t>
            </a:r>
            <a:r>
              <a:rPr lang="en-US" b="1" dirty="0">
                <a:solidFill>
                  <a:srgbClr val="000000"/>
                </a:solidFill>
                <a:latin typeface="Consolas"/>
              </a:rPr>
              <a:t> &lt; 90) {</a:t>
            </a:r>
          </a:p>
          <a:p>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 grade"</a:t>
            </a:r>
            <a:r>
              <a:rPr lang="en-US" b="1" i="1" dirty="0">
                <a:solidFill>
                  <a:srgbClr val="000000"/>
                </a:solidFill>
                <a:latin typeface="Consolas"/>
              </a:rPr>
              <a:t>);</a:t>
            </a:r>
          </a:p>
          <a:p>
            <a:r>
              <a:rPr lang="en-US" dirty="0">
                <a:solidFill>
                  <a:srgbClr val="000000"/>
                </a:solidFill>
                <a:latin typeface="Consolas"/>
              </a:rPr>
              <a:t>	} </a:t>
            </a:r>
            <a:r>
              <a:rPr lang="en-US" b="1" dirty="0">
                <a:solidFill>
                  <a:srgbClr val="7F0055"/>
                </a:solidFill>
                <a:latin typeface="Consolas"/>
              </a:rPr>
              <a:t>else</a:t>
            </a:r>
            <a:r>
              <a:rPr lang="en-US" b="1" dirty="0">
                <a:solidFill>
                  <a:srgbClr val="000000"/>
                </a:solidFill>
                <a:latin typeface="Consolas"/>
              </a:rPr>
              <a:t> </a:t>
            </a:r>
            <a:r>
              <a:rPr lang="en-US" b="1" dirty="0">
                <a:solidFill>
                  <a:srgbClr val="7F0055"/>
                </a:solidFill>
                <a:latin typeface="Consolas"/>
              </a:rPr>
              <a:t>if</a:t>
            </a:r>
            <a:r>
              <a:rPr lang="en-US" b="1" dirty="0">
                <a:solidFill>
                  <a:srgbClr val="000000"/>
                </a:solidFill>
                <a:latin typeface="Consolas"/>
              </a:rPr>
              <a:t> (</a:t>
            </a:r>
            <a:r>
              <a:rPr lang="en-US" b="1" dirty="0">
                <a:solidFill>
                  <a:srgbClr val="6A3E3E"/>
                </a:solidFill>
                <a:latin typeface="Consolas"/>
              </a:rPr>
              <a:t>marks</a:t>
            </a:r>
            <a:r>
              <a:rPr lang="en-US" b="1" dirty="0">
                <a:solidFill>
                  <a:srgbClr val="000000"/>
                </a:solidFill>
                <a:latin typeface="Consolas"/>
              </a:rPr>
              <a:t> &gt;= 90 &amp;&amp; </a:t>
            </a:r>
            <a:r>
              <a:rPr lang="en-US" b="1" dirty="0">
                <a:solidFill>
                  <a:srgbClr val="6A3E3E"/>
                </a:solidFill>
                <a:latin typeface="Consolas"/>
              </a:rPr>
              <a:t>marks</a:t>
            </a:r>
            <a:r>
              <a:rPr lang="en-US" b="1" dirty="0">
                <a:solidFill>
                  <a:srgbClr val="000000"/>
                </a:solidFill>
                <a:latin typeface="Consolas"/>
              </a:rPr>
              <a:t> &lt; 100) {</a:t>
            </a:r>
          </a:p>
          <a:p>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 grade"</a:t>
            </a:r>
            <a:r>
              <a:rPr lang="en-US" b="1" i="1" dirty="0">
                <a:solidFill>
                  <a:srgbClr val="000000"/>
                </a:solidFill>
                <a:latin typeface="Consolas"/>
              </a:rPr>
              <a:t>);</a:t>
            </a:r>
          </a:p>
          <a:p>
            <a:r>
              <a:rPr lang="en-US" dirty="0">
                <a:solidFill>
                  <a:srgbClr val="000000"/>
                </a:solidFill>
                <a:latin typeface="Consolas"/>
              </a:rPr>
              <a:t>	} </a:t>
            </a:r>
            <a:r>
              <a:rPr lang="en-US" b="1" dirty="0">
                <a:solidFill>
                  <a:srgbClr val="7F0055"/>
                </a:solidFill>
                <a:latin typeface="Consolas"/>
              </a:rPr>
              <a:t>else</a:t>
            </a:r>
            <a:r>
              <a:rPr lang="en-US" b="1" dirty="0">
                <a:solidFill>
                  <a:srgbClr val="000000"/>
                </a:solidFill>
                <a:latin typeface="Consolas"/>
              </a:rPr>
              <a:t> {</a:t>
            </a:r>
          </a:p>
          <a:p>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"Invalid!"</a:t>
            </a:r>
            <a:r>
              <a:rPr lang="en-US" b="1" i="1" dirty="0">
                <a:solidFill>
                  <a:srgbClr val="000000"/>
                </a:solidFill>
                <a:latin typeface="Consolas"/>
              </a:rPr>
              <a:t>);</a:t>
            </a:r>
          </a:p>
          <a:p>
            <a:r>
              <a:rPr lang="en-US" dirty="0">
                <a:solidFill>
                  <a:srgbClr val="000000"/>
                </a:solidFill>
                <a:latin typeface="Consolas"/>
              </a:rPr>
              <a:t>	}</a:t>
            </a: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2427240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35326-85FB-1DDD-DB9C-6A538DE59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841AF-B715-30BA-F252-1C8BCAA2B7FF}"/>
              </a:ext>
            </a:extLst>
          </p:cNvPr>
          <p:cNvSpPr>
            <a:spLocks noGrp="1"/>
          </p:cNvSpPr>
          <p:nvPr>
            <p:ph type="title"/>
          </p:nvPr>
        </p:nvSpPr>
        <p:spPr>
          <a:xfrm>
            <a:off x="0" y="1"/>
            <a:ext cx="12192000" cy="711200"/>
          </a:xfrm>
        </p:spPr>
        <p:txBody>
          <a:bodyPr/>
          <a:lstStyle/>
          <a:p>
            <a:r>
              <a:rPr lang="en-US" dirty="0"/>
              <a:t>Nested </a:t>
            </a:r>
            <a:r>
              <a:rPr lang="en-US"/>
              <a:t>If statement</a:t>
            </a:r>
          </a:p>
        </p:txBody>
      </p:sp>
      <p:sp>
        <p:nvSpPr>
          <p:cNvPr id="3" name="Content Placeholder 2">
            <a:extLst>
              <a:ext uri="{FF2B5EF4-FFF2-40B4-BE49-F238E27FC236}">
                <a16:creationId xmlns:a16="http://schemas.microsoft.com/office/drawing/2014/main" id="{8DC3EBDA-1334-D467-B13C-C523B08E5AEA}"/>
              </a:ext>
            </a:extLst>
          </p:cNvPr>
          <p:cNvSpPr>
            <a:spLocks noGrp="1"/>
          </p:cNvSpPr>
          <p:nvPr>
            <p:ph idx="1"/>
          </p:nvPr>
        </p:nvSpPr>
        <p:spPr>
          <a:xfrm>
            <a:off x="131180" y="863444"/>
            <a:ext cx="11929641" cy="5590565"/>
          </a:xfrm>
        </p:spPr>
        <p:txBody>
          <a:bodyPr/>
          <a:lstStyle/>
          <a:p>
            <a:r>
              <a:rPr lang="en-US" dirty="0"/>
              <a:t>We can also use if/else if statement inside another if/else if statement, this is known as nested if statement.</a:t>
            </a:r>
          </a:p>
        </p:txBody>
      </p:sp>
      <p:sp>
        <p:nvSpPr>
          <p:cNvPr id="4" name="Rounded Rectangle 3">
            <a:extLst>
              <a:ext uri="{FF2B5EF4-FFF2-40B4-BE49-F238E27FC236}">
                <a16:creationId xmlns:a16="http://schemas.microsoft.com/office/drawing/2014/main" id="{8864D354-E2CE-D9D4-6F93-1F0184CC29B5}"/>
              </a:ext>
            </a:extLst>
          </p:cNvPr>
          <p:cNvSpPr/>
          <p:nvPr/>
        </p:nvSpPr>
        <p:spPr>
          <a:xfrm>
            <a:off x="5133296" y="1323613"/>
            <a:ext cx="968572" cy="327716"/>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Start</a:t>
            </a:r>
          </a:p>
        </p:txBody>
      </p:sp>
      <p:sp>
        <p:nvSpPr>
          <p:cNvPr id="5" name="Rectangle 4">
            <a:extLst>
              <a:ext uri="{FF2B5EF4-FFF2-40B4-BE49-F238E27FC236}">
                <a16:creationId xmlns:a16="http://schemas.microsoft.com/office/drawing/2014/main" id="{867B11A6-40E3-7832-E54D-F313A340760D}"/>
              </a:ext>
            </a:extLst>
          </p:cNvPr>
          <p:cNvSpPr/>
          <p:nvPr/>
        </p:nvSpPr>
        <p:spPr>
          <a:xfrm>
            <a:off x="2112574" y="4000903"/>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sp>
        <p:nvSpPr>
          <p:cNvPr id="6" name="Rectangle 5">
            <a:extLst>
              <a:ext uri="{FF2B5EF4-FFF2-40B4-BE49-F238E27FC236}">
                <a16:creationId xmlns:a16="http://schemas.microsoft.com/office/drawing/2014/main" id="{3F0522E4-115C-C58B-8831-C62AA82727CE}"/>
              </a:ext>
            </a:extLst>
          </p:cNvPr>
          <p:cNvSpPr/>
          <p:nvPr/>
        </p:nvSpPr>
        <p:spPr>
          <a:xfrm>
            <a:off x="4824846" y="5309964"/>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Next Statements</a:t>
            </a:r>
          </a:p>
        </p:txBody>
      </p:sp>
      <p:sp>
        <p:nvSpPr>
          <p:cNvPr id="7" name="Rounded Rectangle 6">
            <a:extLst>
              <a:ext uri="{FF2B5EF4-FFF2-40B4-BE49-F238E27FC236}">
                <a16:creationId xmlns:a16="http://schemas.microsoft.com/office/drawing/2014/main" id="{678E2065-AE5F-ECCE-5AFD-468A17C6586B}"/>
              </a:ext>
            </a:extLst>
          </p:cNvPr>
          <p:cNvSpPr/>
          <p:nvPr/>
        </p:nvSpPr>
        <p:spPr>
          <a:xfrm>
            <a:off x="5049494" y="6117426"/>
            <a:ext cx="746524" cy="327716"/>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End</a:t>
            </a:r>
          </a:p>
        </p:txBody>
      </p:sp>
      <p:sp>
        <p:nvSpPr>
          <p:cNvPr id="8" name="Diamond 7">
            <a:extLst>
              <a:ext uri="{FF2B5EF4-FFF2-40B4-BE49-F238E27FC236}">
                <a16:creationId xmlns:a16="http://schemas.microsoft.com/office/drawing/2014/main" id="{BAB7D5BB-ADC1-A41D-FDA8-38F1F51DEE08}"/>
              </a:ext>
            </a:extLst>
          </p:cNvPr>
          <p:cNvSpPr/>
          <p:nvPr/>
        </p:nvSpPr>
        <p:spPr>
          <a:xfrm>
            <a:off x="4517250" y="1956102"/>
            <a:ext cx="2171927"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Condition 1</a:t>
            </a:r>
          </a:p>
        </p:txBody>
      </p:sp>
      <p:cxnSp>
        <p:nvCxnSpPr>
          <p:cNvPr id="9" name="Straight Arrow Connector 8">
            <a:extLst>
              <a:ext uri="{FF2B5EF4-FFF2-40B4-BE49-F238E27FC236}">
                <a16:creationId xmlns:a16="http://schemas.microsoft.com/office/drawing/2014/main" id="{456ECD4D-B00B-5CD6-072A-77366D1B2F91}"/>
              </a:ext>
            </a:extLst>
          </p:cNvPr>
          <p:cNvCxnSpPr>
            <a:endCxn id="8" idx="0"/>
          </p:cNvCxnSpPr>
          <p:nvPr/>
        </p:nvCxnSpPr>
        <p:spPr>
          <a:xfrm>
            <a:off x="5603213" y="1688841"/>
            <a:ext cx="1" cy="26726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C925705-8AD7-6CA7-30B0-5FC3894684F9}"/>
              </a:ext>
            </a:extLst>
          </p:cNvPr>
          <p:cNvCxnSpPr>
            <a:stCxn id="6" idx="2"/>
          </p:cNvCxnSpPr>
          <p:nvPr/>
        </p:nvCxnSpPr>
        <p:spPr>
          <a:xfrm>
            <a:off x="5422756" y="5789833"/>
            <a:ext cx="0" cy="327593"/>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0CC09D2-20A5-3911-F6F1-CDC036B1F339}"/>
              </a:ext>
            </a:extLst>
          </p:cNvPr>
          <p:cNvSpPr txBox="1"/>
          <p:nvPr/>
        </p:nvSpPr>
        <p:spPr>
          <a:xfrm>
            <a:off x="3777469" y="2039044"/>
            <a:ext cx="574058" cy="307777"/>
          </a:xfrm>
          <a:prstGeom prst="rect">
            <a:avLst/>
          </a:prstGeom>
          <a:noFill/>
          <a:ln>
            <a:noFill/>
          </a:ln>
        </p:spPr>
        <p:txBody>
          <a:bodyPr wrap="square" rtlCol="0">
            <a:spAutoFit/>
          </a:bodyPr>
          <a:lstStyle/>
          <a:p>
            <a:r>
              <a:rPr lang="en-IN" sz="1400" dirty="0"/>
              <a:t>True</a:t>
            </a:r>
          </a:p>
        </p:txBody>
      </p:sp>
      <p:sp>
        <p:nvSpPr>
          <p:cNvPr id="12" name="TextBox 11">
            <a:extLst>
              <a:ext uri="{FF2B5EF4-FFF2-40B4-BE49-F238E27FC236}">
                <a16:creationId xmlns:a16="http://schemas.microsoft.com/office/drawing/2014/main" id="{15BB5E95-4D3B-5B77-4EC7-7609FEA7BA50}"/>
              </a:ext>
            </a:extLst>
          </p:cNvPr>
          <p:cNvSpPr txBox="1"/>
          <p:nvPr/>
        </p:nvSpPr>
        <p:spPr>
          <a:xfrm>
            <a:off x="7619474" y="3580224"/>
            <a:ext cx="781706" cy="307777"/>
          </a:xfrm>
          <a:prstGeom prst="rect">
            <a:avLst/>
          </a:prstGeom>
          <a:noFill/>
          <a:ln>
            <a:noFill/>
          </a:ln>
        </p:spPr>
        <p:txBody>
          <a:bodyPr wrap="square" rtlCol="0">
            <a:spAutoFit/>
          </a:bodyPr>
          <a:lstStyle/>
          <a:p>
            <a:r>
              <a:rPr lang="en-IN" sz="1400" dirty="0"/>
              <a:t>False</a:t>
            </a:r>
          </a:p>
        </p:txBody>
      </p:sp>
      <p:sp>
        <p:nvSpPr>
          <p:cNvPr id="13" name="Diamond 12">
            <a:extLst>
              <a:ext uri="{FF2B5EF4-FFF2-40B4-BE49-F238E27FC236}">
                <a16:creationId xmlns:a16="http://schemas.microsoft.com/office/drawing/2014/main" id="{7D043299-9381-2C0B-73C1-A440C5CC30EA}"/>
              </a:ext>
            </a:extLst>
          </p:cNvPr>
          <p:cNvSpPr/>
          <p:nvPr/>
        </p:nvSpPr>
        <p:spPr>
          <a:xfrm>
            <a:off x="6328261" y="2718770"/>
            <a:ext cx="2171927"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Condition 3</a:t>
            </a:r>
          </a:p>
        </p:txBody>
      </p:sp>
      <p:sp>
        <p:nvSpPr>
          <p:cNvPr id="14" name="TextBox 13">
            <a:extLst>
              <a:ext uri="{FF2B5EF4-FFF2-40B4-BE49-F238E27FC236}">
                <a16:creationId xmlns:a16="http://schemas.microsoft.com/office/drawing/2014/main" id="{9368BE34-77B0-4DD4-EDD5-A5A8CECC72AC}"/>
              </a:ext>
            </a:extLst>
          </p:cNvPr>
          <p:cNvSpPr txBox="1"/>
          <p:nvPr/>
        </p:nvSpPr>
        <p:spPr>
          <a:xfrm>
            <a:off x="5861381" y="3564143"/>
            <a:ext cx="574058" cy="307777"/>
          </a:xfrm>
          <a:prstGeom prst="rect">
            <a:avLst/>
          </a:prstGeom>
          <a:noFill/>
          <a:ln>
            <a:noFill/>
          </a:ln>
        </p:spPr>
        <p:txBody>
          <a:bodyPr wrap="square" rtlCol="0">
            <a:spAutoFit/>
          </a:bodyPr>
          <a:lstStyle/>
          <a:p>
            <a:r>
              <a:rPr lang="en-IN" sz="1400" dirty="0"/>
              <a:t>True</a:t>
            </a:r>
          </a:p>
        </p:txBody>
      </p:sp>
      <p:sp>
        <p:nvSpPr>
          <p:cNvPr id="15" name="Diamond 14">
            <a:extLst>
              <a:ext uri="{FF2B5EF4-FFF2-40B4-BE49-F238E27FC236}">
                <a16:creationId xmlns:a16="http://schemas.microsoft.com/office/drawing/2014/main" id="{946E0887-CFA5-8956-E4D8-AEE13ECB88DD}"/>
              </a:ext>
            </a:extLst>
          </p:cNvPr>
          <p:cNvSpPr/>
          <p:nvPr/>
        </p:nvSpPr>
        <p:spPr>
          <a:xfrm>
            <a:off x="2706239" y="2722344"/>
            <a:ext cx="2171927"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Condition 2</a:t>
            </a:r>
          </a:p>
        </p:txBody>
      </p:sp>
      <p:cxnSp>
        <p:nvCxnSpPr>
          <p:cNvPr id="16" name="Elbow Connector 16">
            <a:extLst>
              <a:ext uri="{FF2B5EF4-FFF2-40B4-BE49-F238E27FC236}">
                <a16:creationId xmlns:a16="http://schemas.microsoft.com/office/drawing/2014/main" id="{EFBE0F39-DCE4-B01C-C024-EAAD7A0C6C18}"/>
              </a:ext>
            </a:extLst>
          </p:cNvPr>
          <p:cNvCxnSpPr>
            <a:stCxn id="8" idx="1"/>
            <a:endCxn id="15" idx="0"/>
          </p:cNvCxnSpPr>
          <p:nvPr/>
        </p:nvCxnSpPr>
        <p:spPr>
          <a:xfrm rot="10800000" flipV="1">
            <a:off x="3792204" y="2339222"/>
            <a:ext cx="725047" cy="3831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17">
            <a:extLst>
              <a:ext uri="{FF2B5EF4-FFF2-40B4-BE49-F238E27FC236}">
                <a16:creationId xmlns:a16="http://schemas.microsoft.com/office/drawing/2014/main" id="{13544AB0-62AD-D9D2-BBE4-BAC62392C82B}"/>
              </a:ext>
            </a:extLst>
          </p:cNvPr>
          <p:cNvCxnSpPr>
            <a:stCxn id="8" idx="3"/>
            <a:endCxn id="13" idx="0"/>
          </p:cNvCxnSpPr>
          <p:nvPr/>
        </p:nvCxnSpPr>
        <p:spPr>
          <a:xfrm>
            <a:off x="6689177" y="2339223"/>
            <a:ext cx="725048" cy="37954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C725B2B-F78F-AA3D-DB36-FBF27BC1A527}"/>
              </a:ext>
            </a:extLst>
          </p:cNvPr>
          <p:cNvSpPr txBox="1"/>
          <p:nvPr/>
        </p:nvSpPr>
        <p:spPr>
          <a:xfrm>
            <a:off x="6493984" y="2065544"/>
            <a:ext cx="781706" cy="307777"/>
          </a:xfrm>
          <a:prstGeom prst="rect">
            <a:avLst/>
          </a:prstGeom>
          <a:noFill/>
          <a:ln>
            <a:noFill/>
          </a:ln>
        </p:spPr>
        <p:txBody>
          <a:bodyPr wrap="square" rtlCol="0">
            <a:spAutoFit/>
          </a:bodyPr>
          <a:lstStyle/>
          <a:p>
            <a:r>
              <a:rPr lang="en-IN" sz="1400" dirty="0"/>
              <a:t>False</a:t>
            </a:r>
          </a:p>
        </p:txBody>
      </p:sp>
      <p:sp>
        <p:nvSpPr>
          <p:cNvPr id="19" name="Rectangle 18">
            <a:extLst>
              <a:ext uri="{FF2B5EF4-FFF2-40B4-BE49-F238E27FC236}">
                <a16:creationId xmlns:a16="http://schemas.microsoft.com/office/drawing/2014/main" id="{372E414E-7F65-E18F-1CAC-A28628DCBE4A}"/>
              </a:ext>
            </a:extLst>
          </p:cNvPr>
          <p:cNvSpPr/>
          <p:nvPr/>
        </p:nvSpPr>
        <p:spPr>
          <a:xfrm>
            <a:off x="4245926" y="4031743"/>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cxnSp>
        <p:nvCxnSpPr>
          <p:cNvPr id="20" name="Straight Arrow Connector 19">
            <a:extLst>
              <a:ext uri="{FF2B5EF4-FFF2-40B4-BE49-F238E27FC236}">
                <a16:creationId xmlns:a16="http://schemas.microsoft.com/office/drawing/2014/main" id="{8119141A-C28E-A5D9-A00F-CFDDEAD772FA}"/>
              </a:ext>
            </a:extLst>
          </p:cNvPr>
          <p:cNvCxnSpPr>
            <a:stCxn id="15" idx="1"/>
            <a:endCxn id="5" idx="0"/>
          </p:cNvCxnSpPr>
          <p:nvPr/>
        </p:nvCxnSpPr>
        <p:spPr>
          <a:xfrm>
            <a:off x="2706239" y="3105465"/>
            <a:ext cx="4245" cy="895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376CF56-782A-FE1B-16B2-F607F2B33AA7}"/>
              </a:ext>
            </a:extLst>
          </p:cNvPr>
          <p:cNvCxnSpPr/>
          <p:nvPr/>
        </p:nvCxnSpPr>
        <p:spPr>
          <a:xfrm flipH="1">
            <a:off x="4823775" y="3105465"/>
            <a:ext cx="26398" cy="9007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27C27C8A-4B80-9B7E-3984-FA1F7A507BCD}"/>
              </a:ext>
            </a:extLst>
          </p:cNvPr>
          <p:cNvSpPr/>
          <p:nvPr/>
        </p:nvSpPr>
        <p:spPr>
          <a:xfrm>
            <a:off x="5739446" y="4000904"/>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sp>
        <p:nvSpPr>
          <p:cNvPr id="23" name="Rectangle 22">
            <a:extLst>
              <a:ext uri="{FF2B5EF4-FFF2-40B4-BE49-F238E27FC236}">
                <a16:creationId xmlns:a16="http://schemas.microsoft.com/office/drawing/2014/main" id="{F0ECB6D5-2EA1-FEEB-359B-DE77DC2412E6}"/>
              </a:ext>
            </a:extLst>
          </p:cNvPr>
          <p:cNvSpPr/>
          <p:nvPr/>
        </p:nvSpPr>
        <p:spPr>
          <a:xfrm>
            <a:off x="7891460" y="4026395"/>
            <a:ext cx="1195820"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Statements</a:t>
            </a:r>
          </a:p>
        </p:txBody>
      </p:sp>
      <p:cxnSp>
        <p:nvCxnSpPr>
          <p:cNvPr id="24" name="Straight Arrow Connector 23">
            <a:extLst>
              <a:ext uri="{FF2B5EF4-FFF2-40B4-BE49-F238E27FC236}">
                <a16:creationId xmlns:a16="http://schemas.microsoft.com/office/drawing/2014/main" id="{A3C370DC-90C7-22FA-A7B7-B7443092329D}"/>
              </a:ext>
            </a:extLst>
          </p:cNvPr>
          <p:cNvCxnSpPr>
            <a:stCxn id="13" idx="1"/>
            <a:endCxn id="22" idx="0"/>
          </p:cNvCxnSpPr>
          <p:nvPr/>
        </p:nvCxnSpPr>
        <p:spPr>
          <a:xfrm>
            <a:off x="6328261" y="3101891"/>
            <a:ext cx="9095" cy="8990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D80C1DF-65B6-2F48-88AA-66D919F09080}"/>
              </a:ext>
            </a:extLst>
          </p:cNvPr>
          <p:cNvCxnSpPr/>
          <p:nvPr/>
        </p:nvCxnSpPr>
        <p:spPr>
          <a:xfrm>
            <a:off x="8490857" y="3120553"/>
            <a:ext cx="0" cy="899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6">
            <a:extLst>
              <a:ext uri="{FF2B5EF4-FFF2-40B4-BE49-F238E27FC236}">
                <a16:creationId xmlns:a16="http://schemas.microsoft.com/office/drawing/2014/main" id="{CB924A24-F3A1-6C16-33B5-35E61EF8C2F2}"/>
              </a:ext>
            </a:extLst>
          </p:cNvPr>
          <p:cNvCxnSpPr>
            <a:stCxn id="5" idx="2"/>
          </p:cNvCxnSpPr>
          <p:nvPr/>
        </p:nvCxnSpPr>
        <p:spPr>
          <a:xfrm rot="16200000" flipH="1">
            <a:off x="3694433" y="3496823"/>
            <a:ext cx="744376" cy="271227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7">
            <a:extLst>
              <a:ext uri="{FF2B5EF4-FFF2-40B4-BE49-F238E27FC236}">
                <a16:creationId xmlns:a16="http://schemas.microsoft.com/office/drawing/2014/main" id="{2E9DCEA6-03E0-2090-7C75-519F5C9CCE23}"/>
              </a:ext>
            </a:extLst>
          </p:cNvPr>
          <p:cNvCxnSpPr>
            <a:stCxn id="19" idx="2"/>
            <a:endCxn id="6" idx="0"/>
          </p:cNvCxnSpPr>
          <p:nvPr/>
        </p:nvCxnSpPr>
        <p:spPr>
          <a:xfrm rot="16200000" flipH="1">
            <a:off x="4734120" y="4621328"/>
            <a:ext cx="798352" cy="57892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8">
            <a:extLst>
              <a:ext uri="{FF2B5EF4-FFF2-40B4-BE49-F238E27FC236}">
                <a16:creationId xmlns:a16="http://schemas.microsoft.com/office/drawing/2014/main" id="{CEEBA97A-60FC-1C54-E892-151492D6A83B}"/>
              </a:ext>
            </a:extLst>
          </p:cNvPr>
          <p:cNvCxnSpPr>
            <a:stCxn id="22" idx="2"/>
          </p:cNvCxnSpPr>
          <p:nvPr/>
        </p:nvCxnSpPr>
        <p:spPr>
          <a:xfrm rot="5400000">
            <a:off x="5517365" y="4405154"/>
            <a:ext cx="744373" cy="89561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9">
            <a:extLst>
              <a:ext uri="{FF2B5EF4-FFF2-40B4-BE49-F238E27FC236}">
                <a16:creationId xmlns:a16="http://schemas.microsoft.com/office/drawing/2014/main" id="{5E3224FD-C268-8CEE-6F66-A08C219CE3F3}"/>
              </a:ext>
            </a:extLst>
          </p:cNvPr>
          <p:cNvCxnSpPr>
            <a:stCxn id="23" idx="2"/>
          </p:cNvCxnSpPr>
          <p:nvPr/>
        </p:nvCxnSpPr>
        <p:spPr>
          <a:xfrm rot="5400000">
            <a:off x="6597922" y="3333698"/>
            <a:ext cx="718882" cy="306401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171ED15-88BF-B574-4D73-E30B1AF6CA58}"/>
              </a:ext>
            </a:extLst>
          </p:cNvPr>
          <p:cNvSpPr txBox="1"/>
          <p:nvPr/>
        </p:nvSpPr>
        <p:spPr>
          <a:xfrm>
            <a:off x="2246903" y="3574632"/>
            <a:ext cx="574058" cy="307777"/>
          </a:xfrm>
          <a:prstGeom prst="rect">
            <a:avLst/>
          </a:prstGeom>
          <a:noFill/>
          <a:ln>
            <a:noFill/>
          </a:ln>
        </p:spPr>
        <p:txBody>
          <a:bodyPr wrap="square" rtlCol="0">
            <a:spAutoFit/>
          </a:bodyPr>
          <a:lstStyle/>
          <a:p>
            <a:r>
              <a:rPr lang="en-IN" sz="1400" dirty="0"/>
              <a:t>True</a:t>
            </a:r>
          </a:p>
        </p:txBody>
      </p:sp>
      <p:sp>
        <p:nvSpPr>
          <p:cNvPr id="31" name="TextBox 30">
            <a:extLst>
              <a:ext uri="{FF2B5EF4-FFF2-40B4-BE49-F238E27FC236}">
                <a16:creationId xmlns:a16="http://schemas.microsoft.com/office/drawing/2014/main" id="{5A2998AF-6C97-36CE-39E6-912C99B3DEEF}"/>
              </a:ext>
            </a:extLst>
          </p:cNvPr>
          <p:cNvSpPr txBox="1"/>
          <p:nvPr/>
        </p:nvSpPr>
        <p:spPr>
          <a:xfrm>
            <a:off x="3989251" y="3574632"/>
            <a:ext cx="781706" cy="307777"/>
          </a:xfrm>
          <a:prstGeom prst="rect">
            <a:avLst/>
          </a:prstGeom>
          <a:noFill/>
          <a:ln>
            <a:noFill/>
          </a:ln>
        </p:spPr>
        <p:txBody>
          <a:bodyPr wrap="square" rtlCol="0">
            <a:spAutoFit/>
          </a:bodyPr>
          <a:lstStyle/>
          <a:p>
            <a:r>
              <a:rPr lang="en-IN" sz="1400" dirty="0"/>
              <a:t>False</a:t>
            </a:r>
          </a:p>
        </p:txBody>
      </p:sp>
    </p:spTree>
    <p:extLst>
      <p:ext uri="{BB962C8B-B14F-4D97-AF65-F5344CB8AC3E}">
        <p14:creationId xmlns:p14="http://schemas.microsoft.com/office/powerpoint/2010/main" val="4262638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up)">
                                      <p:cBhvr>
                                        <p:cTn id="31" dur="500"/>
                                        <p:tgtEl>
                                          <p:spTgt spid="20"/>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wipe(up)">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up)">
                                      <p:cBhvr>
                                        <p:cTn id="51" dur="500"/>
                                        <p:tgtEl>
                                          <p:spTgt spid="21"/>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up)">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up)">
                                      <p:cBhvr>
                                        <p:cTn id="67" dur="500"/>
                                        <p:tgtEl>
                                          <p:spTgt spid="17"/>
                                        </p:tgtEl>
                                      </p:cBhvr>
                                    </p:animEffect>
                                  </p:childTnLst>
                                </p:cTn>
                              </p:par>
                              <p:par>
                                <p:cTn id="68" presetID="1" presetClass="entr" presetSubtype="0"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wipe(up)">
                                      <p:cBhvr>
                                        <p:cTn id="78" dur="500"/>
                                        <p:tgtEl>
                                          <p:spTgt spid="24"/>
                                        </p:tgtEl>
                                      </p:cBhvr>
                                    </p:animEffect>
                                  </p:childTnLst>
                                </p:cTn>
                              </p:par>
                              <p:par>
                                <p:cTn id="79" presetID="1" presetClass="entr" presetSubtype="0" fill="hold" grpId="0" nodeType="withEffect">
                                  <p:stCondLst>
                                    <p:cond delay="0"/>
                                  </p:stCondLst>
                                  <p:childTnLst>
                                    <p:set>
                                      <p:cBhvr>
                                        <p:cTn id="80" dur="1" fill="hold">
                                          <p:stCondLst>
                                            <p:cond delay="0"/>
                                          </p:stCondLst>
                                        </p:cTn>
                                        <p:tgtEl>
                                          <p:spTgt spid="1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wipe(up)">
                                      <p:cBhvr>
                                        <p:cTn id="89" dur="500"/>
                                        <p:tgtEl>
                                          <p:spTgt spid="2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wipe(up)">
                                      <p:cBhvr>
                                        <p:cTn id="94" dur="500"/>
                                        <p:tgtEl>
                                          <p:spTgt spid="25"/>
                                        </p:tgtEl>
                                      </p:cBhvr>
                                    </p:animEffect>
                                  </p:childTnLst>
                                </p:cTn>
                              </p:par>
                              <p:par>
                                <p:cTn id="95" presetID="1" presetClass="entr" presetSubtype="0" fill="hold" grpId="0" nodeType="withEffect">
                                  <p:stCondLst>
                                    <p:cond delay="0"/>
                                  </p:stCondLst>
                                  <p:childTnLst>
                                    <p:set>
                                      <p:cBhvr>
                                        <p:cTn id="96" dur="1" fill="hold">
                                          <p:stCondLst>
                                            <p:cond delay="0"/>
                                          </p:stCondLst>
                                        </p:cTn>
                                        <p:tgtEl>
                                          <p:spTgt spid="1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29"/>
                                        </p:tgtEl>
                                        <p:attrNameLst>
                                          <p:attrName>style.visibility</p:attrName>
                                        </p:attrNameLst>
                                      </p:cBhvr>
                                      <p:to>
                                        <p:strVal val="visible"/>
                                      </p:to>
                                    </p:set>
                                    <p:animEffect transition="in" filter="wipe(up)">
                                      <p:cBhvr>
                                        <p:cTn id="105" dur="500"/>
                                        <p:tgtEl>
                                          <p:spTgt spid="29"/>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nodeType="clickEffect">
                                  <p:stCondLst>
                                    <p:cond delay="0"/>
                                  </p:stCondLst>
                                  <p:childTnLst>
                                    <p:set>
                                      <p:cBhvr>
                                        <p:cTn id="109" dur="1" fill="hold">
                                          <p:stCondLst>
                                            <p:cond delay="0"/>
                                          </p:stCondLst>
                                        </p:cTn>
                                        <p:tgtEl>
                                          <p:spTgt spid="10"/>
                                        </p:tgtEl>
                                        <p:attrNameLst>
                                          <p:attrName>style.visibility</p:attrName>
                                        </p:attrNameLst>
                                      </p:cBhvr>
                                      <p:to>
                                        <p:strVal val="visible"/>
                                      </p:to>
                                    </p:set>
                                    <p:animEffect transition="in" filter="wipe(up)">
                                      <p:cBhvr>
                                        <p:cTn id="110" dur="500"/>
                                        <p:tgtEl>
                                          <p:spTgt spid="10"/>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1" grpId="0"/>
      <p:bldP spid="12" grpId="0"/>
      <p:bldP spid="13" grpId="0" animBg="1"/>
      <p:bldP spid="14" grpId="0"/>
      <p:bldP spid="15" grpId="0" animBg="1"/>
      <p:bldP spid="18" grpId="0"/>
      <p:bldP spid="19" grpId="0" animBg="1"/>
      <p:bldP spid="22" grpId="0" animBg="1"/>
      <p:bldP spid="23" grpId="0" animBg="1"/>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4DF1C-78D6-B423-64E9-6CCD006F1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32EB3-7D0C-08AD-3F72-A39B95C6B2EB}"/>
              </a:ext>
            </a:extLst>
          </p:cNvPr>
          <p:cNvSpPr>
            <a:spLocks noGrp="1"/>
          </p:cNvSpPr>
          <p:nvPr>
            <p:ph type="title"/>
          </p:nvPr>
        </p:nvSpPr>
        <p:spPr>
          <a:xfrm>
            <a:off x="0" y="1"/>
            <a:ext cx="12192000" cy="711200"/>
          </a:xfrm>
        </p:spPr>
        <p:txBody>
          <a:bodyPr/>
          <a:lstStyle/>
          <a:p>
            <a:r>
              <a:rPr lang="en-US" dirty="0"/>
              <a:t>Nested </a:t>
            </a:r>
            <a:r>
              <a:rPr lang="en-US"/>
              <a:t>If statement</a:t>
            </a:r>
          </a:p>
        </p:txBody>
      </p:sp>
      <p:sp>
        <p:nvSpPr>
          <p:cNvPr id="3" name="TextBox 2">
            <a:extLst>
              <a:ext uri="{FF2B5EF4-FFF2-40B4-BE49-F238E27FC236}">
                <a16:creationId xmlns:a16="http://schemas.microsoft.com/office/drawing/2014/main" id="{4C293252-6915-AC92-5C0C-E87F5F68938A}"/>
              </a:ext>
            </a:extLst>
          </p:cNvPr>
          <p:cNvSpPr txBox="1"/>
          <p:nvPr/>
        </p:nvSpPr>
        <p:spPr>
          <a:xfrm>
            <a:off x="309832" y="845974"/>
            <a:ext cx="9776560" cy="5632311"/>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IfElseStatementDemo</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a:t>
            </a:r>
            <a:r>
              <a:rPr lang="en-US" b="1" dirty="0">
                <a:solidFill>
                  <a:srgbClr val="000000"/>
                </a:solidFill>
                <a:latin typeface="Consolas"/>
              </a:rPr>
              <a:t>)</a:t>
            </a:r>
          </a:p>
          <a:p>
            <a:pPr lvl="1"/>
            <a:r>
              <a:rPr lang="en-US" dirty="0">
                <a:solidFill>
                  <a:srgbClr val="000000"/>
                </a:solidFill>
                <a:latin typeface="Consolas"/>
              </a:rPr>
              <a:t>{</a:t>
            </a:r>
            <a:endParaRPr lang="en-US" b="1" dirty="0">
              <a:solidFill>
                <a:srgbClr val="7F0055"/>
              </a:solidFill>
              <a:latin typeface="Consolas" panose="020B0609020204030204" pitchFamily="49" charset="0"/>
            </a:endParaRPr>
          </a:p>
          <a:p>
            <a:r>
              <a:rPr lang="en-US" b="1" dirty="0">
                <a:solidFill>
                  <a:srgbClr val="7F0055"/>
                </a:solidFill>
                <a:latin typeface="Consolas" panose="020B0609020204030204" pitchFamily="49" charset="0"/>
              </a:rPr>
              <a:t>	</a:t>
            </a:r>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username</a:t>
            </a:r>
            <a:r>
              <a:rPr lang="en-US" b="1" dirty="0">
                <a:solidFill>
                  <a:srgbClr val="000000"/>
                </a:solidFill>
                <a:latin typeface="Consolas" panose="020B0609020204030204" pitchFamily="49" charset="0"/>
              </a:rPr>
              <a:t> = </a:t>
            </a:r>
            <a:r>
              <a:rPr lang="en-US" b="1" dirty="0" err="1">
                <a:solidFill>
                  <a:srgbClr val="000000"/>
                </a:solidFill>
                <a:latin typeface="Consolas" panose="020B0609020204030204" pitchFamily="49" charset="0"/>
              </a:rPr>
              <a:t>Integer.</a:t>
            </a:r>
            <a:r>
              <a:rPr lang="en-US" b="1" i="1" dirty="0" err="1">
                <a:solidFill>
                  <a:srgbClr val="000000"/>
                </a:solidFill>
                <a:latin typeface="Consolas" panose="020B0609020204030204" pitchFamily="49" charset="0"/>
              </a:rPr>
              <a:t>parseInt</a:t>
            </a:r>
            <a:r>
              <a:rPr lang="en-US" b="1" i="1" dirty="0">
                <a:solidFill>
                  <a:srgbClr val="000000"/>
                </a:solidFill>
                <a:latin typeface="Consolas" panose="020B0609020204030204" pitchFamily="49" charset="0"/>
              </a:rPr>
              <a:t>(</a:t>
            </a:r>
            <a:r>
              <a:rPr lang="en-US" b="1" i="1" dirty="0" err="1">
                <a:solidFill>
                  <a:srgbClr val="6A3E3E"/>
                </a:solidFill>
                <a:latin typeface="Consolas" panose="020B0609020204030204" pitchFamily="49" charset="0"/>
              </a:rPr>
              <a:t>args</a:t>
            </a:r>
            <a:r>
              <a:rPr lang="en-US" b="1" i="1" dirty="0">
                <a:solidFill>
                  <a:srgbClr val="000000"/>
                </a:solidFill>
                <a:latin typeface="Consolas" panose="020B0609020204030204" pitchFamily="49" charset="0"/>
              </a:rPr>
              <a:t>[0]);</a:t>
            </a:r>
          </a:p>
          <a:p>
            <a:r>
              <a:rPr lang="en-US" b="1" dirty="0">
                <a:solidFill>
                  <a:srgbClr val="7F0055"/>
                </a:solidFill>
                <a:latin typeface="Consolas" panose="020B0609020204030204" pitchFamily="49" charset="0"/>
              </a:rPr>
              <a:t>	</a:t>
            </a:r>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password</a:t>
            </a:r>
            <a:r>
              <a:rPr lang="en-US" b="1" dirty="0">
                <a:solidFill>
                  <a:srgbClr val="000000"/>
                </a:solidFill>
                <a:latin typeface="Consolas" panose="020B0609020204030204" pitchFamily="49" charset="0"/>
              </a:rPr>
              <a:t> = </a:t>
            </a:r>
            <a:r>
              <a:rPr lang="en-US" b="1" dirty="0" err="1">
                <a:solidFill>
                  <a:srgbClr val="000000"/>
                </a:solidFill>
                <a:latin typeface="Consolas" panose="020B0609020204030204" pitchFamily="49" charset="0"/>
              </a:rPr>
              <a:t>Integer.</a:t>
            </a:r>
            <a:r>
              <a:rPr lang="en-US" b="1" i="1" dirty="0" err="1">
                <a:solidFill>
                  <a:srgbClr val="000000"/>
                </a:solidFill>
                <a:latin typeface="Consolas" panose="020B0609020204030204" pitchFamily="49" charset="0"/>
              </a:rPr>
              <a:t>parseInt</a:t>
            </a:r>
            <a:r>
              <a:rPr lang="en-US" b="1" i="1" dirty="0">
                <a:solidFill>
                  <a:srgbClr val="000000"/>
                </a:solidFill>
                <a:latin typeface="Consolas" panose="020B0609020204030204" pitchFamily="49" charset="0"/>
              </a:rPr>
              <a:t>(</a:t>
            </a:r>
            <a:r>
              <a:rPr lang="en-US" b="1" i="1" dirty="0" err="1">
                <a:solidFill>
                  <a:srgbClr val="6A3E3E"/>
                </a:solidFill>
                <a:latin typeface="Consolas" panose="020B0609020204030204" pitchFamily="49" charset="0"/>
              </a:rPr>
              <a:t>args</a:t>
            </a:r>
            <a:r>
              <a:rPr lang="en-US" b="1" i="1" dirty="0">
                <a:solidFill>
                  <a:srgbClr val="000000"/>
                </a:solidFill>
                <a:latin typeface="Consolas" panose="020B0609020204030204" pitchFamily="49" charset="0"/>
              </a:rPr>
              <a:t>[1]);</a:t>
            </a:r>
          </a:p>
          <a:p>
            <a:r>
              <a:rPr lang="en-US" b="1" dirty="0">
                <a:solidFill>
                  <a:srgbClr val="7F0055"/>
                </a:solidFill>
                <a:latin typeface="Consolas" panose="020B0609020204030204" pitchFamily="49" charset="0"/>
              </a:rPr>
              <a:t>	double</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balance</a:t>
            </a:r>
            <a:r>
              <a:rPr lang="en-US" b="1" dirty="0">
                <a:solidFill>
                  <a:srgbClr val="000000"/>
                </a:solidFill>
                <a:latin typeface="Consolas" panose="020B0609020204030204" pitchFamily="49" charset="0"/>
              </a:rPr>
              <a:t> = 123456.25;</a:t>
            </a:r>
          </a:p>
          <a:p>
            <a:endParaRPr lang="en-US" dirty="0">
              <a:latin typeface="Consolas" panose="020B0609020204030204" pitchFamily="49" charset="0"/>
            </a:endParaRPr>
          </a:p>
          <a:p>
            <a:r>
              <a:rPr lang="en-US" b="1" dirty="0">
                <a:solidFill>
                  <a:srgbClr val="7F0055"/>
                </a:solidFill>
                <a:latin typeface="Consolas" panose="020B0609020204030204" pitchFamily="49" charset="0"/>
              </a:rPr>
              <a:t>	if</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username</a:t>
            </a:r>
            <a:r>
              <a:rPr lang="en-US" b="1" dirty="0">
                <a:solidFill>
                  <a:srgbClr val="000000"/>
                </a:solidFill>
                <a:latin typeface="Consolas" panose="020B0609020204030204" pitchFamily="49" charset="0"/>
              </a:rPr>
              <a:t>==1234){</a:t>
            </a:r>
          </a:p>
          <a:p>
            <a:pPr lvl="1"/>
            <a:r>
              <a:rPr lang="en-US" b="1" dirty="0">
                <a:solidFill>
                  <a:srgbClr val="7F0055"/>
                </a:solidFill>
                <a:latin typeface="Consolas" panose="020B0609020204030204" pitchFamily="49" charset="0"/>
              </a:rPr>
              <a:t>		if</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password</a:t>
            </a:r>
            <a:r>
              <a:rPr lang="en-US" b="1" dirty="0">
                <a:solidFill>
                  <a:srgbClr val="000000"/>
                </a:solidFill>
                <a:latin typeface="Consolas" panose="020B0609020204030204" pitchFamily="49" charset="0"/>
              </a:rPr>
              <a:t>==987654){</a:t>
            </a:r>
          </a:p>
          <a:p>
            <a:pPr lvl="1"/>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"Your Balance is ="</a:t>
            </a:r>
            <a:r>
              <a:rPr lang="en-US" b="1" i="1" dirty="0">
                <a:solidFill>
                  <a:srgbClr val="000000"/>
                </a:solidFill>
                <a:latin typeface="Consolas" panose="020B0609020204030204" pitchFamily="49" charset="0"/>
              </a:rPr>
              <a:t>+</a:t>
            </a:r>
            <a:r>
              <a:rPr lang="en-US" b="1" i="1" dirty="0">
                <a:solidFill>
                  <a:srgbClr val="6A3E3E"/>
                </a:solidFill>
                <a:latin typeface="Consolas" panose="020B0609020204030204" pitchFamily="49" charset="0"/>
              </a:rPr>
              <a:t>balance</a:t>
            </a:r>
            <a:r>
              <a:rPr lang="en-US" b="1" i="1"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p>
          <a:p>
            <a:pPr lvl="1"/>
            <a:r>
              <a:rPr lang="en-US" b="1" dirty="0">
                <a:solidFill>
                  <a:srgbClr val="7F0055"/>
                </a:solidFill>
                <a:latin typeface="Consolas" panose="020B0609020204030204" pitchFamily="49" charset="0"/>
              </a:rPr>
              <a:t>		else</a:t>
            </a:r>
            <a:r>
              <a:rPr lang="en-US" b="1"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"Password is invalid"</a:t>
            </a:r>
            <a:r>
              <a:rPr lang="en-US" b="1" i="1"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	}</a:t>
            </a:r>
          </a:p>
          <a:p>
            <a:r>
              <a:rPr lang="en-US" b="1" dirty="0">
                <a:solidFill>
                  <a:srgbClr val="7F0055"/>
                </a:solidFill>
                <a:latin typeface="Consolas" panose="020B0609020204030204" pitchFamily="49" charset="0"/>
              </a:rPr>
              <a:t>	else</a:t>
            </a:r>
            <a:r>
              <a:rPr lang="en-US" b="1"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"Username is invalid"</a:t>
            </a:r>
            <a:r>
              <a:rPr lang="en-US" b="1" i="1"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1917046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5C1DA-07F0-2016-5BFE-0ADB6C886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43335-67D5-3A39-4ED0-F3C0EC1E810D}"/>
              </a:ext>
            </a:extLst>
          </p:cNvPr>
          <p:cNvSpPr>
            <a:spLocks noGrp="1"/>
          </p:cNvSpPr>
          <p:nvPr>
            <p:ph type="title"/>
          </p:nvPr>
        </p:nvSpPr>
        <p:spPr>
          <a:xfrm>
            <a:off x="0" y="1"/>
            <a:ext cx="12192000" cy="711200"/>
          </a:xfrm>
        </p:spPr>
        <p:txBody>
          <a:bodyPr/>
          <a:lstStyle/>
          <a:p>
            <a:r>
              <a:rPr lang="en-IN" dirty="0"/>
              <a:t>switch statement</a:t>
            </a:r>
            <a:endParaRPr lang="en-US" dirty="0"/>
          </a:p>
        </p:txBody>
      </p:sp>
      <p:sp>
        <p:nvSpPr>
          <p:cNvPr id="3" name="Content Placeholder 2">
            <a:extLst>
              <a:ext uri="{FF2B5EF4-FFF2-40B4-BE49-F238E27FC236}">
                <a16:creationId xmlns:a16="http://schemas.microsoft.com/office/drawing/2014/main" id="{1DDE09EB-8638-20E2-5371-608F0F7D066C}"/>
              </a:ext>
            </a:extLst>
          </p:cNvPr>
          <p:cNvSpPr>
            <a:spLocks noGrp="1"/>
          </p:cNvSpPr>
          <p:nvPr>
            <p:ph idx="1"/>
          </p:nvPr>
        </p:nvSpPr>
        <p:spPr>
          <a:xfrm>
            <a:off x="131180" y="863444"/>
            <a:ext cx="11929641" cy="5590565"/>
          </a:xfrm>
        </p:spPr>
        <p:txBody>
          <a:bodyPr/>
          <a:lstStyle/>
          <a:p>
            <a:r>
              <a:rPr lang="en-US" dirty="0"/>
              <a:t>switch statement executes one statement from multiple conditions. It is like if-else-if ladder statement.</a:t>
            </a:r>
          </a:p>
        </p:txBody>
      </p:sp>
      <p:sp>
        <p:nvSpPr>
          <p:cNvPr id="4" name="TextBox 3">
            <a:extLst>
              <a:ext uri="{FF2B5EF4-FFF2-40B4-BE49-F238E27FC236}">
                <a16:creationId xmlns:a16="http://schemas.microsoft.com/office/drawing/2014/main" id="{B9AAC860-3EE2-9B49-0BD3-A46001FCB3D2}"/>
              </a:ext>
            </a:extLst>
          </p:cNvPr>
          <p:cNvSpPr txBox="1"/>
          <p:nvPr/>
        </p:nvSpPr>
        <p:spPr>
          <a:xfrm>
            <a:off x="4023535" y="3415342"/>
            <a:ext cx="964211" cy="307777"/>
          </a:xfrm>
          <a:prstGeom prst="rect">
            <a:avLst/>
          </a:prstGeom>
          <a:noFill/>
          <a:ln>
            <a:noFill/>
          </a:ln>
        </p:spPr>
        <p:txBody>
          <a:bodyPr wrap="square" rtlCol="0">
            <a:spAutoFit/>
          </a:bodyPr>
          <a:lstStyle/>
          <a:p>
            <a:r>
              <a:rPr lang="en-IN" sz="1400" dirty="0"/>
              <a:t>False</a:t>
            </a:r>
          </a:p>
        </p:txBody>
      </p:sp>
      <p:sp>
        <p:nvSpPr>
          <p:cNvPr id="5" name="TextBox 4">
            <a:extLst>
              <a:ext uri="{FF2B5EF4-FFF2-40B4-BE49-F238E27FC236}">
                <a16:creationId xmlns:a16="http://schemas.microsoft.com/office/drawing/2014/main" id="{EBE93515-59D0-EA4A-3FF5-8F2D62A05846}"/>
              </a:ext>
            </a:extLst>
          </p:cNvPr>
          <p:cNvSpPr txBox="1"/>
          <p:nvPr/>
        </p:nvSpPr>
        <p:spPr>
          <a:xfrm>
            <a:off x="4023535" y="2495212"/>
            <a:ext cx="964211" cy="307777"/>
          </a:xfrm>
          <a:prstGeom prst="rect">
            <a:avLst/>
          </a:prstGeom>
          <a:noFill/>
          <a:ln>
            <a:noFill/>
          </a:ln>
        </p:spPr>
        <p:txBody>
          <a:bodyPr wrap="square" rtlCol="0">
            <a:spAutoFit/>
          </a:bodyPr>
          <a:lstStyle/>
          <a:p>
            <a:r>
              <a:rPr lang="en-IN" sz="1400" dirty="0"/>
              <a:t>False</a:t>
            </a:r>
          </a:p>
        </p:txBody>
      </p:sp>
      <p:sp>
        <p:nvSpPr>
          <p:cNvPr id="6" name="TextBox 5">
            <a:extLst>
              <a:ext uri="{FF2B5EF4-FFF2-40B4-BE49-F238E27FC236}">
                <a16:creationId xmlns:a16="http://schemas.microsoft.com/office/drawing/2014/main" id="{0BBA4F16-B691-8A3C-0A85-202D25B6A1B0}"/>
              </a:ext>
            </a:extLst>
          </p:cNvPr>
          <p:cNvSpPr txBox="1"/>
          <p:nvPr/>
        </p:nvSpPr>
        <p:spPr>
          <a:xfrm>
            <a:off x="5662968" y="1979335"/>
            <a:ext cx="708083" cy="307777"/>
          </a:xfrm>
          <a:prstGeom prst="rect">
            <a:avLst/>
          </a:prstGeom>
          <a:noFill/>
          <a:ln>
            <a:noFill/>
          </a:ln>
        </p:spPr>
        <p:txBody>
          <a:bodyPr wrap="square" rtlCol="0">
            <a:spAutoFit/>
          </a:bodyPr>
          <a:lstStyle/>
          <a:p>
            <a:r>
              <a:rPr lang="en-IN" sz="1400" dirty="0"/>
              <a:t>True</a:t>
            </a:r>
          </a:p>
        </p:txBody>
      </p:sp>
      <p:sp>
        <p:nvSpPr>
          <p:cNvPr id="7" name="Rounded Rectangle 3">
            <a:extLst>
              <a:ext uri="{FF2B5EF4-FFF2-40B4-BE49-F238E27FC236}">
                <a16:creationId xmlns:a16="http://schemas.microsoft.com/office/drawing/2014/main" id="{740581A9-3909-82B7-42C6-8361513B8F3C}"/>
              </a:ext>
            </a:extLst>
          </p:cNvPr>
          <p:cNvSpPr/>
          <p:nvPr/>
        </p:nvSpPr>
        <p:spPr>
          <a:xfrm>
            <a:off x="4421025" y="1319272"/>
            <a:ext cx="920815" cy="327716"/>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Start</a:t>
            </a:r>
          </a:p>
        </p:txBody>
      </p:sp>
      <p:sp>
        <p:nvSpPr>
          <p:cNvPr id="8" name="Rectangle 7">
            <a:extLst>
              <a:ext uri="{FF2B5EF4-FFF2-40B4-BE49-F238E27FC236}">
                <a16:creationId xmlns:a16="http://schemas.microsoft.com/office/drawing/2014/main" id="{05D60709-D6F8-F115-45CE-C60C79BF7D50}"/>
              </a:ext>
            </a:extLst>
          </p:cNvPr>
          <p:cNvSpPr/>
          <p:nvPr/>
        </p:nvSpPr>
        <p:spPr>
          <a:xfrm>
            <a:off x="5112525" y="5553857"/>
            <a:ext cx="1475008"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Next Statements</a:t>
            </a:r>
          </a:p>
        </p:txBody>
      </p:sp>
      <p:sp>
        <p:nvSpPr>
          <p:cNvPr id="9" name="Diamond 8">
            <a:extLst>
              <a:ext uri="{FF2B5EF4-FFF2-40B4-BE49-F238E27FC236}">
                <a16:creationId xmlns:a16="http://schemas.microsoft.com/office/drawing/2014/main" id="{1262D5A6-BEB7-1660-FD84-9062B3F0D167}"/>
              </a:ext>
            </a:extLst>
          </p:cNvPr>
          <p:cNvSpPr/>
          <p:nvPr/>
        </p:nvSpPr>
        <p:spPr>
          <a:xfrm>
            <a:off x="3792512" y="1849812"/>
            <a:ext cx="2233828"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Condition 1</a:t>
            </a:r>
          </a:p>
        </p:txBody>
      </p:sp>
      <p:cxnSp>
        <p:nvCxnSpPr>
          <p:cNvPr id="10" name="Straight Arrow Connector 9">
            <a:extLst>
              <a:ext uri="{FF2B5EF4-FFF2-40B4-BE49-F238E27FC236}">
                <a16:creationId xmlns:a16="http://schemas.microsoft.com/office/drawing/2014/main" id="{0DF6C07D-FB5F-98DC-E143-42215B6D7168}"/>
              </a:ext>
            </a:extLst>
          </p:cNvPr>
          <p:cNvCxnSpPr/>
          <p:nvPr/>
        </p:nvCxnSpPr>
        <p:spPr>
          <a:xfrm flipH="1">
            <a:off x="4895083" y="1660704"/>
            <a:ext cx="3123" cy="150845"/>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870F359-91C4-D75C-C55B-AA53F7DD6B60}"/>
              </a:ext>
            </a:extLst>
          </p:cNvPr>
          <p:cNvCxnSpPr>
            <a:stCxn id="8" idx="2"/>
          </p:cNvCxnSpPr>
          <p:nvPr/>
        </p:nvCxnSpPr>
        <p:spPr>
          <a:xfrm>
            <a:off x="5850029" y="6033726"/>
            <a:ext cx="18662" cy="16379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2B2AD17-5C86-192F-B6CC-B741D5C70933}"/>
              </a:ext>
            </a:extLst>
          </p:cNvPr>
          <p:cNvSpPr txBox="1"/>
          <p:nvPr/>
        </p:nvSpPr>
        <p:spPr>
          <a:xfrm>
            <a:off x="5672299" y="2780103"/>
            <a:ext cx="708083" cy="307777"/>
          </a:xfrm>
          <a:prstGeom prst="rect">
            <a:avLst/>
          </a:prstGeom>
          <a:noFill/>
          <a:ln>
            <a:noFill/>
          </a:ln>
        </p:spPr>
        <p:txBody>
          <a:bodyPr wrap="square" rtlCol="0">
            <a:spAutoFit/>
          </a:bodyPr>
          <a:lstStyle/>
          <a:p>
            <a:r>
              <a:rPr lang="en-IN" sz="1400" dirty="0"/>
              <a:t>True</a:t>
            </a:r>
          </a:p>
        </p:txBody>
      </p:sp>
      <p:sp>
        <p:nvSpPr>
          <p:cNvPr id="13" name="TextBox 12">
            <a:extLst>
              <a:ext uri="{FF2B5EF4-FFF2-40B4-BE49-F238E27FC236}">
                <a16:creationId xmlns:a16="http://schemas.microsoft.com/office/drawing/2014/main" id="{9A28FCB1-E016-8790-12CF-BDF9268EBAC5}"/>
              </a:ext>
            </a:extLst>
          </p:cNvPr>
          <p:cNvSpPr txBox="1"/>
          <p:nvPr/>
        </p:nvSpPr>
        <p:spPr>
          <a:xfrm>
            <a:off x="4023535" y="4341671"/>
            <a:ext cx="964211" cy="307777"/>
          </a:xfrm>
          <a:prstGeom prst="rect">
            <a:avLst/>
          </a:prstGeom>
          <a:noFill/>
          <a:ln>
            <a:noFill/>
          </a:ln>
        </p:spPr>
        <p:txBody>
          <a:bodyPr wrap="square" rtlCol="0">
            <a:spAutoFit/>
          </a:bodyPr>
          <a:lstStyle/>
          <a:p>
            <a:r>
              <a:rPr lang="en-IN" sz="1400" dirty="0"/>
              <a:t>False</a:t>
            </a:r>
          </a:p>
        </p:txBody>
      </p:sp>
      <p:sp>
        <p:nvSpPr>
          <p:cNvPr id="14" name="Diamond 13">
            <a:extLst>
              <a:ext uri="{FF2B5EF4-FFF2-40B4-BE49-F238E27FC236}">
                <a16:creationId xmlns:a16="http://schemas.microsoft.com/office/drawing/2014/main" id="{4E6B91A2-5FFC-23CE-9602-D507041F646B}"/>
              </a:ext>
            </a:extLst>
          </p:cNvPr>
          <p:cNvSpPr/>
          <p:nvPr/>
        </p:nvSpPr>
        <p:spPr>
          <a:xfrm>
            <a:off x="3806162" y="2756334"/>
            <a:ext cx="2233828"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Condition 2</a:t>
            </a:r>
          </a:p>
        </p:txBody>
      </p:sp>
      <p:sp>
        <p:nvSpPr>
          <p:cNvPr id="15" name="Diamond 14">
            <a:extLst>
              <a:ext uri="{FF2B5EF4-FFF2-40B4-BE49-F238E27FC236}">
                <a16:creationId xmlns:a16="http://schemas.microsoft.com/office/drawing/2014/main" id="{58FEE74E-8E0F-6B0E-9116-A9A18B7AE620}"/>
              </a:ext>
            </a:extLst>
          </p:cNvPr>
          <p:cNvSpPr/>
          <p:nvPr/>
        </p:nvSpPr>
        <p:spPr>
          <a:xfrm>
            <a:off x="3849133" y="3678922"/>
            <a:ext cx="2233828" cy="766242"/>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Condition 3</a:t>
            </a:r>
          </a:p>
        </p:txBody>
      </p:sp>
      <p:sp>
        <p:nvSpPr>
          <p:cNvPr id="16" name="Rectangle 15">
            <a:extLst>
              <a:ext uri="{FF2B5EF4-FFF2-40B4-BE49-F238E27FC236}">
                <a16:creationId xmlns:a16="http://schemas.microsoft.com/office/drawing/2014/main" id="{B70D6A76-014E-230C-5242-CF4AFBDC3414}"/>
              </a:ext>
            </a:extLst>
          </p:cNvPr>
          <p:cNvSpPr/>
          <p:nvPr/>
        </p:nvSpPr>
        <p:spPr>
          <a:xfrm>
            <a:off x="4235058" y="4664566"/>
            <a:ext cx="1475008"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Default Statements</a:t>
            </a:r>
          </a:p>
        </p:txBody>
      </p:sp>
      <p:cxnSp>
        <p:nvCxnSpPr>
          <p:cNvPr id="17" name="Straight Arrow Connector 16">
            <a:extLst>
              <a:ext uri="{FF2B5EF4-FFF2-40B4-BE49-F238E27FC236}">
                <a16:creationId xmlns:a16="http://schemas.microsoft.com/office/drawing/2014/main" id="{CCEB0B3A-065A-30AD-D8E6-39A070A92CD9}"/>
              </a:ext>
            </a:extLst>
          </p:cNvPr>
          <p:cNvCxnSpPr/>
          <p:nvPr/>
        </p:nvCxnSpPr>
        <p:spPr>
          <a:xfrm>
            <a:off x="4926199" y="2588376"/>
            <a:ext cx="0" cy="198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EEF2E2A-A6A5-3009-5179-8BBFC475E81D}"/>
              </a:ext>
            </a:extLst>
          </p:cNvPr>
          <p:cNvCxnSpPr/>
          <p:nvPr/>
        </p:nvCxnSpPr>
        <p:spPr>
          <a:xfrm>
            <a:off x="4938111" y="3543217"/>
            <a:ext cx="0" cy="156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D4BB924-8CBE-EEEF-ED4C-8611B3B2442D}"/>
              </a:ext>
            </a:extLst>
          </p:cNvPr>
          <p:cNvCxnSpPr>
            <a:stCxn id="15" idx="2"/>
            <a:endCxn id="16" idx="0"/>
          </p:cNvCxnSpPr>
          <p:nvPr/>
        </p:nvCxnSpPr>
        <p:spPr>
          <a:xfrm>
            <a:off x="4966047" y="4445164"/>
            <a:ext cx="6515" cy="219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48612AA-C8D0-1FA6-5A5D-85D77DBB7B52}"/>
              </a:ext>
            </a:extLst>
          </p:cNvPr>
          <p:cNvSpPr/>
          <p:nvPr/>
        </p:nvSpPr>
        <p:spPr>
          <a:xfrm>
            <a:off x="6833710" y="2008849"/>
            <a:ext cx="1475008"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 1</a:t>
            </a:r>
          </a:p>
        </p:txBody>
      </p:sp>
      <p:sp>
        <p:nvSpPr>
          <p:cNvPr id="21" name="Rectangle 20">
            <a:extLst>
              <a:ext uri="{FF2B5EF4-FFF2-40B4-BE49-F238E27FC236}">
                <a16:creationId xmlns:a16="http://schemas.microsoft.com/office/drawing/2014/main" id="{0F31CB36-3340-FD98-729E-3B3D3A59C9E5}"/>
              </a:ext>
            </a:extLst>
          </p:cNvPr>
          <p:cNvSpPr/>
          <p:nvPr/>
        </p:nvSpPr>
        <p:spPr>
          <a:xfrm>
            <a:off x="6719952" y="2907073"/>
            <a:ext cx="1475008"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 2</a:t>
            </a:r>
          </a:p>
        </p:txBody>
      </p:sp>
      <p:sp>
        <p:nvSpPr>
          <p:cNvPr id="22" name="Rectangle 21">
            <a:extLst>
              <a:ext uri="{FF2B5EF4-FFF2-40B4-BE49-F238E27FC236}">
                <a16:creationId xmlns:a16="http://schemas.microsoft.com/office/drawing/2014/main" id="{59651B73-0E76-C3F2-0245-47B0596A1B8F}"/>
              </a:ext>
            </a:extLst>
          </p:cNvPr>
          <p:cNvSpPr/>
          <p:nvPr/>
        </p:nvSpPr>
        <p:spPr>
          <a:xfrm>
            <a:off x="6719952" y="3819828"/>
            <a:ext cx="1475008" cy="479869"/>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Statement 3</a:t>
            </a:r>
          </a:p>
        </p:txBody>
      </p:sp>
      <p:cxnSp>
        <p:nvCxnSpPr>
          <p:cNvPr id="23" name="Straight Arrow Connector 22">
            <a:extLst>
              <a:ext uri="{FF2B5EF4-FFF2-40B4-BE49-F238E27FC236}">
                <a16:creationId xmlns:a16="http://schemas.microsoft.com/office/drawing/2014/main" id="{01C53E09-DB73-8CA0-0D3B-8F724741C9C3}"/>
              </a:ext>
            </a:extLst>
          </p:cNvPr>
          <p:cNvCxnSpPr>
            <a:stCxn id="9" idx="3"/>
            <a:endCxn id="20" idx="1"/>
          </p:cNvCxnSpPr>
          <p:nvPr/>
        </p:nvCxnSpPr>
        <p:spPr>
          <a:xfrm>
            <a:off x="6026340" y="2232933"/>
            <a:ext cx="807370" cy="158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9FA5A5F-A41A-29FD-5F15-1E8C9D8B3B6A}"/>
              </a:ext>
            </a:extLst>
          </p:cNvPr>
          <p:cNvCxnSpPr/>
          <p:nvPr/>
        </p:nvCxnSpPr>
        <p:spPr>
          <a:xfrm>
            <a:off x="6039990" y="3148786"/>
            <a:ext cx="679962" cy="75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A42EB1-CC0A-C9A4-4980-9669B1AF5DEA}"/>
              </a:ext>
            </a:extLst>
          </p:cNvPr>
          <p:cNvCxnSpPr/>
          <p:nvPr/>
        </p:nvCxnSpPr>
        <p:spPr>
          <a:xfrm flipV="1">
            <a:off x="6082961" y="4059763"/>
            <a:ext cx="636991" cy="2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EFD5290-5D79-524E-0CB0-44B0959DC7EE}"/>
              </a:ext>
            </a:extLst>
          </p:cNvPr>
          <p:cNvSpPr txBox="1"/>
          <p:nvPr/>
        </p:nvSpPr>
        <p:spPr>
          <a:xfrm>
            <a:off x="5690961" y="3674066"/>
            <a:ext cx="708083" cy="307777"/>
          </a:xfrm>
          <a:prstGeom prst="rect">
            <a:avLst/>
          </a:prstGeom>
          <a:noFill/>
          <a:ln>
            <a:noFill/>
          </a:ln>
        </p:spPr>
        <p:txBody>
          <a:bodyPr wrap="square" rtlCol="0">
            <a:spAutoFit/>
          </a:bodyPr>
          <a:lstStyle/>
          <a:p>
            <a:r>
              <a:rPr lang="en-IN" sz="1400" dirty="0"/>
              <a:t>True</a:t>
            </a:r>
          </a:p>
        </p:txBody>
      </p:sp>
      <p:cxnSp>
        <p:nvCxnSpPr>
          <p:cNvPr id="27" name="Elbow Connector 103">
            <a:extLst>
              <a:ext uri="{FF2B5EF4-FFF2-40B4-BE49-F238E27FC236}">
                <a16:creationId xmlns:a16="http://schemas.microsoft.com/office/drawing/2014/main" id="{584E76FA-B6EB-DC5B-5DE4-6881EACCAA99}"/>
              </a:ext>
            </a:extLst>
          </p:cNvPr>
          <p:cNvCxnSpPr>
            <a:cxnSpLocks/>
          </p:cNvCxnSpPr>
          <p:nvPr/>
        </p:nvCxnSpPr>
        <p:spPr>
          <a:xfrm rot="16200000" flipH="1">
            <a:off x="5069369" y="5187592"/>
            <a:ext cx="465410" cy="26712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104">
            <a:extLst>
              <a:ext uri="{FF2B5EF4-FFF2-40B4-BE49-F238E27FC236}">
                <a16:creationId xmlns:a16="http://schemas.microsoft.com/office/drawing/2014/main" id="{4835C9FB-EC49-49C5-CCB0-B9F3C049E6BB}"/>
              </a:ext>
            </a:extLst>
          </p:cNvPr>
          <p:cNvCxnSpPr>
            <a:stCxn id="20" idx="3"/>
          </p:cNvCxnSpPr>
          <p:nvPr/>
        </p:nvCxnSpPr>
        <p:spPr>
          <a:xfrm flipH="1">
            <a:off x="6129960" y="2248784"/>
            <a:ext cx="2178758" cy="3267749"/>
          </a:xfrm>
          <a:prstGeom prst="bentConnector4">
            <a:avLst>
              <a:gd name="adj1" fmla="val -10492"/>
              <a:gd name="adj2" fmla="val 5367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105">
            <a:extLst>
              <a:ext uri="{FF2B5EF4-FFF2-40B4-BE49-F238E27FC236}">
                <a16:creationId xmlns:a16="http://schemas.microsoft.com/office/drawing/2014/main" id="{35381519-AAD2-EA19-4AE0-5116B011F6B0}"/>
              </a:ext>
            </a:extLst>
          </p:cNvPr>
          <p:cNvCxnSpPr/>
          <p:nvPr/>
        </p:nvCxnSpPr>
        <p:spPr>
          <a:xfrm flipH="1">
            <a:off x="5887353" y="3147008"/>
            <a:ext cx="2326269" cy="2406849"/>
          </a:xfrm>
          <a:prstGeom prst="bentConnector4">
            <a:avLst>
              <a:gd name="adj1" fmla="val -9827"/>
              <a:gd name="adj2" fmla="val 5498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106">
            <a:extLst>
              <a:ext uri="{FF2B5EF4-FFF2-40B4-BE49-F238E27FC236}">
                <a16:creationId xmlns:a16="http://schemas.microsoft.com/office/drawing/2014/main" id="{B1C91F08-2579-730E-BE1B-6829C2171E46}"/>
              </a:ext>
            </a:extLst>
          </p:cNvPr>
          <p:cNvCxnSpPr>
            <a:cxnSpLocks/>
            <a:stCxn id="22" idx="2"/>
          </p:cNvCxnSpPr>
          <p:nvPr/>
        </p:nvCxnSpPr>
        <p:spPr>
          <a:xfrm rot="5400000">
            <a:off x="6278849" y="4384456"/>
            <a:ext cx="1263366" cy="109384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ounded Rectangle 6">
            <a:extLst>
              <a:ext uri="{FF2B5EF4-FFF2-40B4-BE49-F238E27FC236}">
                <a16:creationId xmlns:a16="http://schemas.microsoft.com/office/drawing/2014/main" id="{5BC0BCB0-F39F-52FE-D701-F9E6FF84B190}"/>
              </a:ext>
            </a:extLst>
          </p:cNvPr>
          <p:cNvSpPr/>
          <p:nvPr/>
        </p:nvSpPr>
        <p:spPr>
          <a:xfrm>
            <a:off x="5486098" y="6180863"/>
            <a:ext cx="746524" cy="327716"/>
          </a:xfrm>
          <a:prstGeom prst="flowChartConnector">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t>End</a:t>
            </a:r>
          </a:p>
        </p:txBody>
      </p:sp>
    </p:spTree>
    <p:extLst>
      <p:ext uri="{BB962C8B-B14F-4D97-AF65-F5344CB8AC3E}">
        <p14:creationId xmlns:p14="http://schemas.microsoft.com/office/powerpoint/2010/main" val="914197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left)">
                                      <p:cBhvr>
                                        <p:cTn id="20" dur="500"/>
                                        <p:tgtEl>
                                          <p:spTgt spid="23"/>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up)">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500"/>
                                        <p:tgtEl>
                                          <p:spTgt spid="17"/>
                                        </p:tgtEl>
                                      </p:cBhvr>
                                    </p:animEffect>
                                  </p:childTnLst>
                                </p:cTn>
                              </p:par>
                              <p:par>
                                <p:cTn id="41" presetID="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left)">
                                      <p:cBhvr>
                                        <p:cTn id="51" dur="500"/>
                                        <p:tgtEl>
                                          <p:spTgt spid="24"/>
                                        </p:tgtEl>
                                      </p:cBhvr>
                                    </p:animEffect>
                                  </p:childTnLst>
                                </p:cTn>
                              </p:par>
                              <p:par>
                                <p:cTn id="52" presetID="1"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up)">
                                      <p:cBhvr>
                                        <p:cTn id="62" dur="500"/>
                                        <p:tgtEl>
                                          <p:spTgt spid="2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up)">
                                      <p:cBhvr>
                                        <p:cTn id="67" dur="500"/>
                                        <p:tgtEl>
                                          <p:spTgt spid="18"/>
                                        </p:tgtEl>
                                      </p:cBhvr>
                                    </p:animEffect>
                                  </p:childTnLst>
                                </p:cTn>
                              </p:par>
                              <p:par>
                                <p:cTn id="68" presetID="1" presetClass="entr" presetSubtype="0" fill="hold" grpId="0" nodeType="withEffect">
                                  <p:stCondLst>
                                    <p:cond delay="0"/>
                                  </p:stCondLst>
                                  <p:childTnLst>
                                    <p:set>
                                      <p:cBhvr>
                                        <p:cTn id="69" dur="1" fill="hold">
                                          <p:stCondLst>
                                            <p:cond delay="0"/>
                                          </p:stCondLst>
                                        </p:cTn>
                                        <p:tgtEl>
                                          <p:spTgt spid="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500"/>
                                        <p:tgtEl>
                                          <p:spTgt spid="25"/>
                                        </p:tgtEl>
                                      </p:cBhvr>
                                    </p:animEffect>
                                  </p:childTnLst>
                                </p:cTn>
                              </p:par>
                              <p:par>
                                <p:cTn id="79" presetID="1"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nodeType="click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wipe(up)">
                                      <p:cBhvr>
                                        <p:cTn id="89" dur="500"/>
                                        <p:tgtEl>
                                          <p:spTgt spid="3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nodeType="click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wipe(up)">
                                      <p:cBhvr>
                                        <p:cTn id="94" dur="500"/>
                                        <p:tgtEl>
                                          <p:spTgt spid="19"/>
                                        </p:tgtEl>
                                      </p:cBhvr>
                                    </p:animEffect>
                                  </p:childTnLst>
                                </p:cTn>
                              </p:par>
                              <p:par>
                                <p:cTn id="95" presetID="1" presetClass="entr" presetSubtype="0" fill="hold" grpId="0" nodeType="withEffect">
                                  <p:stCondLst>
                                    <p:cond delay="0"/>
                                  </p:stCondLst>
                                  <p:childTnLst>
                                    <p:set>
                                      <p:cBhvr>
                                        <p:cTn id="96" dur="1" fill="hold">
                                          <p:stCondLst>
                                            <p:cond delay="0"/>
                                          </p:stCondLst>
                                        </p:cTn>
                                        <p:tgtEl>
                                          <p:spTgt spid="1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nodeType="clickEffect">
                                  <p:stCondLst>
                                    <p:cond delay="0"/>
                                  </p:stCondLst>
                                  <p:childTnLst>
                                    <p:set>
                                      <p:cBhvr>
                                        <p:cTn id="104" dur="1" fill="hold">
                                          <p:stCondLst>
                                            <p:cond delay="0"/>
                                          </p:stCondLst>
                                        </p:cTn>
                                        <p:tgtEl>
                                          <p:spTgt spid="27"/>
                                        </p:tgtEl>
                                        <p:attrNameLst>
                                          <p:attrName>style.visibility</p:attrName>
                                        </p:attrNameLst>
                                      </p:cBhvr>
                                      <p:to>
                                        <p:strVal val="visible"/>
                                      </p:to>
                                    </p:set>
                                    <p:animEffect transition="in" filter="wipe(up)">
                                      <p:cBhvr>
                                        <p:cTn id="105" dur="500"/>
                                        <p:tgtEl>
                                          <p:spTgt spid="27"/>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nodeType="clickEffect">
                                  <p:stCondLst>
                                    <p:cond delay="0"/>
                                  </p:stCondLst>
                                  <p:childTnLst>
                                    <p:set>
                                      <p:cBhvr>
                                        <p:cTn id="109" dur="1" fill="hold">
                                          <p:stCondLst>
                                            <p:cond delay="0"/>
                                          </p:stCondLst>
                                        </p:cTn>
                                        <p:tgtEl>
                                          <p:spTgt spid="11"/>
                                        </p:tgtEl>
                                        <p:attrNameLst>
                                          <p:attrName>style.visibility</p:attrName>
                                        </p:attrNameLst>
                                      </p:cBhvr>
                                      <p:to>
                                        <p:strVal val="visible"/>
                                      </p:to>
                                    </p:set>
                                    <p:animEffect transition="in" filter="wipe(up)">
                                      <p:cBhvr>
                                        <p:cTn id="110" dur="500"/>
                                        <p:tgtEl>
                                          <p:spTgt spid="11"/>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animBg="1"/>
      <p:bldP spid="12" grpId="0"/>
      <p:bldP spid="13" grpId="0"/>
      <p:bldP spid="14" grpId="0" animBg="1"/>
      <p:bldP spid="15" grpId="0" animBg="1"/>
      <p:bldP spid="16" grpId="0" animBg="1"/>
      <p:bldP spid="20" grpId="0" animBg="1"/>
      <p:bldP spid="21" grpId="0" animBg="1"/>
      <p:bldP spid="22" grpId="0" animBg="1"/>
      <p:bldP spid="26" grpId="0"/>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5AFF9-C316-0B1D-D37D-18C97455F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D55C6-A0F9-9F97-67E4-3D768CE22680}"/>
              </a:ext>
            </a:extLst>
          </p:cNvPr>
          <p:cNvSpPr>
            <a:spLocks noGrp="1"/>
          </p:cNvSpPr>
          <p:nvPr>
            <p:ph type="title"/>
          </p:nvPr>
        </p:nvSpPr>
        <p:spPr>
          <a:xfrm>
            <a:off x="0" y="1"/>
            <a:ext cx="12192000" cy="711200"/>
          </a:xfrm>
        </p:spPr>
        <p:txBody>
          <a:bodyPr/>
          <a:lstStyle/>
          <a:p>
            <a:r>
              <a:rPr lang="en-IN" dirty="0"/>
              <a:t>switch statement</a:t>
            </a:r>
            <a:endParaRPr lang="en-US" dirty="0"/>
          </a:p>
        </p:txBody>
      </p:sp>
      <p:sp>
        <p:nvSpPr>
          <p:cNvPr id="3" name="TextBox 2">
            <a:extLst>
              <a:ext uri="{FF2B5EF4-FFF2-40B4-BE49-F238E27FC236}">
                <a16:creationId xmlns:a16="http://schemas.microsoft.com/office/drawing/2014/main" id="{7BB3C8E2-35C2-205F-CAC9-4D86A08864E1}"/>
              </a:ext>
            </a:extLst>
          </p:cNvPr>
          <p:cNvSpPr txBox="1"/>
          <p:nvPr/>
        </p:nvSpPr>
        <p:spPr>
          <a:xfrm>
            <a:off x="377182" y="927180"/>
            <a:ext cx="7572499" cy="4661857"/>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SwitchExampleDemo</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1"/>
            <a:r>
              <a:rPr lang="en-US" b="1" dirty="0">
                <a:solidFill>
                  <a:srgbClr val="000000"/>
                </a:solidFill>
                <a:latin typeface="Consolas"/>
              </a:rPr>
              <a:t>{</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number</a:t>
            </a:r>
            <a:r>
              <a:rPr lang="en-US" b="1" dirty="0">
                <a:solidFill>
                  <a:srgbClr val="000000"/>
                </a:solidFill>
                <a:latin typeface="Consolas"/>
              </a:rPr>
              <a:t> = 20;</a:t>
            </a:r>
          </a:p>
          <a:p>
            <a:pPr lvl="2"/>
            <a:r>
              <a:rPr lang="en-US" b="1" dirty="0">
                <a:solidFill>
                  <a:srgbClr val="7F0055"/>
                </a:solidFill>
                <a:latin typeface="Consolas"/>
              </a:rPr>
              <a:t>switch</a:t>
            </a:r>
            <a:r>
              <a:rPr lang="en-US" b="1" dirty="0">
                <a:solidFill>
                  <a:srgbClr val="000000"/>
                </a:solidFill>
                <a:latin typeface="Consolas"/>
              </a:rPr>
              <a:t> (</a:t>
            </a:r>
            <a:r>
              <a:rPr lang="en-US" b="1" dirty="0">
                <a:solidFill>
                  <a:srgbClr val="6A3E3E"/>
                </a:solidFill>
                <a:latin typeface="Consolas"/>
              </a:rPr>
              <a:t>number</a:t>
            </a:r>
            <a:r>
              <a:rPr lang="en-US" b="1" dirty="0">
                <a:solidFill>
                  <a:srgbClr val="000000"/>
                </a:solidFill>
                <a:latin typeface="Consolas"/>
              </a:rPr>
              <a:t>) {</a:t>
            </a:r>
          </a:p>
          <a:p>
            <a:pPr lvl="3"/>
            <a:r>
              <a:rPr lang="en-US" b="1" dirty="0">
                <a:solidFill>
                  <a:srgbClr val="7F0055"/>
                </a:solidFill>
                <a:latin typeface="Consolas"/>
              </a:rPr>
              <a:t>case</a:t>
            </a:r>
            <a:r>
              <a:rPr lang="en-US" b="1" dirty="0">
                <a:solidFill>
                  <a:srgbClr val="000000"/>
                </a:solidFill>
                <a:latin typeface="Consolas"/>
              </a:rPr>
              <a:t> 10:</a:t>
            </a:r>
          </a:p>
          <a:p>
            <a:pPr lvl="3"/>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"10"</a:t>
            </a:r>
            <a:r>
              <a:rPr lang="en-US" b="1" i="1" dirty="0">
                <a:solidFill>
                  <a:srgbClr val="000000"/>
                </a:solidFill>
                <a:latin typeface="Consolas"/>
              </a:rPr>
              <a:t>);</a:t>
            </a:r>
          </a:p>
          <a:p>
            <a:pPr lvl="3"/>
            <a:r>
              <a:rPr lang="en-US" b="1" dirty="0">
                <a:solidFill>
                  <a:srgbClr val="7F0055"/>
                </a:solidFill>
                <a:latin typeface="Consolas"/>
              </a:rPr>
              <a:t>	break</a:t>
            </a:r>
            <a:r>
              <a:rPr lang="en-US" b="1" dirty="0">
                <a:solidFill>
                  <a:srgbClr val="000000"/>
                </a:solidFill>
                <a:latin typeface="Consolas"/>
              </a:rPr>
              <a:t>;</a:t>
            </a:r>
          </a:p>
          <a:p>
            <a:pPr lvl="3"/>
            <a:r>
              <a:rPr lang="en-US" b="1" dirty="0">
                <a:solidFill>
                  <a:srgbClr val="7F0055"/>
                </a:solidFill>
                <a:latin typeface="Consolas"/>
              </a:rPr>
              <a:t>case</a:t>
            </a:r>
            <a:r>
              <a:rPr lang="en-US" b="1" dirty="0">
                <a:solidFill>
                  <a:srgbClr val="000000"/>
                </a:solidFill>
                <a:latin typeface="Consolas"/>
              </a:rPr>
              <a:t> 20:</a:t>
            </a:r>
          </a:p>
          <a:p>
            <a:pPr lvl="4"/>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"20"</a:t>
            </a:r>
            <a:r>
              <a:rPr lang="en-US" b="1" i="1" dirty="0">
                <a:solidFill>
                  <a:srgbClr val="000000"/>
                </a:solidFill>
                <a:latin typeface="Consolas"/>
              </a:rPr>
              <a:t>);</a:t>
            </a:r>
          </a:p>
          <a:p>
            <a:pPr lvl="4"/>
            <a:r>
              <a:rPr lang="en-US" b="1" dirty="0">
                <a:solidFill>
                  <a:srgbClr val="7F0055"/>
                </a:solidFill>
                <a:latin typeface="Consolas"/>
              </a:rPr>
              <a:t>break</a:t>
            </a:r>
            <a:r>
              <a:rPr lang="en-US" b="1" dirty="0">
                <a:solidFill>
                  <a:srgbClr val="000000"/>
                </a:solidFill>
                <a:latin typeface="Consolas"/>
              </a:rPr>
              <a:t>;</a:t>
            </a:r>
          </a:p>
          <a:p>
            <a:pPr lvl="3"/>
            <a:r>
              <a:rPr lang="en-US" b="1" dirty="0">
                <a:solidFill>
                  <a:srgbClr val="7F0055"/>
                </a:solidFill>
                <a:latin typeface="Consolas"/>
              </a:rPr>
              <a:t>default</a:t>
            </a:r>
            <a:r>
              <a:rPr lang="en-US" b="1" dirty="0">
                <a:solidFill>
                  <a:srgbClr val="000000"/>
                </a:solidFill>
                <a:latin typeface="Consolas"/>
              </a:rPr>
              <a:t>:</a:t>
            </a:r>
          </a:p>
          <a:p>
            <a:pPr lvl="3"/>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"Not 10 or 20"</a:t>
            </a:r>
            <a:r>
              <a:rPr lang="en-US" b="1" i="1"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2929935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36D2-E407-590F-E037-FA2FD4698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F3E0-5A9F-2E16-D448-FB3219A3FA63}"/>
              </a:ext>
            </a:extLst>
          </p:cNvPr>
          <p:cNvSpPr>
            <a:spLocks noGrp="1"/>
          </p:cNvSpPr>
          <p:nvPr>
            <p:ph type="title"/>
          </p:nvPr>
        </p:nvSpPr>
        <p:spPr>
          <a:xfrm>
            <a:off x="0" y="1"/>
            <a:ext cx="12192000" cy="711200"/>
          </a:xfrm>
        </p:spPr>
        <p:txBody>
          <a:bodyPr/>
          <a:lstStyle/>
          <a:p>
            <a:r>
              <a:rPr lang="en-US" dirty="0"/>
              <a:t>Programs to perform (Conditional Statements)</a:t>
            </a:r>
          </a:p>
        </p:txBody>
      </p:sp>
      <p:sp>
        <p:nvSpPr>
          <p:cNvPr id="3" name="Content Placeholder 2">
            <a:extLst>
              <a:ext uri="{FF2B5EF4-FFF2-40B4-BE49-F238E27FC236}">
                <a16:creationId xmlns:a16="http://schemas.microsoft.com/office/drawing/2014/main" id="{51CB3468-5E4C-360C-C1C3-F5D9024BDFF2}"/>
              </a:ext>
            </a:extLst>
          </p:cNvPr>
          <p:cNvSpPr>
            <a:spLocks noGrp="1"/>
          </p:cNvSpPr>
          <p:nvPr>
            <p:ph idx="1"/>
          </p:nvPr>
        </p:nvSpPr>
        <p:spPr>
          <a:xfrm>
            <a:off x="131180" y="863444"/>
            <a:ext cx="11929641" cy="5590565"/>
          </a:xfrm>
        </p:spPr>
        <p:txBody>
          <a:bodyPr/>
          <a:lstStyle/>
          <a:p>
            <a:pPr lvl="0"/>
            <a:r>
              <a:rPr lang="en-US" dirty="0"/>
              <a:t>Write a Java program to get a number from the user and print whether it is positive or negative.</a:t>
            </a:r>
          </a:p>
          <a:p>
            <a:pPr lvl="0"/>
            <a:r>
              <a:rPr lang="en-US" dirty="0"/>
              <a:t>Write a program to find maximum no from given 3 no.</a:t>
            </a:r>
          </a:p>
          <a:p>
            <a:pPr lvl="0"/>
            <a:r>
              <a:rPr lang="en-US" dirty="0"/>
              <a:t>The marks obtained by a student in 5 different subjects are input through the keyboard. </a:t>
            </a:r>
          </a:p>
          <a:p>
            <a:pPr lvl="1"/>
            <a:r>
              <a:rPr lang="en-US" sz="2200" dirty="0"/>
              <a:t>The student gets a division as per the following rules:</a:t>
            </a:r>
          </a:p>
          <a:p>
            <a:pPr lvl="2"/>
            <a:r>
              <a:rPr lang="en-US" sz="2000" dirty="0"/>
              <a:t>Percentage above or equals to 60-first division</a:t>
            </a:r>
          </a:p>
          <a:p>
            <a:pPr lvl="2"/>
            <a:r>
              <a:rPr lang="en-US" sz="2000" dirty="0"/>
              <a:t>Percentage between 50 to 59-second division</a:t>
            </a:r>
          </a:p>
          <a:p>
            <a:pPr lvl="2"/>
            <a:r>
              <a:rPr lang="en-US" sz="2000" dirty="0"/>
              <a:t>Percentage between 40 and 49-Third division</a:t>
            </a:r>
          </a:p>
          <a:p>
            <a:pPr lvl="2"/>
            <a:r>
              <a:rPr lang="en-US" sz="2000" dirty="0"/>
              <a:t>Percentage less than 40-fail</a:t>
            </a:r>
          </a:p>
          <a:p>
            <a:pPr marL="914400" lvl="2" indent="0">
              <a:buNone/>
            </a:pPr>
            <a:r>
              <a:rPr lang="en-US" sz="2200" dirty="0"/>
              <a:t>Write a program to calculate the division obtained by the student.</a:t>
            </a:r>
          </a:p>
          <a:p>
            <a:pPr marL="360000" lvl="0" indent="-342900"/>
            <a:r>
              <a:rPr lang="en-US" dirty="0"/>
              <a:t>Write a Java program that takes a number from the user and displays the name of the weekday  accordingly (For example if user enter 1 program should return Monday) .</a:t>
            </a:r>
          </a:p>
          <a:p>
            <a:pPr marL="255588" indent="-342900"/>
            <a:endParaRPr lang="en-US" dirty="0"/>
          </a:p>
        </p:txBody>
      </p:sp>
    </p:spTree>
    <p:extLst>
      <p:ext uri="{BB962C8B-B14F-4D97-AF65-F5344CB8AC3E}">
        <p14:creationId xmlns:p14="http://schemas.microsoft.com/office/powerpoint/2010/main" val="292826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9074B-C8DE-A6BF-41CA-5470696A2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ED275-F2BF-5EDE-0D3F-C2ACA39D357F}"/>
              </a:ext>
            </a:extLst>
          </p:cNvPr>
          <p:cNvSpPr>
            <a:spLocks noGrp="1"/>
          </p:cNvSpPr>
          <p:nvPr>
            <p:ph type="title"/>
          </p:nvPr>
        </p:nvSpPr>
        <p:spPr>
          <a:xfrm>
            <a:off x="0" y="1"/>
            <a:ext cx="12192000" cy="711200"/>
          </a:xfrm>
        </p:spPr>
        <p:txBody>
          <a:bodyPr/>
          <a:lstStyle/>
          <a:p>
            <a:r>
              <a:rPr lang="en-IN" dirty="0"/>
              <a:t>Looping Statement</a:t>
            </a:r>
            <a:endParaRPr lang="en-US" dirty="0"/>
          </a:p>
        </p:txBody>
      </p:sp>
      <p:sp>
        <p:nvSpPr>
          <p:cNvPr id="3" name="Content Placeholder 2">
            <a:extLst>
              <a:ext uri="{FF2B5EF4-FFF2-40B4-BE49-F238E27FC236}">
                <a16:creationId xmlns:a16="http://schemas.microsoft.com/office/drawing/2014/main" id="{32B2BE56-1173-66F2-6282-918317D615EB}"/>
              </a:ext>
            </a:extLst>
          </p:cNvPr>
          <p:cNvSpPr>
            <a:spLocks noGrp="1"/>
          </p:cNvSpPr>
          <p:nvPr>
            <p:ph idx="1"/>
          </p:nvPr>
        </p:nvSpPr>
        <p:spPr>
          <a:xfrm>
            <a:off x="131180" y="863444"/>
            <a:ext cx="11929641" cy="5590565"/>
          </a:xfrm>
        </p:spPr>
        <p:txBody>
          <a:bodyPr/>
          <a:lstStyle/>
          <a:p>
            <a:r>
              <a:rPr lang="en-US" dirty="0"/>
              <a:t>Looping in programming languages is a feature which facilitates the execution of a set of instructions/functions repeatedly while some condition evaluates to true.</a:t>
            </a:r>
          </a:p>
          <a:p>
            <a:r>
              <a:rPr lang="en-US" dirty="0"/>
              <a:t>It is also known as repetitive control structures.</a:t>
            </a:r>
          </a:p>
          <a:p>
            <a:r>
              <a:rPr lang="en-US" dirty="0"/>
              <a:t>Java provides three ways for executing the loops. While all the ways provide similar basic functionality, they differ in their syntax and condition checking time.</a:t>
            </a:r>
          </a:p>
          <a:p>
            <a:pPr lvl="1"/>
            <a:r>
              <a:rPr lang="en-US" sz="2200" dirty="0"/>
              <a:t>While loop</a:t>
            </a:r>
          </a:p>
          <a:p>
            <a:pPr lvl="1"/>
            <a:r>
              <a:rPr lang="en-US" sz="2200" dirty="0"/>
              <a:t>Do-while loop</a:t>
            </a:r>
          </a:p>
          <a:p>
            <a:pPr lvl="1"/>
            <a:r>
              <a:rPr lang="en-US" sz="2200" dirty="0"/>
              <a:t>For</a:t>
            </a:r>
          </a:p>
          <a:p>
            <a:pPr lvl="1"/>
            <a:r>
              <a:rPr lang="en-US" sz="2200" dirty="0" err="1"/>
              <a:t>Foreach</a:t>
            </a:r>
            <a:r>
              <a:rPr lang="en-US" sz="2200" dirty="0"/>
              <a:t> (will cover this after array)</a:t>
            </a:r>
          </a:p>
        </p:txBody>
      </p:sp>
    </p:spTree>
    <p:extLst>
      <p:ext uri="{BB962C8B-B14F-4D97-AF65-F5344CB8AC3E}">
        <p14:creationId xmlns:p14="http://schemas.microsoft.com/office/powerpoint/2010/main" val="386743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2BD3F-096D-4BA7-CCA0-DC0DF0DAE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CEEA7-2E61-EE6F-6380-48CB4AF116C2}"/>
              </a:ext>
            </a:extLst>
          </p:cNvPr>
          <p:cNvSpPr>
            <a:spLocks noGrp="1"/>
          </p:cNvSpPr>
          <p:nvPr>
            <p:ph type="title"/>
          </p:nvPr>
        </p:nvSpPr>
        <p:spPr>
          <a:xfrm>
            <a:off x="0" y="1"/>
            <a:ext cx="12192000" cy="711200"/>
          </a:xfrm>
        </p:spPr>
        <p:txBody>
          <a:bodyPr/>
          <a:lstStyle/>
          <a:p>
            <a:r>
              <a:rPr lang="en-IN" dirty="0"/>
              <a:t>Looping Statement</a:t>
            </a:r>
            <a:endParaRPr lang="en-US" dirty="0"/>
          </a:p>
        </p:txBody>
      </p:sp>
      <p:sp>
        <p:nvSpPr>
          <p:cNvPr id="3" name="Content Placeholder 2">
            <a:extLst>
              <a:ext uri="{FF2B5EF4-FFF2-40B4-BE49-F238E27FC236}">
                <a16:creationId xmlns:a16="http://schemas.microsoft.com/office/drawing/2014/main" id="{CB4C21EB-B763-BC49-B10B-FDE08B437C73}"/>
              </a:ext>
            </a:extLst>
          </p:cNvPr>
          <p:cNvSpPr>
            <a:spLocks noGrp="1"/>
          </p:cNvSpPr>
          <p:nvPr>
            <p:ph idx="1"/>
          </p:nvPr>
        </p:nvSpPr>
        <p:spPr>
          <a:xfrm>
            <a:off x="131180" y="863444"/>
            <a:ext cx="11929641" cy="5590565"/>
          </a:xfrm>
        </p:spPr>
        <p:txBody>
          <a:bodyPr/>
          <a:lstStyle/>
          <a:p>
            <a:r>
              <a:rPr lang="en-US" dirty="0"/>
              <a:t>In for and while loop, test expression is evaluated first and the statement in the loop are executed if condition is true. These loops are entry-controlled or pre-test loop constructs.</a:t>
            </a:r>
          </a:p>
          <a:p>
            <a:r>
              <a:rPr lang="en-US" dirty="0"/>
              <a:t>If condition because in first occurrence then in this case body of the loop will never execute.</a:t>
            </a:r>
          </a:p>
          <a:p>
            <a:r>
              <a:rPr lang="en-US" dirty="0"/>
              <a:t>In do….while loop, it evaluates the test expression after executing the statements in a loop. It repeats the loop if the test condition is true. Thus, do…while loop is exit-controlled or post-test loop constructs.</a:t>
            </a:r>
          </a:p>
          <a:p>
            <a:r>
              <a:rPr lang="en-US" dirty="0"/>
              <a:t>Even if condition becomes false in first occurrence still body of the loop will executes at least once.</a:t>
            </a:r>
          </a:p>
        </p:txBody>
      </p:sp>
    </p:spTree>
    <p:extLst>
      <p:ext uri="{BB962C8B-B14F-4D97-AF65-F5344CB8AC3E}">
        <p14:creationId xmlns:p14="http://schemas.microsoft.com/office/powerpoint/2010/main" val="229699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AC1C0-2486-F6CE-28F8-FEE21C556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0B7E9-8A67-CB3B-D4E3-6B894838BD5E}"/>
              </a:ext>
            </a:extLst>
          </p:cNvPr>
          <p:cNvSpPr>
            <a:spLocks noGrp="1"/>
          </p:cNvSpPr>
          <p:nvPr>
            <p:ph type="title"/>
          </p:nvPr>
        </p:nvSpPr>
        <p:spPr>
          <a:xfrm>
            <a:off x="0" y="1"/>
            <a:ext cx="12192000" cy="711200"/>
          </a:xfrm>
        </p:spPr>
        <p:txBody>
          <a:bodyPr/>
          <a:lstStyle/>
          <a:p>
            <a:r>
              <a:rPr lang="en-IN" dirty="0"/>
              <a:t>While Loop</a:t>
            </a:r>
            <a:endParaRPr lang="en-US" dirty="0"/>
          </a:p>
        </p:txBody>
      </p:sp>
      <p:sp>
        <p:nvSpPr>
          <p:cNvPr id="3" name="Content Placeholder 2">
            <a:extLst>
              <a:ext uri="{FF2B5EF4-FFF2-40B4-BE49-F238E27FC236}">
                <a16:creationId xmlns:a16="http://schemas.microsoft.com/office/drawing/2014/main" id="{F174B01B-E3C7-5E0A-82EC-58AFFBD87BBA}"/>
              </a:ext>
            </a:extLst>
          </p:cNvPr>
          <p:cNvSpPr>
            <a:spLocks noGrp="1"/>
          </p:cNvSpPr>
          <p:nvPr>
            <p:ph idx="1"/>
          </p:nvPr>
        </p:nvSpPr>
        <p:spPr>
          <a:xfrm>
            <a:off x="131180" y="863444"/>
            <a:ext cx="11929641" cy="5590565"/>
          </a:xfrm>
        </p:spPr>
        <p:txBody>
          <a:bodyPr/>
          <a:lstStyle/>
          <a:p>
            <a:r>
              <a:rPr lang="en-US" dirty="0"/>
              <a:t>while loop is used to iterate a part of the program several times.  </a:t>
            </a:r>
          </a:p>
          <a:p>
            <a:r>
              <a:rPr lang="en-US" dirty="0"/>
              <a:t>while is entry control loop.</a:t>
            </a:r>
          </a:p>
          <a:p>
            <a:r>
              <a:rPr lang="en-US" dirty="0"/>
              <a:t>If the number of iteration is not fixed, it is recommended to use while loop.</a:t>
            </a:r>
          </a:p>
          <a:p>
            <a:endParaRPr lang="en-US" dirty="0"/>
          </a:p>
        </p:txBody>
      </p:sp>
      <p:sp>
        <p:nvSpPr>
          <p:cNvPr id="4" name="TextBox 3">
            <a:extLst>
              <a:ext uri="{FF2B5EF4-FFF2-40B4-BE49-F238E27FC236}">
                <a16:creationId xmlns:a16="http://schemas.microsoft.com/office/drawing/2014/main" id="{C8813012-90BD-866C-BC13-FD1562549E4F}"/>
              </a:ext>
            </a:extLst>
          </p:cNvPr>
          <p:cNvSpPr txBox="1"/>
          <p:nvPr/>
        </p:nvSpPr>
        <p:spPr>
          <a:xfrm>
            <a:off x="501535" y="2213150"/>
            <a:ext cx="7010400" cy="2862322"/>
          </a:xfrm>
          <a:prstGeom prst="rect">
            <a:avLst/>
          </a:prstGeom>
          <a:noFill/>
          <a:ln w="19050">
            <a:solidFill>
              <a:schemeClr val="accent1"/>
            </a:solidFill>
            <a:prstDash val="dash"/>
          </a:ln>
        </p:spPr>
        <p:txBody>
          <a:bodyPr wrap="square" rtlCol="0">
            <a:spAutoFit/>
          </a:bodyPr>
          <a:lstStyle/>
          <a:p>
            <a:r>
              <a:rPr lang="en-US" dirty="0">
                <a:solidFill>
                  <a:srgbClr val="3F7F5F"/>
                </a:solidFill>
                <a:latin typeface="Consolas"/>
              </a:rPr>
              <a:t>//code will print 1 to 9</a:t>
            </a:r>
          </a:p>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WhileLoopDemo</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number</a:t>
            </a:r>
            <a:r>
              <a:rPr lang="en-US" b="1" dirty="0">
                <a:solidFill>
                  <a:srgbClr val="000000"/>
                </a:solidFill>
                <a:latin typeface="Consolas"/>
              </a:rPr>
              <a:t> = 1;</a:t>
            </a:r>
          </a:p>
          <a:p>
            <a:pPr lvl="2"/>
            <a:r>
              <a:rPr lang="en-US" b="1" dirty="0">
                <a:solidFill>
                  <a:srgbClr val="7F0055"/>
                </a:solidFill>
                <a:latin typeface="Consolas"/>
              </a:rPr>
              <a:t>while</a:t>
            </a:r>
            <a:r>
              <a:rPr lang="en-US" b="1" dirty="0">
                <a:solidFill>
                  <a:srgbClr val="000000"/>
                </a:solidFill>
                <a:latin typeface="Consolas"/>
              </a:rPr>
              <a:t>(</a:t>
            </a:r>
            <a:r>
              <a:rPr lang="en-US" b="1" dirty="0">
                <a:solidFill>
                  <a:srgbClr val="6A3E3E"/>
                </a:solidFill>
                <a:latin typeface="Consolas"/>
              </a:rPr>
              <a:t>number</a:t>
            </a:r>
            <a:r>
              <a:rPr lang="en-US" b="1" dirty="0">
                <a:solidFill>
                  <a:srgbClr val="000000"/>
                </a:solidFill>
                <a:latin typeface="Consolas"/>
              </a:rPr>
              <a:t> &lt; 10) {</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number</a:t>
            </a:r>
            <a:r>
              <a:rPr lang="en-US" b="1" i="1" dirty="0">
                <a:solidFill>
                  <a:srgbClr val="000000"/>
                </a:solidFill>
                <a:latin typeface="Consolas"/>
              </a:rPr>
              <a:t>);</a:t>
            </a:r>
          </a:p>
          <a:p>
            <a:pPr lvl="3"/>
            <a:r>
              <a:rPr lang="en-US" dirty="0">
                <a:solidFill>
                  <a:srgbClr val="6A3E3E"/>
                </a:solidFill>
                <a:latin typeface="Consolas"/>
              </a:rPr>
              <a:t>number</a:t>
            </a:r>
            <a:r>
              <a:rPr lang="en-US"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947034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CDB13-86C9-9025-FBD8-DFC3987C8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6BA9D8-3612-B909-43AE-0D3DBCEE975F}"/>
              </a:ext>
            </a:extLst>
          </p:cNvPr>
          <p:cNvSpPr>
            <a:spLocks noGrp="1"/>
          </p:cNvSpPr>
          <p:nvPr>
            <p:ph type="title"/>
          </p:nvPr>
        </p:nvSpPr>
        <p:spPr>
          <a:xfrm>
            <a:off x="0" y="1"/>
            <a:ext cx="12192000" cy="711200"/>
          </a:xfrm>
        </p:spPr>
        <p:txBody>
          <a:bodyPr/>
          <a:lstStyle/>
          <a:p>
            <a:r>
              <a:rPr lang="en-IN" dirty="0"/>
              <a:t>Do-while Loop</a:t>
            </a:r>
            <a:endParaRPr lang="en-US" dirty="0"/>
          </a:p>
        </p:txBody>
      </p:sp>
      <p:sp>
        <p:nvSpPr>
          <p:cNvPr id="3" name="Content Placeholder 2">
            <a:extLst>
              <a:ext uri="{FF2B5EF4-FFF2-40B4-BE49-F238E27FC236}">
                <a16:creationId xmlns:a16="http://schemas.microsoft.com/office/drawing/2014/main" id="{67AC67AF-58AB-BAC5-5641-17CE2932CADB}"/>
              </a:ext>
            </a:extLst>
          </p:cNvPr>
          <p:cNvSpPr>
            <a:spLocks noGrp="1"/>
          </p:cNvSpPr>
          <p:nvPr>
            <p:ph idx="1"/>
          </p:nvPr>
        </p:nvSpPr>
        <p:spPr>
          <a:xfrm>
            <a:off x="131180" y="863444"/>
            <a:ext cx="11929641" cy="5590565"/>
          </a:xfrm>
        </p:spPr>
        <p:txBody>
          <a:bodyPr/>
          <a:lstStyle/>
          <a:p>
            <a:r>
              <a:rPr lang="en-US" dirty="0"/>
              <a:t>do-while loop is executed at least once because condition is checked after loop body.</a:t>
            </a:r>
          </a:p>
          <a:p>
            <a:endParaRPr lang="en-US" dirty="0"/>
          </a:p>
        </p:txBody>
      </p:sp>
      <p:sp>
        <p:nvSpPr>
          <p:cNvPr id="4" name="TextBox 3">
            <a:extLst>
              <a:ext uri="{FF2B5EF4-FFF2-40B4-BE49-F238E27FC236}">
                <a16:creationId xmlns:a16="http://schemas.microsoft.com/office/drawing/2014/main" id="{9DA5C2BA-2980-28FE-91DF-64602A55A014}"/>
              </a:ext>
            </a:extLst>
          </p:cNvPr>
          <p:cNvSpPr txBox="1"/>
          <p:nvPr/>
        </p:nvSpPr>
        <p:spPr>
          <a:xfrm>
            <a:off x="559723" y="1411806"/>
            <a:ext cx="7010400" cy="2862322"/>
          </a:xfrm>
          <a:prstGeom prst="rect">
            <a:avLst/>
          </a:prstGeom>
          <a:noFill/>
          <a:ln w="19050">
            <a:solidFill>
              <a:schemeClr val="accent1"/>
            </a:solidFill>
            <a:prstDash val="dash"/>
          </a:ln>
        </p:spPr>
        <p:txBody>
          <a:bodyPr wrap="square" rtlCol="0">
            <a:spAutoFit/>
          </a:bodyPr>
          <a:lstStyle/>
          <a:p>
            <a:r>
              <a:rPr lang="en-US" dirty="0">
                <a:solidFill>
                  <a:srgbClr val="3F7F5F"/>
                </a:solidFill>
                <a:latin typeface="Consolas"/>
              </a:rPr>
              <a:t>//code will print 1 to 9</a:t>
            </a:r>
          </a:p>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DoWhileLoopDemo</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number</a:t>
            </a:r>
            <a:r>
              <a:rPr lang="en-US" b="1" dirty="0">
                <a:solidFill>
                  <a:srgbClr val="000000"/>
                </a:solidFill>
                <a:latin typeface="Consolas"/>
              </a:rPr>
              <a:t> = 1;</a:t>
            </a:r>
          </a:p>
          <a:p>
            <a:pPr lvl="2"/>
            <a:r>
              <a:rPr lang="en-US" b="1" dirty="0">
                <a:solidFill>
                  <a:srgbClr val="7F0055"/>
                </a:solidFill>
                <a:latin typeface="Consolas"/>
              </a:rPr>
              <a:t>do</a:t>
            </a:r>
            <a:r>
              <a:rPr lang="en-US" b="1" dirty="0">
                <a:solidFill>
                  <a:srgbClr val="000000"/>
                </a:solidFill>
                <a:latin typeface="Consolas"/>
              </a:rPr>
              <a:t> {</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number</a:t>
            </a:r>
            <a:r>
              <a:rPr lang="en-US" b="1" i="1" dirty="0">
                <a:solidFill>
                  <a:srgbClr val="000000"/>
                </a:solidFill>
                <a:latin typeface="Consolas"/>
              </a:rPr>
              <a:t>);</a:t>
            </a:r>
          </a:p>
          <a:p>
            <a:pPr lvl="2"/>
            <a:r>
              <a:rPr lang="en-US" dirty="0">
                <a:solidFill>
                  <a:srgbClr val="6A3E3E"/>
                </a:solidFill>
                <a:latin typeface="Consolas"/>
              </a:rPr>
              <a:t>	number</a:t>
            </a:r>
            <a:r>
              <a:rPr lang="en-US" dirty="0">
                <a:solidFill>
                  <a:srgbClr val="000000"/>
                </a:solidFill>
                <a:latin typeface="Consolas"/>
              </a:rPr>
              <a:t>++;</a:t>
            </a:r>
          </a:p>
          <a:p>
            <a:pPr lvl="2"/>
            <a:r>
              <a:rPr lang="en-US" dirty="0">
                <a:solidFill>
                  <a:srgbClr val="000000"/>
                </a:solidFill>
                <a:latin typeface="Consolas"/>
              </a:rPr>
              <a:t>}</a:t>
            </a:r>
            <a:r>
              <a:rPr lang="en-US" b="1" dirty="0">
                <a:solidFill>
                  <a:srgbClr val="7F0055"/>
                </a:solidFill>
                <a:latin typeface="Consolas"/>
              </a:rPr>
              <a:t>while</a:t>
            </a:r>
            <a:r>
              <a:rPr lang="en-US" b="1" dirty="0">
                <a:solidFill>
                  <a:srgbClr val="000000"/>
                </a:solidFill>
                <a:latin typeface="Consolas"/>
              </a:rPr>
              <a:t>(</a:t>
            </a:r>
            <a:r>
              <a:rPr lang="en-US" b="1" dirty="0">
                <a:solidFill>
                  <a:srgbClr val="6A3E3E"/>
                </a:solidFill>
                <a:latin typeface="Consolas"/>
              </a:rPr>
              <a:t>number</a:t>
            </a:r>
            <a:r>
              <a:rPr lang="en-US" b="1" dirty="0">
                <a:solidFill>
                  <a:srgbClr val="000000"/>
                </a:solidFill>
                <a:latin typeface="Consolas"/>
              </a:rPr>
              <a:t> &lt; 10) ;</a:t>
            </a: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409393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5"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40277-D51B-57D2-1C9F-3D9B9073A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3C2AE-1E32-C650-F34D-8638BC6DF633}"/>
              </a:ext>
            </a:extLst>
          </p:cNvPr>
          <p:cNvSpPr>
            <a:spLocks noGrp="1"/>
          </p:cNvSpPr>
          <p:nvPr>
            <p:ph type="title"/>
          </p:nvPr>
        </p:nvSpPr>
        <p:spPr>
          <a:xfrm>
            <a:off x="0" y="1"/>
            <a:ext cx="12192000" cy="711200"/>
          </a:xfrm>
        </p:spPr>
        <p:txBody>
          <a:bodyPr/>
          <a:lstStyle/>
          <a:p>
            <a:r>
              <a:rPr lang="en-IN" dirty="0"/>
              <a:t>For Loop</a:t>
            </a:r>
            <a:endParaRPr lang="en-US" dirty="0"/>
          </a:p>
        </p:txBody>
      </p:sp>
      <p:sp>
        <p:nvSpPr>
          <p:cNvPr id="3" name="Content Placeholder 2">
            <a:extLst>
              <a:ext uri="{FF2B5EF4-FFF2-40B4-BE49-F238E27FC236}">
                <a16:creationId xmlns:a16="http://schemas.microsoft.com/office/drawing/2014/main" id="{5553F1D5-9547-0A5B-3847-898CDF5965A0}"/>
              </a:ext>
            </a:extLst>
          </p:cNvPr>
          <p:cNvSpPr>
            <a:spLocks noGrp="1"/>
          </p:cNvSpPr>
          <p:nvPr>
            <p:ph idx="1"/>
          </p:nvPr>
        </p:nvSpPr>
        <p:spPr>
          <a:xfrm>
            <a:off x="131180" y="863444"/>
            <a:ext cx="11929641" cy="5590565"/>
          </a:xfrm>
        </p:spPr>
        <p:txBody>
          <a:bodyPr/>
          <a:lstStyle/>
          <a:p>
            <a:r>
              <a:rPr lang="en-US" dirty="0"/>
              <a:t>for loop is used to iterate a part of the program several times. </a:t>
            </a:r>
          </a:p>
          <a:p>
            <a:r>
              <a:rPr lang="en-US" dirty="0"/>
              <a:t>If the number of iteration is fixed, it is recommended to use for loop.</a:t>
            </a:r>
          </a:p>
          <a:p>
            <a:endParaRPr lang="en-US" dirty="0"/>
          </a:p>
        </p:txBody>
      </p:sp>
      <p:sp>
        <p:nvSpPr>
          <p:cNvPr id="4" name="TextBox 3">
            <a:extLst>
              <a:ext uri="{FF2B5EF4-FFF2-40B4-BE49-F238E27FC236}">
                <a16:creationId xmlns:a16="http://schemas.microsoft.com/office/drawing/2014/main" id="{2CBAD4E6-FFC4-FAD9-943B-1EF1E5E1D430}"/>
              </a:ext>
            </a:extLst>
          </p:cNvPr>
          <p:cNvSpPr txBox="1"/>
          <p:nvPr/>
        </p:nvSpPr>
        <p:spPr>
          <a:xfrm>
            <a:off x="543098" y="1848224"/>
            <a:ext cx="7010400" cy="2862322"/>
          </a:xfrm>
          <a:prstGeom prst="rect">
            <a:avLst/>
          </a:prstGeom>
          <a:noFill/>
          <a:ln w="19050">
            <a:solidFill>
              <a:schemeClr val="accent1"/>
            </a:solidFill>
            <a:prstDash val="dash"/>
          </a:ln>
        </p:spPr>
        <p:txBody>
          <a:bodyPr wrap="square" rtlCol="0">
            <a:spAutoFit/>
          </a:bodyPr>
          <a:lstStyle/>
          <a:p>
            <a:r>
              <a:rPr lang="en-US" dirty="0">
                <a:solidFill>
                  <a:srgbClr val="3F7F5F"/>
                </a:solidFill>
                <a:latin typeface="Consolas"/>
              </a:rPr>
              <a:t>//code will print 1 to 9</a:t>
            </a:r>
          </a:p>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ForLoopDemo</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1"/>
            <a:r>
              <a:rPr lang="en-US" b="1" dirty="0">
                <a:solidFill>
                  <a:srgbClr val="000000"/>
                </a:solidFill>
                <a:latin typeface="Consolas"/>
              </a:rPr>
              <a:t>{</a:t>
            </a:r>
          </a:p>
          <a:p>
            <a:pPr lvl="2"/>
            <a:r>
              <a:rPr lang="en-US" b="1" dirty="0">
                <a:solidFill>
                  <a:srgbClr val="7F0055"/>
                </a:solidFill>
                <a:latin typeface="Consolas"/>
              </a:rPr>
              <a:t>for</a:t>
            </a:r>
            <a:r>
              <a:rPr lang="en-US" b="1" dirty="0">
                <a:solidFill>
                  <a:srgbClr val="000000"/>
                </a:solidFill>
                <a:latin typeface="Consolas"/>
              </a:rPr>
              <a:t>(</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number</a:t>
            </a:r>
            <a:r>
              <a:rPr lang="en-US" b="1" dirty="0">
                <a:solidFill>
                  <a:srgbClr val="000000"/>
                </a:solidFill>
                <a:latin typeface="Consolas"/>
              </a:rPr>
              <a:t>=1;</a:t>
            </a:r>
            <a:r>
              <a:rPr lang="en-US" b="1" dirty="0">
                <a:solidFill>
                  <a:srgbClr val="6A3E3E"/>
                </a:solidFill>
                <a:latin typeface="Consolas"/>
              </a:rPr>
              <a:t>number</a:t>
            </a:r>
            <a:r>
              <a:rPr lang="en-US" b="1" dirty="0">
                <a:solidFill>
                  <a:srgbClr val="000000"/>
                </a:solidFill>
                <a:latin typeface="Consolas"/>
              </a:rPr>
              <a:t>&lt;10;</a:t>
            </a:r>
            <a:r>
              <a:rPr lang="en-US" b="1" dirty="0">
                <a:solidFill>
                  <a:srgbClr val="6A3E3E"/>
                </a:solidFill>
                <a:latin typeface="Consolas"/>
              </a:rPr>
              <a:t>number</a:t>
            </a:r>
            <a:r>
              <a:rPr lang="en-US" b="1" dirty="0">
                <a:solidFill>
                  <a:srgbClr val="000000"/>
                </a:solidFill>
                <a:latin typeface="Consolas"/>
              </a:rPr>
              <a:t>++)</a:t>
            </a:r>
          </a:p>
          <a:p>
            <a:pPr lvl="2"/>
            <a:r>
              <a:rPr lang="en-US" dirty="0">
                <a:solidFill>
                  <a:srgbClr val="000000"/>
                </a:solidFill>
                <a:latin typeface="Consolas"/>
              </a:rPr>
              <a:t>{</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number</a:t>
            </a:r>
            <a:r>
              <a:rPr lang="en-US" b="1" i="1"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IN" dirty="0">
                <a:solidFill>
                  <a:srgbClr val="000000"/>
                </a:solidFill>
                <a:latin typeface="Consolas"/>
              </a:rPr>
              <a:t>}</a:t>
            </a:r>
            <a:endParaRPr lang="en-US" dirty="0">
              <a:solidFill>
                <a:srgbClr val="000000"/>
              </a:solidFill>
              <a:latin typeface="Consolas"/>
            </a:endParaRPr>
          </a:p>
        </p:txBody>
      </p:sp>
    </p:spTree>
    <p:extLst>
      <p:ext uri="{BB962C8B-B14F-4D97-AF65-F5344CB8AC3E}">
        <p14:creationId xmlns:p14="http://schemas.microsoft.com/office/powerpoint/2010/main" val="2600934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50308-C2FB-7AE0-5811-0952494B5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BBC0D-21CC-9DF8-708C-FBCF21ADBE2A}"/>
              </a:ext>
            </a:extLst>
          </p:cNvPr>
          <p:cNvSpPr>
            <a:spLocks noGrp="1"/>
          </p:cNvSpPr>
          <p:nvPr>
            <p:ph type="title"/>
          </p:nvPr>
        </p:nvSpPr>
        <p:spPr>
          <a:xfrm>
            <a:off x="0" y="1"/>
            <a:ext cx="12192000" cy="711200"/>
          </a:xfrm>
        </p:spPr>
        <p:txBody>
          <a:bodyPr/>
          <a:lstStyle/>
          <a:p>
            <a:r>
              <a:rPr lang="en-US" dirty="0"/>
              <a:t>Programs to perform (Looping Statements)</a:t>
            </a:r>
          </a:p>
        </p:txBody>
      </p:sp>
      <p:sp>
        <p:nvSpPr>
          <p:cNvPr id="3" name="Content Placeholder 2">
            <a:extLst>
              <a:ext uri="{FF2B5EF4-FFF2-40B4-BE49-F238E27FC236}">
                <a16:creationId xmlns:a16="http://schemas.microsoft.com/office/drawing/2014/main" id="{C346741B-F321-F8D9-EEB7-C7A7D35D3065}"/>
              </a:ext>
            </a:extLst>
          </p:cNvPr>
          <p:cNvSpPr>
            <a:spLocks noGrp="1"/>
          </p:cNvSpPr>
          <p:nvPr>
            <p:ph idx="1"/>
          </p:nvPr>
        </p:nvSpPr>
        <p:spPr>
          <a:xfrm>
            <a:off x="131180" y="863444"/>
            <a:ext cx="11929641" cy="5590565"/>
          </a:xfrm>
        </p:spPr>
        <p:txBody>
          <a:bodyPr/>
          <a:lstStyle/>
          <a:p>
            <a:r>
              <a:rPr lang="en-US" dirty="0"/>
              <a:t>Write a program to print first n odd numbers.</a:t>
            </a:r>
          </a:p>
          <a:p>
            <a:r>
              <a:rPr lang="en-US" dirty="0"/>
              <a:t>Write a program to check that the given number is prime or not.</a:t>
            </a:r>
          </a:p>
          <a:p>
            <a:r>
              <a:rPr lang="en-US" dirty="0"/>
              <a:t>Write a program to draw given patterns,</a:t>
            </a:r>
          </a:p>
          <a:p>
            <a:endParaRPr lang="en-US" dirty="0"/>
          </a:p>
          <a:p>
            <a:endParaRPr lang="en-US" dirty="0"/>
          </a:p>
          <a:p>
            <a:endParaRPr lang="en-US" dirty="0"/>
          </a:p>
          <a:p>
            <a:endParaRPr lang="en-US" dirty="0"/>
          </a:p>
          <a:p>
            <a:endParaRPr lang="en-US" dirty="0"/>
          </a:p>
          <a:p>
            <a:pPr marL="0" indent="0">
              <a:buNone/>
            </a:pPr>
            <a:endParaRPr lang="en-US" dirty="0"/>
          </a:p>
          <a:p>
            <a:pPr lvl="1"/>
            <a:endParaRPr lang="en-US" dirty="0"/>
          </a:p>
        </p:txBody>
      </p:sp>
      <p:pic>
        <p:nvPicPr>
          <p:cNvPr id="4" name="Picture 3">
            <a:extLst>
              <a:ext uri="{FF2B5EF4-FFF2-40B4-BE49-F238E27FC236}">
                <a16:creationId xmlns:a16="http://schemas.microsoft.com/office/drawing/2014/main" id="{64016D83-FFA6-FED2-EE27-413A8BBC06B2}"/>
              </a:ext>
            </a:extLst>
          </p:cNvPr>
          <p:cNvPicPr>
            <a:picLocks noChangeAspect="1"/>
          </p:cNvPicPr>
          <p:nvPr/>
        </p:nvPicPr>
        <p:blipFill>
          <a:blip r:embed="rId2"/>
          <a:stretch>
            <a:fillRect/>
          </a:stretch>
        </p:blipFill>
        <p:spPr>
          <a:xfrm>
            <a:off x="504913" y="2302842"/>
            <a:ext cx="1108388" cy="1175158"/>
          </a:xfrm>
          <a:prstGeom prst="rect">
            <a:avLst/>
          </a:prstGeom>
        </p:spPr>
      </p:pic>
      <p:pic>
        <p:nvPicPr>
          <p:cNvPr id="5" name="Picture 4">
            <a:extLst>
              <a:ext uri="{FF2B5EF4-FFF2-40B4-BE49-F238E27FC236}">
                <a16:creationId xmlns:a16="http://schemas.microsoft.com/office/drawing/2014/main" id="{09D6D41D-E87F-DA38-B393-547BA243D99D}"/>
              </a:ext>
            </a:extLst>
          </p:cNvPr>
          <p:cNvPicPr>
            <a:picLocks noChangeAspect="1"/>
          </p:cNvPicPr>
          <p:nvPr/>
        </p:nvPicPr>
        <p:blipFill>
          <a:blip r:embed="rId3"/>
          <a:stretch>
            <a:fillRect/>
          </a:stretch>
        </p:blipFill>
        <p:spPr>
          <a:xfrm>
            <a:off x="5350367" y="2209382"/>
            <a:ext cx="1276350" cy="1276350"/>
          </a:xfrm>
          <a:prstGeom prst="rect">
            <a:avLst/>
          </a:prstGeom>
        </p:spPr>
      </p:pic>
      <p:pic>
        <p:nvPicPr>
          <p:cNvPr id="6" name="Picture 5">
            <a:extLst>
              <a:ext uri="{FF2B5EF4-FFF2-40B4-BE49-F238E27FC236}">
                <a16:creationId xmlns:a16="http://schemas.microsoft.com/office/drawing/2014/main" id="{93A14B2D-43B0-0486-6D46-CCC55AA51A32}"/>
              </a:ext>
            </a:extLst>
          </p:cNvPr>
          <p:cNvPicPr>
            <a:picLocks noChangeAspect="1"/>
          </p:cNvPicPr>
          <p:nvPr/>
        </p:nvPicPr>
        <p:blipFill>
          <a:blip r:embed="rId4"/>
          <a:stretch>
            <a:fillRect/>
          </a:stretch>
        </p:blipFill>
        <p:spPr>
          <a:xfrm>
            <a:off x="1763619" y="2236167"/>
            <a:ext cx="1057275" cy="1343025"/>
          </a:xfrm>
          <a:prstGeom prst="rect">
            <a:avLst/>
          </a:prstGeom>
        </p:spPr>
      </p:pic>
      <p:pic>
        <p:nvPicPr>
          <p:cNvPr id="7" name="Picture 6">
            <a:extLst>
              <a:ext uri="{FF2B5EF4-FFF2-40B4-BE49-F238E27FC236}">
                <a16:creationId xmlns:a16="http://schemas.microsoft.com/office/drawing/2014/main" id="{E5215DFD-128B-2023-B508-37FAA4FF3866}"/>
              </a:ext>
            </a:extLst>
          </p:cNvPr>
          <p:cNvPicPr>
            <a:picLocks noChangeAspect="1"/>
          </p:cNvPicPr>
          <p:nvPr/>
        </p:nvPicPr>
        <p:blipFill>
          <a:blip r:embed="rId5"/>
          <a:stretch>
            <a:fillRect/>
          </a:stretch>
        </p:blipFill>
        <p:spPr>
          <a:xfrm>
            <a:off x="4268074" y="2228432"/>
            <a:ext cx="981075" cy="1257300"/>
          </a:xfrm>
          <a:prstGeom prst="rect">
            <a:avLst/>
          </a:prstGeom>
        </p:spPr>
      </p:pic>
      <p:pic>
        <p:nvPicPr>
          <p:cNvPr id="8" name="Picture 7">
            <a:extLst>
              <a:ext uri="{FF2B5EF4-FFF2-40B4-BE49-F238E27FC236}">
                <a16:creationId xmlns:a16="http://schemas.microsoft.com/office/drawing/2014/main" id="{0F30BDE9-93D9-7D34-2BF2-C41083094CCE}"/>
              </a:ext>
            </a:extLst>
          </p:cNvPr>
          <p:cNvPicPr>
            <a:picLocks noChangeAspect="1"/>
          </p:cNvPicPr>
          <p:nvPr/>
        </p:nvPicPr>
        <p:blipFill>
          <a:blip r:embed="rId6"/>
          <a:stretch>
            <a:fillRect/>
          </a:stretch>
        </p:blipFill>
        <p:spPr>
          <a:xfrm>
            <a:off x="6801844" y="2160447"/>
            <a:ext cx="1019175" cy="2190750"/>
          </a:xfrm>
          <a:prstGeom prst="rect">
            <a:avLst/>
          </a:prstGeom>
        </p:spPr>
      </p:pic>
      <p:pic>
        <p:nvPicPr>
          <p:cNvPr id="9" name="Picture 8">
            <a:extLst>
              <a:ext uri="{FF2B5EF4-FFF2-40B4-BE49-F238E27FC236}">
                <a16:creationId xmlns:a16="http://schemas.microsoft.com/office/drawing/2014/main" id="{A9821A1B-DC1C-8398-2F88-785C983767F3}"/>
              </a:ext>
            </a:extLst>
          </p:cNvPr>
          <p:cNvPicPr>
            <a:picLocks noChangeAspect="1"/>
          </p:cNvPicPr>
          <p:nvPr/>
        </p:nvPicPr>
        <p:blipFill>
          <a:blip r:embed="rId7"/>
          <a:stretch>
            <a:fillRect/>
          </a:stretch>
        </p:blipFill>
        <p:spPr>
          <a:xfrm>
            <a:off x="2971212" y="2345704"/>
            <a:ext cx="1104900" cy="1190625"/>
          </a:xfrm>
          <a:prstGeom prst="rect">
            <a:avLst/>
          </a:prstGeom>
        </p:spPr>
      </p:pic>
      <p:pic>
        <p:nvPicPr>
          <p:cNvPr id="10" name="Picture 9">
            <a:extLst>
              <a:ext uri="{FF2B5EF4-FFF2-40B4-BE49-F238E27FC236}">
                <a16:creationId xmlns:a16="http://schemas.microsoft.com/office/drawing/2014/main" id="{EB93B4AD-254B-BE7A-07F6-E5698D548683}"/>
              </a:ext>
            </a:extLst>
          </p:cNvPr>
          <p:cNvPicPr>
            <a:picLocks noChangeAspect="1"/>
          </p:cNvPicPr>
          <p:nvPr/>
        </p:nvPicPr>
        <p:blipFill>
          <a:blip r:embed="rId8"/>
          <a:stretch>
            <a:fillRect/>
          </a:stretch>
        </p:blipFill>
        <p:spPr>
          <a:xfrm>
            <a:off x="7922237" y="2302842"/>
            <a:ext cx="1247775" cy="2048355"/>
          </a:xfrm>
          <a:prstGeom prst="rect">
            <a:avLst/>
          </a:prstGeom>
        </p:spPr>
      </p:pic>
      <p:pic>
        <p:nvPicPr>
          <p:cNvPr id="11" name="Picture 10">
            <a:extLst>
              <a:ext uri="{FF2B5EF4-FFF2-40B4-BE49-F238E27FC236}">
                <a16:creationId xmlns:a16="http://schemas.microsoft.com/office/drawing/2014/main" id="{D536B062-1EDC-9485-EC02-44FCDF879A3D}"/>
              </a:ext>
            </a:extLst>
          </p:cNvPr>
          <p:cNvPicPr>
            <a:picLocks noChangeAspect="1"/>
          </p:cNvPicPr>
          <p:nvPr/>
        </p:nvPicPr>
        <p:blipFill>
          <a:blip r:embed="rId9"/>
          <a:stretch>
            <a:fillRect/>
          </a:stretch>
        </p:blipFill>
        <p:spPr>
          <a:xfrm>
            <a:off x="431053" y="4598203"/>
            <a:ext cx="1104900" cy="1285875"/>
          </a:xfrm>
          <a:prstGeom prst="rect">
            <a:avLst/>
          </a:prstGeom>
        </p:spPr>
      </p:pic>
      <p:pic>
        <p:nvPicPr>
          <p:cNvPr id="12" name="Picture 11">
            <a:extLst>
              <a:ext uri="{FF2B5EF4-FFF2-40B4-BE49-F238E27FC236}">
                <a16:creationId xmlns:a16="http://schemas.microsoft.com/office/drawing/2014/main" id="{CC0FA947-B1EF-ADA1-4828-9B62642CFDC2}"/>
              </a:ext>
            </a:extLst>
          </p:cNvPr>
          <p:cNvPicPr>
            <a:picLocks noChangeAspect="1"/>
          </p:cNvPicPr>
          <p:nvPr/>
        </p:nvPicPr>
        <p:blipFill>
          <a:blip r:embed="rId10"/>
          <a:stretch>
            <a:fillRect/>
          </a:stretch>
        </p:blipFill>
        <p:spPr>
          <a:xfrm>
            <a:off x="2072033" y="4272671"/>
            <a:ext cx="1343025" cy="1936938"/>
          </a:xfrm>
          <a:prstGeom prst="rect">
            <a:avLst/>
          </a:prstGeom>
        </p:spPr>
      </p:pic>
      <p:pic>
        <p:nvPicPr>
          <p:cNvPr id="13" name="Picture 12">
            <a:extLst>
              <a:ext uri="{FF2B5EF4-FFF2-40B4-BE49-F238E27FC236}">
                <a16:creationId xmlns:a16="http://schemas.microsoft.com/office/drawing/2014/main" id="{CED1DA3A-68FF-0BB1-3C91-C9FFC4C1FAFB}"/>
              </a:ext>
            </a:extLst>
          </p:cNvPr>
          <p:cNvPicPr>
            <a:picLocks noChangeAspect="1"/>
          </p:cNvPicPr>
          <p:nvPr/>
        </p:nvPicPr>
        <p:blipFill>
          <a:blip r:embed="rId11"/>
          <a:stretch>
            <a:fillRect/>
          </a:stretch>
        </p:blipFill>
        <p:spPr>
          <a:xfrm>
            <a:off x="9483842" y="2302842"/>
            <a:ext cx="1428750" cy="1276350"/>
          </a:xfrm>
          <a:prstGeom prst="rect">
            <a:avLst/>
          </a:prstGeom>
        </p:spPr>
      </p:pic>
    </p:spTree>
    <p:extLst>
      <p:ext uri="{BB962C8B-B14F-4D97-AF65-F5344CB8AC3E}">
        <p14:creationId xmlns:p14="http://schemas.microsoft.com/office/powerpoint/2010/main" val="85001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78E57-7E9B-F357-D0A7-7817173B5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69B66-B278-6E1B-8577-7E9E173D0928}"/>
              </a:ext>
            </a:extLst>
          </p:cNvPr>
          <p:cNvSpPr>
            <a:spLocks noGrp="1"/>
          </p:cNvSpPr>
          <p:nvPr>
            <p:ph type="title"/>
          </p:nvPr>
        </p:nvSpPr>
        <p:spPr>
          <a:xfrm>
            <a:off x="0" y="1"/>
            <a:ext cx="12192000" cy="711200"/>
          </a:xfrm>
        </p:spPr>
        <p:txBody>
          <a:bodyPr/>
          <a:lstStyle/>
          <a:p>
            <a:r>
              <a:rPr lang="en-IN" dirty="0"/>
              <a:t>Break statement</a:t>
            </a:r>
            <a:endParaRPr lang="en-US" dirty="0"/>
          </a:p>
        </p:txBody>
      </p:sp>
      <p:sp>
        <p:nvSpPr>
          <p:cNvPr id="3" name="Content Placeholder 2">
            <a:extLst>
              <a:ext uri="{FF2B5EF4-FFF2-40B4-BE49-F238E27FC236}">
                <a16:creationId xmlns:a16="http://schemas.microsoft.com/office/drawing/2014/main" id="{36DC32F2-4E04-3DCA-EA2D-10DD5780C1C4}"/>
              </a:ext>
            </a:extLst>
          </p:cNvPr>
          <p:cNvSpPr>
            <a:spLocks noGrp="1"/>
          </p:cNvSpPr>
          <p:nvPr>
            <p:ph idx="1"/>
          </p:nvPr>
        </p:nvSpPr>
        <p:spPr>
          <a:xfrm>
            <a:off x="131180" y="863444"/>
            <a:ext cx="11929641" cy="5590565"/>
          </a:xfrm>
        </p:spPr>
        <p:txBody>
          <a:bodyPr/>
          <a:lstStyle/>
          <a:p>
            <a:r>
              <a:rPr lang="en-US" dirty="0"/>
              <a:t>When a break statement is encountered inside a loop, the loop is immediately terminated and the program control resumes at the next statement following the loop.</a:t>
            </a:r>
          </a:p>
          <a:p>
            <a:endParaRPr lang="en-US" dirty="0"/>
          </a:p>
        </p:txBody>
      </p:sp>
      <p:sp>
        <p:nvSpPr>
          <p:cNvPr id="4" name="TextBox 3">
            <a:extLst>
              <a:ext uri="{FF2B5EF4-FFF2-40B4-BE49-F238E27FC236}">
                <a16:creationId xmlns:a16="http://schemas.microsoft.com/office/drawing/2014/main" id="{54CD0440-BAE1-17C9-D5DB-B824F29A069E}"/>
              </a:ext>
            </a:extLst>
          </p:cNvPr>
          <p:cNvSpPr txBox="1"/>
          <p:nvPr/>
        </p:nvSpPr>
        <p:spPr>
          <a:xfrm>
            <a:off x="534785" y="1673567"/>
            <a:ext cx="7010400" cy="3970318"/>
          </a:xfrm>
          <a:prstGeom prst="rect">
            <a:avLst/>
          </a:prstGeom>
          <a:noFill/>
          <a:ln w="19050">
            <a:solidFill>
              <a:schemeClr val="accent1"/>
            </a:solidFill>
            <a:prstDash val="dash"/>
          </a:ln>
        </p:spPr>
        <p:txBody>
          <a:bodyPr wrap="square" rtlCol="0">
            <a:spAutoFit/>
          </a:bodyPr>
          <a:lstStyle/>
          <a:p>
            <a:r>
              <a:rPr lang="en-US" dirty="0">
                <a:solidFill>
                  <a:srgbClr val="3F7F5F"/>
                </a:solidFill>
                <a:latin typeface="Consolas"/>
              </a:rPr>
              <a:t>//code will print 1 to 4 followed by “After Loop”</a:t>
            </a:r>
          </a:p>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BreakDemo</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1"/>
            <a:r>
              <a:rPr lang="en-US" b="1" dirty="0">
                <a:solidFill>
                  <a:srgbClr val="000000"/>
                </a:solidFill>
                <a:latin typeface="Consolas"/>
              </a:rPr>
              <a:t>{</a:t>
            </a:r>
          </a:p>
          <a:p>
            <a:pPr lvl="2"/>
            <a:r>
              <a:rPr lang="en-US" b="1" dirty="0">
                <a:solidFill>
                  <a:srgbClr val="7F0055"/>
                </a:solidFill>
                <a:latin typeface="Consolas"/>
              </a:rPr>
              <a:t>for</a:t>
            </a:r>
            <a:r>
              <a:rPr lang="en-US" b="1" dirty="0">
                <a:solidFill>
                  <a:srgbClr val="000000"/>
                </a:solidFill>
                <a:latin typeface="Consolas"/>
              </a:rPr>
              <a:t>(</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number</a:t>
            </a:r>
            <a:r>
              <a:rPr lang="en-US" b="1" dirty="0">
                <a:solidFill>
                  <a:srgbClr val="000000"/>
                </a:solidFill>
                <a:latin typeface="Consolas"/>
              </a:rPr>
              <a:t>=1;</a:t>
            </a:r>
            <a:r>
              <a:rPr lang="en-US" b="1" dirty="0">
                <a:solidFill>
                  <a:srgbClr val="6A3E3E"/>
                </a:solidFill>
                <a:latin typeface="Consolas"/>
              </a:rPr>
              <a:t>number</a:t>
            </a:r>
            <a:r>
              <a:rPr lang="en-US" b="1" dirty="0">
                <a:solidFill>
                  <a:srgbClr val="000000"/>
                </a:solidFill>
                <a:latin typeface="Consolas"/>
              </a:rPr>
              <a:t>&lt;10;</a:t>
            </a:r>
            <a:r>
              <a:rPr lang="en-US" b="1" dirty="0">
                <a:solidFill>
                  <a:srgbClr val="6A3E3E"/>
                </a:solidFill>
                <a:latin typeface="Consolas"/>
              </a:rPr>
              <a:t>number</a:t>
            </a:r>
            <a:r>
              <a:rPr lang="en-US" b="1" dirty="0">
                <a:solidFill>
                  <a:srgbClr val="000000"/>
                </a:solidFill>
                <a:latin typeface="Consolas"/>
              </a:rPr>
              <a:t>++)</a:t>
            </a:r>
          </a:p>
          <a:p>
            <a:pPr lvl="2"/>
            <a:r>
              <a:rPr lang="en-US" dirty="0">
                <a:solidFill>
                  <a:srgbClr val="000000"/>
                </a:solidFill>
                <a:latin typeface="Consolas"/>
              </a:rPr>
              <a:t>{</a:t>
            </a:r>
          </a:p>
          <a:p>
            <a:pPr lvl="3"/>
            <a:r>
              <a:rPr lang="en-US" b="1" dirty="0">
                <a:solidFill>
                  <a:srgbClr val="7F0055"/>
                </a:solidFill>
                <a:latin typeface="Consolas"/>
              </a:rPr>
              <a:t>if</a:t>
            </a:r>
            <a:r>
              <a:rPr lang="en-US" b="1" dirty="0">
                <a:solidFill>
                  <a:srgbClr val="000000"/>
                </a:solidFill>
                <a:latin typeface="Consolas"/>
              </a:rPr>
              <a:t>(</a:t>
            </a:r>
            <a:r>
              <a:rPr lang="en-US" b="1" dirty="0">
                <a:solidFill>
                  <a:srgbClr val="6A3E3E"/>
                </a:solidFill>
                <a:latin typeface="Consolas"/>
              </a:rPr>
              <a:t>number</a:t>
            </a:r>
            <a:r>
              <a:rPr lang="en-US" b="1" dirty="0">
                <a:solidFill>
                  <a:srgbClr val="000000"/>
                </a:solidFill>
                <a:latin typeface="Consolas"/>
              </a:rPr>
              <a:t>==5) {</a:t>
            </a:r>
          </a:p>
          <a:p>
            <a:pPr lvl="4"/>
            <a:r>
              <a:rPr lang="en-US" b="1" dirty="0">
                <a:solidFill>
                  <a:srgbClr val="7F0055"/>
                </a:solidFill>
                <a:latin typeface="Consolas"/>
              </a:rPr>
              <a:t>break</a:t>
            </a:r>
            <a:r>
              <a:rPr lang="en-US" b="1" dirty="0">
                <a:solidFill>
                  <a:srgbClr val="000000"/>
                </a:solidFill>
                <a:latin typeface="Consolas"/>
              </a:rPr>
              <a:t>;</a:t>
            </a:r>
          </a:p>
          <a:p>
            <a:pPr lvl="3"/>
            <a:r>
              <a:rPr lang="en-US" dirty="0">
                <a:solidFill>
                  <a:srgbClr val="000000"/>
                </a:solidFill>
                <a:latin typeface="Consolas"/>
              </a:rPr>
              <a:t>}</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number</a:t>
            </a:r>
            <a:r>
              <a:rPr lang="en-US" b="1" i="1" dirty="0">
                <a:solidFill>
                  <a:srgbClr val="000000"/>
                </a:solidFill>
                <a:latin typeface="Consolas"/>
              </a:rPr>
              <a:t>);</a:t>
            </a:r>
            <a:endParaRPr lang="en-US" dirty="0">
              <a:latin typeface="Consolas"/>
            </a:endParaRPr>
          </a:p>
          <a:p>
            <a:pPr lvl="2"/>
            <a:r>
              <a:rPr lang="en-US"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“After Loop”</a:t>
            </a:r>
            <a:r>
              <a:rPr lang="en-US" b="1" i="1" dirty="0">
                <a:solidFill>
                  <a:srgbClr val="000000"/>
                </a:solidFill>
                <a:latin typeface="Consolas"/>
              </a:rPr>
              <a:t>);</a:t>
            </a:r>
            <a:endParaRPr lang="en-US" dirty="0">
              <a:solidFill>
                <a:srgbClr val="000000"/>
              </a:solidFill>
              <a:latin typeface="Consolas"/>
            </a:endParaRP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266774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7ECE-4D75-8D2E-CC95-4C8885907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8F321-48B4-51B1-04FA-11722B2D7A86}"/>
              </a:ext>
            </a:extLst>
          </p:cNvPr>
          <p:cNvSpPr>
            <a:spLocks noGrp="1"/>
          </p:cNvSpPr>
          <p:nvPr>
            <p:ph type="title"/>
          </p:nvPr>
        </p:nvSpPr>
        <p:spPr>
          <a:xfrm>
            <a:off x="0" y="1"/>
            <a:ext cx="12192000" cy="711200"/>
          </a:xfrm>
        </p:spPr>
        <p:txBody>
          <a:bodyPr/>
          <a:lstStyle/>
          <a:p>
            <a:r>
              <a:rPr lang="en-IN" dirty="0"/>
              <a:t>Continue statement</a:t>
            </a:r>
            <a:endParaRPr lang="en-US" dirty="0"/>
          </a:p>
        </p:txBody>
      </p:sp>
      <p:sp>
        <p:nvSpPr>
          <p:cNvPr id="3" name="Content Placeholder 2">
            <a:extLst>
              <a:ext uri="{FF2B5EF4-FFF2-40B4-BE49-F238E27FC236}">
                <a16:creationId xmlns:a16="http://schemas.microsoft.com/office/drawing/2014/main" id="{1B700C3D-9B03-D3E2-F05E-51EB84B6DE86}"/>
              </a:ext>
            </a:extLst>
          </p:cNvPr>
          <p:cNvSpPr>
            <a:spLocks noGrp="1"/>
          </p:cNvSpPr>
          <p:nvPr>
            <p:ph idx="1"/>
          </p:nvPr>
        </p:nvSpPr>
        <p:spPr>
          <a:xfrm>
            <a:off x="131180" y="863444"/>
            <a:ext cx="11929641" cy="5590565"/>
          </a:xfrm>
        </p:spPr>
        <p:txBody>
          <a:bodyPr/>
          <a:lstStyle/>
          <a:p>
            <a:r>
              <a:rPr lang="en-US" dirty="0"/>
              <a:t>The continue statement is used in loop control structure when you need to immediately jump to the next iteration of the loop. It can be used with for loop or while loop.</a:t>
            </a:r>
          </a:p>
          <a:p>
            <a:endParaRPr lang="en-US" dirty="0"/>
          </a:p>
        </p:txBody>
      </p:sp>
      <p:sp>
        <p:nvSpPr>
          <p:cNvPr id="4" name="TextBox 3">
            <a:extLst>
              <a:ext uri="{FF2B5EF4-FFF2-40B4-BE49-F238E27FC236}">
                <a16:creationId xmlns:a16="http://schemas.microsoft.com/office/drawing/2014/main" id="{1BA2EA10-A8C1-DA30-EEDA-512936BAF4A8}"/>
              </a:ext>
            </a:extLst>
          </p:cNvPr>
          <p:cNvSpPr txBox="1"/>
          <p:nvPr/>
        </p:nvSpPr>
        <p:spPr>
          <a:xfrm>
            <a:off x="514696" y="2009483"/>
            <a:ext cx="7848600" cy="3970318"/>
          </a:xfrm>
          <a:prstGeom prst="rect">
            <a:avLst/>
          </a:prstGeom>
          <a:noFill/>
          <a:ln w="19050">
            <a:solidFill>
              <a:schemeClr val="accent1"/>
            </a:solidFill>
            <a:prstDash val="dash"/>
          </a:ln>
        </p:spPr>
        <p:txBody>
          <a:bodyPr wrap="square" rtlCol="0">
            <a:spAutoFit/>
          </a:bodyPr>
          <a:lstStyle/>
          <a:p>
            <a:r>
              <a:rPr lang="en-US" dirty="0">
                <a:solidFill>
                  <a:srgbClr val="3F7F5F"/>
                </a:solidFill>
                <a:latin typeface="Consolas"/>
              </a:rPr>
              <a:t>//code will print 1 to 9 </a:t>
            </a:r>
            <a:r>
              <a:rPr lang="en-US" b="1" dirty="0">
                <a:solidFill>
                  <a:srgbClr val="3F7F5F"/>
                </a:solidFill>
                <a:latin typeface="Consolas"/>
              </a:rPr>
              <a:t>but not 5, </a:t>
            </a:r>
            <a:r>
              <a:rPr lang="en-US" dirty="0">
                <a:solidFill>
                  <a:srgbClr val="3F7F5F"/>
                </a:solidFill>
                <a:latin typeface="Consolas"/>
              </a:rPr>
              <a:t>followed by “After Loop”</a:t>
            </a:r>
            <a:endParaRPr lang="en-US" b="1" dirty="0">
              <a:solidFill>
                <a:srgbClr val="3F7F5F"/>
              </a:solidFill>
              <a:latin typeface="Consolas"/>
            </a:endParaRPr>
          </a:p>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ContinueDemo</a:t>
            </a:r>
            <a:r>
              <a:rPr lang="en-US" b="1" dirty="0">
                <a:solidFill>
                  <a:srgbClr val="000000"/>
                </a:solidFill>
                <a:latin typeface="Consolas"/>
              </a:rPr>
              <a:t> {</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1"/>
            <a:r>
              <a:rPr lang="en-US" b="1" dirty="0">
                <a:solidFill>
                  <a:srgbClr val="000000"/>
                </a:solidFill>
                <a:latin typeface="Consolas"/>
              </a:rPr>
              <a:t>{</a:t>
            </a:r>
          </a:p>
          <a:p>
            <a:pPr lvl="2"/>
            <a:r>
              <a:rPr lang="en-US" b="1" dirty="0">
                <a:solidFill>
                  <a:srgbClr val="7F0055"/>
                </a:solidFill>
                <a:latin typeface="Consolas"/>
              </a:rPr>
              <a:t>for</a:t>
            </a:r>
            <a:r>
              <a:rPr lang="en-US" b="1" dirty="0">
                <a:solidFill>
                  <a:srgbClr val="000000"/>
                </a:solidFill>
                <a:latin typeface="Consolas"/>
              </a:rPr>
              <a:t>(</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number</a:t>
            </a:r>
            <a:r>
              <a:rPr lang="en-US" b="1" dirty="0">
                <a:solidFill>
                  <a:srgbClr val="000000"/>
                </a:solidFill>
                <a:latin typeface="Consolas"/>
              </a:rPr>
              <a:t>=1;</a:t>
            </a:r>
            <a:r>
              <a:rPr lang="en-US" b="1" dirty="0">
                <a:solidFill>
                  <a:srgbClr val="6A3E3E"/>
                </a:solidFill>
                <a:latin typeface="Consolas"/>
              </a:rPr>
              <a:t>number</a:t>
            </a:r>
            <a:r>
              <a:rPr lang="en-US" b="1" dirty="0">
                <a:solidFill>
                  <a:srgbClr val="000000"/>
                </a:solidFill>
                <a:latin typeface="Consolas"/>
              </a:rPr>
              <a:t>&lt;10;</a:t>
            </a:r>
            <a:r>
              <a:rPr lang="en-US" b="1" dirty="0">
                <a:solidFill>
                  <a:srgbClr val="6A3E3E"/>
                </a:solidFill>
                <a:latin typeface="Consolas"/>
              </a:rPr>
              <a:t>number</a:t>
            </a:r>
            <a:r>
              <a:rPr lang="en-US" b="1" dirty="0">
                <a:solidFill>
                  <a:srgbClr val="000000"/>
                </a:solidFill>
                <a:latin typeface="Consolas"/>
              </a:rPr>
              <a:t>++)</a:t>
            </a:r>
          </a:p>
          <a:p>
            <a:pPr lvl="2"/>
            <a:r>
              <a:rPr lang="en-US" dirty="0">
                <a:solidFill>
                  <a:srgbClr val="000000"/>
                </a:solidFill>
                <a:latin typeface="Consolas"/>
              </a:rPr>
              <a:t>{</a:t>
            </a:r>
          </a:p>
          <a:p>
            <a:pPr lvl="3"/>
            <a:r>
              <a:rPr lang="en-US" b="1" dirty="0">
                <a:solidFill>
                  <a:srgbClr val="7F0055"/>
                </a:solidFill>
                <a:latin typeface="Consolas"/>
              </a:rPr>
              <a:t>if</a:t>
            </a:r>
            <a:r>
              <a:rPr lang="en-US" b="1" dirty="0">
                <a:solidFill>
                  <a:srgbClr val="000000"/>
                </a:solidFill>
                <a:latin typeface="Consolas"/>
              </a:rPr>
              <a:t>(</a:t>
            </a:r>
            <a:r>
              <a:rPr lang="en-US" b="1" dirty="0">
                <a:solidFill>
                  <a:srgbClr val="6A3E3E"/>
                </a:solidFill>
                <a:latin typeface="Consolas"/>
              </a:rPr>
              <a:t>number</a:t>
            </a:r>
            <a:r>
              <a:rPr lang="en-US" b="1" dirty="0">
                <a:solidFill>
                  <a:srgbClr val="000000"/>
                </a:solidFill>
                <a:latin typeface="Consolas"/>
              </a:rPr>
              <a:t>==5) {</a:t>
            </a:r>
          </a:p>
          <a:p>
            <a:pPr lvl="4"/>
            <a:r>
              <a:rPr lang="en-US" b="1" dirty="0">
                <a:solidFill>
                  <a:srgbClr val="7F0055"/>
                </a:solidFill>
                <a:latin typeface="Consolas"/>
              </a:rPr>
              <a:t>continue</a:t>
            </a:r>
            <a:r>
              <a:rPr lang="en-US" b="1" dirty="0">
                <a:solidFill>
                  <a:srgbClr val="000000"/>
                </a:solidFill>
                <a:latin typeface="Consolas"/>
              </a:rPr>
              <a:t>;</a:t>
            </a:r>
          </a:p>
          <a:p>
            <a:pPr lvl="3"/>
            <a:r>
              <a:rPr lang="en-US" dirty="0">
                <a:solidFill>
                  <a:srgbClr val="000000"/>
                </a:solidFill>
                <a:latin typeface="Consolas"/>
              </a:rPr>
              <a:t>}</a:t>
            </a:r>
          </a:p>
          <a:p>
            <a:pPr lvl="3"/>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number</a:t>
            </a:r>
            <a:r>
              <a:rPr lang="en-US" b="1" i="1" dirty="0">
                <a:solidFill>
                  <a:srgbClr val="000000"/>
                </a:solidFill>
                <a:latin typeface="Consolas"/>
              </a:rPr>
              <a:t>);</a:t>
            </a:r>
            <a:endParaRPr lang="en-US" dirty="0">
              <a:latin typeface="Consolas"/>
            </a:endParaRPr>
          </a:p>
          <a:p>
            <a:pPr lvl="2"/>
            <a:r>
              <a:rPr lang="en-US" dirty="0">
                <a:solidFill>
                  <a:srgbClr val="000000"/>
                </a:solidFill>
                <a:latin typeface="Consolas"/>
              </a:rPr>
              <a:t>}</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6A3E3E"/>
                </a:solidFill>
                <a:latin typeface="Consolas"/>
              </a:rPr>
              <a:t>“After Loop”</a:t>
            </a:r>
            <a:r>
              <a:rPr lang="en-US" b="1" i="1" dirty="0">
                <a:solidFill>
                  <a:srgbClr val="000000"/>
                </a:solidFill>
                <a:latin typeface="Consolas"/>
              </a:rPr>
              <a:t>);</a:t>
            </a:r>
            <a:endParaRPr lang="en-US" dirty="0">
              <a:solidFill>
                <a:srgbClr val="000000"/>
              </a:solidFill>
              <a:latin typeface="Consolas"/>
            </a:endParaRPr>
          </a:p>
          <a:p>
            <a:pPr lvl="1"/>
            <a:r>
              <a:rPr lang="en-US" dirty="0">
                <a:solidFill>
                  <a:srgbClr val="000000"/>
                </a:solidFill>
                <a:latin typeface="Consolas"/>
              </a:rPr>
              <a:t>}</a:t>
            </a:r>
          </a:p>
          <a:p>
            <a:r>
              <a:rPr lang="en-US" dirty="0">
                <a:solidFill>
                  <a:srgbClr val="000000"/>
                </a:solidFill>
                <a:latin typeface="Consolas"/>
              </a:rPr>
              <a:t>}</a:t>
            </a:r>
          </a:p>
        </p:txBody>
      </p:sp>
    </p:spTree>
    <p:extLst>
      <p:ext uri="{BB962C8B-B14F-4D97-AF65-F5344CB8AC3E}">
        <p14:creationId xmlns:p14="http://schemas.microsoft.com/office/powerpoint/2010/main" val="243202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bg/>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bldLvl="5"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04779-E891-EF9E-162B-CC3995152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CFAADE-4590-F8FD-F484-AD231FF25917}"/>
              </a:ext>
            </a:extLst>
          </p:cNvPr>
          <p:cNvSpPr>
            <a:spLocks noGrp="1"/>
          </p:cNvSpPr>
          <p:nvPr>
            <p:ph type="title"/>
          </p:nvPr>
        </p:nvSpPr>
        <p:spPr>
          <a:xfrm>
            <a:off x="0" y="1"/>
            <a:ext cx="12192000" cy="711200"/>
          </a:xfrm>
        </p:spPr>
        <p:txBody>
          <a:bodyPr/>
          <a:lstStyle/>
          <a:p>
            <a:r>
              <a:rPr lang="en-US" dirty="0"/>
              <a:t>Array</a:t>
            </a:r>
          </a:p>
        </p:txBody>
      </p:sp>
      <p:sp>
        <p:nvSpPr>
          <p:cNvPr id="3" name="Content Placeholder 2">
            <a:extLst>
              <a:ext uri="{FF2B5EF4-FFF2-40B4-BE49-F238E27FC236}">
                <a16:creationId xmlns:a16="http://schemas.microsoft.com/office/drawing/2014/main" id="{2E3F284E-BE95-4176-7003-A9B46A4ABB5D}"/>
              </a:ext>
            </a:extLst>
          </p:cNvPr>
          <p:cNvSpPr>
            <a:spLocks noGrp="1"/>
          </p:cNvSpPr>
          <p:nvPr>
            <p:ph idx="1"/>
          </p:nvPr>
        </p:nvSpPr>
        <p:spPr>
          <a:xfrm>
            <a:off x="131180" y="863444"/>
            <a:ext cx="11886649" cy="4921536"/>
          </a:xfrm>
        </p:spPr>
        <p:txBody>
          <a:bodyPr/>
          <a:lstStyle/>
          <a:p>
            <a:r>
              <a:rPr lang="en-US" dirty="0"/>
              <a:t>An </a:t>
            </a:r>
            <a:r>
              <a:rPr lang="en-US" dirty="0">
                <a:solidFill>
                  <a:srgbClr val="B71B1C"/>
                </a:solidFill>
              </a:rPr>
              <a:t>array</a:t>
            </a:r>
            <a:r>
              <a:rPr lang="en-US" dirty="0"/>
              <a:t> is a collection of </a:t>
            </a:r>
            <a:r>
              <a:rPr lang="en-US" dirty="0">
                <a:solidFill>
                  <a:srgbClr val="B71B1C"/>
                </a:solidFill>
              </a:rPr>
              <a:t>homogeneous type</a:t>
            </a:r>
            <a:r>
              <a:rPr lang="en-US" dirty="0"/>
              <a:t> (</a:t>
            </a:r>
            <a:r>
              <a:rPr lang="en-US" dirty="0">
                <a:solidFill>
                  <a:srgbClr val="B71B1C"/>
                </a:solidFill>
              </a:rPr>
              <a:t>similar type) </a:t>
            </a:r>
            <a:r>
              <a:rPr lang="en-US" dirty="0"/>
              <a:t>of elements that have contiguous memory location and shares a </a:t>
            </a:r>
            <a:r>
              <a:rPr lang="en-US" dirty="0">
                <a:solidFill>
                  <a:srgbClr val="B71B1C"/>
                </a:solidFill>
              </a:rPr>
              <a:t>common name</a:t>
            </a:r>
            <a:r>
              <a:rPr lang="en-US" dirty="0"/>
              <a:t>.</a:t>
            </a:r>
          </a:p>
          <a:p>
            <a:r>
              <a:rPr lang="en-IN" dirty="0"/>
              <a:t>Syntax :	</a:t>
            </a:r>
            <a:r>
              <a:rPr lang="en-IN" dirty="0" err="1">
                <a:latin typeface="Cambria" pitchFamily="18" charset="0"/>
                <a:ea typeface="Cambria" pitchFamily="18" charset="0"/>
                <a:cs typeface="Courier New" pitchFamily="49" charset="0"/>
              </a:rPr>
              <a:t>data_type</a:t>
            </a:r>
            <a:r>
              <a:rPr lang="en-IN" dirty="0">
                <a:latin typeface="Cambria" pitchFamily="18" charset="0"/>
                <a:ea typeface="Cambria" pitchFamily="18" charset="0"/>
                <a:cs typeface="Courier New" pitchFamily="49" charset="0"/>
              </a:rPr>
              <a:t> </a:t>
            </a:r>
            <a:r>
              <a:rPr lang="en-IN" dirty="0" err="1">
                <a:latin typeface="Cambria" pitchFamily="18" charset="0"/>
                <a:ea typeface="Cambria" pitchFamily="18" charset="0"/>
                <a:cs typeface="Courier New" pitchFamily="49" charset="0"/>
              </a:rPr>
              <a:t>variable_name</a:t>
            </a:r>
            <a:r>
              <a:rPr lang="en-IN" dirty="0">
                <a:latin typeface="Cambria" pitchFamily="18" charset="0"/>
                <a:ea typeface="Cambria" pitchFamily="18" charset="0"/>
                <a:cs typeface="Courier New" pitchFamily="49" charset="0"/>
              </a:rPr>
              <a:t>[] = new type[</a:t>
            </a:r>
            <a:r>
              <a:rPr lang="en-IN" dirty="0" err="1">
                <a:latin typeface="Cambria" pitchFamily="18" charset="0"/>
                <a:ea typeface="Cambria" pitchFamily="18" charset="0"/>
                <a:cs typeface="Courier New" pitchFamily="49" charset="0"/>
              </a:rPr>
              <a:t>size_of_array</a:t>
            </a:r>
            <a:r>
              <a:rPr lang="en-IN" dirty="0">
                <a:latin typeface="Cambria" pitchFamily="18" charset="0"/>
                <a:ea typeface="Cambria" pitchFamily="18" charset="0"/>
                <a:cs typeface="Courier New" pitchFamily="49" charset="0"/>
              </a:rPr>
              <a:t>];</a:t>
            </a:r>
          </a:p>
          <a:p>
            <a:pPr>
              <a:buNone/>
            </a:pPr>
            <a:r>
              <a:rPr lang="en-IN" dirty="0"/>
              <a:t>	Example :	</a:t>
            </a:r>
            <a:r>
              <a:rPr lang="en-IN" dirty="0" err="1">
                <a:latin typeface="Cambria" pitchFamily="18" charset="0"/>
                <a:ea typeface="Cambria" pitchFamily="18" charset="0"/>
              </a:rPr>
              <a:t>int</a:t>
            </a:r>
            <a:r>
              <a:rPr lang="en-IN" dirty="0">
                <a:latin typeface="Cambria" pitchFamily="18" charset="0"/>
                <a:ea typeface="Cambria" pitchFamily="18" charset="0"/>
              </a:rPr>
              <a:t> a[] = new </a:t>
            </a:r>
            <a:r>
              <a:rPr lang="en-IN" dirty="0" err="1">
                <a:latin typeface="Cambria" pitchFamily="18" charset="0"/>
                <a:ea typeface="Cambria" pitchFamily="18" charset="0"/>
              </a:rPr>
              <a:t>int</a:t>
            </a:r>
            <a:r>
              <a:rPr lang="en-IN" dirty="0">
                <a:latin typeface="Cambria" pitchFamily="18" charset="0"/>
                <a:ea typeface="Cambria" pitchFamily="18" charset="0"/>
              </a:rPr>
              <a:t>[10];</a:t>
            </a:r>
          </a:p>
          <a:p>
            <a:pPr>
              <a:buNone/>
            </a:pPr>
            <a:endParaRPr lang="en-IN" dirty="0">
              <a:latin typeface="Cambria" pitchFamily="18" charset="0"/>
              <a:ea typeface="Cambria" pitchFamily="18" charset="0"/>
            </a:endParaRPr>
          </a:p>
          <a:p>
            <a:pPr>
              <a:buNone/>
            </a:pPr>
            <a:r>
              <a:rPr lang="en-IN" dirty="0">
                <a:latin typeface="Cambria" pitchFamily="18" charset="0"/>
                <a:ea typeface="Cambria" pitchFamily="18" charset="0"/>
              </a:rPr>
              <a:t>	</a:t>
            </a:r>
          </a:p>
          <a:p>
            <a:pPr lvl="1"/>
            <a:endParaRPr lang="en-US" dirty="0"/>
          </a:p>
          <a:p>
            <a:pPr lvl="1"/>
            <a:r>
              <a:rPr lang="en-US" sz="2200" dirty="0"/>
              <a:t>The </a:t>
            </a:r>
            <a:r>
              <a:rPr lang="en-US" sz="2200" dirty="0" err="1">
                <a:solidFill>
                  <a:srgbClr val="B71B1C"/>
                </a:solidFill>
              </a:rPr>
              <a:t>data_type</a:t>
            </a:r>
            <a:r>
              <a:rPr lang="en-US" sz="2200" dirty="0">
                <a:solidFill>
                  <a:srgbClr val="B71B1C"/>
                </a:solidFill>
              </a:rPr>
              <a:t> </a:t>
            </a:r>
            <a:r>
              <a:rPr lang="en-US" sz="2200" dirty="0"/>
              <a:t>specifies the type of the elements that can be stored in an array, like </a:t>
            </a:r>
            <a:r>
              <a:rPr lang="en-US" sz="2200" dirty="0" err="1"/>
              <a:t>int</a:t>
            </a:r>
            <a:r>
              <a:rPr lang="en-US" sz="2200" dirty="0"/>
              <a:t>, float, char etc...</a:t>
            </a:r>
          </a:p>
          <a:p>
            <a:pPr lvl="1"/>
            <a:r>
              <a:rPr lang="en-US" sz="2200" dirty="0"/>
              <a:t>The </a:t>
            </a:r>
            <a:r>
              <a:rPr lang="en-US" sz="2200" dirty="0" err="1">
                <a:solidFill>
                  <a:srgbClr val="B71B1C"/>
                </a:solidFill>
              </a:rPr>
              <a:t>size_of_array</a:t>
            </a:r>
            <a:r>
              <a:rPr lang="en-US" sz="2200" dirty="0">
                <a:solidFill>
                  <a:srgbClr val="B71B1C"/>
                </a:solidFill>
              </a:rPr>
              <a:t> </a:t>
            </a:r>
            <a:r>
              <a:rPr lang="en-US" sz="2200" dirty="0"/>
              <a:t>indicates the maximum number of elements that can be stores inside the array.</a:t>
            </a:r>
          </a:p>
          <a:p>
            <a:pPr lvl="1"/>
            <a:r>
              <a:rPr lang="en-US" sz="2200" dirty="0"/>
              <a:t>In the example, data type of an array is </a:t>
            </a:r>
            <a:r>
              <a:rPr lang="en-US" sz="2200" dirty="0" err="1">
                <a:solidFill>
                  <a:srgbClr val="B71B1C"/>
                </a:solidFill>
              </a:rPr>
              <a:t>int</a:t>
            </a:r>
            <a:r>
              <a:rPr lang="en-US" sz="2200" dirty="0"/>
              <a:t> and maximum elements that can be stored in an array are 10.</a:t>
            </a:r>
            <a:endParaRPr lang="en-IN" sz="2200" dirty="0"/>
          </a:p>
        </p:txBody>
      </p:sp>
      <p:grpSp>
        <p:nvGrpSpPr>
          <p:cNvPr id="4" name="Group 3">
            <a:extLst>
              <a:ext uri="{FF2B5EF4-FFF2-40B4-BE49-F238E27FC236}">
                <a16:creationId xmlns:a16="http://schemas.microsoft.com/office/drawing/2014/main" id="{A4D1DF29-4841-2C85-3896-6653672C4E3B}"/>
              </a:ext>
            </a:extLst>
          </p:cNvPr>
          <p:cNvGrpSpPr/>
          <p:nvPr/>
        </p:nvGrpSpPr>
        <p:grpSpPr>
          <a:xfrm>
            <a:off x="2097578" y="2754868"/>
            <a:ext cx="685800" cy="826532"/>
            <a:chOff x="1143000" y="2057400"/>
            <a:chExt cx="685800" cy="826532"/>
          </a:xfrm>
        </p:grpSpPr>
        <p:sp>
          <p:nvSpPr>
            <p:cNvPr id="5" name="Rectangle 4">
              <a:extLst>
                <a:ext uri="{FF2B5EF4-FFF2-40B4-BE49-F238E27FC236}">
                  <a16:creationId xmlns:a16="http://schemas.microsoft.com/office/drawing/2014/main" id="{8AD7105D-AB1E-B7E4-F25C-3D238B215AFC}"/>
                </a:ext>
              </a:extLst>
            </p:cNvPr>
            <p:cNvSpPr/>
            <p:nvPr/>
          </p:nvSpPr>
          <p:spPr>
            <a:xfrm>
              <a:off x="11430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35</a:t>
              </a:r>
              <a:endParaRPr lang="en-US" dirty="0">
                <a:solidFill>
                  <a:schemeClr val="tx1"/>
                </a:solidFill>
              </a:endParaRPr>
            </a:p>
          </p:txBody>
        </p:sp>
        <p:sp>
          <p:nvSpPr>
            <p:cNvPr id="6" name="TextBox 5">
              <a:extLst>
                <a:ext uri="{FF2B5EF4-FFF2-40B4-BE49-F238E27FC236}">
                  <a16:creationId xmlns:a16="http://schemas.microsoft.com/office/drawing/2014/main" id="{ADD1B46D-09F6-C0D3-A647-B7376FE73A67}"/>
                </a:ext>
              </a:extLst>
            </p:cNvPr>
            <p:cNvSpPr txBox="1"/>
            <p:nvPr/>
          </p:nvSpPr>
          <p:spPr>
            <a:xfrm>
              <a:off x="1199243" y="2514600"/>
              <a:ext cx="553357" cy="369332"/>
            </a:xfrm>
            <a:prstGeom prst="rect">
              <a:avLst/>
            </a:prstGeom>
            <a:noFill/>
          </p:spPr>
          <p:txBody>
            <a:bodyPr wrap="none" rtlCol="0">
              <a:spAutoFit/>
            </a:bodyPr>
            <a:lstStyle/>
            <a:p>
              <a:r>
                <a:rPr lang="en-IN" dirty="0"/>
                <a:t>a[0]</a:t>
              </a:r>
              <a:endParaRPr lang="en-US" dirty="0"/>
            </a:p>
          </p:txBody>
        </p:sp>
      </p:grpSp>
      <p:grpSp>
        <p:nvGrpSpPr>
          <p:cNvPr id="7" name="Group 6">
            <a:extLst>
              <a:ext uri="{FF2B5EF4-FFF2-40B4-BE49-F238E27FC236}">
                <a16:creationId xmlns:a16="http://schemas.microsoft.com/office/drawing/2014/main" id="{28E07BC4-D67A-60A8-EBA2-27791F76C0FB}"/>
              </a:ext>
            </a:extLst>
          </p:cNvPr>
          <p:cNvGrpSpPr/>
          <p:nvPr/>
        </p:nvGrpSpPr>
        <p:grpSpPr>
          <a:xfrm>
            <a:off x="2783378" y="2754868"/>
            <a:ext cx="685800" cy="826532"/>
            <a:chOff x="1828800" y="2057400"/>
            <a:chExt cx="685800" cy="826532"/>
          </a:xfrm>
        </p:grpSpPr>
        <p:sp>
          <p:nvSpPr>
            <p:cNvPr id="8" name="Rectangle 7">
              <a:extLst>
                <a:ext uri="{FF2B5EF4-FFF2-40B4-BE49-F238E27FC236}">
                  <a16:creationId xmlns:a16="http://schemas.microsoft.com/office/drawing/2014/main" id="{31A79FF5-6E27-4047-E57B-72C8CB857DF9}"/>
                </a:ext>
              </a:extLst>
            </p:cNvPr>
            <p:cNvSpPr/>
            <p:nvPr/>
          </p:nvSpPr>
          <p:spPr>
            <a:xfrm>
              <a:off x="18288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13</a:t>
              </a:r>
              <a:endParaRPr lang="en-US" dirty="0">
                <a:solidFill>
                  <a:schemeClr val="tx1"/>
                </a:solidFill>
              </a:endParaRPr>
            </a:p>
          </p:txBody>
        </p:sp>
        <p:sp>
          <p:nvSpPr>
            <p:cNvPr id="9" name="TextBox 8">
              <a:extLst>
                <a:ext uri="{FF2B5EF4-FFF2-40B4-BE49-F238E27FC236}">
                  <a16:creationId xmlns:a16="http://schemas.microsoft.com/office/drawing/2014/main" id="{24DA8C09-E5C7-1359-F843-475A8A68EB41}"/>
                </a:ext>
              </a:extLst>
            </p:cNvPr>
            <p:cNvSpPr txBox="1"/>
            <p:nvPr/>
          </p:nvSpPr>
          <p:spPr>
            <a:xfrm>
              <a:off x="1905000" y="2514600"/>
              <a:ext cx="553357" cy="369332"/>
            </a:xfrm>
            <a:prstGeom prst="rect">
              <a:avLst/>
            </a:prstGeom>
            <a:noFill/>
          </p:spPr>
          <p:txBody>
            <a:bodyPr wrap="none" rtlCol="0">
              <a:spAutoFit/>
            </a:bodyPr>
            <a:lstStyle/>
            <a:p>
              <a:r>
                <a:rPr lang="en-IN" dirty="0"/>
                <a:t>a[1]</a:t>
              </a:r>
              <a:endParaRPr lang="en-US" dirty="0"/>
            </a:p>
          </p:txBody>
        </p:sp>
      </p:grpSp>
      <p:grpSp>
        <p:nvGrpSpPr>
          <p:cNvPr id="10" name="Group 9">
            <a:extLst>
              <a:ext uri="{FF2B5EF4-FFF2-40B4-BE49-F238E27FC236}">
                <a16:creationId xmlns:a16="http://schemas.microsoft.com/office/drawing/2014/main" id="{A6A28C70-4A9B-4C53-B21C-26DE3953C124}"/>
              </a:ext>
            </a:extLst>
          </p:cNvPr>
          <p:cNvGrpSpPr/>
          <p:nvPr/>
        </p:nvGrpSpPr>
        <p:grpSpPr>
          <a:xfrm>
            <a:off x="3469178" y="2754868"/>
            <a:ext cx="685800" cy="826532"/>
            <a:chOff x="2514600" y="2057400"/>
            <a:chExt cx="685800" cy="826532"/>
          </a:xfrm>
        </p:grpSpPr>
        <p:sp>
          <p:nvSpPr>
            <p:cNvPr id="11" name="Rectangle 10">
              <a:extLst>
                <a:ext uri="{FF2B5EF4-FFF2-40B4-BE49-F238E27FC236}">
                  <a16:creationId xmlns:a16="http://schemas.microsoft.com/office/drawing/2014/main" id="{D2E81361-93F4-B106-7D62-7DE1C0EC4A89}"/>
                </a:ext>
              </a:extLst>
            </p:cNvPr>
            <p:cNvSpPr/>
            <p:nvPr/>
          </p:nvSpPr>
          <p:spPr>
            <a:xfrm>
              <a:off x="25146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28</a:t>
              </a:r>
              <a:endParaRPr lang="en-US" dirty="0">
                <a:solidFill>
                  <a:schemeClr val="tx1"/>
                </a:solidFill>
              </a:endParaRPr>
            </a:p>
          </p:txBody>
        </p:sp>
        <p:sp>
          <p:nvSpPr>
            <p:cNvPr id="12" name="TextBox 11">
              <a:extLst>
                <a:ext uri="{FF2B5EF4-FFF2-40B4-BE49-F238E27FC236}">
                  <a16:creationId xmlns:a16="http://schemas.microsoft.com/office/drawing/2014/main" id="{A9C5319B-2DCD-853B-8360-45BD537381BA}"/>
                </a:ext>
              </a:extLst>
            </p:cNvPr>
            <p:cNvSpPr txBox="1"/>
            <p:nvPr/>
          </p:nvSpPr>
          <p:spPr>
            <a:xfrm>
              <a:off x="2590800" y="2514600"/>
              <a:ext cx="553357" cy="369332"/>
            </a:xfrm>
            <a:prstGeom prst="rect">
              <a:avLst/>
            </a:prstGeom>
            <a:noFill/>
          </p:spPr>
          <p:txBody>
            <a:bodyPr wrap="none" rtlCol="0">
              <a:spAutoFit/>
            </a:bodyPr>
            <a:lstStyle/>
            <a:p>
              <a:r>
                <a:rPr lang="en-IN" dirty="0"/>
                <a:t>a[2]</a:t>
              </a:r>
              <a:endParaRPr lang="en-US" dirty="0"/>
            </a:p>
          </p:txBody>
        </p:sp>
      </p:grpSp>
      <p:grpSp>
        <p:nvGrpSpPr>
          <p:cNvPr id="13" name="Group 12">
            <a:extLst>
              <a:ext uri="{FF2B5EF4-FFF2-40B4-BE49-F238E27FC236}">
                <a16:creationId xmlns:a16="http://schemas.microsoft.com/office/drawing/2014/main" id="{46954DA2-3B8B-138D-7F0A-674E91518E27}"/>
              </a:ext>
            </a:extLst>
          </p:cNvPr>
          <p:cNvGrpSpPr/>
          <p:nvPr/>
        </p:nvGrpSpPr>
        <p:grpSpPr>
          <a:xfrm>
            <a:off x="4154978" y="2754868"/>
            <a:ext cx="685800" cy="826532"/>
            <a:chOff x="3200400" y="2057400"/>
            <a:chExt cx="685800" cy="826532"/>
          </a:xfrm>
        </p:grpSpPr>
        <p:sp>
          <p:nvSpPr>
            <p:cNvPr id="14" name="Rectangle 13">
              <a:extLst>
                <a:ext uri="{FF2B5EF4-FFF2-40B4-BE49-F238E27FC236}">
                  <a16:creationId xmlns:a16="http://schemas.microsoft.com/office/drawing/2014/main" id="{1F051532-365D-374D-1655-E47656C06753}"/>
                </a:ext>
              </a:extLst>
            </p:cNvPr>
            <p:cNvSpPr/>
            <p:nvPr/>
          </p:nvSpPr>
          <p:spPr>
            <a:xfrm>
              <a:off x="32004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106</a:t>
              </a:r>
              <a:endParaRPr lang="en-US" dirty="0">
                <a:solidFill>
                  <a:schemeClr val="tx1"/>
                </a:solidFill>
              </a:endParaRPr>
            </a:p>
          </p:txBody>
        </p:sp>
        <p:sp>
          <p:nvSpPr>
            <p:cNvPr id="15" name="TextBox 14">
              <a:extLst>
                <a:ext uri="{FF2B5EF4-FFF2-40B4-BE49-F238E27FC236}">
                  <a16:creationId xmlns:a16="http://schemas.microsoft.com/office/drawing/2014/main" id="{6D625BD4-2998-14CA-3C0A-20CB578A7BE8}"/>
                </a:ext>
              </a:extLst>
            </p:cNvPr>
            <p:cNvSpPr txBox="1"/>
            <p:nvPr/>
          </p:nvSpPr>
          <p:spPr>
            <a:xfrm>
              <a:off x="3296557" y="2514600"/>
              <a:ext cx="553357" cy="369332"/>
            </a:xfrm>
            <a:prstGeom prst="rect">
              <a:avLst/>
            </a:prstGeom>
            <a:noFill/>
          </p:spPr>
          <p:txBody>
            <a:bodyPr wrap="none" rtlCol="0">
              <a:spAutoFit/>
            </a:bodyPr>
            <a:lstStyle/>
            <a:p>
              <a:r>
                <a:rPr lang="en-IN" dirty="0"/>
                <a:t>a[3]</a:t>
              </a:r>
              <a:endParaRPr lang="en-US" dirty="0"/>
            </a:p>
          </p:txBody>
        </p:sp>
      </p:grpSp>
      <p:sp>
        <p:nvSpPr>
          <p:cNvPr id="16" name="Rectangle 15">
            <a:extLst>
              <a:ext uri="{FF2B5EF4-FFF2-40B4-BE49-F238E27FC236}">
                <a16:creationId xmlns:a16="http://schemas.microsoft.com/office/drawing/2014/main" id="{BE9B0DEE-61B5-1A0D-9C23-12C757AE2E90}"/>
              </a:ext>
            </a:extLst>
          </p:cNvPr>
          <p:cNvSpPr/>
          <p:nvPr/>
        </p:nvSpPr>
        <p:spPr>
          <a:xfrm>
            <a:off x="4840778" y="2754868"/>
            <a:ext cx="685800" cy="457200"/>
          </a:xfrm>
          <a:prstGeom prst="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a</a:t>
            </a:r>
            <a:endParaRPr lang="en-US" dirty="0">
              <a:solidFill>
                <a:srgbClr val="FF0000"/>
              </a:solidFill>
            </a:endParaRPr>
          </a:p>
        </p:txBody>
      </p:sp>
      <p:sp>
        <p:nvSpPr>
          <p:cNvPr id="17" name="TextBox 16">
            <a:extLst>
              <a:ext uri="{FF2B5EF4-FFF2-40B4-BE49-F238E27FC236}">
                <a16:creationId xmlns:a16="http://schemas.microsoft.com/office/drawing/2014/main" id="{B57D75B3-42F5-BDFD-0975-F5E2F586C05D}"/>
              </a:ext>
            </a:extLst>
          </p:cNvPr>
          <p:cNvSpPr txBox="1"/>
          <p:nvPr/>
        </p:nvSpPr>
        <p:spPr>
          <a:xfrm>
            <a:off x="4897021" y="3212068"/>
            <a:ext cx="553357" cy="369332"/>
          </a:xfrm>
          <a:prstGeom prst="rect">
            <a:avLst/>
          </a:prstGeom>
          <a:noFill/>
        </p:spPr>
        <p:txBody>
          <a:bodyPr wrap="none" rtlCol="0">
            <a:spAutoFit/>
          </a:bodyPr>
          <a:lstStyle/>
          <a:p>
            <a:r>
              <a:rPr lang="en-IN" dirty="0"/>
              <a:t>a[4]</a:t>
            </a:r>
            <a:endParaRPr lang="en-US" dirty="0"/>
          </a:p>
        </p:txBody>
      </p:sp>
      <p:grpSp>
        <p:nvGrpSpPr>
          <p:cNvPr id="18" name="Group 17">
            <a:extLst>
              <a:ext uri="{FF2B5EF4-FFF2-40B4-BE49-F238E27FC236}">
                <a16:creationId xmlns:a16="http://schemas.microsoft.com/office/drawing/2014/main" id="{2BD7F31F-6B00-2CB9-3C8B-793CAA0ABE95}"/>
              </a:ext>
            </a:extLst>
          </p:cNvPr>
          <p:cNvGrpSpPr/>
          <p:nvPr/>
        </p:nvGrpSpPr>
        <p:grpSpPr>
          <a:xfrm>
            <a:off x="5526578" y="2754868"/>
            <a:ext cx="685800" cy="826532"/>
            <a:chOff x="4572000" y="2057400"/>
            <a:chExt cx="685800" cy="826532"/>
          </a:xfrm>
        </p:grpSpPr>
        <p:sp>
          <p:nvSpPr>
            <p:cNvPr id="19" name="Rectangle 18">
              <a:extLst>
                <a:ext uri="{FF2B5EF4-FFF2-40B4-BE49-F238E27FC236}">
                  <a16:creationId xmlns:a16="http://schemas.microsoft.com/office/drawing/2014/main" id="{0BE93406-E1C2-2D16-7530-D7AD771ECB5B}"/>
                </a:ext>
              </a:extLst>
            </p:cNvPr>
            <p:cNvSpPr/>
            <p:nvPr/>
          </p:nvSpPr>
          <p:spPr>
            <a:xfrm>
              <a:off x="45720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42</a:t>
              </a:r>
              <a:endParaRPr lang="en-US" dirty="0">
                <a:solidFill>
                  <a:schemeClr val="tx1"/>
                </a:solidFill>
              </a:endParaRPr>
            </a:p>
          </p:txBody>
        </p:sp>
        <p:sp>
          <p:nvSpPr>
            <p:cNvPr id="20" name="TextBox 19">
              <a:extLst>
                <a:ext uri="{FF2B5EF4-FFF2-40B4-BE49-F238E27FC236}">
                  <a16:creationId xmlns:a16="http://schemas.microsoft.com/office/drawing/2014/main" id="{BCF439FC-D760-463C-A177-29BEEF00F401}"/>
                </a:ext>
              </a:extLst>
            </p:cNvPr>
            <p:cNvSpPr txBox="1"/>
            <p:nvPr/>
          </p:nvSpPr>
          <p:spPr>
            <a:xfrm>
              <a:off x="4648200" y="2514600"/>
              <a:ext cx="553357" cy="369332"/>
            </a:xfrm>
            <a:prstGeom prst="rect">
              <a:avLst/>
            </a:prstGeom>
            <a:noFill/>
          </p:spPr>
          <p:txBody>
            <a:bodyPr wrap="none" rtlCol="0">
              <a:spAutoFit/>
            </a:bodyPr>
            <a:lstStyle/>
            <a:p>
              <a:r>
                <a:rPr lang="en-IN" dirty="0"/>
                <a:t>a[5]</a:t>
              </a:r>
              <a:endParaRPr lang="en-US" dirty="0"/>
            </a:p>
          </p:txBody>
        </p:sp>
      </p:grpSp>
      <p:grpSp>
        <p:nvGrpSpPr>
          <p:cNvPr id="21" name="Group 20">
            <a:extLst>
              <a:ext uri="{FF2B5EF4-FFF2-40B4-BE49-F238E27FC236}">
                <a16:creationId xmlns:a16="http://schemas.microsoft.com/office/drawing/2014/main" id="{14486D7B-B9B6-13F1-8A62-16C50BAE8E56}"/>
              </a:ext>
            </a:extLst>
          </p:cNvPr>
          <p:cNvGrpSpPr/>
          <p:nvPr/>
        </p:nvGrpSpPr>
        <p:grpSpPr>
          <a:xfrm>
            <a:off x="6212378" y="2754868"/>
            <a:ext cx="685800" cy="826532"/>
            <a:chOff x="5257800" y="2057400"/>
            <a:chExt cx="685800" cy="826532"/>
          </a:xfrm>
        </p:grpSpPr>
        <p:sp>
          <p:nvSpPr>
            <p:cNvPr id="22" name="Rectangle 21">
              <a:extLst>
                <a:ext uri="{FF2B5EF4-FFF2-40B4-BE49-F238E27FC236}">
                  <a16:creationId xmlns:a16="http://schemas.microsoft.com/office/drawing/2014/main" id="{5E3E9B26-724B-C1BC-AFEE-EE7E4FE807DA}"/>
                </a:ext>
              </a:extLst>
            </p:cNvPr>
            <p:cNvSpPr/>
            <p:nvPr/>
          </p:nvSpPr>
          <p:spPr>
            <a:xfrm>
              <a:off x="52578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endParaRPr lang="en-US" dirty="0">
                <a:solidFill>
                  <a:schemeClr val="tx1"/>
                </a:solidFill>
              </a:endParaRPr>
            </a:p>
          </p:txBody>
        </p:sp>
        <p:sp>
          <p:nvSpPr>
            <p:cNvPr id="23" name="TextBox 22">
              <a:extLst>
                <a:ext uri="{FF2B5EF4-FFF2-40B4-BE49-F238E27FC236}">
                  <a16:creationId xmlns:a16="http://schemas.microsoft.com/office/drawing/2014/main" id="{6A47140A-318E-CCEC-B6EB-5ABB992AF632}"/>
                </a:ext>
              </a:extLst>
            </p:cNvPr>
            <p:cNvSpPr txBox="1"/>
            <p:nvPr/>
          </p:nvSpPr>
          <p:spPr>
            <a:xfrm>
              <a:off x="5334000" y="2514600"/>
              <a:ext cx="553357" cy="369332"/>
            </a:xfrm>
            <a:prstGeom prst="rect">
              <a:avLst/>
            </a:prstGeom>
            <a:noFill/>
          </p:spPr>
          <p:txBody>
            <a:bodyPr wrap="none" rtlCol="0">
              <a:spAutoFit/>
            </a:bodyPr>
            <a:lstStyle/>
            <a:p>
              <a:r>
                <a:rPr lang="en-IN" dirty="0"/>
                <a:t>a[6]</a:t>
              </a:r>
              <a:endParaRPr lang="en-US" dirty="0"/>
            </a:p>
          </p:txBody>
        </p:sp>
      </p:grpSp>
      <p:grpSp>
        <p:nvGrpSpPr>
          <p:cNvPr id="24" name="Group 23">
            <a:extLst>
              <a:ext uri="{FF2B5EF4-FFF2-40B4-BE49-F238E27FC236}">
                <a16:creationId xmlns:a16="http://schemas.microsoft.com/office/drawing/2014/main" id="{EBACD909-1796-6772-863D-BB4F399192E9}"/>
              </a:ext>
            </a:extLst>
          </p:cNvPr>
          <p:cNvGrpSpPr/>
          <p:nvPr/>
        </p:nvGrpSpPr>
        <p:grpSpPr>
          <a:xfrm>
            <a:off x="6898178" y="2754868"/>
            <a:ext cx="685800" cy="826532"/>
            <a:chOff x="5943600" y="2057400"/>
            <a:chExt cx="685800" cy="826532"/>
          </a:xfrm>
        </p:grpSpPr>
        <p:sp>
          <p:nvSpPr>
            <p:cNvPr id="25" name="Rectangle 24">
              <a:extLst>
                <a:ext uri="{FF2B5EF4-FFF2-40B4-BE49-F238E27FC236}">
                  <a16:creationId xmlns:a16="http://schemas.microsoft.com/office/drawing/2014/main" id="{2C6BEFD0-B4B7-6224-9C1C-BC4F3C776CB3}"/>
                </a:ext>
              </a:extLst>
            </p:cNvPr>
            <p:cNvSpPr/>
            <p:nvPr/>
          </p:nvSpPr>
          <p:spPr>
            <a:xfrm>
              <a:off x="59436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83</a:t>
              </a:r>
              <a:endParaRPr lang="en-US" dirty="0">
                <a:solidFill>
                  <a:schemeClr val="tx1"/>
                </a:solidFill>
              </a:endParaRPr>
            </a:p>
          </p:txBody>
        </p:sp>
        <p:sp>
          <p:nvSpPr>
            <p:cNvPr id="26" name="TextBox 25">
              <a:extLst>
                <a:ext uri="{FF2B5EF4-FFF2-40B4-BE49-F238E27FC236}">
                  <a16:creationId xmlns:a16="http://schemas.microsoft.com/office/drawing/2014/main" id="{40ABC93E-9BC9-5815-7030-011B0681E51F}"/>
                </a:ext>
              </a:extLst>
            </p:cNvPr>
            <p:cNvSpPr txBox="1"/>
            <p:nvPr/>
          </p:nvSpPr>
          <p:spPr>
            <a:xfrm>
              <a:off x="6039757" y="2514600"/>
              <a:ext cx="553357" cy="369332"/>
            </a:xfrm>
            <a:prstGeom prst="rect">
              <a:avLst/>
            </a:prstGeom>
            <a:noFill/>
          </p:spPr>
          <p:txBody>
            <a:bodyPr wrap="none" rtlCol="0">
              <a:spAutoFit/>
            </a:bodyPr>
            <a:lstStyle/>
            <a:p>
              <a:r>
                <a:rPr lang="en-IN" dirty="0"/>
                <a:t>a[7]</a:t>
              </a:r>
              <a:endParaRPr lang="en-US" dirty="0"/>
            </a:p>
          </p:txBody>
        </p:sp>
      </p:grpSp>
      <p:grpSp>
        <p:nvGrpSpPr>
          <p:cNvPr id="27" name="Group 26">
            <a:extLst>
              <a:ext uri="{FF2B5EF4-FFF2-40B4-BE49-F238E27FC236}">
                <a16:creationId xmlns:a16="http://schemas.microsoft.com/office/drawing/2014/main" id="{746A60AE-773E-50C4-140E-649CED7FE637}"/>
              </a:ext>
            </a:extLst>
          </p:cNvPr>
          <p:cNvGrpSpPr/>
          <p:nvPr/>
        </p:nvGrpSpPr>
        <p:grpSpPr>
          <a:xfrm>
            <a:off x="7583978" y="2754868"/>
            <a:ext cx="685800" cy="826532"/>
            <a:chOff x="6629400" y="2057400"/>
            <a:chExt cx="685800" cy="826532"/>
          </a:xfrm>
        </p:grpSpPr>
        <p:sp>
          <p:nvSpPr>
            <p:cNvPr id="28" name="Rectangle 27">
              <a:extLst>
                <a:ext uri="{FF2B5EF4-FFF2-40B4-BE49-F238E27FC236}">
                  <a16:creationId xmlns:a16="http://schemas.microsoft.com/office/drawing/2014/main" id="{5714EAD9-A39A-DDED-1974-CDBF6F11D113}"/>
                </a:ext>
              </a:extLst>
            </p:cNvPr>
            <p:cNvSpPr/>
            <p:nvPr/>
          </p:nvSpPr>
          <p:spPr>
            <a:xfrm>
              <a:off x="66294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97</a:t>
              </a:r>
              <a:endParaRPr lang="en-US" dirty="0">
                <a:solidFill>
                  <a:schemeClr val="tx1"/>
                </a:solidFill>
              </a:endParaRPr>
            </a:p>
          </p:txBody>
        </p:sp>
        <p:sp>
          <p:nvSpPr>
            <p:cNvPr id="29" name="TextBox 28">
              <a:extLst>
                <a:ext uri="{FF2B5EF4-FFF2-40B4-BE49-F238E27FC236}">
                  <a16:creationId xmlns:a16="http://schemas.microsoft.com/office/drawing/2014/main" id="{0C85D36B-0E32-3AB8-B191-520A37F9094C}"/>
                </a:ext>
              </a:extLst>
            </p:cNvPr>
            <p:cNvSpPr txBox="1"/>
            <p:nvPr/>
          </p:nvSpPr>
          <p:spPr>
            <a:xfrm>
              <a:off x="6705600" y="2514600"/>
              <a:ext cx="553357" cy="369332"/>
            </a:xfrm>
            <a:prstGeom prst="rect">
              <a:avLst/>
            </a:prstGeom>
            <a:noFill/>
          </p:spPr>
          <p:txBody>
            <a:bodyPr wrap="none" rtlCol="0">
              <a:spAutoFit/>
            </a:bodyPr>
            <a:lstStyle/>
            <a:p>
              <a:r>
                <a:rPr lang="en-IN" dirty="0"/>
                <a:t>a[8]</a:t>
              </a:r>
              <a:endParaRPr lang="en-US" dirty="0"/>
            </a:p>
          </p:txBody>
        </p:sp>
      </p:grpSp>
      <p:grpSp>
        <p:nvGrpSpPr>
          <p:cNvPr id="30" name="Group 29">
            <a:extLst>
              <a:ext uri="{FF2B5EF4-FFF2-40B4-BE49-F238E27FC236}">
                <a16:creationId xmlns:a16="http://schemas.microsoft.com/office/drawing/2014/main" id="{C387FEC4-9EBA-72FB-96C2-1F04085E03F9}"/>
              </a:ext>
            </a:extLst>
          </p:cNvPr>
          <p:cNvGrpSpPr/>
          <p:nvPr/>
        </p:nvGrpSpPr>
        <p:grpSpPr>
          <a:xfrm>
            <a:off x="8269778" y="2754868"/>
            <a:ext cx="685800" cy="826532"/>
            <a:chOff x="7315200" y="2057400"/>
            <a:chExt cx="685800" cy="826532"/>
          </a:xfrm>
        </p:grpSpPr>
        <p:sp>
          <p:nvSpPr>
            <p:cNvPr id="31" name="Rectangle 30">
              <a:extLst>
                <a:ext uri="{FF2B5EF4-FFF2-40B4-BE49-F238E27FC236}">
                  <a16:creationId xmlns:a16="http://schemas.microsoft.com/office/drawing/2014/main" id="{ED2C3DEB-D030-2EDE-7550-CEE23B7C39C9}"/>
                </a:ext>
              </a:extLst>
            </p:cNvPr>
            <p:cNvSpPr/>
            <p:nvPr/>
          </p:nvSpPr>
          <p:spPr>
            <a:xfrm>
              <a:off x="73152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14</a:t>
              </a:r>
              <a:endParaRPr lang="en-US" dirty="0">
                <a:solidFill>
                  <a:schemeClr val="tx1"/>
                </a:solidFill>
              </a:endParaRPr>
            </a:p>
          </p:txBody>
        </p:sp>
        <p:sp>
          <p:nvSpPr>
            <p:cNvPr id="32" name="TextBox 31">
              <a:extLst>
                <a:ext uri="{FF2B5EF4-FFF2-40B4-BE49-F238E27FC236}">
                  <a16:creationId xmlns:a16="http://schemas.microsoft.com/office/drawing/2014/main" id="{8ACE29BB-A570-4880-7985-865B00CCCED5}"/>
                </a:ext>
              </a:extLst>
            </p:cNvPr>
            <p:cNvSpPr txBox="1"/>
            <p:nvPr/>
          </p:nvSpPr>
          <p:spPr>
            <a:xfrm>
              <a:off x="7411357" y="2514600"/>
              <a:ext cx="553357" cy="369332"/>
            </a:xfrm>
            <a:prstGeom prst="rect">
              <a:avLst/>
            </a:prstGeom>
            <a:noFill/>
          </p:spPr>
          <p:txBody>
            <a:bodyPr wrap="none" rtlCol="0">
              <a:spAutoFit/>
            </a:bodyPr>
            <a:lstStyle/>
            <a:p>
              <a:r>
                <a:rPr lang="en-IN" dirty="0"/>
                <a:t>a[9]</a:t>
              </a:r>
              <a:endParaRPr lang="en-US" dirty="0"/>
            </a:p>
          </p:txBody>
        </p:sp>
      </p:grpSp>
      <p:sp>
        <p:nvSpPr>
          <p:cNvPr id="33" name="Rectangle 32">
            <a:extLst>
              <a:ext uri="{FF2B5EF4-FFF2-40B4-BE49-F238E27FC236}">
                <a16:creationId xmlns:a16="http://schemas.microsoft.com/office/drawing/2014/main" id="{D1CE6226-A2F4-3F58-9AC3-990969E50764}"/>
              </a:ext>
            </a:extLst>
          </p:cNvPr>
          <p:cNvSpPr/>
          <p:nvPr/>
        </p:nvSpPr>
        <p:spPr>
          <a:xfrm>
            <a:off x="4840778" y="2754868"/>
            <a:ext cx="6858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35</a:t>
            </a:r>
            <a:endParaRPr lang="en-US" dirty="0">
              <a:solidFill>
                <a:schemeClr val="tx1"/>
              </a:solidFill>
            </a:endParaRPr>
          </a:p>
        </p:txBody>
      </p:sp>
    </p:spTree>
    <p:extLst>
      <p:ext uri="{BB962C8B-B14F-4D97-AF65-F5344CB8AC3E}">
        <p14:creationId xmlns:p14="http://schemas.microsoft.com/office/powerpoint/2010/main" val="2502255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3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E383-7918-18FA-B7D6-90290E2400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93D411A-1089-0D2D-1739-F1514CE2A642}"/>
              </a:ext>
            </a:extLst>
          </p:cNvPr>
          <p:cNvSpPr>
            <a:spLocks noGrp="1"/>
          </p:cNvSpPr>
          <p:nvPr>
            <p:ph type="title"/>
          </p:nvPr>
        </p:nvSpPr>
        <p:spPr>
          <a:xfrm>
            <a:off x="0" y="1"/>
            <a:ext cx="12192000" cy="711200"/>
          </a:xfrm>
        </p:spPr>
        <p:txBody>
          <a:bodyPr/>
          <a:lstStyle/>
          <a:p>
            <a:r>
              <a:rPr lang="en-US" dirty="0"/>
              <a:t>Array</a:t>
            </a:r>
          </a:p>
        </p:txBody>
      </p:sp>
      <p:sp>
        <p:nvSpPr>
          <p:cNvPr id="5" name="Content Placeholder 2">
            <a:extLst>
              <a:ext uri="{FF2B5EF4-FFF2-40B4-BE49-F238E27FC236}">
                <a16:creationId xmlns:a16="http://schemas.microsoft.com/office/drawing/2014/main" id="{C9915648-FF86-769C-D6B6-951C2AAE5747}"/>
              </a:ext>
            </a:extLst>
          </p:cNvPr>
          <p:cNvSpPr>
            <a:spLocks noGrp="1"/>
          </p:cNvSpPr>
          <p:nvPr>
            <p:ph idx="1"/>
          </p:nvPr>
        </p:nvSpPr>
        <p:spPr>
          <a:xfrm>
            <a:off x="131180" y="863443"/>
            <a:ext cx="11989285" cy="5639993"/>
          </a:xfrm>
        </p:spPr>
        <p:txBody>
          <a:bodyPr/>
          <a:lstStyle/>
          <a:p>
            <a:r>
              <a:rPr lang="en-US" dirty="0"/>
              <a:t>Important point about Java array.</a:t>
            </a:r>
          </a:p>
          <a:p>
            <a:pPr lvl="1"/>
            <a:r>
              <a:rPr lang="en-US" sz="2200" dirty="0"/>
              <a:t>An array is </a:t>
            </a:r>
            <a:r>
              <a:rPr lang="en-US" sz="2200" dirty="0">
                <a:solidFill>
                  <a:srgbClr val="B71B1C"/>
                </a:solidFill>
              </a:rPr>
              <a:t>derived</a:t>
            </a:r>
            <a:r>
              <a:rPr lang="en-US" sz="2200" dirty="0"/>
              <a:t> datatype.</a:t>
            </a:r>
          </a:p>
          <a:p>
            <a:pPr lvl="1"/>
            <a:r>
              <a:rPr lang="en-US" sz="2200" dirty="0"/>
              <a:t>An array is </a:t>
            </a:r>
            <a:r>
              <a:rPr lang="en-US" sz="2200" dirty="0">
                <a:solidFill>
                  <a:srgbClr val="B71B1C"/>
                </a:solidFill>
              </a:rPr>
              <a:t>dynamically</a:t>
            </a:r>
            <a:r>
              <a:rPr lang="en-US" sz="2200" dirty="0"/>
              <a:t> allocated.</a:t>
            </a:r>
          </a:p>
          <a:p>
            <a:pPr lvl="1"/>
            <a:r>
              <a:rPr lang="en-US" sz="2200" dirty="0"/>
              <a:t>The individual elements of an array is refereed by their </a:t>
            </a:r>
            <a:r>
              <a:rPr lang="en-US" sz="2200" dirty="0">
                <a:solidFill>
                  <a:srgbClr val="B71B1C"/>
                </a:solidFill>
              </a:rPr>
              <a:t>index/subscript </a:t>
            </a:r>
            <a:r>
              <a:rPr lang="en-US" sz="2200" dirty="0"/>
              <a:t>value.</a:t>
            </a:r>
          </a:p>
          <a:p>
            <a:pPr lvl="1"/>
            <a:r>
              <a:rPr lang="en-US" sz="2200" dirty="0"/>
              <a:t>The </a:t>
            </a:r>
            <a:r>
              <a:rPr lang="en-US" sz="2200" dirty="0">
                <a:solidFill>
                  <a:srgbClr val="B71B1C"/>
                </a:solidFill>
              </a:rPr>
              <a:t>subscript</a:t>
            </a:r>
            <a:r>
              <a:rPr lang="en-US" sz="2200" dirty="0"/>
              <a:t> for an array always begins with </a:t>
            </a:r>
            <a:r>
              <a:rPr lang="en-US" sz="2200" dirty="0">
                <a:solidFill>
                  <a:srgbClr val="B71B1C"/>
                </a:solidFill>
              </a:rPr>
              <a:t>0</a:t>
            </a:r>
            <a:r>
              <a:rPr lang="en-US" sz="2200" dirty="0"/>
              <a:t>.</a:t>
            </a:r>
          </a:p>
          <a:p>
            <a:endParaRPr lang="en-US" dirty="0"/>
          </a:p>
          <a:p>
            <a:endParaRPr lang="en-US" dirty="0"/>
          </a:p>
          <a:p>
            <a:r>
              <a:rPr lang="en-US" dirty="0"/>
              <a:t>We can declare array in various ways:</a:t>
            </a:r>
          </a:p>
          <a:p>
            <a:pPr lvl="1"/>
            <a:r>
              <a:rPr lang="en-US" sz="2200" dirty="0"/>
              <a:t>int marks[];		//declare array object</a:t>
            </a:r>
          </a:p>
          <a:p>
            <a:pPr marL="457200" lvl="1" indent="0">
              <a:buNone/>
            </a:pPr>
            <a:r>
              <a:rPr lang="en-US" sz="2200" dirty="0"/>
              <a:t>      marks=new int[5];	//create array object</a:t>
            </a:r>
          </a:p>
          <a:p>
            <a:pPr lvl="1"/>
            <a:r>
              <a:rPr lang="en-US" sz="2200" dirty="0" err="1"/>
              <a:t>int</a:t>
            </a:r>
            <a:r>
              <a:rPr lang="en-US" sz="2200" dirty="0"/>
              <a:t> marks[] = new </a:t>
            </a:r>
            <a:r>
              <a:rPr lang="en-US" sz="2200" dirty="0" err="1"/>
              <a:t>int</a:t>
            </a:r>
            <a:r>
              <a:rPr lang="en-US" sz="2200" dirty="0"/>
              <a:t>[5];</a:t>
            </a:r>
          </a:p>
          <a:p>
            <a:pPr lvl="1"/>
            <a:r>
              <a:rPr lang="en-US" sz="2200" dirty="0" err="1"/>
              <a:t>int</a:t>
            </a:r>
            <a:r>
              <a:rPr lang="en-US" sz="2200" dirty="0"/>
              <a:t> [] marks = new </a:t>
            </a:r>
            <a:r>
              <a:rPr lang="en-US" sz="2200" dirty="0" err="1"/>
              <a:t>int</a:t>
            </a:r>
            <a:r>
              <a:rPr lang="en-US" sz="2200" dirty="0"/>
              <a:t>[5];</a:t>
            </a:r>
          </a:p>
          <a:p>
            <a:pPr lvl="1"/>
            <a:r>
              <a:rPr lang="en-US" sz="2200" dirty="0" err="1"/>
              <a:t>int</a:t>
            </a:r>
            <a:r>
              <a:rPr lang="en-US" sz="2200" dirty="0"/>
              <a:t> marks[] = {70,80,90};</a:t>
            </a:r>
          </a:p>
          <a:p>
            <a:pPr lvl="1"/>
            <a:r>
              <a:rPr lang="en-US" sz="2200" dirty="0" err="1"/>
              <a:t>int</a:t>
            </a:r>
            <a:r>
              <a:rPr lang="en-US" sz="2200" dirty="0"/>
              <a:t> [] marks = {70,80,90};	</a:t>
            </a:r>
          </a:p>
          <a:p>
            <a:pPr lvl="1"/>
            <a:endParaRPr lang="en-US" dirty="0"/>
          </a:p>
        </p:txBody>
      </p:sp>
      <p:grpSp>
        <p:nvGrpSpPr>
          <p:cNvPr id="6" name="Group 5">
            <a:extLst>
              <a:ext uri="{FF2B5EF4-FFF2-40B4-BE49-F238E27FC236}">
                <a16:creationId xmlns:a16="http://schemas.microsoft.com/office/drawing/2014/main" id="{58EDCECE-0DA6-28FA-16F5-4D1047F41151}"/>
              </a:ext>
            </a:extLst>
          </p:cNvPr>
          <p:cNvGrpSpPr/>
          <p:nvPr/>
        </p:nvGrpSpPr>
        <p:grpSpPr>
          <a:xfrm>
            <a:off x="2097578" y="2754868"/>
            <a:ext cx="685800" cy="826532"/>
            <a:chOff x="1143000" y="2057400"/>
            <a:chExt cx="685800" cy="826532"/>
          </a:xfrm>
        </p:grpSpPr>
        <p:sp>
          <p:nvSpPr>
            <p:cNvPr id="7" name="Rectangle 6">
              <a:extLst>
                <a:ext uri="{FF2B5EF4-FFF2-40B4-BE49-F238E27FC236}">
                  <a16:creationId xmlns:a16="http://schemas.microsoft.com/office/drawing/2014/main" id="{29BAE257-249E-1E9B-4DFD-1ACFA014247D}"/>
                </a:ext>
              </a:extLst>
            </p:cNvPr>
            <p:cNvSpPr/>
            <p:nvPr/>
          </p:nvSpPr>
          <p:spPr>
            <a:xfrm>
              <a:off x="11430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35</a:t>
              </a:r>
              <a:endParaRPr lang="en-US" dirty="0">
                <a:solidFill>
                  <a:schemeClr val="tx1"/>
                </a:solidFill>
              </a:endParaRPr>
            </a:p>
          </p:txBody>
        </p:sp>
        <p:sp>
          <p:nvSpPr>
            <p:cNvPr id="8" name="TextBox 7">
              <a:extLst>
                <a:ext uri="{FF2B5EF4-FFF2-40B4-BE49-F238E27FC236}">
                  <a16:creationId xmlns:a16="http://schemas.microsoft.com/office/drawing/2014/main" id="{0737028F-8E2B-5FFA-51FE-B849CB851D0E}"/>
                </a:ext>
              </a:extLst>
            </p:cNvPr>
            <p:cNvSpPr txBox="1"/>
            <p:nvPr/>
          </p:nvSpPr>
          <p:spPr>
            <a:xfrm>
              <a:off x="1199243" y="2514600"/>
              <a:ext cx="553357" cy="369332"/>
            </a:xfrm>
            <a:prstGeom prst="rect">
              <a:avLst/>
            </a:prstGeom>
            <a:noFill/>
          </p:spPr>
          <p:txBody>
            <a:bodyPr wrap="none" rtlCol="0">
              <a:spAutoFit/>
            </a:bodyPr>
            <a:lstStyle/>
            <a:p>
              <a:r>
                <a:rPr lang="en-IN" dirty="0"/>
                <a:t>a[0]</a:t>
              </a:r>
              <a:endParaRPr lang="en-US" dirty="0"/>
            </a:p>
          </p:txBody>
        </p:sp>
      </p:grpSp>
      <p:grpSp>
        <p:nvGrpSpPr>
          <p:cNvPr id="9" name="Group 8">
            <a:extLst>
              <a:ext uri="{FF2B5EF4-FFF2-40B4-BE49-F238E27FC236}">
                <a16:creationId xmlns:a16="http://schemas.microsoft.com/office/drawing/2014/main" id="{D676EB9A-F060-F7DA-08E0-5353A2806AD7}"/>
              </a:ext>
            </a:extLst>
          </p:cNvPr>
          <p:cNvGrpSpPr/>
          <p:nvPr/>
        </p:nvGrpSpPr>
        <p:grpSpPr>
          <a:xfrm>
            <a:off x="2783378" y="2754868"/>
            <a:ext cx="685800" cy="826532"/>
            <a:chOff x="1828800" y="2057400"/>
            <a:chExt cx="685800" cy="826532"/>
          </a:xfrm>
        </p:grpSpPr>
        <p:sp>
          <p:nvSpPr>
            <p:cNvPr id="10" name="Rectangle 9">
              <a:extLst>
                <a:ext uri="{FF2B5EF4-FFF2-40B4-BE49-F238E27FC236}">
                  <a16:creationId xmlns:a16="http://schemas.microsoft.com/office/drawing/2014/main" id="{A9FE3E28-EF5B-F0A7-316E-DB5B3FDBFC94}"/>
                </a:ext>
              </a:extLst>
            </p:cNvPr>
            <p:cNvSpPr/>
            <p:nvPr/>
          </p:nvSpPr>
          <p:spPr>
            <a:xfrm>
              <a:off x="18288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13</a:t>
              </a:r>
              <a:endParaRPr lang="en-US" dirty="0">
                <a:solidFill>
                  <a:schemeClr val="tx1"/>
                </a:solidFill>
              </a:endParaRPr>
            </a:p>
          </p:txBody>
        </p:sp>
        <p:sp>
          <p:nvSpPr>
            <p:cNvPr id="11" name="TextBox 10">
              <a:extLst>
                <a:ext uri="{FF2B5EF4-FFF2-40B4-BE49-F238E27FC236}">
                  <a16:creationId xmlns:a16="http://schemas.microsoft.com/office/drawing/2014/main" id="{83A201B8-6C6F-5C10-65DE-170153A0F8E1}"/>
                </a:ext>
              </a:extLst>
            </p:cNvPr>
            <p:cNvSpPr txBox="1"/>
            <p:nvPr/>
          </p:nvSpPr>
          <p:spPr>
            <a:xfrm>
              <a:off x="1905000" y="2514600"/>
              <a:ext cx="553357" cy="369332"/>
            </a:xfrm>
            <a:prstGeom prst="rect">
              <a:avLst/>
            </a:prstGeom>
            <a:noFill/>
          </p:spPr>
          <p:txBody>
            <a:bodyPr wrap="none" rtlCol="0">
              <a:spAutoFit/>
            </a:bodyPr>
            <a:lstStyle/>
            <a:p>
              <a:r>
                <a:rPr lang="en-IN" dirty="0"/>
                <a:t>a[1]</a:t>
              </a:r>
              <a:endParaRPr lang="en-US" dirty="0"/>
            </a:p>
          </p:txBody>
        </p:sp>
      </p:grpSp>
      <p:grpSp>
        <p:nvGrpSpPr>
          <p:cNvPr id="12" name="Group 11">
            <a:extLst>
              <a:ext uri="{FF2B5EF4-FFF2-40B4-BE49-F238E27FC236}">
                <a16:creationId xmlns:a16="http://schemas.microsoft.com/office/drawing/2014/main" id="{13C8BA06-223C-670F-6A41-A9EBBD4B433E}"/>
              </a:ext>
            </a:extLst>
          </p:cNvPr>
          <p:cNvGrpSpPr/>
          <p:nvPr/>
        </p:nvGrpSpPr>
        <p:grpSpPr>
          <a:xfrm>
            <a:off x="3469178" y="2754868"/>
            <a:ext cx="685800" cy="826532"/>
            <a:chOff x="2514600" y="2057400"/>
            <a:chExt cx="685800" cy="826532"/>
          </a:xfrm>
        </p:grpSpPr>
        <p:sp>
          <p:nvSpPr>
            <p:cNvPr id="13" name="Rectangle 12">
              <a:extLst>
                <a:ext uri="{FF2B5EF4-FFF2-40B4-BE49-F238E27FC236}">
                  <a16:creationId xmlns:a16="http://schemas.microsoft.com/office/drawing/2014/main" id="{3CE3D613-8FE9-52A6-9E1E-59B596950B14}"/>
                </a:ext>
              </a:extLst>
            </p:cNvPr>
            <p:cNvSpPr/>
            <p:nvPr/>
          </p:nvSpPr>
          <p:spPr>
            <a:xfrm>
              <a:off x="25146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28</a:t>
              </a:r>
              <a:endParaRPr lang="en-US" dirty="0">
                <a:solidFill>
                  <a:schemeClr val="tx1"/>
                </a:solidFill>
              </a:endParaRPr>
            </a:p>
          </p:txBody>
        </p:sp>
        <p:sp>
          <p:nvSpPr>
            <p:cNvPr id="14" name="TextBox 13">
              <a:extLst>
                <a:ext uri="{FF2B5EF4-FFF2-40B4-BE49-F238E27FC236}">
                  <a16:creationId xmlns:a16="http://schemas.microsoft.com/office/drawing/2014/main" id="{4AEA4FD9-DF11-EE0E-FE15-B074D722EE03}"/>
                </a:ext>
              </a:extLst>
            </p:cNvPr>
            <p:cNvSpPr txBox="1"/>
            <p:nvPr/>
          </p:nvSpPr>
          <p:spPr>
            <a:xfrm>
              <a:off x="2590800" y="2514600"/>
              <a:ext cx="553357" cy="369332"/>
            </a:xfrm>
            <a:prstGeom prst="rect">
              <a:avLst/>
            </a:prstGeom>
            <a:noFill/>
          </p:spPr>
          <p:txBody>
            <a:bodyPr wrap="none" rtlCol="0">
              <a:spAutoFit/>
            </a:bodyPr>
            <a:lstStyle/>
            <a:p>
              <a:r>
                <a:rPr lang="en-IN" dirty="0"/>
                <a:t>a[2]</a:t>
              </a:r>
              <a:endParaRPr lang="en-US" dirty="0"/>
            </a:p>
          </p:txBody>
        </p:sp>
      </p:grpSp>
      <p:grpSp>
        <p:nvGrpSpPr>
          <p:cNvPr id="15" name="Group 14">
            <a:extLst>
              <a:ext uri="{FF2B5EF4-FFF2-40B4-BE49-F238E27FC236}">
                <a16:creationId xmlns:a16="http://schemas.microsoft.com/office/drawing/2014/main" id="{CE469CCC-B2B4-6425-4E2E-0C5A762DB079}"/>
              </a:ext>
            </a:extLst>
          </p:cNvPr>
          <p:cNvGrpSpPr/>
          <p:nvPr/>
        </p:nvGrpSpPr>
        <p:grpSpPr>
          <a:xfrm>
            <a:off x="4154978" y="2754868"/>
            <a:ext cx="685800" cy="826532"/>
            <a:chOff x="3200400" y="2057400"/>
            <a:chExt cx="685800" cy="826532"/>
          </a:xfrm>
        </p:grpSpPr>
        <p:sp>
          <p:nvSpPr>
            <p:cNvPr id="16" name="Rectangle 15">
              <a:extLst>
                <a:ext uri="{FF2B5EF4-FFF2-40B4-BE49-F238E27FC236}">
                  <a16:creationId xmlns:a16="http://schemas.microsoft.com/office/drawing/2014/main" id="{65C80ACF-26F0-BE2B-B58B-2393BD72DA2E}"/>
                </a:ext>
              </a:extLst>
            </p:cNvPr>
            <p:cNvSpPr/>
            <p:nvPr/>
          </p:nvSpPr>
          <p:spPr>
            <a:xfrm>
              <a:off x="32004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106</a:t>
              </a:r>
              <a:endParaRPr lang="en-US" dirty="0">
                <a:solidFill>
                  <a:schemeClr val="tx1"/>
                </a:solidFill>
              </a:endParaRPr>
            </a:p>
          </p:txBody>
        </p:sp>
        <p:sp>
          <p:nvSpPr>
            <p:cNvPr id="17" name="TextBox 16">
              <a:extLst>
                <a:ext uri="{FF2B5EF4-FFF2-40B4-BE49-F238E27FC236}">
                  <a16:creationId xmlns:a16="http://schemas.microsoft.com/office/drawing/2014/main" id="{D96E9AC8-5671-97F3-340A-E71F82DC8647}"/>
                </a:ext>
              </a:extLst>
            </p:cNvPr>
            <p:cNvSpPr txBox="1"/>
            <p:nvPr/>
          </p:nvSpPr>
          <p:spPr>
            <a:xfrm>
              <a:off x="3296557" y="2514600"/>
              <a:ext cx="553357" cy="369332"/>
            </a:xfrm>
            <a:prstGeom prst="rect">
              <a:avLst/>
            </a:prstGeom>
            <a:noFill/>
          </p:spPr>
          <p:txBody>
            <a:bodyPr wrap="none" rtlCol="0">
              <a:spAutoFit/>
            </a:bodyPr>
            <a:lstStyle/>
            <a:p>
              <a:r>
                <a:rPr lang="en-IN" dirty="0"/>
                <a:t>a[3]</a:t>
              </a:r>
              <a:endParaRPr lang="en-US" dirty="0"/>
            </a:p>
          </p:txBody>
        </p:sp>
      </p:grpSp>
      <p:sp>
        <p:nvSpPr>
          <p:cNvPr id="18" name="Rectangle 17">
            <a:extLst>
              <a:ext uri="{FF2B5EF4-FFF2-40B4-BE49-F238E27FC236}">
                <a16:creationId xmlns:a16="http://schemas.microsoft.com/office/drawing/2014/main" id="{09309C50-7909-90FB-2D34-3994629576E8}"/>
              </a:ext>
            </a:extLst>
          </p:cNvPr>
          <p:cNvSpPr/>
          <p:nvPr/>
        </p:nvSpPr>
        <p:spPr>
          <a:xfrm>
            <a:off x="4840778" y="2754868"/>
            <a:ext cx="685800" cy="457200"/>
          </a:xfrm>
          <a:prstGeom prst="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a</a:t>
            </a:r>
            <a:endParaRPr lang="en-US" dirty="0">
              <a:solidFill>
                <a:srgbClr val="FF0000"/>
              </a:solidFill>
            </a:endParaRPr>
          </a:p>
        </p:txBody>
      </p:sp>
      <p:sp>
        <p:nvSpPr>
          <p:cNvPr id="19" name="TextBox 18">
            <a:extLst>
              <a:ext uri="{FF2B5EF4-FFF2-40B4-BE49-F238E27FC236}">
                <a16:creationId xmlns:a16="http://schemas.microsoft.com/office/drawing/2014/main" id="{409853A1-9414-59EC-5C43-8F22BCB3D1EA}"/>
              </a:ext>
            </a:extLst>
          </p:cNvPr>
          <p:cNvSpPr txBox="1"/>
          <p:nvPr/>
        </p:nvSpPr>
        <p:spPr>
          <a:xfrm>
            <a:off x="4897021" y="3212068"/>
            <a:ext cx="553357" cy="369332"/>
          </a:xfrm>
          <a:prstGeom prst="rect">
            <a:avLst/>
          </a:prstGeom>
          <a:noFill/>
        </p:spPr>
        <p:txBody>
          <a:bodyPr wrap="none" rtlCol="0">
            <a:spAutoFit/>
          </a:bodyPr>
          <a:lstStyle/>
          <a:p>
            <a:r>
              <a:rPr lang="en-IN" dirty="0"/>
              <a:t>a[4]</a:t>
            </a:r>
            <a:endParaRPr lang="en-US" dirty="0"/>
          </a:p>
        </p:txBody>
      </p:sp>
      <p:grpSp>
        <p:nvGrpSpPr>
          <p:cNvPr id="20" name="Group 19">
            <a:extLst>
              <a:ext uri="{FF2B5EF4-FFF2-40B4-BE49-F238E27FC236}">
                <a16:creationId xmlns:a16="http://schemas.microsoft.com/office/drawing/2014/main" id="{A99747E9-E073-7E52-7DA6-7741CCB69D6F}"/>
              </a:ext>
            </a:extLst>
          </p:cNvPr>
          <p:cNvGrpSpPr/>
          <p:nvPr/>
        </p:nvGrpSpPr>
        <p:grpSpPr>
          <a:xfrm>
            <a:off x="5526578" y="2754868"/>
            <a:ext cx="685800" cy="826532"/>
            <a:chOff x="4572000" y="2057400"/>
            <a:chExt cx="685800" cy="826532"/>
          </a:xfrm>
        </p:grpSpPr>
        <p:sp>
          <p:nvSpPr>
            <p:cNvPr id="21" name="Rectangle 20">
              <a:extLst>
                <a:ext uri="{FF2B5EF4-FFF2-40B4-BE49-F238E27FC236}">
                  <a16:creationId xmlns:a16="http://schemas.microsoft.com/office/drawing/2014/main" id="{6B183C7E-C375-A16B-C3A8-A59C859DE6AD}"/>
                </a:ext>
              </a:extLst>
            </p:cNvPr>
            <p:cNvSpPr/>
            <p:nvPr/>
          </p:nvSpPr>
          <p:spPr>
            <a:xfrm>
              <a:off x="45720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42</a:t>
              </a:r>
              <a:endParaRPr lang="en-US" dirty="0">
                <a:solidFill>
                  <a:schemeClr val="tx1"/>
                </a:solidFill>
              </a:endParaRPr>
            </a:p>
          </p:txBody>
        </p:sp>
        <p:sp>
          <p:nvSpPr>
            <p:cNvPr id="22" name="TextBox 21">
              <a:extLst>
                <a:ext uri="{FF2B5EF4-FFF2-40B4-BE49-F238E27FC236}">
                  <a16:creationId xmlns:a16="http://schemas.microsoft.com/office/drawing/2014/main" id="{E7316C5A-74EA-7FE7-6262-C68284F038BA}"/>
                </a:ext>
              </a:extLst>
            </p:cNvPr>
            <p:cNvSpPr txBox="1"/>
            <p:nvPr/>
          </p:nvSpPr>
          <p:spPr>
            <a:xfrm>
              <a:off x="4648200" y="2514600"/>
              <a:ext cx="553357" cy="369332"/>
            </a:xfrm>
            <a:prstGeom prst="rect">
              <a:avLst/>
            </a:prstGeom>
            <a:noFill/>
          </p:spPr>
          <p:txBody>
            <a:bodyPr wrap="none" rtlCol="0">
              <a:spAutoFit/>
            </a:bodyPr>
            <a:lstStyle/>
            <a:p>
              <a:r>
                <a:rPr lang="en-IN" dirty="0"/>
                <a:t>a[5]</a:t>
              </a:r>
              <a:endParaRPr lang="en-US" dirty="0"/>
            </a:p>
          </p:txBody>
        </p:sp>
      </p:grpSp>
      <p:grpSp>
        <p:nvGrpSpPr>
          <p:cNvPr id="23" name="Group 22">
            <a:extLst>
              <a:ext uri="{FF2B5EF4-FFF2-40B4-BE49-F238E27FC236}">
                <a16:creationId xmlns:a16="http://schemas.microsoft.com/office/drawing/2014/main" id="{A5ABEE22-5F26-808A-4B03-0C786B36A01C}"/>
              </a:ext>
            </a:extLst>
          </p:cNvPr>
          <p:cNvGrpSpPr/>
          <p:nvPr/>
        </p:nvGrpSpPr>
        <p:grpSpPr>
          <a:xfrm>
            <a:off x="6212378" y="2754868"/>
            <a:ext cx="685800" cy="826532"/>
            <a:chOff x="5257800" y="2057400"/>
            <a:chExt cx="685800" cy="826532"/>
          </a:xfrm>
        </p:grpSpPr>
        <p:sp>
          <p:nvSpPr>
            <p:cNvPr id="24" name="Rectangle 23">
              <a:extLst>
                <a:ext uri="{FF2B5EF4-FFF2-40B4-BE49-F238E27FC236}">
                  <a16:creationId xmlns:a16="http://schemas.microsoft.com/office/drawing/2014/main" id="{95E98EB6-41CB-D4A4-8A6C-CAE1E4376D16}"/>
                </a:ext>
              </a:extLst>
            </p:cNvPr>
            <p:cNvSpPr/>
            <p:nvPr/>
          </p:nvSpPr>
          <p:spPr>
            <a:xfrm>
              <a:off x="52578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5</a:t>
              </a:r>
              <a:endParaRPr lang="en-US" dirty="0">
                <a:solidFill>
                  <a:schemeClr val="tx1"/>
                </a:solidFill>
              </a:endParaRPr>
            </a:p>
          </p:txBody>
        </p:sp>
        <p:sp>
          <p:nvSpPr>
            <p:cNvPr id="25" name="TextBox 24">
              <a:extLst>
                <a:ext uri="{FF2B5EF4-FFF2-40B4-BE49-F238E27FC236}">
                  <a16:creationId xmlns:a16="http://schemas.microsoft.com/office/drawing/2014/main" id="{E451019F-CA11-A301-3C95-41FDF218EB65}"/>
                </a:ext>
              </a:extLst>
            </p:cNvPr>
            <p:cNvSpPr txBox="1"/>
            <p:nvPr/>
          </p:nvSpPr>
          <p:spPr>
            <a:xfrm>
              <a:off x="5334000" y="2514600"/>
              <a:ext cx="553357" cy="369332"/>
            </a:xfrm>
            <a:prstGeom prst="rect">
              <a:avLst/>
            </a:prstGeom>
            <a:noFill/>
          </p:spPr>
          <p:txBody>
            <a:bodyPr wrap="none" rtlCol="0">
              <a:spAutoFit/>
            </a:bodyPr>
            <a:lstStyle/>
            <a:p>
              <a:r>
                <a:rPr lang="en-IN" dirty="0"/>
                <a:t>a[6]</a:t>
              </a:r>
              <a:endParaRPr lang="en-US" dirty="0"/>
            </a:p>
          </p:txBody>
        </p:sp>
      </p:grpSp>
      <p:grpSp>
        <p:nvGrpSpPr>
          <p:cNvPr id="26" name="Group 25">
            <a:extLst>
              <a:ext uri="{FF2B5EF4-FFF2-40B4-BE49-F238E27FC236}">
                <a16:creationId xmlns:a16="http://schemas.microsoft.com/office/drawing/2014/main" id="{3E162B21-1070-46FD-BB5F-0AA51BF3AD8F}"/>
              </a:ext>
            </a:extLst>
          </p:cNvPr>
          <p:cNvGrpSpPr/>
          <p:nvPr/>
        </p:nvGrpSpPr>
        <p:grpSpPr>
          <a:xfrm>
            <a:off x="6898178" y="2754868"/>
            <a:ext cx="685800" cy="826532"/>
            <a:chOff x="5943600" y="2057400"/>
            <a:chExt cx="685800" cy="826532"/>
          </a:xfrm>
        </p:grpSpPr>
        <p:sp>
          <p:nvSpPr>
            <p:cNvPr id="27" name="Rectangle 26">
              <a:extLst>
                <a:ext uri="{FF2B5EF4-FFF2-40B4-BE49-F238E27FC236}">
                  <a16:creationId xmlns:a16="http://schemas.microsoft.com/office/drawing/2014/main" id="{7C187129-D7FA-0649-8723-205951FCF44C}"/>
                </a:ext>
              </a:extLst>
            </p:cNvPr>
            <p:cNvSpPr/>
            <p:nvPr/>
          </p:nvSpPr>
          <p:spPr>
            <a:xfrm>
              <a:off x="59436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83</a:t>
              </a:r>
              <a:endParaRPr lang="en-US" dirty="0">
                <a:solidFill>
                  <a:schemeClr val="tx1"/>
                </a:solidFill>
              </a:endParaRPr>
            </a:p>
          </p:txBody>
        </p:sp>
        <p:sp>
          <p:nvSpPr>
            <p:cNvPr id="28" name="TextBox 27">
              <a:extLst>
                <a:ext uri="{FF2B5EF4-FFF2-40B4-BE49-F238E27FC236}">
                  <a16:creationId xmlns:a16="http://schemas.microsoft.com/office/drawing/2014/main" id="{01A50DCD-E246-9013-D5EA-BEF3A135CC5C}"/>
                </a:ext>
              </a:extLst>
            </p:cNvPr>
            <p:cNvSpPr txBox="1"/>
            <p:nvPr/>
          </p:nvSpPr>
          <p:spPr>
            <a:xfrm>
              <a:off x="6039757" y="2514600"/>
              <a:ext cx="553357" cy="369332"/>
            </a:xfrm>
            <a:prstGeom prst="rect">
              <a:avLst/>
            </a:prstGeom>
            <a:noFill/>
          </p:spPr>
          <p:txBody>
            <a:bodyPr wrap="none" rtlCol="0">
              <a:spAutoFit/>
            </a:bodyPr>
            <a:lstStyle/>
            <a:p>
              <a:r>
                <a:rPr lang="en-IN" dirty="0"/>
                <a:t>a[7]</a:t>
              </a:r>
              <a:endParaRPr lang="en-US" dirty="0"/>
            </a:p>
          </p:txBody>
        </p:sp>
      </p:grpSp>
      <p:grpSp>
        <p:nvGrpSpPr>
          <p:cNvPr id="29" name="Group 28">
            <a:extLst>
              <a:ext uri="{FF2B5EF4-FFF2-40B4-BE49-F238E27FC236}">
                <a16:creationId xmlns:a16="http://schemas.microsoft.com/office/drawing/2014/main" id="{B82860A0-73AE-CF4E-8CEA-1A3435E8F2BC}"/>
              </a:ext>
            </a:extLst>
          </p:cNvPr>
          <p:cNvGrpSpPr/>
          <p:nvPr/>
        </p:nvGrpSpPr>
        <p:grpSpPr>
          <a:xfrm>
            <a:off x="7583978" y="2754868"/>
            <a:ext cx="685800" cy="826532"/>
            <a:chOff x="6629400" y="2057400"/>
            <a:chExt cx="685800" cy="826532"/>
          </a:xfrm>
        </p:grpSpPr>
        <p:sp>
          <p:nvSpPr>
            <p:cNvPr id="30" name="Rectangle 29">
              <a:extLst>
                <a:ext uri="{FF2B5EF4-FFF2-40B4-BE49-F238E27FC236}">
                  <a16:creationId xmlns:a16="http://schemas.microsoft.com/office/drawing/2014/main" id="{7621FB8E-F8D3-3F08-BB9D-3B86A357B645}"/>
                </a:ext>
              </a:extLst>
            </p:cNvPr>
            <p:cNvSpPr/>
            <p:nvPr/>
          </p:nvSpPr>
          <p:spPr>
            <a:xfrm>
              <a:off x="66294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97</a:t>
              </a:r>
              <a:endParaRPr lang="en-US" dirty="0">
                <a:solidFill>
                  <a:schemeClr val="tx1"/>
                </a:solidFill>
              </a:endParaRPr>
            </a:p>
          </p:txBody>
        </p:sp>
        <p:sp>
          <p:nvSpPr>
            <p:cNvPr id="31" name="TextBox 30">
              <a:extLst>
                <a:ext uri="{FF2B5EF4-FFF2-40B4-BE49-F238E27FC236}">
                  <a16:creationId xmlns:a16="http://schemas.microsoft.com/office/drawing/2014/main" id="{286D4327-8DCB-B35A-38AA-255E544138B7}"/>
                </a:ext>
              </a:extLst>
            </p:cNvPr>
            <p:cNvSpPr txBox="1"/>
            <p:nvPr/>
          </p:nvSpPr>
          <p:spPr>
            <a:xfrm>
              <a:off x="6705600" y="2514600"/>
              <a:ext cx="553357" cy="369332"/>
            </a:xfrm>
            <a:prstGeom prst="rect">
              <a:avLst/>
            </a:prstGeom>
            <a:noFill/>
          </p:spPr>
          <p:txBody>
            <a:bodyPr wrap="none" rtlCol="0">
              <a:spAutoFit/>
            </a:bodyPr>
            <a:lstStyle/>
            <a:p>
              <a:r>
                <a:rPr lang="en-IN" dirty="0"/>
                <a:t>a[8]</a:t>
              </a:r>
              <a:endParaRPr lang="en-US" dirty="0"/>
            </a:p>
          </p:txBody>
        </p:sp>
      </p:grpSp>
      <p:grpSp>
        <p:nvGrpSpPr>
          <p:cNvPr id="32" name="Group 31">
            <a:extLst>
              <a:ext uri="{FF2B5EF4-FFF2-40B4-BE49-F238E27FC236}">
                <a16:creationId xmlns:a16="http://schemas.microsoft.com/office/drawing/2014/main" id="{BA6E9EC7-5855-2317-F14A-DF0DB1C5B756}"/>
              </a:ext>
            </a:extLst>
          </p:cNvPr>
          <p:cNvGrpSpPr/>
          <p:nvPr/>
        </p:nvGrpSpPr>
        <p:grpSpPr>
          <a:xfrm>
            <a:off x="8269778" y="2754868"/>
            <a:ext cx="685800" cy="826532"/>
            <a:chOff x="7315200" y="2057400"/>
            <a:chExt cx="685800" cy="826532"/>
          </a:xfrm>
        </p:grpSpPr>
        <p:sp>
          <p:nvSpPr>
            <p:cNvPr id="33" name="Rectangle 32">
              <a:extLst>
                <a:ext uri="{FF2B5EF4-FFF2-40B4-BE49-F238E27FC236}">
                  <a16:creationId xmlns:a16="http://schemas.microsoft.com/office/drawing/2014/main" id="{A677C13B-52F4-6C9F-FB21-1BA3DE13BBB3}"/>
                </a:ext>
              </a:extLst>
            </p:cNvPr>
            <p:cNvSpPr/>
            <p:nvPr/>
          </p:nvSpPr>
          <p:spPr>
            <a:xfrm>
              <a:off x="7315200" y="2057400"/>
              <a:ext cx="685800"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14</a:t>
              </a:r>
              <a:endParaRPr lang="en-US" dirty="0">
                <a:solidFill>
                  <a:schemeClr val="tx1"/>
                </a:solidFill>
              </a:endParaRPr>
            </a:p>
          </p:txBody>
        </p:sp>
        <p:sp>
          <p:nvSpPr>
            <p:cNvPr id="34" name="TextBox 33">
              <a:extLst>
                <a:ext uri="{FF2B5EF4-FFF2-40B4-BE49-F238E27FC236}">
                  <a16:creationId xmlns:a16="http://schemas.microsoft.com/office/drawing/2014/main" id="{8559C56C-7C37-E620-B6AB-AA8817732571}"/>
                </a:ext>
              </a:extLst>
            </p:cNvPr>
            <p:cNvSpPr txBox="1"/>
            <p:nvPr/>
          </p:nvSpPr>
          <p:spPr>
            <a:xfrm>
              <a:off x="7411357" y="2514600"/>
              <a:ext cx="553357" cy="369332"/>
            </a:xfrm>
            <a:prstGeom prst="rect">
              <a:avLst/>
            </a:prstGeom>
            <a:noFill/>
          </p:spPr>
          <p:txBody>
            <a:bodyPr wrap="none" rtlCol="0">
              <a:spAutoFit/>
            </a:bodyPr>
            <a:lstStyle/>
            <a:p>
              <a:r>
                <a:rPr lang="en-IN" dirty="0"/>
                <a:t>a[9]</a:t>
              </a:r>
              <a:endParaRPr lang="en-US" dirty="0"/>
            </a:p>
          </p:txBody>
        </p:sp>
      </p:grpSp>
      <p:sp>
        <p:nvSpPr>
          <p:cNvPr id="35" name="Rectangle 34">
            <a:extLst>
              <a:ext uri="{FF2B5EF4-FFF2-40B4-BE49-F238E27FC236}">
                <a16:creationId xmlns:a16="http://schemas.microsoft.com/office/drawing/2014/main" id="{FDC47DFC-244D-C0A2-5DA3-0798415E5437}"/>
              </a:ext>
            </a:extLst>
          </p:cNvPr>
          <p:cNvSpPr/>
          <p:nvPr/>
        </p:nvSpPr>
        <p:spPr>
          <a:xfrm>
            <a:off x="4840778" y="2754868"/>
            <a:ext cx="685800" cy="457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35</a:t>
            </a:r>
            <a:endParaRPr lang="en-US" dirty="0">
              <a:solidFill>
                <a:schemeClr val="tx1"/>
              </a:solidFill>
            </a:endParaRPr>
          </a:p>
        </p:txBody>
      </p:sp>
    </p:spTree>
    <p:extLst>
      <p:ext uri="{BB962C8B-B14F-4D97-AF65-F5344CB8AC3E}">
        <p14:creationId xmlns:p14="http://schemas.microsoft.com/office/powerpoint/2010/main" val="1189523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3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C071C-21A2-BF1E-CFE3-2616ACF52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F4A77-A242-CDF6-CF85-4D5D833A9FFE}"/>
              </a:ext>
            </a:extLst>
          </p:cNvPr>
          <p:cNvSpPr>
            <a:spLocks noGrp="1"/>
          </p:cNvSpPr>
          <p:nvPr>
            <p:ph type="title"/>
          </p:nvPr>
        </p:nvSpPr>
        <p:spPr>
          <a:xfrm>
            <a:off x="0" y="1"/>
            <a:ext cx="12192000" cy="711200"/>
          </a:xfrm>
        </p:spPr>
        <p:txBody>
          <a:bodyPr/>
          <a:lstStyle/>
          <a:p>
            <a:r>
              <a:rPr lang="en-US" dirty="0"/>
              <a:t>One-Dimensional Array</a:t>
            </a:r>
          </a:p>
        </p:txBody>
      </p:sp>
      <p:sp>
        <p:nvSpPr>
          <p:cNvPr id="3" name="Content Placeholder 2">
            <a:extLst>
              <a:ext uri="{FF2B5EF4-FFF2-40B4-BE49-F238E27FC236}">
                <a16:creationId xmlns:a16="http://schemas.microsoft.com/office/drawing/2014/main" id="{1712FE7E-5BEC-2E58-44B4-8EEAFAA254C6}"/>
              </a:ext>
            </a:extLst>
          </p:cNvPr>
          <p:cNvSpPr>
            <a:spLocks noGrp="1"/>
          </p:cNvSpPr>
          <p:nvPr>
            <p:ph idx="1"/>
          </p:nvPr>
        </p:nvSpPr>
        <p:spPr>
          <a:xfrm>
            <a:off x="131180" y="863444"/>
            <a:ext cx="11929641" cy="5590565"/>
          </a:xfrm>
        </p:spPr>
        <p:txBody>
          <a:bodyPr/>
          <a:lstStyle/>
          <a:p>
            <a:r>
              <a:rPr lang="en-US" dirty="0"/>
              <a:t>An array using </a:t>
            </a:r>
            <a:r>
              <a:rPr lang="en-US" dirty="0">
                <a:solidFill>
                  <a:srgbClr val="B71B1C"/>
                </a:solidFill>
              </a:rPr>
              <a:t>one subscript</a:t>
            </a:r>
            <a:r>
              <a:rPr lang="en-US" dirty="0"/>
              <a:t> to represent the </a:t>
            </a:r>
            <a:r>
              <a:rPr lang="en-US" dirty="0">
                <a:solidFill>
                  <a:srgbClr val="B71B1C"/>
                </a:solidFill>
              </a:rPr>
              <a:t>list of elements </a:t>
            </a:r>
            <a:r>
              <a:rPr lang="en-US" dirty="0"/>
              <a:t>is called </a:t>
            </a:r>
            <a:r>
              <a:rPr lang="en-US" dirty="0">
                <a:solidFill>
                  <a:srgbClr val="B71B1C"/>
                </a:solidFill>
              </a:rPr>
              <a:t>one dimensional array</a:t>
            </a:r>
            <a:r>
              <a:rPr lang="en-US" dirty="0"/>
              <a:t>.</a:t>
            </a:r>
          </a:p>
          <a:p>
            <a:r>
              <a:rPr lang="en-US" dirty="0"/>
              <a:t>A One-dimensional array is essentially a </a:t>
            </a:r>
            <a:r>
              <a:rPr lang="en-US" dirty="0">
                <a:solidFill>
                  <a:srgbClr val="B71B1C"/>
                </a:solidFill>
              </a:rPr>
              <a:t>list</a:t>
            </a:r>
            <a:r>
              <a:rPr lang="en-US" dirty="0"/>
              <a:t> of </a:t>
            </a:r>
            <a:r>
              <a:rPr lang="en-US" dirty="0">
                <a:solidFill>
                  <a:srgbClr val="B71B1C"/>
                </a:solidFill>
              </a:rPr>
              <a:t>like-typed variables</a:t>
            </a:r>
            <a:r>
              <a:rPr lang="en-US" dirty="0"/>
              <a:t>.</a:t>
            </a:r>
          </a:p>
          <a:p>
            <a:r>
              <a:rPr lang="en-US" dirty="0"/>
              <a:t>Array declaration:	</a:t>
            </a:r>
            <a:r>
              <a:rPr lang="en-US" dirty="0">
                <a:ea typeface="Cambria" pitchFamily="18" charset="0"/>
              </a:rPr>
              <a:t>type </a:t>
            </a:r>
            <a:r>
              <a:rPr lang="en-US" dirty="0" err="1">
                <a:ea typeface="Cambria" pitchFamily="18" charset="0"/>
              </a:rPr>
              <a:t>var</a:t>
            </a:r>
            <a:r>
              <a:rPr lang="en-US" dirty="0">
                <a:ea typeface="Cambria" pitchFamily="18" charset="0"/>
              </a:rPr>
              <a:t>-name[];</a:t>
            </a:r>
          </a:p>
          <a:p>
            <a:pPr>
              <a:buNone/>
            </a:pPr>
            <a:r>
              <a:rPr lang="en-US" dirty="0"/>
              <a:t>	Example: 		</a:t>
            </a:r>
            <a:r>
              <a:rPr lang="en-US" dirty="0" err="1">
                <a:ea typeface="Cambria" pitchFamily="18" charset="0"/>
              </a:rPr>
              <a:t>int</a:t>
            </a:r>
            <a:r>
              <a:rPr lang="en-US" dirty="0">
                <a:ea typeface="Cambria" pitchFamily="18" charset="0"/>
              </a:rPr>
              <a:t> </a:t>
            </a:r>
            <a:r>
              <a:rPr lang="en-US" dirty="0" err="1">
                <a:ea typeface="Cambria" pitchFamily="18" charset="0"/>
              </a:rPr>
              <a:t>student_marks</a:t>
            </a:r>
            <a:r>
              <a:rPr lang="en-US" dirty="0">
                <a:ea typeface="Cambria" pitchFamily="18" charset="0"/>
              </a:rPr>
              <a:t>[];</a:t>
            </a:r>
            <a:endParaRPr lang="en-US" sz="2000" dirty="0">
              <a:ea typeface="Cambria" pitchFamily="18" charset="0"/>
            </a:endParaRPr>
          </a:p>
          <a:p>
            <a:r>
              <a:rPr lang="en-US" dirty="0"/>
              <a:t>Above example will represent array with no value (null).</a:t>
            </a:r>
          </a:p>
          <a:p>
            <a:r>
              <a:rPr lang="en-US" dirty="0"/>
              <a:t>To link </a:t>
            </a:r>
            <a:r>
              <a:rPr lang="en-US" dirty="0" err="1">
                <a:solidFill>
                  <a:srgbClr val="B71B1C"/>
                </a:solidFill>
                <a:ea typeface="Cambria" pitchFamily="18" charset="0"/>
              </a:rPr>
              <a:t>student_marks</a:t>
            </a:r>
            <a:r>
              <a:rPr lang="en-US" dirty="0"/>
              <a:t> with actual array of integers, we must allocate one using </a:t>
            </a:r>
            <a:r>
              <a:rPr lang="en-US" i="1" dirty="0">
                <a:solidFill>
                  <a:srgbClr val="B71B1C"/>
                </a:solidFill>
                <a:ea typeface="Cambria" pitchFamily="18" charset="0"/>
              </a:rPr>
              <a:t>new</a:t>
            </a:r>
            <a:r>
              <a:rPr lang="en-US" dirty="0"/>
              <a:t> keyword.</a:t>
            </a:r>
          </a:p>
          <a:p>
            <a:pPr>
              <a:buNone/>
            </a:pPr>
            <a:r>
              <a:rPr lang="en-US" dirty="0"/>
              <a:t>	Example: 	</a:t>
            </a:r>
            <a:r>
              <a:rPr lang="en-US" dirty="0" err="1">
                <a:ea typeface="Cambria" pitchFamily="18" charset="0"/>
              </a:rPr>
              <a:t>int</a:t>
            </a:r>
            <a:r>
              <a:rPr lang="en-US" dirty="0">
                <a:ea typeface="Cambria" pitchFamily="18" charset="0"/>
              </a:rPr>
              <a:t> </a:t>
            </a:r>
            <a:r>
              <a:rPr lang="en-US" dirty="0" err="1">
                <a:ea typeface="Cambria" pitchFamily="18" charset="0"/>
              </a:rPr>
              <a:t>student_marks</a:t>
            </a:r>
            <a:r>
              <a:rPr lang="en-US" dirty="0">
                <a:ea typeface="Cambria" pitchFamily="18" charset="0"/>
              </a:rPr>
              <a:t>[] = </a:t>
            </a:r>
            <a:r>
              <a:rPr lang="en-US" i="1" dirty="0">
                <a:solidFill>
                  <a:srgbClr val="B71B1C"/>
                </a:solidFill>
                <a:ea typeface="Cambria" pitchFamily="18" charset="0"/>
              </a:rPr>
              <a:t>new</a:t>
            </a:r>
            <a:r>
              <a:rPr lang="en-US" dirty="0">
                <a:ea typeface="Cambria" pitchFamily="18" charset="0"/>
              </a:rPr>
              <a:t> </a:t>
            </a:r>
            <a:r>
              <a:rPr lang="en-US" dirty="0" err="1">
                <a:ea typeface="Cambria" pitchFamily="18" charset="0"/>
              </a:rPr>
              <a:t>int</a:t>
            </a:r>
            <a:r>
              <a:rPr lang="en-US" dirty="0">
                <a:ea typeface="Cambria" pitchFamily="18" charset="0"/>
              </a:rPr>
              <a:t>[20];</a:t>
            </a:r>
          </a:p>
        </p:txBody>
      </p:sp>
    </p:spTree>
    <p:extLst>
      <p:ext uri="{BB962C8B-B14F-4D97-AF65-F5344CB8AC3E}">
        <p14:creationId xmlns:p14="http://schemas.microsoft.com/office/powerpoint/2010/main" val="2837533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732D0-932E-2142-6A43-CEB6C8023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DABF3-D05C-579F-B1A7-C69334CF2603}"/>
              </a:ext>
            </a:extLst>
          </p:cNvPr>
          <p:cNvSpPr>
            <a:spLocks noGrp="1"/>
          </p:cNvSpPr>
          <p:nvPr>
            <p:ph type="title"/>
          </p:nvPr>
        </p:nvSpPr>
        <p:spPr>
          <a:xfrm>
            <a:off x="0" y="1"/>
            <a:ext cx="12192000" cy="711200"/>
          </a:xfrm>
        </p:spPr>
        <p:txBody>
          <a:bodyPr/>
          <a:lstStyle/>
          <a:p>
            <a:r>
              <a:rPr lang="en-IN" dirty="0"/>
              <a:t>Example (Array)</a:t>
            </a:r>
            <a:endParaRPr lang="en-US" dirty="0"/>
          </a:p>
        </p:txBody>
      </p:sp>
      <p:sp>
        <p:nvSpPr>
          <p:cNvPr id="3" name="TextBox 2">
            <a:extLst>
              <a:ext uri="{FF2B5EF4-FFF2-40B4-BE49-F238E27FC236}">
                <a16:creationId xmlns:a16="http://schemas.microsoft.com/office/drawing/2014/main" id="{D17FE766-5301-108D-DC89-6C441CE1EE58}"/>
              </a:ext>
            </a:extLst>
          </p:cNvPr>
          <p:cNvSpPr txBox="1"/>
          <p:nvPr/>
        </p:nvSpPr>
        <p:spPr>
          <a:xfrm>
            <a:off x="228600" y="906621"/>
            <a:ext cx="8915400" cy="5632311"/>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class</a:t>
            </a:r>
            <a:r>
              <a:rPr lang="en-US" b="1" dirty="0">
                <a:solidFill>
                  <a:srgbClr val="000000"/>
                </a:solidFill>
                <a:latin typeface="Consolas"/>
              </a:rPr>
              <a:t> </a:t>
            </a:r>
            <a:r>
              <a:rPr lang="en-US" b="1" dirty="0" err="1">
                <a:solidFill>
                  <a:srgbClr val="000000"/>
                </a:solidFill>
                <a:latin typeface="Consolas"/>
              </a:rPr>
              <a:t>ArrayDemo</a:t>
            </a:r>
            <a:r>
              <a:rPr lang="en-US" b="1" dirty="0">
                <a:solidFill>
                  <a:srgbClr val="000000"/>
                </a:solidFill>
                <a:latin typeface="Consolas"/>
              </a:rPr>
              <a:t>{</a:t>
            </a:r>
          </a:p>
          <a:p>
            <a:pPr lvl="1"/>
            <a:r>
              <a:rPr lang="en-US" b="1" dirty="0">
                <a:solidFill>
                  <a:srgbClr val="7F0055"/>
                </a:solidFill>
                <a:latin typeface="Consolas"/>
              </a:rPr>
              <a:t>public</a:t>
            </a:r>
            <a:r>
              <a:rPr lang="en-US" b="1" dirty="0">
                <a:solidFill>
                  <a:srgbClr val="000000"/>
                </a:solidFill>
                <a:latin typeface="Consolas"/>
              </a:rPr>
              <a:t> </a:t>
            </a:r>
            <a:r>
              <a:rPr lang="en-US" b="1" dirty="0">
                <a:solidFill>
                  <a:srgbClr val="7F0055"/>
                </a:solidFill>
                <a:latin typeface="Consolas"/>
              </a:rPr>
              <a:t>static</a:t>
            </a:r>
            <a:r>
              <a:rPr lang="en-US" b="1" dirty="0">
                <a:solidFill>
                  <a:srgbClr val="000000"/>
                </a:solidFill>
                <a:latin typeface="Consolas"/>
              </a:rPr>
              <a:t> </a:t>
            </a:r>
            <a:r>
              <a:rPr lang="en-US" b="1" dirty="0">
                <a:solidFill>
                  <a:srgbClr val="7F0055"/>
                </a:solidFill>
                <a:latin typeface="Consolas"/>
              </a:rPr>
              <a:t>void</a:t>
            </a:r>
            <a:r>
              <a:rPr lang="en-US" b="1" dirty="0">
                <a:solidFill>
                  <a:srgbClr val="000000"/>
                </a:solidFill>
                <a:latin typeface="Consolas"/>
              </a:rPr>
              <a:t> main(String[] </a:t>
            </a:r>
            <a:r>
              <a:rPr lang="en-US" b="1" dirty="0" err="1">
                <a:solidFill>
                  <a:srgbClr val="6A3E3E"/>
                </a:solidFill>
                <a:latin typeface="Consolas"/>
              </a:rPr>
              <a:t>args</a:t>
            </a:r>
            <a:r>
              <a:rPr lang="en-US" b="1" dirty="0">
                <a:solidFill>
                  <a:srgbClr val="000000"/>
                </a:solidFill>
                <a:latin typeface="Consolas"/>
              </a:rPr>
              <a:t>) {</a:t>
            </a:r>
          </a:p>
          <a:p>
            <a:pPr lvl="2"/>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a[]</a:t>
            </a:r>
            <a:r>
              <a:rPr lang="en-US" b="1" dirty="0">
                <a:solidFill>
                  <a:srgbClr val="000000"/>
                </a:solidFill>
                <a:latin typeface="Consolas"/>
              </a:rPr>
              <a:t>; </a:t>
            </a:r>
            <a:r>
              <a:rPr lang="en-US" b="1" dirty="0">
                <a:solidFill>
                  <a:srgbClr val="3F7F5F"/>
                </a:solidFill>
                <a:latin typeface="Consolas"/>
              </a:rPr>
              <a:t>// or </a:t>
            </a:r>
            <a:r>
              <a:rPr lang="en-US" b="1" dirty="0" err="1">
                <a:solidFill>
                  <a:srgbClr val="3F7F5F"/>
                </a:solidFill>
                <a:latin typeface="Consolas"/>
              </a:rPr>
              <a:t>int</a:t>
            </a:r>
            <a:r>
              <a:rPr lang="en-US" b="1" dirty="0">
                <a:solidFill>
                  <a:srgbClr val="3F7F5F"/>
                </a:solidFill>
                <a:latin typeface="Consolas"/>
              </a:rPr>
              <a:t>[] a</a:t>
            </a:r>
          </a:p>
          <a:p>
            <a:pPr lvl="2"/>
            <a:r>
              <a:rPr lang="en-US" dirty="0">
                <a:solidFill>
                  <a:srgbClr val="3F7F5F"/>
                </a:solidFill>
                <a:latin typeface="Consolas"/>
              </a:rPr>
              <a:t>// till now it is null as it does not assigned any memory</a:t>
            </a:r>
          </a:p>
          <a:p>
            <a:pPr lvl="2"/>
            <a:endParaRPr lang="en-US" dirty="0">
              <a:latin typeface="Consolas"/>
            </a:endParaRPr>
          </a:p>
          <a:p>
            <a:pPr lvl="2"/>
            <a:r>
              <a:rPr lang="en-US" dirty="0">
                <a:solidFill>
                  <a:srgbClr val="6A3E3E"/>
                </a:solidFill>
                <a:latin typeface="Consolas"/>
              </a:rPr>
              <a:t>a</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[5]; </a:t>
            </a:r>
          </a:p>
          <a:p>
            <a:pPr lvl="2"/>
            <a:r>
              <a:rPr lang="en-US" b="1" dirty="0">
                <a:solidFill>
                  <a:srgbClr val="3F7F5F"/>
                </a:solidFill>
                <a:latin typeface="Consolas"/>
              </a:rPr>
              <a:t>// here we actually create an array</a:t>
            </a:r>
          </a:p>
          <a:p>
            <a:pPr lvl="2"/>
            <a:r>
              <a:rPr lang="en-US" dirty="0">
                <a:solidFill>
                  <a:srgbClr val="6A3E3E"/>
                </a:solidFill>
                <a:latin typeface="Consolas"/>
              </a:rPr>
              <a:t>a</a:t>
            </a:r>
            <a:r>
              <a:rPr lang="en-US" dirty="0">
                <a:solidFill>
                  <a:srgbClr val="000000"/>
                </a:solidFill>
                <a:latin typeface="Consolas"/>
              </a:rPr>
              <a:t>[0] = 5;</a:t>
            </a:r>
          </a:p>
          <a:p>
            <a:pPr lvl="2"/>
            <a:r>
              <a:rPr lang="en-US" dirty="0">
                <a:solidFill>
                  <a:srgbClr val="6A3E3E"/>
                </a:solidFill>
                <a:latin typeface="Consolas"/>
              </a:rPr>
              <a:t>a</a:t>
            </a:r>
            <a:r>
              <a:rPr lang="en-US" dirty="0">
                <a:solidFill>
                  <a:srgbClr val="000000"/>
                </a:solidFill>
                <a:latin typeface="Consolas"/>
              </a:rPr>
              <a:t>[1] = 8;</a:t>
            </a:r>
          </a:p>
          <a:p>
            <a:pPr lvl="2"/>
            <a:r>
              <a:rPr lang="en-US" dirty="0">
                <a:solidFill>
                  <a:srgbClr val="6A3E3E"/>
                </a:solidFill>
                <a:latin typeface="Consolas"/>
              </a:rPr>
              <a:t>a</a:t>
            </a:r>
            <a:r>
              <a:rPr lang="en-US" dirty="0">
                <a:solidFill>
                  <a:srgbClr val="000000"/>
                </a:solidFill>
                <a:latin typeface="Consolas"/>
              </a:rPr>
              <a:t>[2] = 15;</a:t>
            </a:r>
          </a:p>
          <a:p>
            <a:pPr lvl="2"/>
            <a:r>
              <a:rPr lang="en-US" dirty="0">
                <a:solidFill>
                  <a:srgbClr val="6A3E3E"/>
                </a:solidFill>
                <a:latin typeface="Consolas"/>
              </a:rPr>
              <a:t>a</a:t>
            </a:r>
            <a:r>
              <a:rPr lang="en-US" dirty="0">
                <a:solidFill>
                  <a:srgbClr val="000000"/>
                </a:solidFill>
                <a:latin typeface="Consolas"/>
              </a:rPr>
              <a:t>[3] = 84;</a:t>
            </a:r>
          </a:p>
          <a:p>
            <a:pPr lvl="2"/>
            <a:r>
              <a:rPr lang="en-US" dirty="0">
                <a:solidFill>
                  <a:srgbClr val="6A3E3E"/>
                </a:solidFill>
                <a:latin typeface="Consolas"/>
              </a:rPr>
              <a:t>a</a:t>
            </a:r>
            <a:r>
              <a:rPr lang="en-US" dirty="0">
                <a:solidFill>
                  <a:srgbClr val="000000"/>
                </a:solidFill>
                <a:latin typeface="Consolas"/>
              </a:rPr>
              <a:t>[4] = 53;</a:t>
            </a:r>
          </a:p>
          <a:p>
            <a:pPr lvl="2"/>
            <a:endParaRPr lang="en-US" dirty="0">
              <a:latin typeface="Consolas"/>
            </a:endParaRPr>
          </a:p>
          <a:p>
            <a:pPr lvl="2"/>
            <a:r>
              <a:rPr lang="en-US" dirty="0">
                <a:solidFill>
                  <a:srgbClr val="3F7F5F"/>
                </a:solidFill>
                <a:latin typeface="Consolas"/>
              </a:rPr>
              <a:t>/* in java we use length property to determine the length </a:t>
            </a:r>
          </a:p>
          <a:p>
            <a:pPr lvl="2"/>
            <a:r>
              <a:rPr lang="en-US" dirty="0">
                <a:solidFill>
                  <a:srgbClr val="3F7F5F"/>
                </a:solidFill>
                <a:latin typeface="Consolas"/>
              </a:rPr>
              <a:t> * of an array, unlike c where we used </a:t>
            </a:r>
            <a:r>
              <a:rPr lang="en-US" dirty="0" err="1">
                <a:solidFill>
                  <a:srgbClr val="3F7F5F"/>
                </a:solidFill>
                <a:latin typeface="Consolas"/>
              </a:rPr>
              <a:t>sizeof</a:t>
            </a:r>
            <a:r>
              <a:rPr lang="en-US" dirty="0">
                <a:solidFill>
                  <a:srgbClr val="3F7F5F"/>
                </a:solidFill>
                <a:latin typeface="Consolas"/>
              </a:rPr>
              <a:t> function */</a:t>
            </a:r>
          </a:p>
          <a:p>
            <a:pPr lvl="2"/>
            <a:r>
              <a:rPr lang="nn-NO" b="1" dirty="0">
                <a:solidFill>
                  <a:srgbClr val="7F0055"/>
                </a:solidFill>
                <a:latin typeface="Consolas"/>
              </a:rPr>
              <a:t>for</a:t>
            </a:r>
            <a:r>
              <a:rPr lang="nn-NO" b="1" dirty="0">
                <a:solidFill>
                  <a:srgbClr val="000000"/>
                </a:solidFill>
                <a:latin typeface="Consolas"/>
              </a:rPr>
              <a:t> (</a:t>
            </a:r>
            <a:r>
              <a:rPr lang="nn-NO" b="1" dirty="0">
                <a:solidFill>
                  <a:srgbClr val="7F0055"/>
                </a:solidFill>
                <a:latin typeface="Consolas"/>
              </a:rPr>
              <a:t>int</a:t>
            </a:r>
            <a:r>
              <a:rPr lang="nn-NO" b="1" dirty="0">
                <a:solidFill>
                  <a:srgbClr val="000000"/>
                </a:solidFill>
                <a:latin typeface="Consolas"/>
              </a:rPr>
              <a:t> </a:t>
            </a:r>
            <a:r>
              <a:rPr lang="nn-NO" b="1" dirty="0">
                <a:solidFill>
                  <a:srgbClr val="6A3E3E"/>
                </a:solidFill>
                <a:latin typeface="Consolas"/>
              </a:rPr>
              <a:t>i</a:t>
            </a:r>
            <a:r>
              <a:rPr lang="nn-NO" b="1" dirty="0">
                <a:solidFill>
                  <a:srgbClr val="000000"/>
                </a:solidFill>
                <a:latin typeface="Consolas"/>
              </a:rPr>
              <a:t> = 0; </a:t>
            </a:r>
            <a:r>
              <a:rPr lang="nn-NO" b="1" dirty="0">
                <a:solidFill>
                  <a:srgbClr val="6A3E3E"/>
                </a:solidFill>
                <a:latin typeface="Consolas"/>
              </a:rPr>
              <a:t>i</a:t>
            </a:r>
            <a:r>
              <a:rPr lang="nn-NO" b="1" dirty="0">
                <a:solidFill>
                  <a:srgbClr val="000000"/>
                </a:solidFill>
                <a:latin typeface="Consolas"/>
              </a:rPr>
              <a:t> &lt; </a:t>
            </a:r>
            <a:r>
              <a:rPr lang="nn-NO" b="1" dirty="0">
                <a:solidFill>
                  <a:srgbClr val="6A3E3E"/>
                </a:solidFill>
                <a:latin typeface="Consolas"/>
              </a:rPr>
              <a:t>a</a:t>
            </a:r>
            <a:r>
              <a:rPr lang="nn-NO" b="1" dirty="0">
                <a:solidFill>
                  <a:srgbClr val="000000"/>
                </a:solidFill>
                <a:latin typeface="Consolas"/>
              </a:rPr>
              <a:t>.</a:t>
            </a:r>
            <a:r>
              <a:rPr lang="nn-NO" b="1" dirty="0">
                <a:solidFill>
                  <a:srgbClr val="0000C0"/>
                </a:solidFill>
                <a:latin typeface="Consolas"/>
              </a:rPr>
              <a:t>length</a:t>
            </a:r>
            <a:r>
              <a:rPr lang="nn-NO" b="1" dirty="0">
                <a:solidFill>
                  <a:srgbClr val="000000"/>
                </a:solidFill>
                <a:latin typeface="Consolas"/>
              </a:rPr>
              <a:t>; </a:t>
            </a:r>
            <a:r>
              <a:rPr lang="nn-NO" b="1" dirty="0">
                <a:solidFill>
                  <a:srgbClr val="6A3E3E"/>
                </a:solidFill>
                <a:latin typeface="Consolas"/>
              </a:rPr>
              <a:t>i</a:t>
            </a:r>
            <a:r>
              <a:rPr lang="nn-NO" b="1" dirty="0">
                <a:solidFill>
                  <a:srgbClr val="000000"/>
                </a:solidFill>
                <a:latin typeface="Consolas"/>
              </a:rPr>
              <a:t>++) {</a:t>
            </a:r>
          </a:p>
          <a:p>
            <a:pPr lvl="2"/>
            <a:r>
              <a:rPr lang="en-US" dirty="0">
                <a:solidFill>
                  <a:srgbClr val="000000"/>
                </a:solidFill>
                <a:latin typeface="Consolas"/>
              </a:rPr>
              <a:t>	</a:t>
            </a:r>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a:t>
            </a:r>
            <a:r>
              <a:rPr lang="en-US" b="1" i="1" dirty="0">
                <a:solidFill>
                  <a:srgbClr val="000000"/>
                </a:solidFill>
                <a:latin typeface="Consolas"/>
              </a:rPr>
              <a:t>+</a:t>
            </a:r>
            <a:r>
              <a:rPr lang="en-US" b="1" i="1" dirty="0" err="1">
                <a:solidFill>
                  <a:srgbClr val="6A3E3E"/>
                </a:solidFill>
                <a:latin typeface="Consolas"/>
              </a:rPr>
              <a:t>i</a:t>
            </a:r>
            <a:r>
              <a:rPr lang="en-US" b="1" i="1" dirty="0">
                <a:solidFill>
                  <a:srgbClr val="000000"/>
                </a:solidFill>
                <a:latin typeface="Consolas"/>
              </a:rPr>
              <a:t>+</a:t>
            </a:r>
            <a:r>
              <a:rPr lang="en-US" b="1" i="1" dirty="0">
                <a:solidFill>
                  <a:srgbClr val="2A00FF"/>
                </a:solidFill>
                <a:latin typeface="Consolas"/>
              </a:rPr>
              <a:t>"]="</a:t>
            </a:r>
            <a:r>
              <a:rPr lang="en-US" b="1" i="1" dirty="0">
                <a:solidFill>
                  <a:srgbClr val="000000"/>
                </a:solidFill>
                <a:latin typeface="Consolas"/>
              </a:rPr>
              <a:t>+</a:t>
            </a:r>
            <a:r>
              <a:rPr lang="en-US" b="1" i="1" dirty="0">
                <a:solidFill>
                  <a:srgbClr val="6A3E3E"/>
                </a:solidFill>
                <a:latin typeface="Consolas"/>
              </a:rPr>
              <a:t>a</a:t>
            </a:r>
            <a:r>
              <a:rPr lang="en-US" b="1" i="1" dirty="0">
                <a:solidFill>
                  <a:srgbClr val="000000"/>
                </a:solidFill>
                <a:latin typeface="Consolas"/>
              </a:rPr>
              <a:t>[</a:t>
            </a:r>
            <a:r>
              <a:rPr lang="en-US" b="1" i="1" dirty="0" err="1">
                <a:solidFill>
                  <a:srgbClr val="6A3E3E"/>
                </a:solidFill>
                <a:latin typeface="Consolas"/>
              </a:rPr>
              <a:t>i</a:t>
            </a:r>
            <a:r>
              <a:rPr lang="en-US" b="1" i="1" dirty="0">
                <a:solidFill>
                  <a:srgbClr val="000000"/>
                </a:solidFill>
                <a:latin typeface="Consolas"/>
              </a:rPr>
              <a:t>]);</a:t>
            </a:r>
          </a:p>
          <a:p>
            <a:pPr lvl="2"/>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p>
        </p:txBody>
      </p:sp>
      <p:pic>
        <p:nvPicPr>
          <p:cNvPr id="4" name="Picture 1">
            <a:extLst>
              <a:ext uri="{FF2B5EF4-FFF2-40B4-BE49-F238E27FC236}">
                <a16:creationId xmlns:a16="http://schemas.microsoft.com/office/drawing/2014/main" id="{8EC2A416-4D43-FEB2-32FD-FB5C41E20FC3}"/>
              </a:ext>
            </a:extLst>
          </p:cNvPr>
          <p:cNvPicPr>
            <a:picLocks noChangeAspect="1" noChangeArrowheads="1"/>
          </p:cNvPicPr>
          <p:nvPr/>
        </p:nvPicPr>
        <p:blipFill>
          <a:blip r:embed="rId2" cstate="print"/>
          <a:srcRect/>
          <a:stretch>
            <a:fillRect/>
          </a:stretch>
        </p:blipFill>
        <p:spPr bwMode="auto">
          <a:xfrm>
            <a:off x="5904074" y="2227271"/>
            <a:ext cx="5194092" cy="2133600"/>
          </a:xfrm>
          <a:prstGeom prst="rect">
            <a:avLst/>
          </a:prstGeom>
          <a:noFill/>
          <a:ln w="9525">
            <a:noFill/>
            <a:miter lim="800000"/>
            <a:headEnd/>
            <a:tailEnd/>
          </a:ln>
        </p:spPr>
      </p:pic>
    </p:spTree>
    <p:extLst>
      <p:ext uri="{BB962C8B-B14F-4D97-AF65-F5344CB8AC3E}">
        <p14:creationId xmlns:p14="http://schemas.microsoft.com/office/powerpoint/2010/main" val="2718147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16" end="16"/>
                                            </p:tx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
                                            <p:txEl>
                                              <p:pRg st="18" end="18"/>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3AECC-9FFB-7819-BDF7-79BB7BD98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18E06-6ECB-5891-B8FA-649FB1C43005}"/>
              </a:ext>
            </a:extLst>
          </p:cNvPr>
          <p:cNvSpPr>
            <a:spLocks noGrp="1"/>
          </p:cNvSpPr>
          <p:nvPr>
            <p:ph type="title"/>
          </p:nvPr>
        </p:nvSpPr>
        <p:spPr>
          <a:xfrm>
            <a:off x="0" y="1"/>
            <a:ext cx="12192000" cy="711200"/>
          </a:xfrm>
        </p:spPr>
        <p:txBody>
          <a:bodyPr/>
          <a:lstStyle/>
          <a:p>
            <a:r>
              <a:rPr lang="en-US" dirty="0"/>
              <a:t>Multi-Dimensional Array</a:t>
            </a:r>
          </a:p>
        </p:txBody>
      </p:sp>
      <p:sp>
        <p:nvSpPr>
          <p:cNvPr id="3" name="Content Placeholder 2">
            <a:extLst>
              <a:ext uri="{FF2B5EF4-FFF2-40B4-BE49-F238E27FC236}">
                <a16:creationId xmlns:a16="http://schemas.microsoft.com/office/drawing/2014/main" id="{D019AE41-9E41-8B01-3162-C00FBA195BC9}"/>
              </a:ext>
            </a:extLst>
          </p:cNvPr>
          <p:cNvSpPr>
            <a:spLocks noGrp="1"/>
          </p:cNvSpPr>
          <p:nvPr>
            <p:ph idx="1"/>
          </p:nvPr>
        </p:nvSpPr>
        <p:spPr>
          <a:xfrm>
            <a:off x="131180" y="863444"/>
            <a:ext cx="11929641" cy="5590565"/>
          </a:xfrm>
        </p:spPr>
        <p:txBody>
          <a:bodyPr/>
          <a:lstStyle/>
          <a:p>
            <a:r>
              <a:rPr lang="en-US" dirty="0"/>
              <a:t>In java, multidimensional array is actually </a:t>
            </a:r>
            <a:r>
              <a:rPr lang="en-US" dirty="0">
                <a:solidFill>
                  <a:srgbClr val="C00000"/>
                </a:solidFill>
              </a:rPr>
              <a:t>array of arrays</a:t>
            </a:r>
            <a:r>
              <a:rPr lang="en-US" dirty="0"/>
              <a:t>.</a:t>
            </a:r>
          </a:p>
          <a:p>
            <a:r>
              <a:rPr lang="en-US" b="1" dirty="0"/>
              <a:t>Example</a:t>
            </a:r>
            <a:r>
              <a:rPr lang="en-US" dirty="0"/>
              <a:t>: 	</a:t>
            </a:r>
            <a:r>
              <a:rPr lang="en-US" dirty="0" err="1">
                <a:latin typeface="Cambria" pitchFamily="18" charset="0"/>
                <a:ea typeface="Cambria" pitchFamily="18" charset="0"/>
              </a:rPr>
              <a:t>int</a:t>
            </a:r>
            <a:r>
              <a:rPr lang="en-US" dirty="0">
                <a:latin typeface="Cambria" pitchFamily="18" charset="0"/>
                <a:ea typeface="Cambria" pitchFamily="18" charset="0"/>
              </a:rPr>
              <a:t> </a:t>
            </a:r>
            <a:r>
              <a:rPr lang="en-US" dirty="0" err="1">
                <a:latin typeface="Cambria" pitchFamily="18" charset="0"/>
                <a:ea typeface="Cambria" pitchFamily="18" charset="0"/>
              </a:rPr>
              <a:t>runPerOver</a:t>
            </a:r>
            <a:r>
              <a:rPr lang="en-US" dirty="0">
                <a:latin typeface="Cambria" pitchFamily="18" charset="0"/>
                <a:ea typeface="Cambria" pitchFamily="18" charset="0"/>
              </a:rPr>
              <a:t>[][] = new </a:t>
            </a:r>
            <a:r>
              <a:rPr lang="en-US" dirty="0" err="1">
                <a:latin typeface="Cambria" pitchFamily="18" charset="0"/>
                <a:ea typeface="Cambria" pitchFamily="18" charset="0"/>
              </a:rPr>
              <a:t>int</a:t>
            </a:r>
            <a:r>
              <a:rPr lang="en-US" dirty="0">
                <a:latin typeface="Cambria" pitchFamily="18" charset="0"/>
                <a:ea typeface="Cambria" pitchFamily="18" charset="0"/>
              </a:rPr>
              <a:t>[3][6];</a:t>
            </a:r>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lvl="2">
              <a:buNone/>
            </a:pPr>
            <a:endParaRPr lang="en-US" dirty="0"/>
          </a:p>
          <a:p>
            <a:pPr marL="342900" lvl="2" indent="-342900"/>
            <a:r>
              <a:rPr lang="en-US" sz="2400" b="1" dirty="0">
                <a:cs typeface="Courier New" pitchFamily="49" charset="0"/>
              </a:rPr>
              <a:t>length</a:t>
            </a:r>
            <a:r>
              <a:rPr lang="en-US" sz="2400" b="1" dirty="0"/>
              <a:t> field</a:t>
            </a:r>
            <a:r>
              <a:rPr lang="en-US" sz="2400" dirty="0"/>
              <a:t>:</a:t>
            </a:r>
          </a:p>
          <a:p>
            <a:pPr marL="800100" lvl="3" indent="-342900">
              <a:buFont typeface="Wingdings" panose="05000000000000000000" pitchFamily="2" charset="2"/>
              <a:buChar char="§"/>
            </a:pPr>
            <a:r>
              <a:rPr lang="en-US" sz="2200" dirty="0"/>
              <a:t>If we use length field with multidimensional array, it will return length of first dimension.</a:t>
            </a:r>
          </a:p>
          <a:p>
            <a:pPr marL="800100" lvl="3" indent="-342900">
              <a:buFont typeface="Wingdings" panose="05000000000000000000" pitchFamily="2" charset="2"/>
              <a:buChar char="§"/>
            </a:pPr>
            <a:r>
              <a:rPr lang="en-US" sz="2200" dirty="0"/>
              <a:t>Here, if </a:t>
            </a:r>
            <a:r>
              <a:rPr lang="en-US" sz="2200" dirty="0" err="1">
                <a:solidFill>
                  <a:srgbClr val="C00000"/>
                </a:solidFill>
              </a:rPr>
              <a:t>runPerOver.length</a:t>
            </a:r>
            <a:r>
              <a:rPr lang="en-US" sz="2200" dirty="0">
                <a:solidFill>
                  <a:srgbClr val="C00000"/>
                </a:solidFill>
              </a:rPr>
              <a:t> </a:t>
            </a:r>
            <a:r>
              <a:rPr lang="en-US" sz="2200" dirty="0"/>
              <a:t>is accessed it will return </a:t>
            </a:r>
            <a:r>
              <a:rPr lang="en-US" sz="2200" dirty="0">
                <a:solidFill>
                  <a:srgbClr val="C00000"/>
                </a:solidFill>
              </a:rPr>
              <a:t>3</a:t>
            </a:r>
          </a:p>
          <a:p>
            <a:pPr marL="800100" lvl="3" indent="-342900">
              <a:buFont typeface="Wingdings" panose="05000000000000000000" pitchFamily="2" charset="2"/>
              <a:buChar char="§"/>
            </a:pPr>
            <a:r>
              <a:rPr lang="en-US" sz="2200" dirty="0"/>
              <a:t>Also if </a:t>
            </a:r>
            <a:r>
              <a:rPr lang="en-US" sz="2200" dirty="0" err="1">
                <a:solidFill>
                  <a:srgbClr val="C00000"/>
                </a:solidFill>
              </a:rPr>
              <a:t>runPerOver</a:t>
            </a:r>
            <a:r>
              <a:rPr lang="en-US" sz="2200" dirty="0">
                <a:solidFill>
                  <a:srgbClr val="C00000"/>
                </a:solidFill>
              </a:rPr>
              <a:t>[0].length </a:t>
            </a:r>
            <a:r>
              <a:rPr lang="en-US" sz="2200" dirty="0"/>
              <a:t>is accessed it will be </a:t>
            </a:r>
            <a:r>
              <a:rPr lang="en-US" sz="2200" dirty="0">
                <a:solidFill>
                  <a:srgbClr val="C00000"/>
                </a:solidFill>
              </a:rPr>
              <a:t>6</a:t>
            </a:r>
          </a:p>
          <a:p>
            <a:pPr lvl="2">
              <a:buNone/>
            </a:pPr>
            <a:endParaRPr lang="en-US" dirty="0"/>
          </a:p>
          <a:p>
            <a:endParaRPr lang="en-US" dirty="0"/>
          </a:p>
        </p:txBody>
      </p:sp>
      <p:grpSp>
        <p:nvGrpSpPr>
          <p:cNvPr id="4" name="Group 3">
            <a:extLst>
              <a:ext uri="{FF2B5EF4-FFF2-40B4-BE49-F238E27FC236}">
                <a16:creationId xmlns:a16="http://schemas.microsoft.com/office/drawing/2014/main" id="{952B036C-2795-9AC5-0527-3240F6DB5CED}"/>
              </a:ext>
            </a:extLst>
          </p:cNvPr>
          <p:cNvGrpSpPr/>
          <p:nvPr/>
        </p:nvGrpSpPr>
        <p:grpSpPr>
          <a:xfrm>
            <a:off x="3737008" y="1795335"/>
            <a:ext cx="811441" cy="674132"/>
            <a:chOff x="1026884" y="3212068"/>
            <a:chExt cx="811441" cy="674132"/>
          </a:xfrm>
        </p:grpSpPr>
        <p:sp>
          <p:nvSpPr>
            <p:cNvPr id="5" name="Rectangle 4">
              <a:extLst>
                <a:ext uri="{FF2B5EF4-FFF2-40B4-BE49-F238E27FC236}">
                  <a16:creationId xmlns:a16="http://schemas.microsoft.com/office/drawing/2014/main" id="{01E9C9BD-EE1B-AFBE-44FD-C4031AAFF891}"/>
                </a:ext>
              </a:extLst>
            </p:cNvPr>
            <p:cNvSpPr/>
            <p:nvPr/>
          </p:nvSpPr>
          <p:spPr>
            <a:xfrm>
              <a:off x="1066800" y="3212068"/>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4</a:t>
              </a:r>
              <a:endParaRPr lang="en-US" sz="2400" b="1" dirty="0">
                <a:solidFill>
                  <a:schemeClr val="tx1"/>
                </a:solidFill>
              </a:endParaRPr>
            </a:p>
          </p:txBody>
        </p:sp>
        <p:sp>
          <p:nvSpPr>
            <p:cNvPr id="6" name="TextBox 5">
              <a:extLst>
                <a:ext uri="{FF2B5EF4-FFF2-40B4-BE49-F238E27FC236}">
                  <a16:creationId xmlns:a16="http://schemas.microsoft.com/office/drawing/2014/main" id="{5B4B7003-0E17-BC10-BFCF-E43BC9886DD0}"/>
                </a:ext>
              </a:extLst>
            </p:cNvPr>
            <p:cNvSpPr txBox="1"/>
            <p:nvPr/>
          </p:nvSpPr>
          <p:spPr>
            <a:xfrm>
              <a:off x="1026884" y="3516868"/>
              <a:ext cx="811441" cy="369332"/>
            </a:xfrm>
            <a:prstGeom prst="rect">
              <a:avLst/>
            </a:prstGeom>
            <a:noFill/>
          </p:spPr>
          <p:txBody>
            <a:bodyPr wrap="none" rtlCol="0">
              <a:spAutoFit/>
            </a:bodyPr>
            <a:lstStyle/>
            <a:p>
              <a:r>
                <a:rPr lang="en-IN" dirty="0">
                  <a:solidFill>
                    <a:srgbClr val="0070C0"/>
                  </a:solidFill>
                </a:rPr>
                <a:t>a[0][0]</a:t>
              </a:r>
              <a:endParaRPr lang="en-US" dirty="0">
                <a:solidFill>
                  <a:srgbClr val="0070C0"/>
                </a:solidFill>
              </a:endParaRPr>
            </a:p>
          </p:txBody>
        </p:sp>
      </p:grpSp>
      <p:grpSp>
        <p:nvGrpSpPr>
          <p:cNvPr id="7" name="Group 6">
            <a:extLst>
              <a:ext uri="{FF2B5EF4-FFF2-40B4-BE49-F238E27FC236}">
                <a16:creationId xmlns:a16="http://schemas.microsoft.com/office/drawing/2014/main" id="{FDC8CD64-4F68-FBDE-B52A-67448700E7E0}"/>
              </a:ext>
            </a:extLst>
          </p:cNvPr>
          <p:cNvGrpSpPr/>
          <p:nvPr/>
        </p:nvGrpSpPr>
        <p:grpSpPr>
          <a:xfrm>
            <a:off x="4422808" y="1795335"/>
            <a:ext cx="811441" cy="674132"/>
            <a:chOff x="1712684" y="3212068"/>
            <a:chExt cx="811441" cy="674132"/>
          </a:xfrm>
        </p:grpSpPr>
        <p:sp>
          <p:nvSpPr>
            <p:cNvPr id="8" name="Rectangle 7">
              <a:extLst>
                <a:ext uri="{FF2B5EF4-FFF2-40B4-BE49-F238E27FC236}">
                  <a16:creationId xmlns:a16="http://schemas.microsoft.com/office/drawing/2014/main" id="{FBD65044-E8F6-4302-9ECC-25783920734C}"/>
                </a:ext>
              </a:extLst>
            </p:cNvPr>
            <p:cNvSpPr/>
            <p:nvPr/>
          </p:nvSpPr>
          <p:spPr>
            <a:xfrm>
              <a:off x="1752600" y="3212068"/>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0</a:t>
              </a:r>
              <a:endParaRPr lang="en-US" sz="2400" b="1" dirty="0">
                <a:solidFill>
                  <a:schemeClr val="tx1"/>
                </a:solidFill>
              </a:endParaRPr>
            </a:p>
          </p:txBody>
        </p:sp>
        <p:sp>
          <p:nvSpPr>
            <p:cNvPr id="9" name="TextBox 8">
              <a:extLst>
                <a:ext uri="{FF2B5EF4-FFF2-40B4-BE49-F238E27FC236}">
                  <a16:creationId xmlns:a16="http://schemas.microsoft.com/office/drawing/2014/main" id="{DAAA4294-259C-9D7D-D6D0-9D7EBD1B43BB}"/>
                </a:ext>
              </a:extLst>
            </p:cNvPr>
            <p:cNvSpPr txBox="1"/>
            <p:nvPr/>
          </p:nvSpPr>
          <p:spPr>
            <a:xfrm>
              <a:off x="1712684" y="3516868"/>
              <a:ext cx="811441" cy="369332"/>
            </a:xfrm>
            <a:prstGeom prst="rect">
              <a:avLst/>
            </a:prstGeom>
            <a:noFill/>
          </p:spPr>
          <p:txBody>
            <a:bodyPr wrap="none" rtlCol="0">
              <a:spAutoFit/>
            </a:bodyPr>
            <a:lstStyle/>
            <a:p>
              <a:r>
                <a:rPr lang="en-IN" dirty="0">
                  <a:solidFill>
                    <a:srgbClr val="0070C0"/>
                  </a:solidFill>
                </a:rPr>
                <a:t>a[0][1]</a:t>
              </a:r>
              <a:endParaRPr lang="en-US" dirty="0">
                <a:solidFill>
                  <a:srgbClr val="0070C0"/>
                </a:solidFill>
              </a:endParaRPr>
            </a:p>
          </p:txBody>
        </p:sp>
      </p:grpSp>
      <p:grpSp>
        <p:nvGrpSpPr>
          <p:cNvPr id="10" name="Group 9">
            <a:extLst>
              <a:ext uri="{FF2B5EF4-FFF2-40B4-BE49-F238E27FC236}">
                <a16:creationId xmlns:a16="http://schemas.microsoft.com/office/drawing/2014/main" id="{DEF46860-DEA4-729D-953F-3F2A8B3E0D11}"/>
              </a:ext>
            </a:extLst>
          </p:cNvPr>
          <p:cNvGrpSpPr/>
          <p:nvPr/>
        </p:nvGrpSpPr>
        <p:grpSpPr>
          <a:xfrm>
            <a:off x="5108608" y="1795335"/>
            <a:ext cx="811441" cy="674132"/>
            <a:chOff x="2398484" y="3212068"/>
            <a:chExt cx="811441" cy="674132"/>
          </a:xfrm>
        </p:grpSpPr>
        <p:sp>
          <p:nvSpPr>
            <p:cNvPr id="11" name="Rectangle 10">
              <a:extLst>
                <a:ext uri="{FF2B5EF4-FFF2-40B4-BE49-F238E27FC236}">
                  <a16:creationId xmlns:a16="http://schemas.microsoft.com/office/drawing/2014/main" id="{E3EA245F-FA6B-5219-823B-31BDA029A388}"/>
                </a:ext>
              </a:extLst>
            </p:cNvPr>
            <p:cNvSpPr/>
            <p:nvPr/>
          </p:nvSpPr>
          <p:spPr>
            <a:xfrm>
              <a:off x="2438400" y="3212068"/>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12" name="TextBox 11">
              <a:extLst>
                <a:ext uri="{FF2B5EF4-FFF2-40B4-BE49-F238E27FC236}">
                  <a16:creationId xmlns:a16="http://schemas.microsoft.com/office/drawing/2014/main" id="{E2AC7197-5D82-A26B-7FB0-138C615A2D07}"/>
                </a:ext>
              </a:extLst>
            </p:cNvPr>
            <p:cNvSpPr txBox="1"/>
            <p:nvPr/>
          </p:nvSpPr>
          <p:spPr>
            <a:xfrm>
              <a:off x="2398484" y="3516868"/>
              <a:ext cx="811441" cy="369332"/>
            </a:xfrm>
            <a:prstGeom prst="rect">
              <a:avLst/>
            </a:prstGeom>
            <a:noFill/>
          </p:spPr>
          <p:txBody>
            <a:bodyPr wrap="none" rtlCol="0">
              <a:spAutoFit/>
            </a:bodyPr>
            <a:lstStyle/>
            <a:p>
              <a:r>
                <a:rPr lang="en-IN" dirty="0">
                  <a:solidFill>
                    <a:srgbClr val="0070C0"/>
                  </a:solidFill>
                </a:rPr>
                <a:t>a[0][2]</a:t>
              </a:r>
              <a:endParaRPr lang="en-US" dirty="0">
                <a:solidFill>
                  <a:srgbClr val="0070C0"/>
                </a:solidFill>
              </a:endParaRPr>
            </a:p>
          </p:txBody>
        </p:sp>
      </p:grpSp>
      <p:grpSp>
        <p:nvGrpSpPr>
          <p:cNvPr id="13" name="Group 12">
            <a:extLst>
              <a:ext uri="{FF2B5EF4-FFF2-40B4-BE49-F238E27FC236}">
                <a16:creationId xmlns:a16="http://schemas.microsoft.com/office/drawing/2014/main" id="{741DC975-09C3-7233-9169-1A3B0EB9F464}"/>
              </a:ext>
            </a:extLst>
          </p:cNvPr>
          <p:cNvGrpSpPr/>
          <p:nvPr/>
        </p:nvGrpSpPr>
        <p:grpSpPr>
          <a:xfrm>
            <a:off x="5794408" y="1795335"/>
            <a:ext cx="811441" cy="674132"/>
            <a:chOff x="3084284" y="3212068"/>
            <a:chExt cx="811441" cy="674132"/>
          </a:xfrm>
        </p:grpSpPr>
        <p:sp>
          <p:nvSpPr>
            <p:cNvPr id="14" name="Rectangle 13">
              <a:extLst>
                <a:ext uri="{FF2B5EF4-FFF2-40B4-BE49-F238E27FC236}">
                  <a16:creationId xmlns:a16="http://schemas.microsoft.com/office/drawing/2014/main" id="{F6A17BE8-E06B-46F5-9572-AC01F15CF868}"/>
                </a:ext>
              </a:extLst>
            </p:cNvPr>
            <p:cNvSpPr/>
            <p:nvPr/>
          </p:nvSpPr>
          <p:spPr>
            <a:xfrm>
              <a:off x="3124200" y="3212068"/>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3</a:t>
              </a:r>
              <a:endParaRPr lang="en-US" sz="2400" b="1" dirty="0">
                <a:solidFill>
                  <a:schemeClr val="tx1"/>
                </a:solidFill>
              </a:endParaRPr>
            </a:p>
          </p:txBody>
        </p:sp>
        <p:sp>
          <p:nvSpPr>
            <p:cNvPr id="15" name="TextBox 14">
              <a:extLst>
                <a:ext uri="{FF2B5EF4-FFF2-40B4-BE49-F238E27FC236}">
                  <a16:creationId xmlns:a16="http://schemas.microsoft.com/office/drawing/2014/main" id="{22FB0519-1E9A-C82B-5122-6430F74005D4}"/>
                </a:ext>
              </a:extLst>
            </p:cNvPr>
            <p:cNvSpPr txBox="1"/>
            <p:nvPr/>
          </p:nvSpPr>
          <p:spPr>
            <a:xfrm>
              <a:off x="3084284" y="3516868"/>
              <a:ext cx="811441" cy="369332"/>
            </a:xfrm>
            <a:prstGeom prst="rect">
              <a:avLst/>
            </a:prstGeom>
            <a:noFill/>
          </p:spPr>
          <p:txBody>
            <a:bodyPr wrap="none" rtlCol="0">
              <a:spAutoFit/>
            </a:bodyPr>
            <a:lstStyle/>
            <a:p>
              <a:r>
                <a:rPr lang="en-IN" dirty="0">
                  <a:solidFill>
                    <a:srgbClr val="0070C0"/>
                  </a:solidFill>
                </a:rPr>
                <a:t>a[0][3]</a:t>
              </a:r>
              <a:endParaRPr lang="en-US" dirty="0">
                <a:solidFill>
                  <a:srgbClr val="0070C0"/>
                </a:solidFill>
              </a:endParaRPr>
            </a:p>
          </p:txBody>
        </p:sp>
      </p:grpSp>
      <p:grpSp>
        <p:nvGrpSpPr>
          <p:cNvPr id="16" name="Group 15">
            <a:extLst>
              <a:ext uri="{FF2B5EF4-FFF2-40B4-BE49-F238E27FC236}">
                <a16:creationId xmlns:a16="http://schemas.microsoft.com/office/drawing/2014/main" id="{1ACF4ACA-130B-BDE2-49D7-8224093CC218}"/>
              </a:ext>
            </a:extLst>
          </p:cNvPr>
          <p:cNvGrpSpPr/>
          <p:nvPr/>
        </p:nvGrpSpPr>
        <p:grpSpPr>
          <a:xfrm>
            <a:off x="6480208" y="1795335"/>
            <a:ext cx="811441" cy="674132"/>
            <a:chOff x="3770084" y="3212068"/>
            <a:chExt cx="811441" cy="674132"/>
          </a:xfrm>
        </p:grpSpPr>
        <p:sp>
          <p:nvSpPr>
            <p:cNvPr id="17" name="Rectangle 16">
              <a:extLst>
                <a:ext uri="{FF2B5EF4-FFF2-40B4-BE49-F238E27FC236}">
                  <a16:creationId xmlns:a16="http://schemas.microsoft.com/office/drawing/2014/main" id="{B2A0E25F-9EA4-9CBE-7BDD-C9B45A11E554}"/>
                </a:ext>
              </a:extLst>
            </p:cNvPr>
            <p:cNvSpPr/>
            <p:nvPr/>
          </p:nvSpPr>
          <p:spPr>
            <a:xfrm>
              <a:off x="3810000" y="3212068"/>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6</a:t>
              </a:r>
              <a:endParaRPr lang="en-US" sz="2400" b="1" dirty="0">
                <a:solidFill>
                  <a:schemeClr val="tx1"/>
                </a:solidFill>
              </a:endParaRPr>
            </a:p>
          </p:txBody>
        </p:sp>
        <p:sp>
          <p:nvSpPr>
            <p:cNvPr id="18" name="TextBox 17">
              <a:extLst>
                <a:ext uri="{FF2B5EF4-FFF2-40B4-BE49-F238E27FC236}">
                  <a16:creationId xmlns:a16="http://schemas.microsoft.com/office/drawing/2014/main" id="{66A09668-1114-DC9C-13A0-99D2642CDD3B}"/>
                </a:ext>
              </a:extLst>
            </p:cNvPr>
            <p:cNvSpPr txBox="1"/>
            <p:nvPr/>
          </p:nvSpPr>
          <p:spPr>
            <a:xfrm>
              <a:off x="3770084" y="3516868"/>
              <a:ext cx="811441" cy="369332"/>
            </a:xfrm>
            <a:prstGeom prst="rect">
              <a:avLst/>
            </a:prstGeom>
            <a:noFill/>
          </p:spPr>
          <p:txBody>
            <a:bodyPr wrap="none" rtlCol="0">
              <a:spAutoFit/>
            </a:bodyPr>
            <a:lstStyle/>
            <a:p>
              <a:r>
                <a:rPr lang="en-IN" dirty="0">
                  <a:solidFill>
                    <a:srgbClr val="0070C0"/>
                  </a:solidFill>
                </a:rPr>
                <a:t>a[0][4]</a:t>
              </a:r>
              <a:endParaRPr lang="en-US" dirty="0">
                <a:solidFill>
                  <a:srgbClr val="0070C0"/>
                </a:solidFill>
              </a:endParaRPr>
            </a:p>
          </p:txBody>
        </p:sp>
      </p:grpSp>
      <p:grpSp>
        <p:nvGrpSpPr>
          <p:cNvPr id="19" name="Group 18">
            <a:extLst>
              <a:ext uri="{FF2B5EF4-FFF2-40B4-BE49-F238E27FC236}">
                <a16:creationId xmlns:a16="http://schemas.microsoft.com/office/drawing/2014/main" id="{16E7F102-BFE2-4E05-1588-3A419B785B79}"/>
              </a:ext>
            </a:extLst>
          </p:cNvPr>
          <p:cNvGrpSpPr/>
          <p:nvPr/>
        </p:nvGrpSpPr>
        <p:grpSpPr>
          <a:xfrm>
            <a:off x="7166008" y="1795335"/>
            <a:ext cx="811441" cy="674132"/>
            <a:chOff x="4455884" y="3212068"/>
            <a:chExt cx="811441" cy="674132"/>
          </a:xfrm>
        </p:grpSpPr>
        <p:sp>
          <p:nvSpPr>
            <p:cNvPr id="20" name="Rectangle 19">
              <a:extLst>
                <a:ext uri="{FF2B5EF4-FFF2-40B4-BE49-F238E27FC236}">
                  <a16:creationId xmlns:a16="http://schemas.microsoft.com/office/drawing/2014/main" id="{A164AF80-D5F5-5D70-3B05-B4B1A2116B63}"/>
                </a:ext>
              </a:extLst>
            </p:cNvPr>
            <p:cNvSpPr/>
            <p:nvPr/>
          </p:nvSpPr>
          <p:spPr>
            <a:xfrm>
              <a:off x="4495800" y="3212068"/>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21" name="TextBox 20">
              <a:extLst>
                <a:ext uri="{FF2B5EF4-FFF2-40B4-BE49-F238E27FC236}">
                  <a16:creationId xmlns:a16="http://schemas.microsoft.com/office/drawing/2014/main" id="{C41DB58E-B659-0B91-C726-7706A78DBF4E}"/>
                </a:ext>
              </a:extLst>
            </p:cNvPr>
            <p:cNvSpPr txBox="1"/>
            <p:nvPr/>
          </p:nvSpPr>
          <p:spPr>
            <a:xfrm>
              <a:off x="4455884" y="3516868"/>
              <a:ext cx="811441" cy="369332"/>
            </a:xfrm>
            <a:prstGeom prst="rect">
              <a:avLst/>
            </a:prstGeom>
            <a:noFill/>
          </p:spPr>
          <p:txBody>
            <a:bodyPr wrap="none" rtlCol="0">
              <a:spAutoFit/>
            </a:bodyPr>
            <a:lstStyle/>
            <a:p>
              <a:r>
                <a:rPr lang="en-IN" dirty="0">
                  <a:solidFill>
                    <a:srgbClr val="0070C0"/>
                  </a:solidFill>
                </a:rPr>
                <a:t>a[0][5]</a:t>
              </a:r>
              <a:endParaRPr lang="en-US" dirty="0">
                <a:solidFill>
                  <a:srgbClr val="0070C0"/>
                </a:solidFill>
              </a:endParaRPr>
            </a:p>
          </p:txBody>
        </p:sp>
      </p:grpSp>
      <p:grpSp>
        <p:nvGrpSpPr>
          <p:cNvPr id="22" name="Group 21">
            <a:extLst>
              <a:ext uri="{FF2B5EF4-FFF2-40B4-BE49-F238E27FC236}">
                <a16:creationId xmlns:a16="http://schemas.microsoft.com/office/drawing/2014/main" id="{DD4827CE-5403-FF5F-6BAC-721F366BFDF6}"/>
              </a:ext>
            </a:extLst>
          </p:cNvPr>
          <p:cNvGrpSpPr/>
          <p:nvPr/>
        </p:nvGrpSpPr>
        <p:grpSpPr>
          <a:xfrm>
            <a:off x="3737008" y="2469467"/>
            <a:ext cx="4240441" cy="674132"/>
            <a:chOff x="1026884" y="3886200"/>
            <a:chExt cx="4240441" cy="674132"/>
          </a:xfrm>
        </p:grpSpPr>
        <p:sp>
          <p:nvSpPr>
            <p:cNvPr id="23" name="Rectangle 22">
              <a:extLst>
                <a:ext uri="{FF2B5EF4-FFF2-40B4-BE49-F238E27FC236}">
                  <a16:creationId xmlns:a16="http://schemas.microsoft.com/office/drawing/2014/main" id="{7CCAFD19-7394-EF05-B8EE-F87B1B10A8BE}"/>
                </a:ext>
              </a:extLst>
            </p:cNvPr>
            <p:cNvSpPr/>
            <p:nvPr/>
          </p:nvSpPr>
          <p:spPr>
            <a:xfrm>
              <a:off x="1066800" y="38862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24" name="TextBox 23">
              <a:extLst>
                <a:ext uri="{FF2B5EF4-FFF2-40B4-BE49-F238E27FC236}">
                  <a16:creationId xmlns:a16="http://schemas.microsoft.com/office/drawing/2014/main" id="{8431665D-03E7-386D-64CB-41220273A1D3}"/>
                </a:ext>
              </a:extLst>
            </p:cNvPr>
            <p:cNvSpPr txBox="1"/>
            <p:nvPr/>
          </p:nvSpPr>
          <p:spPr>
            <a:xfrm>
              <a:off x="1026884" y="4191000"/>
              <a:ext cx="811441" cy="369332"/>
            </a:xfrm>
            <a:prstGeom prst="rect">
              <a:avLst/>
            </a:prstGeom>
            <a:noFill/>
          </p:spPr>
          <p:txBody>
            <a:bodyPr wrap="none" rtlCol="0">
              <a:spAutoFit/>
            </a:bodyPr>
            <a:lstStyle/>
            <a:p>
              <a:r>
                <a:rPr lang="en-IN" dirty="0">
                  <a:solidFill>
                    <a:srgbClr val="0070C0"/>
                  </a:solidFill>
                </a:rPr>
                <a:t>a[1][0]</a:t>
              </a:r>
              <a:endParaRPr lang="en-US" dirty="0">
                <a:solidFill>
                  <a:srgbClr val="0070C0"/>
                </a:solidFill>
              </a:endParaRPr>
            </a:p>
          </p:txBody>
        </p:sp>
        <p:sp>
          <p:nvSpPr>
            <p:cNvPr id="25" name="Rectangle 24">
              <a:extLst>
                <a:ext uri="{FF2B5EF4-FFF2-40B4-BE49-F238E27FC236}">
                  <a16:creationId xmlns:a16="http://schemas.microsoft.com/office/drawing/2014/main" id="{611A5018-88A8-7573-6686-CCD8546EB31D}"/>
                </a:ext>
              </a:extLst>
            </p:cNvPr>
            <p:cNvSpPr/>
            <p:nvPr/>
          </p:nvSpPr>
          <p:spPr>
            <a:xfrm>
              <a:off x="1752600" y="38862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26" name="TextBox 25">
              <a:extLst>
                <a:ext uri="{FF2B5EF4-FFF2-40B4-BE49-F238E27FC236}">
                  <a16:creationId xmlns:a16="http://schemas.microsoft.com/office/drawing/2014/main" id="{ED331FFB-C96B-B494-0C37-73BD25D925F7}"/>
                </a:ext>
              </a:extLst>
            </p:cNvPr>
            <p:cNvSpPr txBox="1"/>
            <p:nvPr/>
          </p:nvSpPr>
          <p:spPr>
            <a:xfrm>
              <a:off x="1712684" y="4191000"/>
              <a:ext cx="811441" cy="369332"/>
            </a:xfrm>
            <a:prstGeom prst="rect">
              <a:avLst/>
            </a:prstGeom>
            <a:noFill/>
          </p:spPr>
          <p:txBody>
            <a:bodyPr wrap="none" rtlCol="0">
              <a:spAutoFit/>
            </a:bodyPr>
            <a:lstStyle/>
            <a:p>
              <a:r>
                <a:rPr lang="en-IN" dirty="0">
                  <a:solidFill>
                    <a:srgbClr val="0070C0"/>
                  </a:solidFill>
                </a:rPr>
                <a:t>a[1][1]</a:t>
              </a:r>
              <a:endParaRPr lang="en-US" dirty="0">
                <a:solidFill>
                  <a:srgbClr val="0070C0"/>
                </a:solidFill>
              </a:endParaRPr>
            </a:p>
          </p:txBody>
        </p:sp>
        <p:sp>
          <p:nvSpPr>
            <p:cNvPr id="27" name="Rectangle 26">
              <a:extLst>
                <a:ext uri="{FF2B5EF4-FFF2-40B4-BE49-F238E27FC236}">
                  <a16:creationId xmlns:a16="http://schemas.microsoft.com/office/drawing/2014/main" id="{CECCC9A3-0CDC-EF16-FDD6-6C9EF36B7D60}"/>
                </a:ext>
              </a:extLst>
            </p:cNvPr>
            <p:cNvSpPr/>
            <p:nvPr/>
          </p:nvSpPr>
          <p:spPr>
            <a:xfrm>
              <a:off x="2438400" y="38862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0</a:t>
              </a:r>
              <a:endParaRPr lang="en-US" sz="2400" b="1" dirty="0">
                <a:solidFill>
                  <a:schemeClr val="tx1"/>
                </a:solidFill>
              </a:endParaRPr>
            </a:p>
          </p:txBody>
        </p:sp>
        <p:sp>
          <p:nvSpPr>
            <p:cNvPr id="28" name="TextBox 27">
              <a:extLst>
                <a:ext uri="{FF2B5EF4-FFF2-40B4-BE49-F238E27FC236}">
                  <a16:creationId xmlns:a16="http://schemas.microsoft.com/office/drawing/2014/main" id="{101B34DD-13BC-D97F-CDD7-DB586A91FB95}"/>
                </a:ext>
              </a:extLst>
            </p:cNvPr>
            <p:cNvSpPr txBox="1"/>
            <p:nvPr/>
          </p:nvSpPr>
          <p:spPr>
            <a:xfrm>
              <a:off x="2398484" y="4191000"/>
              <a:ext cx="811441" cy="369332"/>
            </a:xfrm>
            <a:prstGeom prst="rect">
              <a:avLst/>
            </a:prstGeom>
            <a:noFill/>
          </p:spPr>
          <p:txBody>
            <a:bodyPr wrap="none" rtlCol="0">
              <a:spAutoFit/>
            </a:bodyPr>
            <a:lstStyle/>
            <a:p>
              <a:r>
                <a:rPr lang="en-IN" dirty="0">
                  <a:solidFill>
                    <a:srgbClr val="0070C0"/>
                  </a:solidFill>
                </a:rPr>
                <a:t>a[1][2]</a:t>
              </a:r>
              <a:endParaRPr lang="en-US" dirty="0">
                <a:solidFill>
                  <a:srgbClr val="0070C0"/>
                </a:solidFill>
              </a:endParaRPr>
            </a:p>
          </p:txBody>
        </p:sp>
        <p:sp>
          <p:nvSpPr>
            <p:cNvPr id="29" name="Rectangle 28">
              <a:extLst>
                <a:ext uri="{FF2B5EF4-FFF2-40B4-BE49-F238E27FC236}">
                  <a16:creationId xmlns:a16="http://schemas.microsoft.com/office/drawing/2014/main" id="{3B0FD990-37E9-972A-46D6-0DD0EAEED098}"/>
                </a:ext>
              </a:extLst>
            </p:cNvPr>
            <p:cNvSpPr/>
            <p:nvPr/>
          </p:nvSpPr>
          <p:spPr>
            <a:xfrm>
              <a:off x="3124200" y="38862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6</a:t>
              </a:r>
              <a:endParaRPr lang="en-US" sz="2400" b="1" dirty="0">
                <a:solidFill>
                  <a:schemeClr val="tx1"/>
                </a:solidFill>
              </a:endParaRPr>
            </a:p>
          </p:txBody>
        </p:sp>
        <p:sp>
          <p:nvSpPr>
            <p:cNvPr id="30" name="TextBox 29">
              <a:extLst>
                <a:ext uri="{FF2B5EF4-FFF2-40B4-BE49-F238E27FC236}">
                  <a16:creationId xmlns:a16="http://schemas.microsoft.com/office/drawing/2014/main" id="{FAA69D41-4059-0F07-75A3-491CE1CEBCA2}"/>
                </a:ext>
              </a:extLst>
            </p:cNvPr>
            <p:cNvSpPr txBox="1"/>
            <p:nvPr/>
          </p:nvSpPr>
          <p:spPr>
            <a:xfrm>
              <a:off x="3084284" y="4191000"/>
              <a:ext cx="811441" cy="369332"/>
            </a:xfrm>
            <a:prstGeom prst="rect">
              <a:avLst/>
            </a:prstGeom>
            <a:noFill/>
          </p:spPr>
          <p:txBody>
            <a:bodyPr wrap="none" rtlCol="0">
              <a:spAutoFit/>
            </a:bodyPr>
            <a:lstStyle/>
            <a:p>
              <a:r>
                <a:rPr lang="en-IN" dirty="0">
                  <a:solidFill>
                    <a:srgbClr val="0070C0"/>
                  </a:solidFill>
                </a:rPr>
                <a:t>a[1][3]</a:t>
              </a:r>
              <a:endParaRPr lang="en-US" dirty="0">
                <a:solidFill>
                  <a:srgbClr val="0070C0"/>
                </a:solidFill>
              </a:endParaRPr>
            </a:p>
          </p:txBody>
        </p:sp>
        <p:sp>
          <p:nvSpPr>
            <p:cNvPr id="31" name="Rectangle 30">
              <a:extLst>
                <a:ext uri="{FF2B5EF4-FFF2-40B4-BE49-F238E27FC236}">
                  <a16:creationId xmlns:a16="http://schemas.microsoft.com/office/drawing/2014/main" id="{47124ACA-7E5B-9FA0-34E3-D6E671472441}"/>
                </a:ext>
              </a:extLst>
            </p:cNvPr>
            <p:cNvSpPr/>
            <p:nvPr/>
          </p:nvSpPr>
          <p:spPr>
            <a:xfrm>
              <a:off x="3810000" y="38862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0</a:t>
              </a:r>
              <a:endParaRPr lang="en-US" sz="2400" b="1" dirty="0">
                <a:solidFill>
                  <a:schemeClr val="tx1"/>
                </a:solidFill>
              </a:endParaRPr>
            </a:p>
          </p:txBody>
        </p:sp>
        <p:sp>
          <p:nvSpPr>
            <p:cNvPr id="32" name="TextBox 31">
              <a:extLst>
                <a:ext uri="{FF2B5EF4-FFF2-40B4-BE49-F238E27FC236}">
                  <a16:creationId xmlns:a16="http://schemas.microsoft.com/office/drawing/2014/main" id="{8435437B-C7A7-56AD-FCF6-86A96D6BEA5B}"/>
                </a:ext>
              </a:extLst>
            </p:cNvPr>
            <p:cNvSpPr txBox="1"/>
            <p:nvPr/>
          </p:nvSpPr>
          <p:spPr>
            <a:xfrm>
              <a:off x="3770084" y="4191000"/>
              <a:ext cx="811441" cy="369332"/>
            </a:xfrm>
            <a:prstGeom prst="rect">
              <a:avLst/>
            </a:prstGeom>
            <a:noFill/>
          </p:spPr>
          <p:txBody>
            <a:bodyPr wrap="none" rtlCol="0">
              <a:spAutoFit/>
            </a:bodyPr>
            <a:lstStyle/>
            <a:p>
              <a:r>
                <a:rPr lang="en-IN" dirty="0">
                  <a:solidFill>
                    <a:srgbClr val="0070C0"/>
                  </a:solidFill>
                </a:rPr>
                <a:t>a[1][4]</a:t>
              </a:r>
              <a:endParaRPr lang="en-US" dirty="0">
                <a:solidFill>
                  <a:srgbClr val="0070C0"/>
                </a:solidFill>
              </a:endParaRPr>
            </a:p>
          </p:txBody>
        </p:sp>
        <p:sp>
          <p:nvSpPr>
            <p:cNvPr id="33" name="Rectangle 32">
              <a:extLst>
                <a:ext uri="{FF2B5EF4-FFF2-40B4-BE49-F238E27FC236}">
                  <a16:creationId xmlns:a16="http://schemas.microsoft.com/office/drawing/2014/main" id="{6CA0025F-0D4A-482E-182B-331B16678463}"/>
                </a:ext>
              </a:extLst>
            </p:cNvPr>
            <p:cNvSpPr/>
            <p:nvPr/>
          </p:nvSpPr>
          <p:spPr>
            <a:xfrm>
              <a:off x="4495800" y="38862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4</a:t>
              </a:r>
              <a:endParaRPr lang="en-US" sz="2400" b="1" dirty="0">
                <a:solidFill>
                  <a:schemeClr val="tx1"/>
                </a:solidFill>
              </a:endParaRPr>
            </a:p>
          </p:txBody>
        </p:sp>
        <p:sp>
          <p:nvSpPr>
            <p:cNvPr id="34" name="TextBox 33">
              <a:extLst>
                <a:ext uri="{FF2B5EF4-FFF2-40B4-BE49-F238E27FC236}">
                  <a16:creationId xmlns:a16="http://schemas.microsoft.com/office/drawing/2014/main" id="{759734AA-0923-4D7E-88C4-CC9E41EBD9AE}"/>
                </a:ext>
              </a:extLst>
            </p:cNvPr>
            <p:cNvSpPr txBox="1"/>
            <p:nvPr/>
          </p:nvSpPr>
          <p:spPr>
            <a:xfrm>
              <a:off x="4455884" y="4191000"/>
              <a:ext cx="811441" cy="369332"/>
            </a:xfrm>
            <a:prstGeom prst="rect">
              <a:avLst/>
            </a:prstGeom>
            <a:noFill/>
          </p:spPr>
          <p:txBody>
            <a:bodyPr wrap="none" rtlCol="0">
              <a:spAutoFit/>
            </a:bodyPr>
            <a:lstStyle/>
            <a:p>
              <a:r>
                <a:rPr lang="en-IN" dirty="0">
                  <a:solidFill>
                    <a:srgbClr val="0070C0"/>
                  </a:solidFill>
                </a:rPr>
                <a:t>a[1][5]</a:t>
              </a:r>
              <a:endParaRPr lang="en-US" dirty="0">
                <a:solidFill>
                  <a:srgbClr val="0070C0"/>
                </a:solidFill>
              </a:endParaRPr>
            </a:p>
          </p:txBody>
        </p:sp>
      </p:grpSp>
      <p:grpSp>
        <p:nvGrpSpPr>
          <p:cNvPr id="35" name="Group 34">
            <a:extLst>
              <a:ext uri="{FF2B5EF4-FFF2-40B4-BE49-F238E27FC236}">
                <a16:creationId xmlns:a16="http://schemas.microsoft.com/office/drawing/2014/main" id="{8E6F16B9-8487-DAE6-E273-A597F3493F86}"/>
              </a:ext>
            </a:extLst>
          </p:cNvPr>
          <p:cNvGrpSpPr/>
          <p:nvPr/>
        </p:nvGrpSpPr>
        <p:grpSpPr>
          <a:xfrm>
            <a:off x="3737008" y="3155267"/>
            <a:ext cx="4240441" cy="674132"/>
            <a:chOff x="1026884" y="4572000"/>
            <a:chExt cx="4240441" cy="674132"/>
          </a:xfrm>
        </p:grpSpPr>
        <p:sp>
          <p:nvSpPr>
            <p:cNvPr id="36" name="Rectangle 35">
              <a:extLst>
                <a:ext uri="{FF2B5EF4-FFF2-40B4-BE49-F238E27FC236}">
                  <a16:creationId xmlns:a16="http://schemas.microsoft.com/office/drawing/2014/main" id="{B2542F23-186C-BBC7-6D92-3DD3A5E148DB}"/>
                </a:ext>
              </a:extLst>
            </p:cNvPr>
            <p:cNvSpPr/>
            <p:nvPr/>
          </p:nvSpPr>
          <p:spPr>
            <a:xfrm>
              <a:off x="1066800" y="45720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2</a:t>
              </a:r>
              <a:endParaRPr lang="en-US" sz="2400" b="1" dirty="0">
                <a:solidFill>
                  <a:schemeClr val="tx1"/>
                </a:solidFill>
              </a:endParaRPr>
            </a:p>
          </p:txBody>
        </p:sp>
        <p:sp>
          <p:nvSpPr>
            <p:cNvPr id="37" name="TextBox 36">
              <a:extLst>
                <a:ext uri="{FF2B5EF4-FFF2-40B4-BE49-F238E27FC236}">
                  <a16:creationId xmlns:a16="http://schemas.microsoft.com/office/drawing/2014/main" id="{E6EA142E-2224-27B8-F2B5-9ED78EC6BD51}"/>
                </a:ext>
              </a:extLst>
            </p:cNvPr>
            <p:cNvSpPr txBox="1"/>
            <p:nvPr/>
          </p:nvSpPr>
          <p:spPr>
            <a:xfrm>
              <a:off x="1026884" y="4876800"/>
              <a:ext cx="811441" cy="369332"/>
            </a:xfrm>
            <a:prstGeom prst="rect">
              <a:avLst/>
            </a:prstGeom>
            <a:noFill/>
          </p:spPr>
          <p:txBody>
            <a:bodyPr wrap="none" rtlCol="0">
              <a:spAutoFit/>
            </a:bodyPr>
            <a:lstStyle/>
            <a:p>
              <a:r>
                <a:rPr lang="en-IN" dirty="0">
                  <a:solidFill>
                    <a:srgbClr val="0070C0"/>
                  </a:solidFill>
                </a:rPr>
                <a:t>a[2][0]</a:t>
              </a:r>
              <a:endParaRPr lang="en-US" dirty="0">
                <a:solidFill>
                  <a:srgbClr val="0070C0"/>
                </a:solidFill>
              </a:endParaRPr>
            </a:p>
          </p:txBody>
        </p:sp>
        <p:sp>
          <p:nvSpPr>
            <p:cNvPr id="38" name="Rectangle 37">
              <a:extLst>
                <a:ext uri="{FF2B5EF4-FFF2-40B4-BE49-F238E27FC236}">
                  <a16:creationId xmlns:a16="http://schemas.microsoft.com/office/drawing/2014/main" id="{68BFCCAC-52D6-2C88-ED6A-4EFA00DC2A4B}"/>
                </a:ext>
              </a:extLst>
            </p:cNvPr>
            <p:cNvSpPr/>
            <p:nvPr/>
          </p:nvSpPr>
          <p:spPr>
            <a:xfrm>
              <a:off x="1752600" y="45720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39" name="TextBox 38">
              <a:extLst>
                <a:ext uri="{FF2B5EF4-FFF2-40B4-BE49-F238E27FC236}">
                  <a16:creationId xmlns:a16="http://schemas.microsoft.com/office/drawing/2014/main" id="{160275F8-5B03-DCB4-AC77-BC726E1F2FC9}"/>
                </a:ext>
              </a:extLst>
            </p:cNvPr>
            <p:cNvSpPr txBox="1"/>
            <p:nvPr/>
          </p:nvSpPr>
          <p:spPr>
            <a:xfrm>
              <a:off x="1712684" y="4876800"/>
              <a:ext cx="811441" cy="369332"/>
            </a:xfrm>
            <a:prstGeom prst="rect">
              <a:avLst/>
            </a:prstGeom>
            <a:noFill/>
          </p:spPr>
          <p:txBody>
            <a:bodyPr wrap="none" rtlCol="0">
              <a:spAutoFit/>
            </a:bodyPr>
            <a:lstStyle/>
            <a:p>
              <a:r>
                <a:rPr lang="en-IN" dirty="0">
                  <a:solidFill>
                    <a:srgbClr val="0070C0"/>
                  </a:solidFill>
                </a:rPr>
                <a:t>a[2][1]</a:t>
              </a:r>
              <a:endParaRPr lang="en-US" dirty="0">
                <a:solidFill>
                  <a:srgbClr val="0070C0"/>
                </a:solidFill>
              </a:endParaRPr>
            </a:p>
          </p:txBody>
        </p:sp>
        <p:sp>
          <p:nvSpPr>
            <p:cNvPr id="40" name="Rectangle 39">
              <a:extLst>
                <a:ext uri="{FF2B5EF4-FFF2-40B4-BE49-F238E27FC236}">
                  <a16:creationId xmlns:a16="http://schemas.microsoft.com/office/drawing/2014/main" id="{99309A29-779D-EB1D-C319-CC263ACF9223}"/>
                </a:ext>
              </a:extLst>
            </p:cNvPr>
            <p:cNvSpPr/>
            <p:nvPr/>
          </p:nvSpPr>
          <p:spPr>
            <a:xfrm>
              <a:off x="2438400" y="45720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41" name="TextBox 40">
              <a:extLst>
                <a:ext uri="{FF2B5EF4-FFF2-40B4-BE49-F238E27FC236}">
                  <a16:creationId xmlns:a16="http://schemas.microsoft.com/office/drawing/2014/main" id="{A517E1CB-9FA3-59A9-D0B5-D351D71B8692}"/>
                </a:ext>
              </a:extLst>
            </p:cNvPr>
            <p:cNvSpPr txBox="1"/>
            <p:nvPr/>
          </p:nvSpPr>
          <p:spPr>
            <a:xfrm>
              <a:off x="2398484" y="4876800"/>
              <a:ext cx="811441" cy="369332"/>
            </a:xfrm>
            <a:prstGeom prst="rect">
              <a:avLst/>
            </a:prstGeom>
            <a:noFill/>
          </p:spPr>
          <p:txBody>
            <a:bodyPr wrap="none" rtlCol="0">
              <a:spAutoFit/>
            </a:bodyPr>
            <a:lstStyle/>
            <a:p>
              <a:r>
                <a:rPr lang="en-IN" dirty="0">
                  <a:solidFill>
                    <a:srgbClr val="0070C0"/>
                  </a:solidFill>
                </a:rPr>
                <a:t>a[2][2]</a:t>
              </a:r>
              <a:endParaRPr lang="en-US" dirty="0">
                <a:solidFill>
                  <a:srgbClr val="0070C0"/>
                </a:solidFill>
              </a:endParaRPr>
            </a:p>
          </p:txBody>
        </p:sp>
        <p:sp>
          <p:nvSpPr>
            <p:cNvPr id="42" name="Rectangle 41">
              <a:extLst>
                <a:ext uri="{FF2B5EF4-FFF2-40B4-BE49-F238E27FC236}">
                  <a16:creationId xmlns:a16="http://schemas.microsoft.com/office/drawing/2014/main" id="{B0289A34-3C9F-FAE1-ECA6-8C4B90D7FFD3}"/>
                </a:ext>
              </a:extLst>
            </p:cNvPr>
            <p:cNvSpPr/>
            <p:nvPr/>
          </p:nvSpPr>
          <p:spPr>
            <a:xfrm>
              <a:off x="3124200" y="45720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0</a:t>
              </a:r>
              <a:endParaRPr lang="en-US" sz="2400" b="1" dirty="0">
                <a:solidFill>
                  <a:schemeClr val="tx1"/>
                </a:solidFill>
              </a:endParaRPr>
            </a:p>
          </p:txBody>
        </p:sp>
        <p:sp>
          <p:nvSpPr>
            <p:cNvPr id="43" name="TextBox 42">
              <a:extLst>
                <a:ext uri="{FF2B5EF4-FFF2-40B4-BE49-F238E27FC236}">
                  <a16:creationId xmlns:a16="http://schemas.microsoft.com/office/drawing/2014/main" id="{FAAF8FF1-7215-BAD1-6A08-36D24AB21ACC}"/>
                </a:ext>
              </a:extLst>
            </p:cNvPr>
            <p:cNvSpPr txBox="1"/>
            <p:nvPr/>
          </p:nvSpPr>
          <p:spPr>
            <a:xfrm>
              <a:off x="3084284" y="4876800"/>
              <a:ext cx="811441" cy="369332"/>
            </a:xfrm>
            <a:prstGeom prst="rect">
              <a:avLst/>
            </a:prstGeom>
            <a:noFill/>
          </p:spPr>
          <p:txBody>
            <a:bodyPr wrap="none" rtlCol="0">
              <a:spAutoFit/>
            </a:bodyPr>
            <a:lstStyle/>
            <a:p>
              <a:r>
                <a:rPr lang="en-IN" dirty="0">
                  <a:solidFill>
                    <a:srgbClr val="0070C0"/>
                  </a:solidFill>
                </a:rPr>
                <a:t>a[2][3]</a:t>
              </a:r>
              <a:endParaRPr lang="en-US" dirty="0">
                <a:solidFill>
                  <a:srgbClr val="0070C0"/>
                </a:solidFill>
              </a:endParaRPr>
            </a:p>
          </p:txBody>
        </p:sp>
        <p:sp>
          <p:nvSpPr>
            <p:cNvPr id="44" name="Rectangle 43">
              <a:extLst>
                <a:ext uri="{FF2B5EF4-FFF2-40B4-BE49-F238E27FC236}">
                  <a16:creationId xmlns:a16="http://schemas.microsoft.com/office/drawing/2014/main" id="{55995689-8539-FFA1-9C2F-29F65FF94CE8}"/>
                </a:ext>
              </a:extLst>
            </p:cNvPr>
            <p:cNvSpPr/>
            <p:nvPr/>
          </p:nvSpPr>
          <p:spPr>
            <a:xfrm>
              <a:off x="3810000" y="45720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45" name="TextBox 44">
              <a:extLst>
                <a:ext uri="{FF2B5EF4-FFF2-40B4-BE49-F238E27FC236}">
                  <a16:creationId xmlns:a16="http://schemas.microsoft.com/office/drawing/2014/main" id="{40A14639-1147-F268-3D6A-FD31EBC7EFDA}"/>
                </a:ext>
              </a:extLst>
            </p:cNvPr>
            <p:cNvSpPr txBox="1"/>
            <p:nvPr/>
          </p:nvSpPr>
          <p:spPr>
            <a:xfrm>
              <a:off x="3770084" y="4876800"/>
              <a:ext cx="811441" cy="369332"/>
            </a:xfrm>
            <a:prstGeom prst="rect">
              <a:avLst/>
            </a:prstGeom>
            <a:noFill/>
          </p:spPr>
          <p:txBody>
            <a:bodyPr wrap="none" rtlCol="0">
              <a:spAutoFit/>
            </a:bodyPr>
            <a:lstStyle/>
            <a:p>
              <a:r>
                <a:rPr lang="en-IN" dirty="0">
                  <a:solidFill>
                    <a:srgbClr val="0070C0"/>
                  </a:solidFill>
                </a:rPr>
                <a:t>a[2][4]</a:t>
              </a:r>
              <a:endParaRPr lang="en-US" dirty="0">
                <a:solidFill>
                  <a:srgbClr val="0070C0"/>
                </a:solidFill>
              </a:endParaRPr>
            </a:p>
          </p:txBody>
        </p:sp>
        <p:sp>
          <p:nvSpPr>
            <p:cNvPr id="46" name="Rectangle 45">
              <a:extLst>
                <a:ext uri="{FF2B5EF4-FFF2-40B4-BE49-F238E27FC236}">
                  <a16:creationId xmlns:a16="http://schemas.microsoft.com/office/drawing/2014/main" id="{B9250D34-5B40-638B-E90D-23F803ED28F5}"/>
                </a:ext>
              </a:extLst>
            </p:cNvPr>
            <p:cNvSpPr/>
            <p:nvPr/>
          </p:nvSpPr>
          <p:spPr>
            <a:xfrm>
              <a:off x="4495800" y="4572000"/>
              <a:ext cx="685800" cy="6741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2400" b="1" dirty="0">
                  <a:solidFill>
                    <a:schemeClr val="tx1"/>
                  </a:solidFill>
                </a:rPr>
                <a:t>1</a:t>
              </a:r>
              <a:endParaRPr lang="en-US" sz="2400" b="1" dirty="0">
                <a:solidFill>
                  <a:schemeClr val="tx1"/>
                </a:solidFill>
              </a:endParaRPr>
            </a:p>
          </p:txBody>
        </p:sp>
        <p:sp>
          <p:nvSpPr>
            <p:cNvPr id="47" name="TextBox 46">
              <a:extLst>
                <a:ext uri="{FF2B5EF4-FFF2-40B4-BE49-F238E27FC236}">
                  <a16:creationId xmlns:a16="http://schemas.microsoft.com/office/drawing/2014/main" id="{8C34ABB6-893C-4039-16BF-3454A7C602A4}"/>
                </a:ext>
              </a:extLst>
            </p:cNvPr>
            <p:cNvSpPr txBox="1"/>
            <p:nvPr/>
          </p:nvSpPr>
          <p:spPr>
            <a:xfrm>
              <a:off x="4455884" y="4876800"/>
              <a:ext cx="811441" cy="369332"/>
            </a:xfrm>
            <a:prstGeom prst="rect">
              <a:avLst/>
            </a:prstGeom>
            <a:noFill/>
          </p:spPr>
          <p:txBody>
            <a:bodyPr wrap="none" rtlCol="0">
              <a:spAutoFit/>
            </a:bodyPr>
            <a:lstStyle/>
            <a:p>
              <a:r>
                <a:rPr lang="en-IN" dirty="0">
                  <a:solidFill>
                    <a:srgbClr val="0070C0"/>
                  </a:solidFill>
                </a:rPr>
                <a:t>a[2][5]</a:t>
              </a:r>
              <a:endParaRPr lang="en-US" dirty="0">
                <a:solidFill>
                  <a:srgbClr val="0070C0"/>
                </a:solidFill>
              </a:endParaRPr>
            </a:p>
          </p:txBody>
        </p:sp>
      </p:grpSp>
      <p:sp>
        <p:nvSpPr>
          <p:cNvPr id="48" name="TextBox 47">
            <a:extLst>
              <a:ext uri="{FF2B5EF4-FFF2-40B4-BE49-F238E27FC236}">
                <a16:creationId xmlns:a16="http://schemas.microsoft.com/office/drawing/2014/main" id="{0D365FA0-ED43-DE70-F323-421690110FD7}"/>
              </a:ext>
            </a:extLst>
          </p:cNvPr>
          <p:cNvSpPr txBox="1"/>
          <p:nvPr/>
        </p:nvSpPr>
        <p:spPr>
          <a:xfrm>
            <a:off x="1500449" y="1924399"/>
            <a:ext cx="2133600" cy="369332"/>
          </a:xfrm>
          <a:prstGeom prst="rect">
            <a:avLst/>
          </a:prstGeom>
          <a:noFill/>
        </p:spPr>
        <p:txBody>
          <a:bodyPr wrap="square" rtlCol="0">
            <a:spAutoFit/>
          </a:bodyPr>
          <a:lstStyle/>
          <a:p>
            <a:pPr algn="r"/>
            <a:r>
              <a:rPr lang="en-IN" dirty="0">
                <a:solidFill>
                  <a:srgbClr val="0070C0"/>
                </a:solidFill>
              </a:rPr>
              <a:t>First Over (a[0])</a:t>
            </a:r>
          </a:p>
        </p:txBody>
      </p:sp>
      <p:sp>
        <p:nvSpPr>
          <p:cNvPr id="49" name="TextBox 48">
            <a:extLst>
              <a:ext uri="{FF2B5EF4-FFF2-40B4-BE49-F238E27FC236}">
                <a16:creationId xmlns:a16="http://schemas.microsoft.com/office/drawing/2014/main" id="{4FADBA64-0F4C-D07A-1A25-5A7C9905DAAF}"/>
              </a:ext>
            </a:extLst>
          </p:cNvPr>
          <p:cNvSpPr txBox="1"/>
          <p:nvPr/>
        </p:nvSpPr>
        <p:spPr>
          <a:xfrm>
            <a:off x="967049" y="2610199"/>
            <a:ext cx="2667000" cy="369332"/>
          </a:xfrm>
          <a:prstGeom prst="rect">
            <a:avLst/>
          </a:prstGeom>
          <a:noFill/>
        </p:spPr>
        <p:txBody>
          <a:bodyPr wrap="square" rtlCol="0">
            <a:spAutoFit/>
          </a:bodyPr>
          <a:lstStyle/>
          <a:p>
            <a:pPr algn="r"/>
            <a:r>
              <a:rPr lang="en-IN" dirty="0">
                <a:solidFill>
                  <a:srgbClr val="0070C0"/>
                </a:solidFill>
              </a:rPr>
              <a:t>Second Over (a[1])</a:t>
            </a:r>
          </a:p>
        </p:txBody>
      </p:sp>
      <p:sp>
        <p:nvSpPr>
          <p:cNvPr id="50" name="TextBox 49">
            <a:extLst>
              <a:ext uri="{FF2B5EF4-FFF2-40B4-BE49-F238E27FC236}">
                <a16:creationId xmlns:a16="http://schemas.microsoft.com/office/drawing/2014/main" id="{2F3A35D4-BE9A-BDE4-FABD-1D671AEBA095}"/>
              </a:ext>
            </a:extLst>
          </p:cNvPr>
          <p:cNvSpPr txBox="1"/>
          <p:nvPr/>
        </p:nvSpPr>
        <p:spPr>
          <a:xfrm>
            <a:off x="1271849" y="3295999"/>
            <a:ext cx="2362200" cy="369332"/>
          </a:xfrm>
          <a:prstGeom prst="rect">
            <a:avLst/>
          </a:prstGeom>
          <a:noFill/>
        </p:spPr>
        <p:txBody>
          <a:bodyPr wrap="square" rtlCol="0">
            <a:spAutoFit/>
          </a:bodyPr>
          <a:lstStyle/>
          <a:p>
            <a:pPr algn="r"/>
            <a:r>
              <a:rPr lang="en-IN" dirty="0">
                <a:solidFill>
                  <a:srgbClr val="0070C0"/>
                </a:solidFill>
              </a:rPr>
              <a:t>Third Over (a[2])</a:t>
            </a:r>
          </a:p>
        </p:txBody>
      </p:sp>
    </p:spTree>
    <p:extLst>
      <p:ext uri="{BB962C8B-B14F-4D97-AF65-F5344CB8AC3E}">
        <p14:creationId xmlns:p14="http://schemas.microsoft.com/office/powerpoint/2010/main" val="2832584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8" grpId="0"/>
      <p:bldP spid="49" grpId="0"/>
      <p:bldP spid="5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A54D-5602-474D-3A40-433D551C26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AB6D65-56CB-6A98-47E6-DC53040FD148}"/>
              </a:ext>
            </a:extLst>
          </p:cNvPr>
          <p:cNvSpPr>
            <a:spLocks noGrp="1"/>
          </p:cNvSpPr>
          <p:nvPr>
            <p:ph type="title"/>
          </p:nvPr>
        </p:nvSpPr>
        <p:spPr>
          <a:xfrm>
            <a:off x="0" y="1"/>
            <a:ext cx="12192000" cy="711200"/>
          </a:xfrm>
        </p:spPr>
        <p:txBody>
          <a:bodyPr/>
          <a:lstStyle/>
          <a:p>
            <a:r>
              <a:rPr lang="en-US" dirty="0"/>
              <a:t>Multi-Dimensional Array (Example)</a:t>
            </a:r>
          </a:p>
        </p:txBody>
      </p:sp>
      <p:sp>
        <p:nvSpPr>
          <p:cNvPr id="3" name="TextBox 2">
            <a:extLst>
              <a:ext uri="{FF2B5EF4-FFF2-40B4-BE49-F238E27FC236}">
                <a16:creationId xmlns:a16="http://schemas.microsoft.com/office/drawing/2014/main" id="{D7C51EF4-2810-44E7-E8A0-D29833CE4230}"/>
              </a:ext>
            </a:extLst>
          </p:cNvPr>
          <p:cNvSpPr txBox="1"/>
          <p:nvPr/>
        </p:nvSpPr>
        <p:spPr>
          <a:xfrm>
            <a:off x="228600" y="990600"/>
            <a:ext cx="8915400" cy="5355312"/>
          </a:xfrm>
          <a:prstGeom prst="rect">
            <a:avLst/>
          </a:prstGeom>
          <a:noFill/>
          <a:ln w="19050">
            <a:solidFill>
              <a:schemeClr val="accent1"/>
            </a:solidFill>
            <a:prstDash val="dash"/>
          </a:ln>
        </p:spPr>
        <p:txBody>
          <a:bodyPr wrap="square" rtlCol="0">
            <a:spAutoFit/>
          </a:bodyPr>
          <a:lstStyle/>
          <a:p>
            <a:r>
              <a:rPr lang="en-US" dirty="0">
                <a:solidFill>
                  <a:srgbClr val="000000"/>
                </a:solidFill>
                <a:latin typeface="Consolas"/>
              </a:rPr>
              <a:t>Scanner </a:t>
            </a:r>
            <a:r>
              <a:rPr lang="en-US" dirty="0">
                <a:solidFill>
                  <a:srgbClr val="6A3E3E"/>
                </a:solidFill>
                <a:latin typeface="Consolas"/>
              </a:rPr>
              <a:t>s</a:t>
            </a:r>
            <a:r>
              <a:rPr lang="en-US"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Scanner(</a:t>
            </a:r>
            <a:r>
              <a:rPr lang="en-US" b="1" dirty="0" err="1">
                <a:solidFill>
                  <a:srgbClr val="000000"/>
                </a:solidFill>
                <a:latin typeface="Consolas"/>
              </a:rPr>
              <a:t>System.</a:t>
            </a:r>
            <a:r>
              <a:rPr lang="en-US" b="1" i="1" dirty="0" err="1">
                <a:solidFill>
                  <a:srgbClr val="0000C0"/>
                </a:solidFill>
                <a:latin typeface="Consolas"/>
              </a:rPr>
              <a:t>in</a:t>
            </a:r>
            <a:r>
              <a:rPr lang="en-US" b="1" i="1" dirty="0">
                <a:solidFill>
                  <a:srgbClr val="000000"/>
                </a:solidFill>
                <a:latin typeface="Consolas"/>
              </a:rPr>
              <a:t>);</a:t>
            </a:r>
          </a:p>
          <a:p>
            <a:r>
              <a:rPr lang="en-US" b="1" dirty="0" err="1">
                <a:solidFill>
                  <a:srgbClr val="7F0055"/>
                </a:solidFill>
                <a:latin typeface="Consolas"/>
              </a:rPr>
              <a:t>int</a:t>
            </a:r>
            <a:r>
              <a:rPr lang="en-US" b="1" dirty="0">
                <a:solidFill>
                  <a:srgbClr val="000000"/>
                </a:solidFill>
                <a:latin typeface="Consolas"/>
              </a:rPr>
              <a:t> </a:t>
            </a:r>
            <a:r>
              <a:rPr lang="en-US" b="1" dirty="0" err="1">
                <a:solidFill>
                  <a:srgbClr val="6A3E3E"/>
                </a:solidFill>
                <a:latin typeface="Consolas"/>
              </a:rPr>
              <a:t>runPerOver</a:t>
            </a:r>
            <a:r>
              <a:rPr lang="en-US" b="1" dirty="0">
                <a:solidFill>
                  <a:srgbClr val="000000"/>
                </a:solidFill>
                <a:latin typeface="Consolas"/>
              </a:rPr>
              <a:t>[][] = </a:t>
            </a:r>
            <a:r>
              <a:rPr lang="en-US" b="1" dirty="0">
                <a:solidFill>
                  <a:srgbClr val="7F0055"/>
                </a:solidFill>
                <a:latin typeface="Consolas"/>
              </a:rPr>
              <a:t>new</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[3][6];</a:t>
            </a:r>
          </a:p>
          <a:p>
            <a:r>
              <a:rPr lang="nn-NO" b="1" dirty="0">
                <a:solidFill>
                  <a:srgbClr val="7F0055"/>
                </a:solidFill>
                <a:latin typeface="Consolas"/>
              </a:rPr>
              <a:t>for</a:t>
            </a:r>
            <a:r>
              <a:rPr lang="nn-NO" b="1" dirty="0">
                <a:solidFill>
                  <a:srgbClr val="000000"/>
                </a:solidFill>
                <a:latin typeface="Consolas"/>
              </a:rPr>
              <a:t> (</a:t>
            </a:r>
            <a:r>
              <a:rPr lang="nn-NO" b="1" dirty="0">
                <a:solidFill>
                  <a:srgbClr val="7F0055"/>
                </a:solidFill>
                <a:latin typeface="Consolas"/>
              </a:rPr>
              <a:t>int</a:t>
            </a:r>
            <a:r>
              <a:rPr lang="nn-NO" b="1" dirty="0">
                <a:solidFill>
                  <a:srgbClr val="000000"/>
                </a:solidFill>
                <a:latin typeface="Consolas"/>
              </a:rPr>
              <a:t> </a:t>
            </a:r>
            <a:r>
              <a:rPr lang="nn-NO" b="1" dirty="0">
                <a:solidFill>
                  <a:srgbClr val="6A3E3E"/>
                </a:solidFill>
                <a:latin typeface="Consolas"/>
              </a:rPr>
              <a:t>i</a:t>
            </a:r>
            <a:r>
              <a:rPr lang="nn-NO" b="1" dirty="0">
                <a:solidFill>
                  <a:srgbClr val="000000"/>
                </a:solidFill>
                <a:latin typeface="Consolas"/>
              </a:rPr>
              <a:t> = 0; </a:t>
            </a:r>
            <a:r>
              <a:rPr lang="nn-NO" b="1" dirty="0">
                <a:solidFill>
                  <a:srgbClr val="6A3E3E"/>
                </a:solidFill>
                <a:latin typeface="Consolas"/>
              </a:rPr>
              <a:t>i</a:t>
            </a:r>
            <a:r>
              <a:rPr lang="nn-NO" b="1" dirty="0">
                <a:solidFill>
                  <a:srgbClr val="000000"/>
                </a:solidFill>
                <a:latin typeface="Consolas"/>
              </a:rPr>
              <a:t> &lt; 3; </a:t>
            </a:r>
            <a:r>
              <a:rPr lang="nn-NO" b="1" dirty="0">
                <a:solidFill>
                  <a:srgbClr val="6A3E3E"/>
                </a:solidFill>
                <a:latin typeface="Consolas"/>
              </a:rPr>
              <a:t>i</a:t>
            </a:r>
            <a:r>
              <a:rPr lang="nn-NO" b="1" dirty="0">
                <a:solidFill>
                  <a:srgbClr val="000000"/>
                </a:solidFill>
                <a:latin typeface="Consolas"/>
              </a:rPr>
              <a:t>++) {</a:t>
            </a:r>
          </a:p>
          <a:p>
            <a:pPr lvl="1"/>
            <a:r>
              <a:rPr lang="en-US" b="1" dirty="0">
                <a:solidFill>
                  <a:srgbClr val="7F0055"/>
                </a:solidFill>
                <a:latin typeface="Consolas"/>
              </a:rPr>
              <a:t>for</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j</a:t>
            </a:r>
            <a:r>
              <a:rPr lang="en-US" b="1" dirty="0">
                <a:solidFill>
                  <a:srgbClr val="000000"/>
                </a:solidFill>
                <a:latin typeface="Consolas"/>
              </a:rPr>
              <a:t> = 0; </a:t>
            </a:r>
            <a:r>
              <a:rPr lang="en-US" b="1" dirty="0">
                <a:solidFill>
                  <a:srgbClr val="6A3E3E"/>
                </a:solidFill>
                <a:latin typeface="Consolas"/>
              </a:rPr>
              <a:t>j</a:t>
            </a:r>
            <a:r>
              <a:rPr lang="en-US" b="1" dirty="0">
                <a:solidFill>
                  <a:srgbClr val="000000"/>
                </a:solidFill>
                <a:latin typeface="Consolas"/>
              </a:rPr>
              <a:t> &lt; 6; </a:t>
            </a:r>
            <a:r>
              <a:rPr lang="en-US" b="1" dirty="0">
                <a:solidFill>
                  <a:srgbClr val="6A3E3E"/>
                </a:solidFill>
                <a:latin typeface="Consolas"/>
              </a:rPr>
              <a:t>j</a:t>
            </a:r>
            <a:r>
              <a:rPr lang="en-US" b="1" dirty="0">
                <a:solidFill>
                  <a:srgbClr val="000000"/>
                </a:solidFill>
                <a:latin typeface="Consolas"/>
              </a:rPr>
              <a:t>++) {</a:t>
            </a:r>
          </a:p>
          <a:p>
            <a:pPr lvl="2"/>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a:t>
            </a:r>
            <a:r>
              <a:rPr lang="en-US" b="1" i="1" dirty="0">
                <a:solidFill>
                  <a:srgbClr val="000000"/>
                </a:solidFill>
                <a:latin typeface="Consolas"/>
              </a:rPr>
              <a:t>(</a:t>
            </a:r>
            <a:r>
              <a:rPr lang="en-US" b="1" i="1" dirty="0">
                <a:solidFill>
                  <a:srgbClr val="2A00FF"/>
                </a:solidFill>
                <a:latin typeface="Consolas"/>
              </a:rPr>
              <a:t>"Enter Run taken"</a:t>
            </a:r>
            <a:r>
              <a:rPr lang="en-US" b="1" i="1" dirty="0">
                <a:solidFill>
                  <a:srgbClr val="000000"/>
                </a:solidFill>
                <a:latin typeface="Consolas"/>
              </a:rPr>
              <a:t> + </a:t>
            </a:r>
          </a:p>
          <a:p>
            <a:pPr lvl="2"/>
            <a:r>
              <a:rPr lang="en-US" b="1" i="1" dirty="0">
                <a:solidFill>
                  <a:srgbClr val="2A00FF"/>
                </a:solidFill>
                <a:latin typeface="Consolas"/>
              </a:rPr>
              <a:t>" in Over </a:t>
            </a:r>
            <a:r>
              <a:rPr lang="en-US" b="1" i="1" dirty="0" err="1">
                <a:solidFill>
                  <a:srgbClr val="2A00FF"/>
                </a:solidFill>
                <a:latin typeface="Consolas"/>
              </a:rPr>
              <a:t>numner</a:t>
            </a:r>
            <a:r>
              <a:rPr lang="en-US" b="1" i="1" dirty="0">
                <a:solidFill>
                  <a:srgbClr val="2A00FF"/>
                </a:solidFill>
                <a:latin typeface="Consolas"/>
              </a:rPr>
              <a:t> "</a:t>
            </a:r>
            <a:r>
              <a:rPr lang="en-US" b="1" i="1" dirty="0">
                <a:solidFill>
                  <a:srgbClr val="000000"/>
                </a:solidFill>
                <a:latin typeface="Consolas"/>
              </a:rPr>
              <a:t> + (</a:t>
            </a:r>
            <a:r>
              <a:rPr lang="en-US" b="1" i="1" dirty="0" err="1">
                <a:solidFill>
                  <a:srgbClr val="6A3E3E"/>
                </a:solidFill>
                <a:latin typeface="Consolas"/>
              </a:rPr>
              <a:t>i</a:t>
            </a:r>
            <a:r>
              <a:rPr lang="en-US" b="1" i="1" dirty="0">
                <a:solidFill>
                  <a:srgbClr val="000000"/>
                </a:solidFill>
                <a:latin typeface="Consolas"/>
              </a:rPr>
              <a:t> + 1) + </a:t>
            </a:r>
          </a:p>
          <a:p>
            <a:pPr lvl="2"/>
            <a:r>
              <a:rPr lang="en-US" b="1" i="1" dirty="0">
                <a:solidFill>
                  <a:srgbClr val="2A00FF"/>
                </a:solidFill>
                <a:latin typeface="Consolas"/>
              </a:rPr>
              <a:t>" and Ball number "</a:t>
            </a:r>
            <a:r>
              <a:rPr lang="en-US" b="1" i="1" dirty="0">
                <a:solidFill>
                  <a:srgbClr val="000000"/>
                </a:solidFill>
                <a:latin typeface="Consolas"/>
              </a:rPr>
              <a:t> + (</a:t>
            </a:r>
            <a:r>
              <a:rPr lang="en-US" b="1" i="1" dirty="0">
                <a:solidFill>
                  <a:srgbClr val="6A3E3E"/>
                </a:solidFill>
                <a:latin typeface="Consolas"/>
              </a:rPr>
              <a:t>j</a:t>
            </a:r>
            <a:r>
              <a:rPr lang="en-US" b="1" i="1" dirty="0">
                <a:solidFill>
                  <a:srgbClr val="000000"/>
                </a:solidFill>
                <a:latin typeface="Consolas"/>
              </a:rPr>
              <a:t> + 1) + </a:t>
            </a:r>
            <a:r>
              <a:rPr lang="en-US" b="1" i="1" dirty="0">
                <a:solidFill>
                  <a:srgbClr val="2A00FF"/>
                </a:solidFill>
                <a:latin typeface="Consolas"/>
              </a:rPr>
              <a:t>" = "</a:t>
            </a:r>
            <a:r>
              <a:rPr lang="en-US" b="1" i="1" dirty="0">
                <a:solidFill>
                  <a:srgbClr val="000000"/>
                </a:solidFill>
                <a:latin typeface="Consolas"/>
              </a:rPr>
              <a:t>);</a:t>
            </a:r>
          </a:p>
          <a:p>
            <a:pPr lvl="2"/>
            <a:r>
              <a:rPr lang="en-US" dirty="0" err="1">
                <a:solidFill>
                  <a:srgbClr val="6A3E3E"/>
                </a:solidFill>
                <a:latin typeface="Consolas"/>
              </a:rPr>
              <a:t>runPerOver</a:t>
            </a:r>
            <a:r>
              <a:rPr lang="en-US" dirty="0">
                <a:solidFill>
                  <a:srgbClr val="000000"/>
                </a:solidFill>
                <a:latin typeface="Consolas"/>
              </a:rPr>
              <a:t>[</a:t>
            </a:r>
            <a:r>
              <a:rPr lang="en-US" dirty="0" err="1">
                <a:solidFill>
                  <a:srgbClr val="6A3E3E"/>
                </a:solidFill>
                <a:latin typeface="Consolas"/>
              </a:rPr>
              <a:t>i</a:t>
            </a:r>
            <a:r>
              <a:rPr lang="en-US" dirty="0">
                <a:solidFill>
                  <a:srgbClr val="000000"/>
                </a:solidFill>
                <a:latin typeface="Consolas"/>
              </a:rPr>
              <a:t>][</a:t>
            </a:r>
            <a:r>
              <a:rPr lang="en-US" dirty="0">
                <a:solidFill>
                  <a:srgbClr val="6A3E3E"/>
                </a:solidFill>
                <a:latin typeface="Consolas"/>
              </a:rPr>
              <a:t>j</a:t>
            </a:r>
            <a:r>
              <a:rPr lang="en-US" dirty="0">
                <a:solidFill>
                  <a:srgbClr val="000000"/>
                </a:solidFill>
                <a:latin typeface="Consolas"/>
              </a:rPr>
              <a:t>] = </a:t>
            </a:r>
            <a:r>
              <a:rPr lang="en-US" dirty="0" err="1">
                <a:solidFill>
                  <a:srgbClr val="6A3E3E"/>
                </a:solidFill>
                <a:latin typeface="Consolas"/>
              </a:rPr>
              <a:t>s</a:t>
            </a:r>
            <a:r>
              <a:rPr lang="en-US" dirty="0" err="1">
                <a:solidFill>
                  <a:srgbClr val="000000"/>
                </a:solidFill>
                <a:latin typeface="Consolas"/>
              </a:rPr>
              <a:t>.nextInt</a:t>
            </a:r>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p>
          <a:p>
            <a:r>
              <a:rPr lang="en-US" b="1" dirty="0" err="1">
                <a:solidFill>
                  <a:srgbClr val="7F0055"/>
                </a:solidFill>
                <a:latin typeface="Consolas"/>
              </a:rPr>
              <a:t>int</a:t>
            </a:r>
            <a:r>
              <a:rPr lang="en-US" b="1" dirty="0">
                <a:solidFill>
                  <a:srgbClr val="000000"/>
                </a:solidFill>
                <a:latin typeface="Consolas"/>
              </a:rPr>
              <a:t> </a:t>
            </a:r>
            <a:r>
              <a:rPr lang="en-US" b="1" dirty="0" err="1">
                <a:solidFill>
                  <a:srgbClr val="6A3E3E"/>
                </a:solidFill>
                <a:latin typeface="Consolas"/>
              </a:rPr>
              <a:t>totalRun</a:t>
            </a:r>
            <a:r>
              <a:rPr lang="en-US" b="1" dirty="0">
                <a:solidFill>
                  <a:srgbClr val="000000"/>
                </a:solidFill>
                <a:latin typeface="Consolas"/>
              </a:rPr>
              <a:t> = 0;</a:t>
            </a:r>
          </a:p>
          <a:p>
            <a:r>
              <a:rPr lang="nn-NO" b="1" dirty="0">
                <a:solidFill>
                  <a:srgbClr val="7F0055"/>
                </a:solidFill>
                <a:latin typeface="Consolas"/>
              </a:rPr>
              <a:t>for</a:t>
            </a:r>
            <a:r>
              <a:rPr lang="nn-NO" b="1" dirty="0">
                <a:solidFill>
                  <a:srgbClr val="000000"/>
                </a:solidFill>
                <a:latin typeface="Consolas"/>
              </a:rPr>
              <a:t> (</a:t>
            </a:r>
            <a:r>
              <a:rPr lang="nn-NO" b="1" dirty="0">
                <a:solidFill>
                  <a:srgbClr val="7F0055"/>
                </a:solidFill>
                <a:latin typeface="Consolas"/>
              </a:rPr>
              <a:t>int</a:t>
            </a:r>
            <a:r>
              <a:rPr lang="nn-NO" b="1" dirty="0">
                <a:solidFill>
                  <a:srgbClr val="000000"/>
                </a:solidFill>
                <a:latin typeface="Consolas"/>
              </a:rPr>
              <a:t> </a:t>
            </a:r>
            <a:r>
              <a:rPr lang="nn-NO" b="1" dirty="0">
                <a:solidFill>
                  <a:srgbClr val="6A3E3E"/>
                </a:solidFill>
                <a:latin typeface="Consolas"/>
              </a:rPr>
              <a:t>i</a:t>
            </a:r>
            <a:r>
              <a:rPr lang="nn-NO" b="1" dirty="0">
                <a:solidFill>
                  <a:srgbClr val="000000"/>
                </a:solidFill>
                <a:latin typeface="Consolas"/>
              </a:rPr>
              <a:t> = 0; </a:t>
            </a:r>
            <a:r>
              <a:rPr lang="nn-NO" b="1" dirty="0">
                <a:solidFill>
                  <a:srgbClr val="6A3E3E"/>
                </a:solidFill>
                <a:latin typeface="Consolas"/>
              </a:rPr>
              <a:t>i</a:t>
            </a:r>
            <a:r>
              <a:rPr lang="nn-NO" b="1" dirty="0">
                <a:solidFill>
                  <a:srgbClr val="000000"/>
                </a:solidFill>
                <a:latin typeface="Consolas"/>
              </a:rPr>
              <a:t> &lt; 3; </a:t>
            </a:r>
            <a:r>
              <a:rPr lang="nn-NO" b="1" dirty="0">
                <a:solidFill>
                  <a:srgbClr val="6A3E3E"/>
                </a:solidFill>
                <a:latin typeface="Consolas"/>
              </a:rPr>
              <a:t>i</a:t>
            </a:r>
            <a:r>
              <a:rPr lang="nn-NO" b="1" dirty="0">
                <a:solidFill>
                  <a:srgbClr val="000000"/>
                </a:solidFill>
                <a:latin typeface="Consolas"/>
              </a:rPr>
              <a:t>++) {</a:t>
            </a:r>
          </a:p>
          <a:p>
            <a:pPr lvl="1"/>
            <a:r>
              <a:rPr lang="en-US" b="1" dirty="0">
                <a:solidFill>
                  <a:srgbClr val="7F0055"/>
                </a:solidFill>
                <a:latin typeface="Consolas"/>
              </a:rPr>
              <a:t>for</a:t>
            </a:r>
            <a:r>
              <a:rPr lang="en-US" b="1" dirty="0">
                <a:solidFill>
                  <a:srgbClr val="000000"/>
                </a:solidFill>
                <a:latin typeface="Consolas"/>
              </a:rPr>
              <a:t> (</a:t>
            </a:r>
            <a:r>
              <a:rPr lang="en-US" b="1" dirty="0" err="1">
                <a:solidFill>
                  <a:srgbClr val="7F0055"/>
                </a:solidFill>
                <a:latin typeface="Consolas"/>
              </a:rPr>
              <a:t>int</a:t>
            </a:r>
            <a:r>
              <a:rPr lang="en-US" b="1" dirty="0">
                <a:solidFill>
                  <a:srgbClr val="000000"/>
                </a:solidFill>
                <a:latin typeface="Consolas"/>
              </a:rPr>
              <a:t> </a:t>
            </a:r>
            <a:r>
              <a:rPr lang="en-US" b="1" dirty="0">
                <a:solidFill>
                  <a:srgbClr val="6A3E3E"/>
                </a:solidFill>
                <a:latin typeface="Consolas"/>
              </a:rPr>
              <a:t>j</a:t>
            </a:r>
            <a:r>
              <a:rPr lang="en-US" b="1" dirty="0">
                <a:solidFill>
                  <a:srgbClr val="000000"/>
                </a:solidFill>
                <a:latin typeface="Consolas"/>
              </a:rPr>
              <a:t> = 0; </a:t>
            </a:r>
            <a:r>
              <a:rPr lang="en-US" b="1" dirty="0">
                <a:solidFill>
                  <a:srgbClr val="6A3E3E"/>
                </a:solidFill>
                <a:latin typeface="Consolas"/>
              </a:rPr>
              <a:t>j</a:t>
            </a:r>
            <a:r>
              <a:rPr lang="en-US" b="1" dirty="0">
                <a:solidFill>
                  <a:srgbClr val="000000"/>
                </a:solidFill>
                <a:latin typeface="Consolas"/>
              </a:rPr>
              <a:t> &lt; 6; </a:t>
            </a:r>
            <a:r>
              <a:rPr lang="en-US" b="1" dirty="0">
                <a:solidFill>
                  <a:srgbClr val="6A3E3E"/>
                </a:solidFill>
                <a:latin typeface="Consolas"/>
              </a:rPr>
              <a:t>j</a:t>
            </a:r>
            <a:r>
              <a:rPr lang="en-US" b="1" dirty="0">
                <a:solidFill>
                  <a:srgbClr val="000000"/>
                </a:solidFill>
                <a:latin typeface="Consolas"/>
              </a:rPr>
              <a:t>++) {</a:t>
            </a:r>
          </a:p>
          <a:p>
            <a:pPr lvl="1"/>
            <a:r>
              <a:rPr lang="en-US" dirty="0">
                <a:solidFill>
                  <a:srgbClr val="6A3E3E"/>
                </a:solidFill>
                <a:latin typeface="Consolas"/>
              </a:rPr>
              <a:t>	</a:t>
            </a:r>
            <a:r>
              <a:rPr lang="en-US" dirty="0" err="1">
                <a:solidFill>
                  <a:srgbClr val="6A3E3E"/>
                </a:solidFill>
                <a:latin typeface="Consolas"/>
              </a:rPr>
              <a:t>totalRun</a:t>
            </a:r>
            <a:r>
              <a:rPr lang="en-US" dirty="0">
                <a:solidFill>
                  <a:srgbClr val="000000"/>
                </a:solidFill>
                <a:latin typeface="Consolas"/>
              </a:rPr>
              <a:t> += </a:t>
            </a:r>
            <a:r>
              <a:rPr lang="en-US" dirty="0" err="1">
                <a:solidFill>
                  <a:srgbClr val="6A3E3E"/>
                </a:solidFill>
                <a:latin typeface="Consolas"/>
              </a:rPr>
              <a:t>runPerOver</a:t>
            </a:r>
            <a:r>
              <a:rPr lang="en-US" dirty="0">
                <a:solidFill>
                  <a:srgbClr val="000000"/>
                </a:solidFill>
                <a:latin typeface="Consolas"/>
              </a:rPr>
              <a:t>[</a:t>
            </a:r>
            <a:r>
              <a:rPr lang="en-US" dirty="0" err="1">
                <a:solidFill>
                  <a:srgbClr val="6A3E3E"/>
                </a:solidFill>
                <a:latin typeface="Consolas"/>
              </a:rPr>
              <a:t>i</a:t>
            </a:r>
            <a:r>
              <a:rPr lang="en-US" dirty="0">
                <a:solidFill>
                  <a:srgbClr val="000000"/>
                </a:solidFill>
                <a:latin typeface="Consolas"/>
              </a:rPr>
              <a:t>][</a:t>
            </a:r>
            <a:r>
              <a:rPr lang="en-US" dirty="0">
                <a:solidFill>
                  <a:srgbClr val="6A3E3E"/>
                </a:solidFill>
                <a:latin typeface="Consolas"/>
              </a:rPr>
              <a:t>j</a:t>
            </a:r>
            <a:r>
              <a:rPr lang="en-US" dirty="0">
                <a:solidFill>
                  <a:srgbClr val="000000"/>
                </a:solidFill>
                <a:latin typeface="Consolas"/>
              </a:rPr>
              <a:t>];</a:t>
            </a:r>
          </a:p>
          <a:p>
            <a:pPr lvl="1"/>
            <a:r>
              <a:rPr lang="en-US" dirty="0">
                <a:solidFill>
                  <a:srgbClr val="000000"/>
                </a:solidFill>
                <a:latin typeface="Consolas"/>
              </a:rPr>
              <a:t>}</a:t>
            </a:r>
          </a:p>
          <a:p>
            <a:r>
              <a:rPr lang="en-US" dirty="0">
                <a:solidFill>
                  <a:srgbClr val="000000"/>
                </a:solidFill>
                <a:latin typeface="Consolas"/>
              </a:rPr>
              <a:t>}</a:t>
            </a:r>
          </a:p>
          <a:p>
            <a:r>
              <a:rPr lang="en-US" b="1" dirty="0">
                <a:solidFill>
                  <a:srgbClr val="7F0055"/>
                </a:solidFill>
                <a:latin typeface="Consolas"/>
              </a:rPr>
              <a:t>double</a:t>
            </a:r>
            <a:r>
              <a:rPr lang="en-US" b="1" dirty="0">
                <a:solidFill>
                  <a:srgbClr val="000000"/>
                </a:solidFill>
                <a:latin typeface="Consolas"/>
              </a:rPr>
              <a:t> </a:t>
            </a:r>
            <a:r>
              <a:rPr lang="en-US" b="1" dirty="0">
                <a:solidFill>
                  <a:srgbClr val="6A3E3E"/>
                </a:solidFill>
                <a:latin typeface="Consolas"/>
              </a:rPr>
              <a:t>average</a:t>
            </a:r>
            <a:r>
              <a:rPr lang="en-US" b="1" dirty="0">
                <a:solidFill>
                  <a:srgbClr val="000000"/>
                </a:solidFill>
                <a:latin typeface="Consolas"/>
              </a:rPr>
              <a:t> = </a:t>
            </a:r>
            <a:r>
              <a:rPr lang="en-US" b="1" dirty="0" err="1">
                <a:solidFill>
                  <a:srgbClr val="6A3E3E"/>
                </a:solidFill>
                <a:latin typeface="Consolas"/>
              </a:rPr>
              <a:t>totalRun</a:t>
            </a:r>
            <a:r>
              <a:rPr lang="en-US" b="1" dirty="0">
                <a:solidFill>
                  <a:srgbClr val="000000"/>
                </a:solidFill>
                <a:latin typeface="Consolas"/>
              </a:rPr>
              <a:t> / (</a:t>
            </a:r>
            <a:r>
              <a:rPr lang="en-US" b="1" dirty="0">
                <a:solidFill>
                  <a:srgbClr val="7F0055"/>
                </a:solidFill>
                <a:latin typeface="Consolas"/>
              </a:rPr>
              <a:t>double</a:t>
            </a:r>
            <a:r>
              <a:rPr lang="en-US" b="1" dirty="0">
                <a:solidFill>
                  <a:srgbClr val="000000"/>
                </a:solidFill>
                <a:latin typeface="Consolas"/>
              </a:rPr>
              <a:t>) </a:t>
            </a:r>
            <a:r>
              <a:rPr lang="en-US" b="1" dirty="0" err="1">
                <a:solidFill>
                  <a:srgbClr val="6A3E3E"/>
                </a:solidFill>
                <a:latin typeface="Consolas"/>
              </a:rPr>
              <a:t>runPerOver</a:t>
            </a:r>
            <a:r>
              <a:rPr lang="en-US" b="1" dirty="0" err="1">
                <a:solidFill>
                  <a:srgbClr val="000000"/>
                </a:solidFill>
                <a:latin typeface="Consolas"/>
              </a:rPr>
              <a:t>.</a:t>
            </a:r>
            <a:r>
              <a:rPr lang="en-US" b="1" dirty="0" err="1">
                <a:solidFill>
                  <a:srgbClr val="0000C0"/>
                </a:solidFill>
                <a:latin typeface="Consolas"/>
              </a:rPr>
              <a:t>length</a:t>
            </a:r>
            <a:r>
              <a:rPr lang="en-US" b="1" dirty="0">
                <a:solidFill>
                  <a:srgbClr val="000000"/>
                </a:solidFill>
                <a:latin typeface="Consolas"/>
              </a:rPr>
              <a:t>;</a:t>
            </a:r>
          </a:p>
          <a:p>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"Total Run = "</a:t>
            </a:r>
            <a:r>
              <a:rPr lang="en-US" b="1" i="1" dirty="0">
                <a:solidFill>
                  <a:srgbClr val="000000"/>
                </a:solidFill>
                <a:latin typeface="Consolas"/>
              </a:rPr>
              <a:t> + </a:t>
            </a:r>
            <a:r>
              <a:rPr lang="en-US" b="1" i="1" dirty="0" err="1">
                <a:solidFill>
                  <a:srgbClr val="6A3E3E"/>
                </a:solidFill>
                <a:latin typeface="Consolas"/>
              </a:rPr>
              <a:t>totalRun</a:t>
            </a:r>
            <a:r>
              <a:rPr lang="en-US" b="1" i="1" dirty="0">
                <a:solidFill>
                  <a:srgbClr val="000000"/>
                </a:solidFill>
                <a:latin typeface="Consolas"/>
              </a:rPr>
              <a:t>);</a:t>
            </a:r>
          </a:p>
          <a:p>
            <a:r>
              <a:rPr lang="en-US" dirty="0" err="1">
                <a:solidFill>
                  <a:srgbClr val="000000"/>
                </a:solidFill>
                <a:latin typeface="Consolas"/>
              </a:rPr>
              <a:t>System.</a:t>
            </a:r>
            <a:r>
              <a:rPr lang="en-US" b="1" i="1" dirty="0" err="1">
                <a:solidFill>
                  <a:srgbClr val="0000C0"/>
                </a:solidFill>
                <a:latin typeface="Consolas"/>
              </a:rPr>
              <a:t>out</a:t>
            </a:r>
            <a:r>
              <a:rPr lang="en-US" b="1" i="1" dirty="0" err="1">
                <a:solidFill>
                  <a:srgbClr val="000000"/>
                </a:solidFill>
                <a:latin typeface="Consolas"/>
              </a:rPr>
              <a:t>.println</a:t>
            </a:r>
            <a:r>
              <a:rPr lang="en-US" b="1" i="1" dirty="0">
                <a:solidFill>
                  <a:srgbClr val="000000"/>
                </a:solidFill>
                <a:latin typeface="Consolas"/>
              </a:rPr>
              <a:t>(</a:t>
            </a:r>
            <a:r>
              <a:rPr lang="en-US" b="1" i="1" dirty="0">
                <a:solidFill>
                  <a:srgbClr val="2A00FF"/>
                </a:solidFill>
                <a:latin typeface="Consolas"/>
              </a:rPr>
              <a:t>"Average per over = "</a:t>
            </a:r>
            <a:r>
              <a:rPr lang="en-US" b="1" i="1" dirty="0">
                <a:solidFill>
                  <a:srgbClr val="000000"/>
                </a:solidFill>
                <a:latin typeface="Consolas"/>
              </a:rPr>
              <a:t> + </a:t>
            </a:r>
            <a:r>
              <a:rPr lang="en-US" b="1" i="1" dirty="0">
                <a:solidFill>
                  <a:srgbClr val="6A3E3E"/>
                </a:solidFill>
                <a:latin typeface="Consolas"/>
              </a:rPr>
              <a:t>average</a:t>
            </a:r>
            <a:r>
              <a:rPr lang="en-US" b="1" i="1" dirty="0">
                <a:solidFill>
                  <a:srgbClr val="000000"/>
                </a:solidFill>
                <a:latin typeface="Consolas"/>
              </a:rPr>
              <a:t>);</a:t>
            </a:r>
            <a:endParaRPr lang="en-US" dirty="0">
              <a:solidFill>
                <a:srgbClr val="000000"/>
              </a:solidFill>
              <a:latin typeface="Consolas"/>
            </a:endParaRPr>
          </a:p>
        </p:txBody>
      </p:sp>
      <p:pic>
        <p:nvPicPr>
          <p:cNvPr id="4" name="Picture 2">
            <a:extLst>
              <a:ext uri="{FF2B5EF4-FFF2-40B4-BE49-F238E27FC236}">
                <a16:creationId xmlns:a16="http://schemas.microsoft.com/office/drawing/2014/main" id="{6098F00D-2963-0872-3DC4-B4D846A5E462}"/>
              </a:ext>
            </a:extLst>
          </p:cNvPr>
          <p:cNvPicPr>
            <a:picLocks noChangeAspect="1" noChangeArrowheads="1"/>
          </p:cNvPicPr>
          <p:nvPr/>
        </p:nvPicPr>
        <p:blipFill>
          <a:blip r:embed="rId2" cstate="print"/>
          <a:srcRect/>
          <a:stretch>
            <a:fillRect/>
          </a:stretch>
        </p:blipFill>
        <p:spPr bwMode="auto">
          <a:xfrm>
            <a:off x="6138358" y="711201"/>
            <a:ext cx="6011284" cy="4733635"/>
          </a:xfrm>
          <a:prstGeom prst="rect">
            <a:avLst/>
          </a:prstGeom>
          <a:noFill/>
          <a:ln w="9525">
            <a:noFill/>
            <a:miter lim="800000"/>
            <a:headEnd/>
            <a:tailEnd/>
          </a:ln>
        </p:spPr>
      </p:pic>
    </p:spTree>
    <p:extLst>
      <p:ext uri="{BB962C8B-B14F-4D97-AF65-F5344CB8AC3E}">
        <p14:creationId xmlns:p14="http://schemas.microsoft.com/office/powerpoint/2010/main" val="4025983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9A530-6B92-FD8F-3C5A-9EDCB2490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A4688-6AD9-2602-7F65-3E6DAE8B4132}"/>
              </a:ext>
            </a:extLst>
          </p:cNvPr>
          <p:cNvSpPr>
            <a:spLocks noGrp="1"/>
          </p:cNvSpPr>
          <p:nvPr>
            <p:ph type="title"/>
          </p:nvPr>
        </p:nvSpPr>
        <p:spPr>
          <a:xfrm>
            <a:off x="0" y="1"/>
            <a:ext cx="12192000" cy="711200"/>
          </a:xfrm>
        </p:spPr>
        <p:txBody>
          <a:bodyPr/>
          <a:lstStyle/>
          <a:p>
            <a:r>
              <a:rPr lang="en-US" dirty="0"/>
              <a:t>Multi-Dimensional Array </a:t>
            </a:r>
          </a:p>
        </p:txBody>
      </p:sp>
      <p:sp>
        <p:nvSpPr>
          <p:cNvPr id="3" name="Content Placeholder 2">
            <a:extLst>
              <a:ext uri="{FF2B5EF4-FFF2-40B4-BE49-F238E27FC236}">
                <a16:creationId xmlns:a16="http://schemas.microsoft.com/office/drawing/2014/main" id="{E462411C-4C96-37A7-896F-9908BDCD1682}"/>
              </a:ext>
            </a:extLst>
          </p:cNvPr>
          <p:cNvSpPr>
            <a:spLocks noGrp="1"/>
          </p:cNvSpPr>
          <p:nvPr>
            <p:ph idx="1"/>
          </p:nvPr>
        </p:nvSpPr>
        <p:spPr>
          <a:xfrm>
            <a:off x="131180" y="863444"/>
            <a:ext cx="11929641" cy="5590565"/>
          </a:xfrm>
        </p:spPr>
        <p:txBody>
          <a:bodyPr/>
          <a:lstStyle/>
          <a:p>
            <a:r>
              <a:rPr lang="en-US" dirty="0">
                <a:solidFill>
                  <a:srgbClr val="C00000"/>
                </a:solidFill>
              </a:rPr>
              <a:t>manually</a:t>
            </a:r>
            <a:r>
              <a:rPr lang="en-US" dirty="0"/>
              <a:t> allocate </a:t>
            </a:r>
            <a:r>
              <a:rPr lang="en-US" dirty="0">
                <a:solidFill>
                  <a:srgbClr val="C00000"/>
                </a:solidFill>
              </a:rPr>
              <a:t>different</a:t>
            </a:r>
            <a:r>
              <a:rPr lang="en-US" dirty="0"/>
              <a:t> size:</a:t>
            </a:r>
          </a:p>
          <a:p>
            <a:pPr lvl="2">
              <a:buNone/>
            </a:pPr>
            <a:r>
              <a:rPr lang="en-US" sz="2200" dirty="0" err="1">
                <a:ea typeface="Cambria" pitchFamily="18" charset="0"/>
              </a:rPr>
              <a:t>int</a:t>
            </a:r>
            <a:r>
              <a:rPr lang="en-US" sz="2200" dirty="0">
                <a:ea typeface="Cambria" pitchFamily="18" charset="0"/>
              </a:rPr>
              <a:t> </a:t>
            </a:r>
            <a:r>
              <a:rPr lang="en-US" sz="2200" dirty="0" err="1">
                <a:ea typeface="Cambria" pitchFamily="18" charset="0"/>
              </a:rPr>
              <a:t>runPerOver</a:t>
            </a:r>
            <a:r>
              <a:rPr lang="en-US" sz="2200" dirty="0">
                <a:ea typeface="Cambria" pitchFamily="18" charset="0"/>
              </a:rPr>
              <a:t>[][] = new </a:t>
            </a:r>
            <a:r>
              <a:rPr lang="en-US" sz="2200" dirty="0" err="1">
                <a:ea typeface="Cambria" pitchFamily="18" charset="0"/>
              </a:rPr>
              <a:t>int</a:t>
            </a:r>
            <a:r>
              <a:rPr lang="en-US" sz="2200" dirty="0">
                <a:ea typeface="Cambria" pitchFamily="18" charset="0"/>
              </a:rPr>
              <a:t>[3][];</a:t>
            </a:r>
          </a:p>
          <a:p>
            <a:pPr lvl="2">
              <a:buNone/>
            </a:pPr>
            <a:r>
              <a:rPr lang="en-US" sz="2200" dirty="0" err="1">
                <a:ea typeface="Cambria" pitchFamily="18" charset="0"/>
              </a:rPr>
              <a:t>runPerOver</a:t>
            </a:r>
            <a:r>
              <a:rPr lang="en-US" sz="2200" dirty="0">
                <a:ea typeface="Cambria" pitchFamily="18" charset="0"/>
              </a:rPr>
              <a:t>[0] =  new </a:t>
            </a:r>
            <a:r>
              <a:rPr lang="en-US" sz="2200" dirty="0" err="1">
                <a:ea typeface="Cambria" pitchFamily="18" charset="0"/>
              </a:rPr>
              <a:t>int</a:t>
            </a:r>
            <a:r>
              <a:rPr lang="en-US" sz="2200" dirty="0">
                <a:ea typeface="Cambria" pitchFamily="18" charset="0"/>
              </a:rPr>
              <a:t>[6];</a:t>
            </a:r>
          </a:p>
          <a:p>
            <a:pPr lvl="2">
              <a:buNone/>
            </a:pPr>
            <a:r>
              <a:rPr lang="en-US" sz="2200" dirty="0" err="1">
                <a:ea typeface="Cambria" pitchFamily="18" charset="0"/>
              </a:rPr>
              <a:t>runPerOver</a:t>
            </a:r>
            <a:r>
              <a:rPr lang="en-US" sz="2200" dirty="0">
                <a:ea typeface="Cambria" pitchFamily="18" charset="0"/>
              </a:rPr>
              <a:t>[1]  =  new </a:t>
            </a:r>
            <a:r>
              <a:rPr lang="en-US" sz="2200" dirty="0" err="1">
                <a:ea typeface="Cambria" pitchFamily="18" charset="0"/>
              </a:rPr>
              <a:t>int</a:t>
            </a:r>
            <a:r>
              <a:rPr lang="en-US" sz="2200" dirty="0">
                <a:ea typeface="Cambria" pitchFamily="18" charset="0"/>
              </a:rPr>
              <a:t>[7];</a:t>
            </a:r>
          </a:p>
          <a:p>
            <a:pPr lvl="2">
              <a:buNone/>
            </a:pPr>
            <a:r>
              <a:rPr lang="en-US" sz="2200" dirty="0" err="1">
                <a:ea typeface="Cambria" pitchFamily="18" charset="0"/>
              </a:rPr>
              <a:t>runPerOver</a:t>
            </a:r>
            <a:r>
              <a:rPr lang="en-US" sz="2200" dirty="0">
                <a:ea typeface="Cambria" pitchFamily="18" charset="0"/>
              </a:rPr>
              <a:t>[2]  =  new </a:t>
            </a:r>
            <a:r>
              <a:rPr lang="en-US" sz="2200" dirty="0" err="1">
                <a:ea typeface="Cambria" pitchFamily="18" charset="0"/>
              </a:rPr>
              <a:t>int</a:t>
            </a:r>
            <a:r>
              <a:rPr lang="en-US" sz="2200" dirty="0">
                <a:ea typeface="Cambria" pitchFamily="18" charset="0"/>
              </a:rPr>
              <a:t>[6]; </a:t>
            </a:r>
          </a:p>
          <a:p>
            <a:r>
              <a:rPr lang="en-US" dirty="0">
                <a:solidFill>
                  <a:srgbClr val="C00000"/>
                </a:solidFill>
              </a:rPr>
              <a:t>initialization</a:t>
            </a:r>
            <a:r>
              <a:rPr lang="en-US" dirty="0"/>
              <a:t>:</a:t>
            </a:r>
          </a:p>
          <a:p>
            <a:pPr lvl="1">
              <a:buNone/>
            </a:pPr>
            <a:r>
              <a:rPr lang="en-US" sz="2200" dirty="0" err="1">
                <a:ea typeface="Cambria" pitchFamily="18" charset="0"/>
              </a:rPr>
              <a:t>int</a:t>
            </a:r>
            <a:r>
              <a:rPr lang="en-US" sz="2200" dirty="0">
                <a:ea typeface="Cambria" pitchFamily="18" charset="0"/>
              </a:rPr>
              <a:t> </a:t>
            </a:r>
            <a:r>
              <a:rPr lang="en-US" sz="2200" dirty="0" err="1">
                <a:ea typeface="Cambria" pitchFamily="18" charset="0"/>
              </a:rPr>
              <a:t>runPerOver</a:t>
            </a:r>
            <a:r>
              <a:rPr lang="en-US" sz="2200" dirty="0">
                <a:ea typeface="Cambria" pitchFamily="18" charset="0"/>
              </a:rPr>
              <a:t>[][] = {</a:t>
            </a:r>
          </a:p>
          <a:p>
            <a:pPr lvl="1">
              <a:buNone/>
            </a:pPr>
            <a:r>
              <a:rPr lang="en-US" sz="2200" dirty="0">
                <a:ea typeface="Cambria" pitchFamily="18" charset="0"/>
              </a:rPr>
              <a:t>				{0,4,2,1,0,6},</a:t>
            </a:r>
          </a:p>
          <a:p>
            <a:pPr lvl="1">
              <a:buNone/>
            </a:pPr>
            <a:r>
              <a:rPr lang="en-US" sz="2200" dirty="0">
                <a:ea typeface="Cambria" pitchFamily="18" charset="0"/>
              </a:rPr>
              <a:t>				{1,-1,4,1,2,4,0},</a:t>
            </a:r>
          </a:p>
          <a:p>
            <a:pPr lvl="1">
              <a:buNone/>
            </a:pPr>
            <a:r>
              <a:rPr lang="en-US" sz="2200" dirty="0">
                <a:ea typeface="Cambria" pitchFamily="18" charset="0"/>
              </a:rPr>
              <a:t>				{6,4,1,0,2,2},</a:t>
            </a:r>
          </a:p>
          <a:p>
            <a:pPr lvl="1">
              <a:buNone/>
            </a:pPr>
            <a:r>
              <a:rPr lang="en-US" sz="2200" dirty="0">
                <a:ea typeface="Cambria" pitchFamily="18" charset="0"/>
              </a:rPr>
              <a:t>			}</a:t>
            </a:r>
          </a:p>
          <a:p>
            <a:pPr lvl="1">
              <a:buNone/>
            </a:pPr>
            <a:endParaRPr lang="en-US" sz="2200" dirty="0">
              <a:ea typeface="Cambria" pitchFamily="18" charset="0"/>
            </a:endParaRPr>
          </a:p>
          <a:p>
            <a:pPr lvl="1">
              <a:buNone/>
            </a:pPr>
            <a:r>
              <a:rPr lang="en-IN" sz="2200" b="1" dirty="0">
                <a:solidFill>
                  <a:srgbClr val="C00000"/>
                </a:solidFill>
              </a:rPr>
              <a:t>Note : here to specify extra runs (Wide, No Ball etc.. ) negative values are used</a:t>
            </a:r>
            <a:endParaRPr lang="en-US" sz="2200" b="1" dirty="0">
              <a:solidFill>
                <a:srgbClr val="C00000"/>
              </a:solidFill>
            </a:endParaRPr>
          </a:p>
          <a:p>
            <a:endParaRPr lang="en-US" dirty="0"/>
          </a:p>
        </p:txBody>
      </p:sp>
    </p:spTree>
    <p:extLst>
      <p:ext uri="{BB962C8B-B14F-4D97-AF65-F5344CB8AC3E}">
        <p14:creationId xmlns:p14="http://schemas.microsoft.com/office/powerpoint/2010/main" val="84696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BE16E-6B2A-4F4D-17FA-12AE75448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81F2E-ACF9-C483-D8D0-A8FC2EEC9878}"/>
              </a:ext>
            </a:extLst>
          </p:cNvPr>
          <p:cNvSpPr>
            <a:spLocks noGrp="1"/>
          </p:cNvSpPr>
          <p:nvPr>
            <p:ph type="title"/>
          </p:nvPr>
        </p:nvSpPr>
        <p:spPr>
          <a:xfrm>
            <a:off x="0" y="1"/>
            <a:ext cx="12192000" cy="711200"/>
          </a:xfrm>
        </p:spPr>
        <p:txBody>
          <a:bodyPr/>
          <a:lstStyle/>
          <a:p>
            <a:r>
              <a:rPr lang="en-US" dirty="0"/>
              <a:t>Searching in Array</a:t>
            </a:r>
          </a:p>
        </p:txBody>
      </p:sp>
      <p:sp>
        <p:nvSpPr>
          <p:cNvPr id="3" name="Content Placeholder 2">
            <a:extLst>
              <a:ext uri="{FF2B5EF4-FFF2-40B4-BE49-F238E27FC236}">
                <a16:creationId xmlns:a16="http://schemas.microsoft.com/office/drawing/2014/main" id="{0F5CE8AC-4E1F-20E9-6F4C-E770CB9AC521}"/>
              </a:ext>
            </a:extLst>
          </p:cNvPr>
          <p:cNvSpPr>
            <a:spLocks noGrp="1"/>
          </p:cNvSpPr>
          <p:nvPr>
            <p:ph idx="1"/>
          </p:nvPr>
        </p:nvSpPr>
        <p:spPr>
          <a:xfrm>
            <a:off x="131180" y="863444"/>
            <a:ext cx="11929641" cy="5590565"/>
          </a:xfrm>
        </p:spPr>
        <p:txBody>
          <a:bodyPr/>
          <a:lstStyle/>
          <a:p>
            <a:r>
              <a:rPr lang="en-US" dirty="0"/>
              <a:t>Searching is the process of looking for a specific element in an array. for example, discovering whether a certain element is included in the array.</a:t>
            </a:r>
          </a:p>
          <a:p>
            <a:r>
              <a:rPr lang="en-US" dirty="0"/>
              <a:t>Searching is a common task in computer programming. Many algorithms and data structures are devoted to searching.</a:t>
            </a:r>
          </a:p>
          <a:p>
            <a:r>
              <a:rPr lang="en-US" dirty="0"/>
              <a:t>We will discuss two commonly used approaches,</a:t>
            </a:r>
          </a:p>
          <a:p>
            <a:pPr lvl="1"/>
            <a:r>
              <a:rPr lang="en-US" sz="2200" b="1" dirty="0">
                <a:solidFill>
                  <a:srgbClr val="B71B1C"/>
                </a:solidFill>
              </a:rPr>
              <a:t>Linear Search</a:t>
            </a:r>
            <a:r>
              <a:rPr lang="en-US" sz="2200" b="1" dirty="0"/>
              <a:t>: </a:t>
            </a:r>
            <a:r>
              <a:rPr lang="en-US" sz="2200" dirty="0"/>
              <a:t>The linear search approach compares the key element key sequentially with each element in the array. It continues to do so until the key matches an element in the array or the array is exhausted without a match being found.</a:t>
            </a:r>
          </a:p>
          <a:p>
            <a:pPr lvl="1"/>
            <a:r>
              <a:rPr lang="en-US" sz="2200" b="1" dirty="0">
                <a:solidFill>
                  <a:srgbClr val="B71B1C"/>
                </a:solidFill>
              </a:rPr>
              <a:t>Binary Search</a:t>
            </a:r>
            <a:r>
              <a:rPr lang="en-US" sz="2200" b="1" dirty="0"/>
              <a:t>: </a:t>
            </a:r>
            <a:r>
              <a:rPr lang="en-US" sz="2200" dirty="0"/>
              <a:t>The binary search first compares the key with the element in the middle of the array. Consider the following three cases: </a:t>
            </a:r>
          </a:p>
          <a:p>
            <a:pPr lvl="2"/>
            <a:r>
              <a:rPr lang="en-US" sz="2000" dirty="0"/>
              <a:t>If the key is less than the middle element, you need to continue to search for the key only in the first half of the array.</a:t>
            </a:r>
          </a:p>
          <a:p>
            <a:pPr lvl="2"/>
            <a:r>
              <a:rPr lang="en-US" sz="2000" dirty="0"/>
              <a:t>If the key is equal to the middle element, the search ends with a match.</a:t>
            </a:r>
          </a:p>
          <a:p>
            <a:pPr lvl="2"/>
            <a:r>
              <a:rPr lang="en-US" sz="2000" dirty="0"/>
              <a:t>If the key is greater than the middle element, you need to continue to search for the key only in the second half of the array.</a:t>
            </a:r>
          </a:p>
          <a:p>
            <a:pPr marL="914400" lvl="2" indent="0">
              <a:buNone/>
            </a:pPr>
            <a:r>
              <a:rPr lang="en-US" sz="2000" dirty="0"/>
              <a:t>Note: Array should be sorted in ascending order if we want to use Binary Search.</a:t>
            </a:r>
          </a:p>
        </p:txBody>
      </p:sp>
    </p:spTree>
    <p:extLst>
      <p:ext uri="{BB962C8B-B14F-4D97-AF65-F5344CB8AC3E}">
        <p14:creationId xmlns:p14="http://schemas.microsoft.com/office/powerpoint/2010/main" val="324242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61906-733B-9056-F35E-592D3EB26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DBCA11-D0FA-5F91-5C88-8B01B426CDA4}"/>
              </a:ext>
            </a:extLst>
          </p:cNvPr>
          <p:cNvSpPr>
            <a:spLocks noGrp="1"/>
          </p:cNvSpPr>
          <p:nvPr>
            <p:ph type="title"/>
          </p:nvPr>
        </p:nvSpPr>
        <p:spPr>
          <a:xfrm>
            <a:off x="0" y="1"/>
            <a:ext cx="12192000" cy="711200"/>
          </a:xfrm>
        </p:spPr>
        <p:txBody>
          <a:bodyPr/>
          <a:lstStyle/>
          <a:p>
            <a:r>
              <a:rPr lang="en-US" dirty="0"/>
              <a:t>Linear Search</a:t>
            </a:r>
          </a:p>
        </p:txBody>
      </p:sp>
      <p:sp>
        <p:nvSpPr>
          <p:cNvPr id="3" name="TextBox 2">
            <a:extLst>
              <a:ext uri="{FF2B5EF4-FFF2-40B4-BE49-F238E27FC236}">
                <a16:creationId xmlns:a16="http://schemas.microsoft.com/office/drawing/2014/main" id="{E0879EAE-16F9-9FEE-6365-568DA5BF0690}"/>
              </a:ext>
            </a:extLst>
          </p:cNvPr>
          <p:cNvSpPr txBox="1"/>
          <p:nvPr/>
        </p:nvSpPr>
        <p:spPr>
          <a:xfrm>
            <a:off x="402668" y="790076"/>
            <a:ext cx="8629374" cy="5632311"/>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panose="020B0609020204030204" pitchFamily="49" charset="0"/>
              </a:rPr>
              <a:t>import</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java.util.Scanner</a:t>
            </a:r>
            <a:r>
              <a:rPr lang="en-US" b="1"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public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class</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LinearSearchDemo</a:t>
            </a:r>
            <a:r>
              <a:rPr lang="en-US" b="1" dirty="0">
                <a:solidFill>
                  <a:srgbClr val="000000"/>
                </a:solidFill>
                <a:latin typeface="Consolas" panose="020B0609020204030204" pitchFamily="49" charset="0"/>
              </a:rPr>
              <a:t>{</a:t>
            </a:r>
          </a:p>
          <a:p>
            <a:pPr lvl="1"/>
            <a:r>
              <a:rPr lang="en-US" b="1" dirty="0">
                <a:solidFill>
                  <a:srgbClr val="7F0055"/>
                </a:solidFill>
                <a:latin typeface="Consolas" panose="020B0609020204030204" pitchFamily="49" charset="0"/>
              </a:rPr>
              <a:t>public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static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void</a:t>
            </a:r>
            <a:r>
              <a:rPr lang="en-US" b="1" dirty="0">
                <a:solidFill>
                  <a:srgbClr val="000000"/>
                </a:solidFill>
                <a:latin typeface="Consolas" panose="020B0609020204030204" pitchFamily="49" charset="0"/>
              </a:rPr>
              <a:t> main(String[] </a:t>
            </a:r>
            <a:r>
              <a:rPr lang="en-US" b="1" dirty="0" err="1">
                <a:solidFill>
                  <a:srgbClr val="6A3E3E"/>
                </a:solidFill>
                <a:latin typeface="Consolas" panose="020B0609020204030204" pitchFamily="49" charset="0"/>
              </a:rPr>
              <a:t>args</a:t>
            </a:r>
            <a:r>
              <a:rPr lang="en-US" b="1" dirty="0">
                <a:solidFill>
                  <a:srgbClr val="000000"/>
                </a:solidFill>
                <a:latin typeface="Consolas" panose="020B0609020204030204" pitchFamily="49" charset="0"/>
              </a:rPr>
              <a:t>){</a:t>
            </a:r>
          </a:p>
          <a:p>
            <a:pPr lvl="2"/>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myArray</a:t>
            </a:r>
            <a:r>
              <a:rPr lang="en-US" b="1" dirty="0">
                <a:solidFill>
                  <a:srgbClr val="000000"/>
                </a:solidFill>
                <a:latin typeface="Consolas" panose="020B0609020204030204" pitchFamily="49" charset="0"/>
              </a:rPr>
              <a:t> = {5,3,6,8,4,6,2,8,9,11};</a:t>
            </a:r>
            <a:endParaRPr lang="en-US" dirty="0">
              <a:latin typeface="Consolas" panose="020B0609020204030204" pitchFamily="49" charset="0"/>
            </a:endParaRPr>
          </a:p>
          <a:p>
            <a:pPr lvl="2"/>
            <a:r>
              <a:rPr lang="en-US" dirty="0">
                <a:solidFill>
                  <a:srgbClr val="000000"/>
                </a:solidFill>
                <a:latin typeface="Consolas" panose="020B0609020204030204" pitchFamily="49" charset="0"/>
              </a:rPr>
              <a:t>Scanner </a:t>
            </a:r>
            <a:r>
              <a:rPr lang="en-US" dirty="0" err="1">
                <a:solidFill>
                  <a:srgbClr val="6A3E3E"/>
                </a:solidFill>
                <a:latin typeface="Consolas" panose="020B0609020204030204" pitchFamily="49" charset="0"/>
              </a:rPr>
              <a:t>sc</a:t>
            </a:r>
            <a:r>
              <a:rPr lang="en-US"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new</a:t>
            </a:r>
            <a:r>
              <a:rPr lang="en-US" b="1" dirty="0">
                <a:solidFill>
                  <a:srgbClr val="000000"/>
                </a:solidFill>
                <a:latin typeface="Consolas" panose="020B0609020204030204" pitchFamily="49" charset="0"/>
              </a:rPr>
              <a:t> Scanner(System.</a:t>
            </a:r>
            <a:r>
              <a:rPr lang="en-US" b="1" i="1" dirty="0">
                <a:solidFill>
                  <a:srgbClr val="0000C0"/>
                </a:solidFill>
                <a:latin typeface="Consolas" panose="020B0609020204030204" pitchFamily="49" charset="0"/>
              </a:rPr>
              <a:t>in</a:t>
            </a:r>
            <a:r>
              <a:rPr lang="en-US" b="1" i="1" dirty="0">
                <a:solidFill>
                  <a:srgbClr val="000000"/>
                </a:solidFill>
                <a:latin typeface="Consolas" panose="020B0609020204030204" pitchFamily="49" charset="0"/>
              </a:rPr>
              <a:t>);</a:t>
            </a:r>
            <a:endParaRPr lang="en-US" dirty="0">
              <a:latin typeface="Consolas" panose="020B0609020204030204" pitchFamily="49" charset="0"/>
            </a:endParaRPr>
          </a:p>
          <a:p>
            <a:pPr lvl="2"/>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"Enter number to search"</a:t>
            </a:r>
            <a:r>
              <a:rPr lang="en-US" b="1" i="1" dirty="0">
                <a:solidFill>
                  <a:srgbClr val="000000"/>
                </a:solidFill>
                <a:latin typeface="Consolas" panose="020B0609020204030204" pitchFamily="49" charset="0"/>
              </a:rPr>
              <a:t>);</a:t>
            </a:r>
          </a:p>
          <a:p>
            <a:pPr lvl="2"/>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searchNumber</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sc</a:t>
            </a:r>
            <a:r>
              <a:rPr lang="en-US" b="1" dirty="0" err="1">
                <a:solidFill>
                  <a:srgbClr val="000000"/>
                </a:solidFill>
                <a:latin typeface="Consolas" panose="020B0609020204030204" pitchFamily="49" charset="0"/>
              </a:rPr>
              <a:t>.nextInt</a:t>
            </a:r>
            <a:r>
              <a:rPr lang="en-US" b="1" dirty="0">
                <a:solidFill>
                  <a:srgbClr val="000000"/>
                </a:solidFill>
                <a:latin typeface="Consolas" panose="020B0609020204030204" pitchFamily="49" charset="0"/>
              </a:rPr>
              <a:t>();</a:t>
            </a:r>
          </a:p>
          <a:p>
            <a:pPr lvl="2"/>
            <a:r>
              <a:rPr lang="en-US" dirty="0" err="1">
                <a:solidFill>
                  <a:srgbClr val="6A3E3E"/>
                </a:solidFill>
                <a:latin typeface="Consolas" panose="020B0609020204030204" pitchFamily="49" charset="0"/>
              </a:rPr>
              <a:t>sc</a:t>
            </a:r>
            <a:r>
              <a:rPr lang="en-US" dirty="0" err="1">
                <a:solidFill>
                  <a:srgbClr val="000000"/>
                </a:solidFill>
                <a:latin typeface="Consolas" panose="020B0609020204030204" pitchFamily="49" charset="0"/>
              </a:rPr>
              <a:t>.close</a:t>
            </a:r>
            <a:r>
              <a:rPr lang="en-US" dirty="0">
                <a:solidFill>
                  <a:srgbClr val="000000"/>
                </a:solidFill>
                <a:latin typeface="Consolas" panose="020B0609020204030204" pitchFamily="49" charset="0"/>
              </a:rPr>
              <a:t>();</a:t>
            </a:r>
            <a:endParaRPr lang="en-US" dirty="0">
              <a:latin typeface="Consolas" panose="020B0609020204030204" pitchFamily="49" charset="0"/>
            </a:endParaRPr>
          </a:p>
          <a:p>
            <a:pPr lvl="2"/>
            <a:r>
              <a:rPr lang="en-US" b="1" dirty="0" err="1">
                <a:solidFill>
                  <a:srgbClr val="7F0055"/>
                </a:solidFill>
                <a:latin typeface="Consolas" panose="020B0609020204030204" pitchFamily="49" charset="0"/>
              </a:rPr>
              <a:t>boolean</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flag</a:t>
            </a:r>
            <a:r>
              <a:rPr lang="en-US" b="1"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false</a:t>
            </a:r>
            <a:r>
              <a:rPr lang="en-US" b="1" dirty="0">
                <a:solidFill>
                  <a:srgbClr val="000000"/>
                </a:solidFill>
                <a:latin typeface="Consolas" panose="020B0609020204030204" pitchFamily="49" charset="0"/>
              </a:rPr>
              <a:t>;</a:t>
            </a:r>
            <a:endParaRPr lang="en-US" dirty="0">
              <a:latin typeface="Consolas" panose="020B0609020204030204" pitchFamily="49" charset="0"/>
            </a:endParaRPr>
          </a:p>
          <a:p>
            <a:pPr lvl="2"/>
            <a:r>
              <a:rPr lang="en-US" b="1" dirty="0">
                <a:solidFill>
                  <a:srgbClr val="7F0055"/>
                </a:solidFill>
                <a:latin typeface="Consolas" panose="020B0609020204030204" pitchFamily="49" charset="0"/>
              </a:rPr>
              <a:t>for</a:t>
            </a:r>
            <a:r>
              <a:rPr lang="en-US" b="1" dirty="0">
                <a:solidFill>
                  <a:srgbClr val="000000"/>
                </a:solidFill>
                <a:latin typeface="Consolas" panose="020B0609020204030204" pitchFamily="49" charset="0"/>
              </a:rPr>
              <a:t>(</a:t>
            </a:r>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i</a:t>
            </a:r>
            <a:r>
              <a:rPr lang="en-US" b="1" dirty="0">
                <a:solidFill>
                  <a:srgbClr val="000000"/>
                </a:solidFill>
                <a:latin typeface="Consolas" panose="020B0609020204030204" pitchFamily="49" charset="0"/>
              </a:rPr>
              <a:t>=0;</a:t>
            </a:r>
            <a:r>
              <a:rPr lang="en-US" b="1" dirty="0">
                <a:solidFill>
                  <a:srgbClr val="6A3E3E"/>
                </a:solidFill>
                <a:latin typeface="Consolas" panose="020B0609020204030204" pitchFamily="49" charset="0"/>
              </a:rPr>
              <a:t>i</a:t>
            </a:r>
            <a:r>
              <a:rPr lang="en-US" b="1" dirty="0">
                <a:solidFill>
                  <a:srgbClr val="000000"/>
                </a:solidFill>
                <a:latin typeface="Consolas" panose="020B0609020204030204" pitchFamily="49" charset="0"/>
              </a:rPr>
              <a:t>&lt;</a:t>
            </a:r>
            <a:r>
              <a:rPr lang="en-US" b="1" dirty="0" err="1">
                <a:solidFill>
                  <a:srgbClr val="6A3E3E"/>
                </a:solidFill>
                <a:latin typeface="Consolas" panose="020B0609020204030204" pitchFamily="49" charset="0"/>
              </a:rPr>
              <a:t>myArray</a:t>
            </a:r>
            <a:r>
              <a:rPr lang="en-US" b="1" dirty="0" err="1">
                <a:solidFill>
                  <a:srgbClr val="000000"/>
                </a:solidFill>
                <a:latin typeface="Consolas" panose="020B0609020204030204" pitchFamily="49" charset="0"/>
              </a:rPr>
              <a:t>.</a:t>
            </a:r>
            <a:r>
              <a:rPr lang="en-US" b="1" dirty="0" err="1">
                <a:solidFill>
                  <a:srgbClr val="0000C0"/>
                </a:solidFill>
                <a:latin typeface="Consolas" panose="020B0609020204030204" pitchFamily="49" charset="0"/>
              </a:rPr>
              <a:t>length</a:t>
            </a:r>
            <a:r>
              <a:rPr lang="en-US" b="1" dirty="0" err="1">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i</a:t>
            </a:r>
            <a:r>
              <a:rPr lang="en-US" b="1" dirty="0">
                <a:solidFill>
                  <a:srgbClr val="000000"/>
                </a:solidFill>
                <a:latin typeface="Consolas" panose="020B0609020204030204" pitchFamily="49" charset="0"/>
              </a:rPr>
              <a:t>++){</a:t>
            </a:r>
          </a:p>
          <a:p>
            <a:pPr lvl="3"/>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myArray</a:t>
            </a:r>
            <a:r>
              <a:rPr lang="en-US" b="1" dirty="0">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i</a:t>
            </a:r>
            <a:r>
              <a:rPr lang="en-US" b="1" dirty="0">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searchNumber</a:t>
            </a:r>
            <a:r>
              <a:rPr lang="en-US" b="1" dirty="0">
                <a:solidFill>
                  <a:srgbClr val="000000"/>
                </a:solidFill>
                <a:latin typeface="Consolas" panose="020B0609020204030204" pitchFamily="49" charset="0"/>
              </a:rPr>
              <a:t>){</a:t>
            </a:r>
          </a:p>
          <a:p>
            <a:pPr lvl="4"/>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"Found at = "</a:t>
            </a:r>
            <a:r>
              <a:rPr lang="en-US" b="1" i="1" dirty="0">
                <a:solidFill>
                  <a:srgbClr val="000000"/>
                </a:solidFill>
                <a:latin typeface="Consolas" panose="020B0609020204030204" pitchFamily="49" charset="0"/>
              </a:rPr>
              <a:t>+</a:t>
            </a:r>
            <a:r>
              <a:rPr lang="en-US" b="1" i="1" dirty="0" err="1">
                <a:solidFill>
                  <a:srgbClr val="6A3E3E"/>
                </a:solidFill>
                <a:latin typeface="Consolas" panose="020B0609020204030204" pitchFamily="49" charset="0"/>
              </a:rPr>
              <a:t>i</a:t>
            </a:r>
            <a:r>
              <a:rPr lang="en-US" b="1" i="1" dirty="0">
                <a:solidFill>
                  <a:srgbClr val="000000"/>
                </a:solidFill>
                <a:latin typeface="Consolas" panose="020B0609020204030204" pitchFamily="49" charset="0"/>
              </a:rPr>
              <a:t>);</a:t>
            </a:r>
          </a:p>
          <a:p>
            <a:pPr lvl="4"/>
            <a:r>
              <a:rPr lang="en-US" dirty="0">
                <a:solidFill>
                  <a:srgbClr val="6A3E3E"/>
                </a:solidFill>
                <a:latin typeface="Consolas" panose="020B0609020204030204" pitchFamily="49" charset="0"/>
              </a:rPr>
              <a:t>flag</a:t>
            </a:r>
            <a:r>
              <a:rPr lang="en-US"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true</a:t>
            </a:r>
            <a:r>
              <a:rPr lang="en-US" b="1" dirty="0">
                <a:solidFill>
                  <a:srgbClr val="000000"/>
                </a:solidFill>
                <a:latin typeface="Consolas" panose="020B0609020204030204" pitchFamily="49" charset="0"/>
              </a:rPr>
              <a:t>;</a:t>
            </a:r>
          </a:p>
          <a:p>
            <a:pPr lvl="4"/>
            <a:r>
              <a:rPr lang="en-US" b="1" dirty="0">
                <a:solidFill>
                  <a:srgbClr val="7F0055"/>
                </a:solidFill>
                <a:latin typeface="Consolas" panose="020B0609020204030204" pitchFamily="49" charset="0"/>
              </a:rPr>
              <a:t>break</a:t>
            </a:r>
            <a:r>
              <a:rPr lang="en-US" b="1" dirty="0">
                <a:solidFill>
                  <a:srgbClr val="000000"/>
                </a:solidFill>
                <a:latin typeface="Consolas" panose="020B0609020204030204" pitchFamily="49" charset="0"/>
              </a:rPr>
              <a:t>;</a:t>
            </a:r>
          </a:p>
          <a:p>
            <a:pPr lvl="3"/>
            <a:r>
              <a:rPr lang="en-US"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endParaRPr lang="en-US" dirty="0">
              <a:latin typeface="Consolas" panose="020B0609020204030204" pitchFamily="49" charset="0"/>
            </a:endParaRPr>
          </a:p>
          <a:p>
            <a:pPr lvl="2"/>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flag</a:t>
            </a:r>
            <a:r>
              <a:rPr lang="en-US" b="1"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"Number does not exist in array"</a:t>
            </a:r>
            <a:r>
              <a:rPr lang="en-US" b="1" i="1"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a:t>
            </a:r>
            <a:endParaRPr lang="en-US" dirty="0">
              <a:solidFill>
                <a:srgbClr val="000000"/>
              </a:solidFill>
              <a:latin typeface="Consolas"/>
            </a:endParaRPr>
          </a:p>
        </p:txBody>
      </p:sp>
      <p:pic>
        <p:nvPicPr>
          <p:cNvPr id="4" name="Picture 3">
            <a:extLst>
              <a:ext uri="{FF2B5EF4-FFF2-40B4-BE49-F238E27FC236}">
                <a16:creationId xmlns:a16="http://schemas.microsoft.com/office/drawing/2014/main" id="{1BEA82E6-E7A5-CF2F-D499-2C62CB306625}"/>
              </a:ext>
            </a:extLst>
          </p:cNvPr>
          <p:cNvPicPr>
            <a:picLocks noChangeAspect="1"/>
          </p:cNvPicPr>
          <p:nvPr/>
        </p:nvPicPr>
        <p:blipFill>
          <a:blip r:embed="rId2"/>
          <a:stretch>
            <a:fillRect/>
          </a:stretch>
        </p:blipFill>
        <p:spPr>
          <a:xfrm>
            <a:off x="5694767" y="4149437"/>
            <a:ext cx="6062663" cy="1368988"/>
          </a:xfrm>
          <a:prstGeom prst="rect">
            <a:avLst/>
          </a:prstGeom>
        </p:spPr>
      </p:pic>
    </p:spTree>
    <p:extLst>
      <p:ext uri="{BB962C8B-B14F-4D97-AF65-F5344CB8AC3E}">
        <p14:creationId xmlns:p14="http://schemas.microsoft.com/office/powerpoint/2010/main" val="65686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2C8E0-81CD-4BA0-C8BA-FFE349EF6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ED649-5F46-210C-2F89-238C4DCBD8B5}"/>
              </a:ext>
            </a:extLst>
          </p:cNvPr>
          <p:cNvSpPr>
            <a:spLocks noGrp="1"/>
          </p:cNvSpPr>
          <p:nvPr>
            <p:ph type="title"/>
          </p:nvPr>
        </p:nvSpPr>
        <p:spPr>
          <a:xfrm>
            <a:off x="0" y="1"/>
            <a:ext cx="12192000" cy="711200"/>
          </a:xfrm>
        </p:spPr>
        <p:txBody>
          <a:bodyPr/>
          <a:lstStyle/>
          <a:p>
            <a:r>
              <a:rPr lang="en-US" dirty="0"/>
              <a:t>Binary Search (Animation)</a:t>
            </a:r>
          </a:p>
        </p:txBody>
      </p:sp>
      <p:pic>
        <p:nvPicPr>
          <p:cNvPr id="3" name="Untitled 23">
            <a:hlinkClick r:id="" action="ppaction://media"/>
            <a:extLst>
              <a:ext uri="{FF2B5EF4-FFF2-40B4-BE49-F238E27FC236}">
                <a16:creationId xmlns:a16="http://schemas.microsoft.com/office/drawing/2014/main" id="{1DC74CF2-F708-4B86-FC17-D794A444CFF4}"/>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06825" y="1899862"/>
            <a:ext cx="11928475" cy="3500438"/>
          </a:xfrm>
        </p:spPr>
      </p:pic>
    </p:spTree>
    <p:extLst>
      <p:ext uri="{BB962C8B-B14F-4D97-AF65-F5344CB8AC3E}">
        <p14:creationId xmlns:p14="http://schemas.microsoft.com/office/powerpoint/2010/main" val="350399918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BC46F-6BBC-B659-CB16-FD0D8F882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E01DB-05A4-A95C-130C-E486C347083E}"/>
              </a:ext>
            </a:extLst>
          </p:cNvPr>
          <p:cNvSpPr>
            <a:spLocks noGrp="1"/>
          </p:cNvSpPr>
          <p:nvPr>
            <p:ph type="title"/>
          </p:nvPr>
        </p:nvSpPr>
        <p:spPr>
          <a:xfrm>
            <a:off x="0" y="1"/>
            <a:ext cx="12192000" cy="711200"/>
          </a:xfrm>
        </p:spPr>
        <p:txBody>
          <a:bodyPr/>
          <a:lstStyle/>
          <a:p>
            <a:r>
              <a:rPr lang="en-US" dirty="0"/>
              <a:t>Binary Search</a:t>
            </a:r>
          </a:p>
        </p:txBody>
      </p:sp>
      <p:sp>
        <p:nvSpPr>
          <p:cNvPr id="3" name="TextBox 2">
            <a:extLst>
              <a:ext uri="{FF2B5EF4-FFF2-40B4-BE49-F238E27FC236}">
                <a16:creationId xmlns:a16="http://schemas.microsoft.com/office/drawing/2014/main" id="{A0E54268-4A2F-CF4E-8F8F-53849737385B}"/>
              </a:ext>
            </a:extLst>
          </p:cNvPr>
          <p:cNvSpPr txBox="1"/>
          <p:nvPr/>
        </p:nvSpPr>
        <p:spPr>
          <a:xfrm>
            <a:off x="1" y="711201"/>
            <a:ext cx="5381896" cy="5355312"/>
          </a:xfrm>
          <a:prstGeom prst="rect">
            <a:avLst/>
          </a:prstGeom>
          <a:noFill/>
          <a:ln w="19050">
            <a:solidFill>
              <a:schemeClr val="accent1"/>
            </a:solidFill>
            <a:prstDash val="dash"/>
          </a:ln>
        </p:spPr>
        <p:txBody>
          <a:bodyPr wrap="square" rtlCol="0">
            <a:spAutoFit/>
          </a:bodyPr>
          <a:lstStyle/>
          <a:p>
            <a:r>
              <a:rPr lang="en-US" b="1" dirty="0">
                <a:solidFill>
                  <a:srgbClr val="7F0055"/>
                </a:solidFill>
                <a:latin typeface="Consolas" panose="020B0609020204030204" pitchFamily="49" charset="0"/>
              </a:rPr>
              <a:t>import</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java.util.Scanner</a:t>
            </a:r>
            <a:r>
              <a:rPr lang="en-US" b="1" dirty="0">
                <a:solidFill>
                  <a:srgbClr val="000000"/>
                </a:solidFill>
                <a:latin typeface="Consolas" panose="020B0609020204030204" pitchFamily="49" charset="0"/>
              </a:rPr>
              <a:t>;</a:t>
            </a:r>
            <a:endParaRPr lang="en-US" dirty="0">
              <a:latin typeface="Consolas" panose="020B0609020204030204" pitchFamily="49" charset="0"/>
            </a:endParaRPr>
          </a:p>
          <a:p>
            <a:r>
              <a:rPr lang="en-US" b="1" dirty="0">
                <a:solidFill>
                  <a:srgbClr val="7F0055"/>
                </a:solidFill>
                <a:latin typeface="Consolas" panose="020B0609020204030204" pitchFamily="49" charset="0"/>
              </a:rPr>
              <a:t>public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class</a:t>
            </a:r>
            <a:r>
              <a:rPr lang="en-US" b="1" dirty="0">
                <a:solidFill>
                  <a:srgbClr val="000000"/>
                </a:solidFill>
                <a:latin typeface="Consolas" panose="020B0609020204030204" pitchFamily="49" charset="0"/>
              </a:rPr>
              <a:t> </a:t>
            </a:r>
            <a:r>
              <a:rPr lang="en-US" b="1" dirty="0" err="1">
                <a:solidFill>
                  <a:srgbClr val="000000"/>
                </a:solidFill>
                <a:latin typeface="Consolas" panose="020B0609020204030204" pitchFamily="49" charset="0"/>
              </a:rPr>
              <a:t>BinarySearchDemo</a:t>
            </a:r>
            <a:r>
              <a:rPr lang="en-US" b="1" dirty="0">
                <a:solidFill>
                  <a:srgbClr val="000000"/>
                </a:solidFill>
                <a:latin typeface="Consolas" panose="020B0609020204030204" pitchFamily="49" charset="0"/>
              </a:rPr>
              <a:t> {</a:t>
            </a:r>
          </a:p>
          <a:p>
            <a:endParaRPr lang="en-US" dirty="0">
              <a:latin typeface="Consolas" panose="020B0609020204030204" pitchFamily="49" charset="0"/>
            </a:endParaRPr>
          </a:p>
          <a:p>
            <a:r>
              <a:rPr lang="en-US" b="1" dirty="0">
                <a:solidFill>
                  <a:srgbClr val="7F0055"/>
                </a:solidFill>
                <a:latin typeface="Consolas" panose="020B0609020204030204" pitchFamily="49" charset="0"/>
              </a:rPr>
              <a:t>public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static</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void</a:t>
            </a:r>
            <a:r>
              <a:rPr lang="en-US" b="1" dirty="0">
                <a:solidFill>
                  <a:srgbClr val="000000"/>
                </a:solidFill>
                <a:latin typeface="Consolas" panose="020B0609020204030204" pitchFamily="49" charset="0"/>
              </a:rPr>
              <a:t> main(String[] </a:t>
            </a:r>
            <a:r>
              <a:rPr lang="en-US" b="1" dirty="0" err="1">
                <a:solidFill>
                  <a:srgbClr val="6A3E3E"/>
                </a:solidFill>
                <a:latin typeface="Consolas" panose="020B0609020204030204" pitchFamily="49" charset="0"/>
              </a:rPr>
              <a:t>args</a:t>
            </a:r>
            <a:r>
              <a:rPr lang="en-US" b="1" dirty="0">
                <a:solidFill>
                  <a:srgbClr val="000000"/>
                </a:solidFill>
                <a:latin typeface="Consolas" panose="020B0609020204030204" pitchFamily="49" charset="0"/>
              </a:rPr>
              <a:t>) {</a:t>
            </a:r>
          </a:p>
          <a:p>
            <a:endParaRPr lang="en-US" dirty="0">
              <a:latin typeface="Consolas" panose="020B0609020204030204" pitchFamily="49" charset="0"/>
            </a:endParaRPr>
          </a:p>
          <a:p>
            <a:pPr lvl="1"/>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myArray</a:t>
            </a:r>
            <a:r>
              <a:rPr lang="en-US" b="1" dirty="0">
                <a:solidFill>
                  <a:srgbClr val="000000"/>
                </a:solidFill>
                <a:latin typeface="Consolas" panose="020B0609020204030204" pitchFamily="49" charset="0"/>
              </a:rPr>
              <a:t> </a:t>
            </a:r>
          </a:p>
          <a:p>
            <a:pPr lvl="1"/>
            <a:r>
              <a:rPr lang="en-US" b="1" dirty="0">
                <a:solidFill>
                  <a:srgbClr val="000000"/>
                </a:solidFill>
                <a:latin typeface="Consolas" panose="020B0609020204030204" pitchFamily="49" charset="0"/>
              </a:rPr>
              <a:t>	= {2,3,5,6,8,9,11,18,29,65};</a:t>
            </a:r>
          </a:p>
          <a:p>
            <a:pPr lvl="1"/>
            <a:endParaRPr lang="en-US" dirty="0">
              <a:latin typeface="Consolas" panose="020B0609020204030204" pitchFamily="49" charset="0"/>
            </a:endParaRPr>
          </a:p>
          <a:p>
            <a:pPr lvl="1"/>
            <a:r>
              <a:rPr lang="en-US" dirty="0">
                <a:solidFill>
                  <a:srgbClr val="000000"/>
                </a:solidFill>
                <a:latin typeface="Consolas" panose="020B0609020204030204" pitchFamily="49" charset="0"/>
              </a:rPr>
              <a:t>Scanner </a:t>
            </a:r>
            <a:r>
              <a:rPr lang="en-US" dirty="0" err="1">
                <a:solidFill>
                  <a:srgbClr val="6A3E3E"/>
                </a:solidFill>
                <a:latin typeface="Consolas" panose="020B0609020204030204" pitchFamily="49" charset="0"/>
              </a:rPr>
              <a:t>sc</a:t>
            </a:r>
            <a:r>
              <a:rPr lang="en-US"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new</a:t>
            </a:r>
            <a:r>
              <a:rPr lang="en-US" b="1" dirty="0">
                <a:solidFill>
                  <a:srgbClr val="000000"/>
                </a:solidFill>
                <a:latin typeface="Consolas" panose="020B0609020204030204" pitchFamily="49" charset="0"/>
              </a:rPr>
              <a:t> Scanner(System.</a:t>
            </a:r>
            <a:r>
              <a:rPr lang="en-US" b="1" i="1" dirty="0">
                <a:solidFill>
                  <a:srgbClr val="0000C0"/>
                </a:solidFill>
                <a:latin typeface="Consolas" panose="020B0609020204030204" pitchFamily="49" charset="0"/>
              </a:rPr>
              <a:t>in</a:t>
            </a:r>
            <a:r>
              <a:rPr lang="en-US" b="1" i="1" dirty="0">
                <a:solidFill>
                  <a:srgbClr val="000000"/>
                </a:solidFill>
                <a:latin typeface="Consolas" panose="020B0609020204030204" pitchFamily="49" charset="0"/>
              </a:rPr>
              <a:t>);</a:t>
            </a:r>
          </a:p>
          <a:p>
            <a:pPr lvl="1"/>
            <a:endParaRPr lang="en-US" dirty="0">
              <a:latin typeface="Consolas" panose="020B0609020204030204" pitchFamily="49" charset="0"/>
            </a:endParaRPr>
          </a:p>
          <a:p>
            <a:pPr lvl="1"/>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endParaRPr lang="en-US" b="1" i="1" dirty="0">
              <a:solidFill>
                <a:srgbClr val="000000"/>
              </a:solidFill>
              <a:latin typeface="Consolas" panose="020B0609020204030204" pitchFamily="49" charset="0"/>
            </a:endParaRPr>
          </a:p>
          <a:p>
            <a:pPr lvl="1"/>
            <a:r>
              <a:rPr lang="en-US" b="1" i="1" dirty="0">
                <a:solidFill>
                  <a:srgbClr val="000000"/>
                </a:solidFill>
                <a:latin typeface="Consolas" panose="020B0609020204030204" pitchFamily="49" charset="0"/>
              </a:rPr>
              <a:t>	(</a:t>
            </a:r>
            <a:r>
              <a:rPr lang="en-US" b="1" i="1" dirty="0">
                <a:solidFill>
                  <a:srgbClr val="2A00FF"/>
                </a:solidFill>
                <a:latin typeface="Consolas" panose="020B0609020204030204" pitchFamily="49" charset="0"/>
              </a:rPr>
              <a:t>"Enter number to search"</a:t>
            </a:r>
            <a:r>
              <a:rPr lang="en-US" b="1" i="1" dirty="0">
                <a:solidFill>
                  <a:srgbClr val="000000"/>
                </a:solidFill>
                <a:latin typeface="Consolas" panose="020B0609020204030204" pitchFamily="49" charset="0"/>
              </a:rPr>
              <a:t>);</a:t>
            </a:r>
          </a:p>
          <a:p>
            <a:pPr lvl="1"/>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searchNumber</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sc</a:t>
            </a:r>
            <a:r>
              <a:rPr lang="en-US" b="1" dirty="0" err="1">
                <a:solidFill>
                  <a:srgbClr val="000000"/>
                </a:solidFill>
                <a:latin typeface="Consolas" panose="020B0609020204030204" pitchFamily="49" charset="0"/>
              </a:rPr>
              <a:t>.nextInt</a:t>
            </a:r>
            <a:r>
              <a:rPr lang="en-US" b="1" dirty="0">
                <a:solidFill>
                  <a:srgbClr val="000000"/>
                </a:solidFill>
                <a:latin typeface="Consolas" panose="020B0609020204030204" pitchFamily="49" charset="0"/>
              </a:rPr>
              <a:t>();</a:t>
            </a:r>
          </a:p>
          <a:p>
            <a:pPr lvl="1"/>
            <a:r>
              <a:rPr lang="en-US" dirty="0" err="1">
                <a:solidFill>
                  <a:srgbClr val="6A3E3E"/>
                </a:solidFill>
                <a:latin typeface="Consolas" panose="020B0609020204030204" pitchFamily="49" charset="0"/>
              </a:rPr>
              <a:t>sc</a:t>
            </a:r>
            <a:r>
              <a:rPr lang="en-US" dirty="0" err="1">
                <a:solidFill>
                  <a:srgbClr val="000000"/>
                </a:solidFill>
                <a:latin typeface="Consolas" panose="020B0609020204030204" pitchFamily="49" charset="0"/>
              </a:rPr>
              <a:t>.close</a:t>
            </a:r>
            <a:r>
              <a:rPr lang="en-US" dirty="0">
                <a:solidFill>
                  <a:srgbClr val="000000"/>
                </a:solidFill>
                <a:latin typeface="Consolas" panose="020B0609020204030204" pitchFamily="49" charset="0"/>
              </a:rPr>
              <a:t>();</a:t>
            </a:r>
          </a:p>
          <a:p>
            <a:pPr lvl="1"/>
            <a:endParaRPr lang="en-US" dirty="0">
              <a:latin typeface="Consolas" panose="020B0609020204030204" pitchFamily="49" charset="0"/>
            </a:endParaRPr>
          </a:p>
          <a:p>
            <a:pPr lvl="1"/>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low</a:t>
            </a:r>
            <a:r>
              <a:rPr lang="en-US" b="1" dirty="0">
                <a:solidFill>
                  <a:srgbClr val="000000"/>
                </a:solidFill>
                <a:latin typeface="Consolas" panose="020B0609020204030204" pitchFamily="49" charset="0"/>
              </a:rPr>
              <a:t> = 0;</a:t>
            </a:r>
          </a:p>
          <a:p>
            <a:pPr lvl="1"/>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high</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myArray</a:t>
            </a:r>
            <a:r>
              <a:rPr lang="en-US" b="1" dirty="0" err="1">
                <a:solidFill>
                  <a:srgbClr val="000000"/>
                </a:solidFill>
                <a:latin typeface="Consolas" panose="020B0609020204030204" pitchFamily="49" charset="0"/>
              </a:rPr>
              <a:t>.</a:t>
            </a:r>
            <a:r>
              <a:rPr lang="en-US" b="1" dirty="0" err="1">
                <a:solidFill>
                  <a:srgbClr val="0000C0"/>
                </a:solidFill>
                <a:latin typeface="Consolas" panose="020B0609020204030204" pitchFamily="49" charset="0"/>
              </a:rPr>
              <a:t>length</a:t>
            </a:r>
            <a:r>
              <a:rPr lang="en-US" b="1" dirty="0">
                <a:solidFill>
                  <a:srgbClr val="000000"/>
                </a:solidFill>
                <a:latin typeface="Consolas" panose="020B0609020204030204" pitchFamily="49" charset="0"/>
              </a:rPr>
              <a:t> - 1;</a:t>
            </a:r>
          </a:p>
          <a:p>
            <a:pPr lvl="1"/>
            <a:r>
              <a:rPr lang="en-US" b="1" dirty="0" err="1">
                <a:solidFill>
                  <a:srgbClr val="7F0055"/>
                </a:solidFill>
                <a:latin typeface="Consolas" panose="020B0609020204030204" pitchFamily="49" charset="0"/>
              </a:rPr>
              <a:t>boolean</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isFound</a:t>
            </a:r>
            <a:r>
              <a:rPr lang="en-US" b="1"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false</a:t>
            </a:r>
            <a:r>
              <a:rPr lang="en-US" b="1" dirty="0">
                <a:solidFill>
                  <a:srgbClr val="000000"/>
                </a:solidFill>
                <a:latin typeface="Consolas" panose="020B0609020204030204" pitchFamily="49" charset="0"/>
              </a:rPr>
              <a:t>;</a:t>
            </a:r>
          </a:p>
          <a:p>
            <a:pPr lvl="1"/>
            <a:endParaRPr lang="en-US" dirty="0">
              <a:latin typeface="Consolas" panose="020B0609020204030204" pitchFamily="49" charset="0"/>
            </a:endParaRPr>
          </a:p>
        </p:txBody>
      </p:sp>
      <p:sp>
        <p:nvSpPr>
          <p:cNvPr id="4" name="TextBox 3">
            <a:extLst>
              <a:ext uri="{FF2B5EF4-FFF2-40B4-BE49-F238E27FC236}">
                <a16:creationId xmlns:a16="http://schemas.microsoft.com/office/drawing/2014/main" id="{D6D0C954-6562-D06D-496B-7A7031518801}"/>
              </a:ext>
            </a:extLst>
          </p:cNvPr>
          <p:cNvSpPr txBox="1"/>
          <p:nvPr/>
        </p:nvSpPr>
        <p:spPr>
          <a:xfrm>
            <a:off x="5372566" y="888490"/>
            <a:ext cx="6810103" cy="5632311"/>
          </a:xfrm>
          <a:prstGeom prst="rect">
            <a:avLst/>
          </a:prstGeom>
          <a:noFill/>
          <a:ln w="19050">
            <a:solidFill>
              <a:schemeClr val="accent1"/>
            </a:solidFill>
            <a:prstDash val="dash"/>
          </a:ln>
        </p:spPr>
        <p:txBody>
          <a:bodyPr wrap="square" rtlCol="0">
            <a:spAutoFit/>
          </a:bodyPr>
          <a:lstStyle/>
          <a:p>
            <a:pPr lvl="1"/>
            <a:r>
              <a:rPr lang="en-US" b="1" dirty="0">
                <a:solidFill>
                  <a:srgbClr val="7F0055"/>
                </a:solidFill>
                <a:latin typeface="Consolas" panose="020B0609020204030204" pitchFamily="49" charset="0"/>
              </a:rPr>
              <a:t>while</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high</a:t>
            </a:r>
            <a:r>
              <a:rPr lang="en-US" b="1" dirty="0">
                <a:solidFill>
                  <a:srgbClr val="000000"/>
                </a:solidFill>
                <a:latin typeface="Consolas" panose="020B0609020204030204" pitchFamily="49" charset="0"/>
              </a:rPr>
              <a:t>&gt;=</a:t>
            </a:r>
            <a:r>
              <a:rPr lang="en-US" b="1" dirty="0">
                <a:solidFill>
                  <a:srgbClr val="6A3E3E"/>
                </a:solidFill>
                <a:latin typeface="Consolas" panose="020B0609020204030204" pitchFamily="49" charset="0"/>
              </a:rPr>
              <a:t>low</a:t>
            </a:r>
            <a:r>
              <a:rPr lang="en-US" b="1" dirty="0">
                <a:solidFill>
                  <a:srgbClr val="000000"/>
                </a:solidFill>
                <a:latin typeface="Consolas" panose="020B0609020204030204" pitchFamily="49" charset="0"/>
              </a:rPr>
              <a:t>) {</a:t>
            </a:r>
          </a:p>
          <a:p>
            <a:pPr lvl="2"/>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mid</a:t>
            </a:r>
            <a:r>
              <a:rPr lang="en-US" b="1" dirty="0">
                <a:solidFill>
                  <a:srgbClr val="000000"/>
                </a:solidFill>
                <a:latin typeface="Consolas" panose="020B0609020204030204" pitchFamily="49" charset="0"/>
              </a:rPr>
              <a:t> = (</a:t>
            </a:r>
            <a:r>
              <a:rPr lang="en-US" b="1" dirty="0">
                <a:solidFill>
                  <a:srgbClr val="6A3E3E"/>
                </a:solidFill>
                <a:latin typeface="Consolas" panose="020B0609020204030204" pitchFamily="49" charset="0"/>
              </a:rPr>
              <a:t>high</a:t>
            </a:r>
            <a:r>
              <a:rPr lang="en-US" b="1" dirty="0">
                <a:solidFill>
                  <a:srgbClr val="000000"/>
                </a:solidFill>
                <a:latin typeface="Consolas" panose="020B0609020204030204" pitchFamily="49" charset="0"/>
              </a:rPr>
              <a:t> + </a:t>
            </a:r>
            <a:r>
              <a:rPr lang="en-US" b="1" dirty="0">
                <a:solidFill>
                  <a:srgbClr val="6A3E3E"/>
                </a:solidFill>
                <a:latin typeface="Consolas" panose="020B0609020204030204" pitchFamily="49" charset="0"/>
              </a:rPr>
              <a:t>low</a:t>
            </a:r>
            <a:r>
              <a:rPr lang="en-US" b="1" dirty="0">
                <a:solidFill>
                  <a:srgbClr val="000000"/>
                </a:solidFill>
                <a:latin typeface="Consolas" panose="020B0609020204030204" pitchFamily="49" charset="0"/>
              </a:rPr>
              <a:t>) / 2 ;</a:t>
            </a:r>
          </a:p>
          <a:p>
            <a:pPr lvl="2"/>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searchNumber</a:t>
            </a:r>
            <a:r>
              <a:rPr lang="en-US" b="1" dirty="0">
                <a:solidFill>
                  <a:srgbClr val="000000"/>
                </a:solidFill>
                <a:latin typeface="Consolas" panose="020B0609020204030204" pitchFamily="49" charset="0"/>
              </a:rPr>
              <a:t> &lt; </a:t>
            </a:r>
            <a:r>
              <a:rPr lang="en-US" b="1" dirty="0" err="1">
                <a:solidFill>
                  <a:srgbClr val="6A3E3E"/>
                </a:solidFill>
                <a:latin typeface="Consolas" panose="020B0609020204030204" pitchFamily="49" charset="0"/>
              </a:rPr>
              <a:t>myArray</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mid</a:t>
            </a:r>
            <a:r>
              <a:rPr lang="en-US" b="1" dirty="0">
                <a:solidFill>
                  <a:srgbClr val="000000"/>
                </a:solidFill>
                <a:latin typeface="Consolas" panose="020B0609020204030204" pitchFamily="49" charset="0"/>
              </a:rPr>
              <a:t>]) {</a:t>
            </a:r>
          </a:p>
          <a:p>
            <a:pPr lvl="2"/>
            <a:r>
              <a:rPr lang="en-US" dirty="0">
                <a:solidFill>
                  <a:srgbClr val="6A3E3E"/>
                </a:solidFill>
                <a:latin typeface="Consolas" panose="020B0609020204030204" pitchFamily="49" charset="0"/>
              </a:rPr>
              <a:t>	high</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mid</a:t>
            </a:r>
            <a:r>
              <a:rPr lang="en-US" dirty="0">
                <a:solidFill>
                  <a:srgbClr val="000000"/>
                </a:solidFill>
                <a:latin typeface="Consolas" panose="020B0609020204030204" pitchFamily="49" charset="0"/>
              </a:rPr>
              <a:t> - 1;</a:t>
            </a:r>
          </a:p>
          <a:p>
            <a:pPr lvl="2"/>
            <a:r>
              <a:rPr lang="en-US" dirty="0">
                <a:solidFill>
                  <a:srgbClr val="000000"/>
                </a:solidFill>
                <a:latin typeface="Consolas" panose="020B0609020204030204" pitchFamily="49" charset="0"/>
              </a:rPr>
              <a:t>}</a:t>
            </a:r>
          </a:p>
          <a:p>
            <a:pPr lvl="2"/>
            <a:r>
              <a:rPr lang="en-US" b="1" dirty="0">
                <a:solidFill>
                  <a:srgbClr val="7F0055"/>
                </a:solidFill>
                <a:latin typeface="Consolas" panose="020B0609020204030204" pitchFamily="49" charset="0"/>
              </a:rPr>
              <a:t>else</a:t>
            </a:r>
            <a:r>
              <a:rPr lang="en-US" b="1" dirty="0">
                <a:solidFill>
                  <a:srgbClr val="000000"/>
                </a:solidFill>
                <a:latin typeface="Consolas" panose="020B0609020204030204" pitchFamily="49" charset="0"/>
              </a:rPr>
              <a:t> </a:t>
            </a:r>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searchNumber</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myArray</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mid</a:t>
            </a:r>
            <a:r>
              <a:rPr lang="en-US" b="1" dirty="0">
                <a:solidFill>
                  <a:srgbClr val="000000"/>
                </a:solidFill>
                <a:latin typeface="Consolas" panose="020B0609020204030204" pitchFamily="49" charset="0"/>
              </a:rPr>
              <a:t>]) {</a:t>
            </a:r>
          </a:p>
          <a:p>
            <a:pPr lvl="3"/>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r>
              <a:rPr lang="en-US" b="1" i="1" dirty="0">
                <a:solidFill>
                  <a:srgbClr val="000000"/>
                </a:solidFill>
                <a:latin typeface="Consolas" panose="020B0609020204030204" pitchFamily="49" charset="0"/>
              </a:rPr>
              <a:t>(</a:t>
            </a:r>
            <a:r>
              <a:rPr lang="en-US" b="1" i="1" dirty="0">
                <a:solidFill>
                  <a:srgbClr val="2A00FF"/>
                </a:solidFill>
                <a:latin typeface="Consolas" panose="020B0609020204030204" pitchFamily="49" charset="0"/>
              </a:rPr>
              <a:t>"Found at = "</a:t>
            </a:r>
            <a:r>
              <a:rPr lang="en-US" b="1" i="1" dirty="0">
                <a:solidFill>
                  <a:srgbClr val="000000"/>
                </a:solidFill>
                <a:latin typeface="Consolas" panose="020B0609020204030204" pitchFamily="49" charset="0"/>
              </a:rPr>
              <a:t>+</a:t>
            </a:r>
            <a:r>
              <a:rPr lang="en-US" b="1" i="1" dirty="0">
                <a:solidFill>
                  <a:srgbClr val="6A3E3E"/>
                </a:solidFill>
                <a:latin typeface="Consolas" panose="020B0609020204030204" pitchFamily="49" charset="0"/>
              </a:rPr>
              <a:t>mid</a:t>
            </a:r>
            <a:r>
              <a:rPr lang="en-US" b="1" i="1" dirty="0">
                <a:solidFill>
                  <a:srgbClr val="000000"/>
                </a:solidFill>
                <a:latin typeface="Consolas" panose="020B0609020204030204" pitchFamily="49" charset="0"/>
              </a:rPr>
              <a:t>);</a:t>
            </a:r>
          </a:p>
          <a:p>
            <a:pPr lvl="3"/>
            <a:r>
              <a:rPr lang="en-US" dirty="0" err="1">
                <a:solidFill>
                  <a:srgbClr val="6A3E3E"/>
                </a:solidFill>
                <a:latin typeface="Consolas" panose="020B0609020204030204" pitchFamily="49" charset="0"/>
              </a:rPr>
              <a:t>isFound</a:t>
            </a:r>
            <a:r>
              <a:rPr lang="en-US" dirty="0">
                <a:solidFill>
                  <a:srgbClr val="000000"/>
                </a:solidFill>
                <a:latin typeface="Consolas" panose="020B0609020204030204" pitchFamily="49" charset="0"/>
              </a:rPr>
              <a:t> = </a:t>
            </a:r>
            <a:r>
              <a:rPr lang="en-US" b="1" dirty="0">
                <a:solidFill>
                  <a:srgbClr val="7F0055"/>
                </a:solidFill>
                <a:latin typeface="Consolas" panose="020B0609020204030204" pitchFamily="49" charset="0"/>
              </a:rPr>
              <a:t>true</a:t>
            </a:r>
            <a:r>
              <a:rPr lang="en-US" b="1" dirty="0">
                <a:solidFill>
                  <a:srgbClr val="000000"/>
                </a:solidFill>
                <a:latin typeface="Consolas" panose="020B0609020204030204" pitchFamily="49" charset="0"/>
              </a:rPr>
              <a:t>;</a:t>
            </a:r>
          </a:p>
          <a:p>
            <a:pPr lvl="3"/>
            <a:r>
              <a:rPr lang="en-US" b="1" dirty="0">
                <a:solidFill>
                  <a:srgbClr val="7F0055"/>
                </a:solidFill>
                <a:latin typeface="Consolas" panose="020B0609020204030204" pitchFamily="49" charset="0"/>
              </a:rPr>
              <a:t>break</a:t>
            </a:r>
            <a:r>
              <a:rPr lang="en-US" b="1"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p>
          <a:p>
            <a:pPr lvl="2"/>
            <a:r>
              <a:rPr lang="en-US" b="1" dirty="0">
                <a:solidFill>
                  <a:srgbClr val="7F0055"/>
                </a:solidFill>
                <a:latin typeface="Consolas" panose="020B0609020204030204" pitchFamily="49" charset="0"/>
              </a:rPr>
              <a:t>else</a:t>
            </a:r>
            <a:r>
              <a:rPr lang="en-US" b="1" dirty="0">
                <a:solidFill>
                  <a:srgbClr val="000000"/>
                </a:solidFill>
                <a:latin typeface="Consolas" panose="020B0609020204030204" pitchFamily="49" charset="0"/>
              </a:rPr>
              <a:t> {</a:t>
            </a:r>
          </a:p>
          <a:p>
            <a:pPr lvl="2"/>
            <a:r>
              <a:rPr lang="en-US" dirty="0">
                <a:solidFill>
                  <a:srgbClr val="6A3E3E"/>
                </a:solidFill>
                <a:latin typeface="Consolas" panose="020B0609020204030204" pitchFamily="49" charset="0"/>
              </a:rPr>
              <a:t>	low</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mid</a:t>
            </a:r>
            <a:r>
              <a:rPr lang="en-US" dirty="0">
                <a:solidFill>
                  <a:srgbClr val="000000"/>
                </a:solidFill>
                <a:latin typeface="Consolas" panose="020B0609020204030204" pitchFamily="49" charset="0"/>
              </a:rPr>
              <a:t> + 1;</a:t>
            </a:r>
          </a:p>
          <a:p>
            <a:pPr lvl="2"/>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a:t>
            </a:r>
            <a:endParaRPr lang="en-US" dirty="0">
              <a:latin typeface="Consolas" panose="020B0609020204030204" pitchFamily="49" charset="0"/>
            </a:endParaRPr>
          </a:p>
          <a:p>
            <a:pPr lvl="1"/>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isFound</a:t>
            </a:r>
            <a:r>
              <a:rPr lang="en-US" b="1" dirty="0">
                <a:solidFill>
                  <a:srgbClr val="000000"/>
                </a:solidFill>
                <a:latin typeface="Consolas" panose="020B0609020204030204" pitchFamily="49" charset="0"/>
              </a:rPr>
              <a:t>) {</a:t>
            </a:r>
          </a:p>
          <a:p>
            <a:pPr lvl="1"/>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.println</a:t>
            </a:r>
            <a:endParaRPr lang="en-US" b="1" i="1" dirty="0">
              <a:solidFill>
                <a:srgbClr val="000000"/>
              </a:solidFill>
              <a:latin typeface="Consolas" panose="020B0609020204030204" pitchFamily="49" charset="0"/>
            </a:endParaRPr>
          </a:p>
          <a:p>
            <a:pPr lvl="1"/>
            <a:r>
              <a:rPr lang="en-US" b="1" i="1" dirty="0">
                <a:solidFill>
                  <a:srgbClr val="000000"/>
                </a:solidFill>
                <a:latin typeface="Consolas" panose="020B0609020204030204" pitchFamily="49" charset="0"/>
              </a:rPr>
              <a:t>		(</a:t>
            </a:r>
            <a:r>
              <a:rPr lang="en-US" b="1" i="1" dirty="0">
                <a:solidFill>
                  <a:srgbClr val="2A00FF"/>
                </a:solidFill>
                <a:latin typeface="Consolas" panose="020B0609020204030204" pitchFamily="49" charset="0"/>
              </a:rPr>
              <a:t>"Number does not exist in array"</a:t>
            </a:r>
            <a:r>
              <a:rPr lang="en-US" b="1" i="1"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a:t>
            </a:r>
            <a:endParaRPr lang="en-US" dirty="0">
              <a:latin typeface="Consolas" panose="020B0609020204030204" pitchFamily="49" charset="0"/>
            </a:endParaRPr>
          </a:p>
          <a:p>
            <a:r>
              <a:rPr lang="en-US" dirty="0">
                <a:solidFill>
                  <a:srgbClr val="000000"/>
                </a:solidFill>
                <a:latin typeface="Consolas" panose="020B0609020204030204" pitchFamily="49" charset="0"/>
              </a:rPr>
              <a:t>}</a:t>
            </a:r>
            <a:endParaRPr lang="en-US" dirty="0">
              <a:latin typeface="Consolas" panose="020B0609020204030204" pitchFamily="49" charset="0"/>
            </a:endParaRPr>
          </a:p>
          <a:p>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17922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bg/>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
                                            <p:txEl>
                                              <p:pRg st="17" end="17"/>
                                            </p:txEl>
                                          </p:spTgt>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
                                            <p:txEl>
                                              <p:pRg st="18" end="18"/>
                                            </p:txEl>
                                          </p:spTgt>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4">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P spid="4" grpId="0" uiExpand="1" build="p" bldLvl="5"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45311-E647-608A-77E8-E53F73CE1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E81A5-E3C3-5CF8-1A03-73811E88A4E8}"/>
              </a:ext>
            </a:extLst>
          </p:cNvPr>
          <p:cNvSpPr>
            <a:spLocks noGrp="1"/>
          </p:cNvSpPr>
          <p:nvPr>
            <p:ph type="title"/>
          </p:nvPr>
        </p:nvSpPr>
        <p:spPr>
          <a:xfrm>
            <a:off x="0" y="1"/>
            <a:ext cx="12192000" cy="711200"/>
          </a:xfrm>
        </p:spPr>
        <p:txBody>
          <a:bodyPr/>
          <a:lstStyle/>
          <a:p>
            <a:r>
              <a:rPr lang="en-US" dirty="0"/>
              <a:t>Sorting Array</a:t>
            </a:r>
          </a:p>
        </p:txBody>
      </p:sp>
      <p:sp>
        <p:nvSpPr>
          <p:cNvPr id="3" name="Content Placeholder 2">
            <a:extLst>
              <a:ext uri="{FF2B5EF4-FFF2-40B4-BE49-F238E27FC236}">
                <a16:creationId xmlns:a16="http://schemas.microsoft.com/office/drawing/2014/main" id="{582D1ACE-3A18-B38F-3BA8-44ED1F2728DD}"/>
              </a:ext>
            </a:extLst>
          </p:cNvPr>
          <p:cNvSpPr>
            <a:spLocks noGrp="1"/>
          </p:cNvSpPr>
          <p:nvPr>
            <p:ph idx="1"/>
          </p:nvPr>
        </p:nvSpPr>
        <p:spPr>
          <a:xfrm>
            <a:off x="131180" y="863444"/>
            <a:ext cx="11929641" cy="5590565"/>
          </a:xfrm>
        </p:spPr>
        <p:txBody>
          <a:bodyPr/>
          <a:lstStyle/>
          <a:p>
            <a:r>
              <a:rPr lang="en-US" dirty="0"/>
              <a:t>Sorting, like searching, is a common task in computer programming. Many different algorithms have been developed for sorting.</a:t>
            </a:r>
          </a:p>
          <a:p>
            <a:r>
              <a:rPr lang="en-US" dirty="0"/>
              <a:t>There are many sorting techniques available, we are going to explore selection sort.</a:t>
            </a:r>
          </a:p>
          <a:p>
            <a:r>
              <a:rPr lang="en-US" dirty="0"/>
              <a:t>Selection sort</a:t>
            </a:r>
          </a:p>
          <a:p>
            <a:pPr lvl="1"/>
            <a:r>
              <a:rPr lang="en-US" sz="2200" dirty="0"/>
              <a:t>finds the smallest number in the list and swaps it with the first element.</a:t>
            </a:r>
          </a:p>
          <a:p>
            <a:pPr lvl="1"/>
            <a:r>
              <a:rPr lang="en-US" sz="2200" dirty="0"/>
              <a:t>It then finds the smallest number remaining and swaps it with the second element, and so on, until only a single number remains.</a:t>
            </a:r>
          </a:p>
        </p:txBody>
      </p:sp>
      <p:pic>
        <p:nvPicPr>
          <p:cNvPr id="4" name="Untitled 17">
            <a:hlinkClick r:id="" action="ppaction://media"/>
            <a:extLst>
              <a:ext uri="{FF2B5EF4-FFF2-40B4-BE49-F238E27FC236}">
                <a16:creationId xmlns:a16="http://schemas.microsoft.com/office/drawing/2014/main" id="{6D1EC9B1-4FA5-365A-EC80-6A7C4C25C96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151160" y="3782926"/>
            <a:ext cx="4724400" cy="2381250"/>
          </a:xfrm>
          <a:prstGeom prst="rect">
            <a:avLst/>
          </a:prstGeom>
        </p:spPr>
      </p:pic>
    </p:spTree>
    <p:extLst>
      <p:ext uri="{BB962C8B-B14F-4D97-AF65-F5344CB8AC3E}">
        <p14:creationId xmlns:p14="http://schemas.microsoft.com/office/powerpoint/2010/main" val="253995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27" fill="hold" display="0">
                  <p:stCondLst>
                    <p:cond delay="indefinite"/>
                  </p:stCondLst>
                </p:cTn>
                <p:tgtEl>
                  <p:spTgt spid="4"/>
                </p:tgtEl>
              </p:cMediaNode>
            </p:video>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4F884-615D-BA80-9042-58DD556497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BACCED-BA6D-E4CB-EF13-B30ED3E307F8}"/>
              </a:ext>
            </a:extLst>
          </p:cNvPr>
          <p:cNvSpPr>
            <a:spLocks noGrp="1"/>
          </p:cNvSpPr>
          <p:nvPr>
            <p:ph type="title"/>
          </p:nvPr>
        </p:nvSpPr>
        <p:spPr>
          <a:xfrm>
            <a:off x="0" y="1"/>
            <a:ext cx="12192000" cy="711200"/>
          </a:xfrm>
        </p:spPr>
        <p:txBody>
          <a:bodyPr/>
          <a:lstStyle/>
          <a:p>
            <a:r>
              <a:rPr lang="en-US" dirty="0"/>
              <a:t>Selection Sort (Example)</a:t>
            </a:r>
          </a:p>
        </p:txBody>
      </p:sp>
      <p:sp>
        <p:nvSpPr>
          <p:cNvPr id="3" name="TextBox 2">
            <a:extLst>
              <a:ext uri="{FF2B5EF4-FFF2-40B4-BE49-F238E27FC236}">
                <a16:creationId xmlns:a16="http://schemas.microsoft.com/office/drawing/2014/main" id="{FE2084D3-7FB9-49EC-9128-B22E6165B2B9}"/>
              </a:ext>
            </a:extLst>
          </p:cNvPr>
          <p:cNvSpPr txBox="1"/>
          <p:nvPr/>
        </p:nvSpPr>
        <p:spPr>
          <a:xfrm>
            <a:off x="279400" y="850901"/>
            <a:ext cx="7289800" cy="5632311"/>
          </a:xfrm>
          <a:prstGeom prst="rect">
            <a:avLst/>
          </a:prstGeom>
          <a:noFill/>
          <a:ln w="19050">
            <a:solidFill>
              <a:schemeClr val="accent1"/>
            </a:solidFill>
            <a:prstDash val="dash"/>
          </a:ln>
        </p:spPr>
        <p:txBody>
          <a:bodyPr wrap="square" rtlCol="0">
            <a:spAutoFit/>
          </a:bodyPr>
          <a:lstStyle/>
          <a:p>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a</a:t>
            </a:r>
            <a:r>
              <a:rPr lang="en-US" b="1" dirty="0">
                <a:solidFill>
                  <a:srgbClr val="000000"/>
                </a:solidFill>
                <a:latin typeface="Consolas" panose="020B0609020204030204" pitchFamily="49" charset="0"/>
              </a:rPr>
              <a:t>[] = { 5, 2, 9, 3, 4, 1, 8, 6, 7 };</a:t>
            </a:r>
          </a:p>
          <a:p>
            <a:r>
              <a:rPr lang="nn-NO" b="1" dirty="0">
                <a:solidFill>
                  <a:srgbClr val="7F0055"/>
                </a:solidFill>
                <a:latin typeface="Consolas" panose="020B0609020204030204" pitchFamily="49" charset="0"/>
              </a:rPr>
              <a:t>for</a:t>
            </a:r>
            <a:r>
              <a:rPr lang="nn-NO" b="1" dirty="0">
                <a:solidFill>
                  <a:srgbClr val="000000"/>
                </a:solidFill>
                <a:latin typeface="Consolas" panose="020B0609020204030204" pitchFamily="49" charset="0"/>
              </a:rPr>
              <a:t> (</a:t>
            </a:r>
            <a:r>
              <a:rPr lang="nn-NO" b="1" dirty="0">
                <a:solidFill>
                  <a:srgbClr val="7F0055"/>
                </a:solidFill>
                <a:latin typeface="Consolas" panose="020B0609020204030204" pitchFamily="49" charset="0"/>
              </a:rPr>
              <a:t>int</a:t>
            </a:r>
            <a:r>
              <a:rPr lang="nn-NO" b="1" dirty="0">
                <a:solidFill>
                  <a:srgbClr val="000000"/>
                </a:solidFill>
                <a:latin typeface="Consolas" panose="020B0609020204030204" pitchFamily="49" charset="0"/>
              </a:rPr>
              <a:t> </a:t>
            </a:r>
            <a:r>
              <a:rPr lang="nn-NO" b="1" dirty="0">
                <a:solidFill>
                  <a:srgbClr val="6A3E3E"/>
                </a:solidFill>
                <a:latin typeface="Consolas" panose="020B0609020204030204" pitchFamily="49" charset="0"/>
              </a:rPr>
              <a:t>i</a:t>
            </a:r>
            <a:r>
              <a:rPr lang="nn-NO" b="1" dirty="0">
                <a:solidFill>
                  <a:srgbClr val="000000"/>
                </a:solidFill>
                <a:latin typeface="Consolas" panose="020B0609020204030204" pitchFamily="49" charset="0"/>
              </a:rPr>
              <a:t> = 0; </a:t>
            </a:r>
            <a:r>
              <a:rPr lang="nn-NO" b="1" dirty="0">
                <a:solidFill>
                  <a:srgbClr val="6A3E3E"/>
                </a:solidFill>
                <a:latin typeface="Consolas" panose="020B0609020204030204" pitchFamily="49" charset="0"/>
              </a:rPr>
              <a:t>i</a:t>
            </a:r>
            <a:r>
              <a:rPr lang="nn-NO" b="1" dirty="0">
                <a:solidFill>
                  <a:srgbClr val="000000"/>
                </a:solidFill>
                <a:latin typeface="Consolas" panose="020B0609020204030204" pitchFamily="49" charset="0"/>
              </a:rPr>
              <a:t> &lt; </a:t>
            </a:r>
            <a:r>
              <a:rPr lang="nn-NO" b="1" dirty="0">
                <a:solidFill>
                  <a:srgbClr val="6A3E3E"/>
                </a:solidFill>
                <a:latin typeface="Consolas" panose="020B0609020204030204" pitchFamily="49" charset="0"/>
              </a:rPr>
              <a:t>a</a:t>
            </a:r>
            <a:r>
              <a:rPr lang="nn-NO" b="1" dirty="0">
                <a:solidFill>
                  <a:srgbClr val="000000"/>
                </a:solidFill>
                <a:latin typeface="Consolas" panose="020B0609020204030204" pitchFamily="49" charset="0"/>
              </a:rPr>
              <a:t>.</a:t>
            </a:r>
            <a:r>
              <a:rPr lang="nn-NO" b="1" dirty="0">
                <a:solidFill>
                  <a:srgbClr val="0000C0"/>
                </a:solidFill>
                <a:latin typeface="Consolas" panose="020B0609020204030204" pitchFamily="49" charset="0"/>
              </a:rPr>
              <a:t>length</a:t>
            </a:r>
            <a:r>
              <a:rPr lang="nn-NO" b="1" dirty="0">
                <a:solidFill>
                  <a:srgbClr val="000000"/>
                </a:solidFill>
                <a:latin typeface="Consolas" panose="020B0609020204030204" pitchFamily="49" charset="0"/>
              </a:rPr>
              <a:t> - 1; </a:t>
            </a:r>
            <a:r>
              <a:rPr lang="nn-NO" b="1" dirty="0">
                <a:solidFill>
                  <a:srgbClr val="6A3E3E"/>
                </a:solidFill>
                <a:latin typeface="Consolas" panose="020B0609020204030204" pitchFamily="49" charset="0"/>
              </a:rPr>
              <a:t>i</a:t>
            </a:r>
            <a:r>
              <a:rPr lang="nn-NO" b="1" dirty="0">
                <a:solidFill>
                  <a:srgbClr val="000000"/>
                </a:solidFill>
                <a:latin typeface="Consolas" panose="020B0609020204030204" pitchFamily="49" charset="0"/>
              </a:rPr>
              <a:t>++) {</a:t>
            </a:r>
          </a:p>
          <a:p>
            <a:pPr lvl="1"/>
            <a:r>
              <a:rPr lang="en-US" dirty="0">
                <a:solidFill>
                  <a:srgbClr val="3F7F5F"/>
                </a:solidFill>
                <a:latin typeface="Consolas" panose="020B0609020204030204" pitchFamily="49" charset="0"/>
              </a:rPr>
              <a:t>// Find the minimum in the list[i..a.length-1]</a:t>
            </a:r>
          </a:p>
          <a:p>
            <a:pPr lvl="1"/>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currentMin</a:t>
            </a:r>
            <a:r>
              <a:rPr lang="en-US" b="1" dirty="0">
                <a:solidFill>
                  <a:srgbClr val="000000"/>
                </a:solidFill>
                <a:latin typeface="Consolas" panose="020B0609020204030204" pitchFamily="49" charset="0"/>
              </a:rPr>
              <a:t> = </a:t>
            </a:r>
            <a:r>
              <a:rPr lang="en-US" b="1" dirty="0">
                <a:solidFill>
                  <a:srgbClr val="6A3E3E"/>
                </a:solidFill>
                <a:latin typeface="Consolas" panose="020B0609020204030204" pitchFamily="49" charset="0"/>
              </a:rPr>
              <a:t>a</a:t>
            </a:r>
            <a:r>
              <a:rPr lang="en-US" b="1" dirty="0">
                <a:solidFill>
                  <a:srgbClr val="000000"/>
                </a:solidFill>
                <a:latin typeface="Consolas" panose="020B0609020204030204" pitchFamily="49" charset="0"/>
              </a:rPr>
              <a:t>[</a:t>
            </a:r>
            <a:r>
              <a:rPr lang="en-US" b="1" dirty="0" err="1">
                <a:solidFill>
                  <a:srgbClr val="6A3E3E"/>
                </a:solidFill>
                <a:latin typeface="Consolas" panose="020B0609020204030204" pitchFamily="49" charset="0"/>
              </a:rPr>
              <a:t>i</a:t>
            </a:r>
            <a:r>
              <a:rPr lang="en-US" b="1" dirty="0">
                <a:solidFill>
                  <a:srgbClr val="000000"/>
                </a:solidFill>
                <a:latin typeface="Consolas" panose="020B0609020204030204" pitchFamily="49" charset="0"/>
              </a:rPr>
              <a:t>];</a:t>
            </a:r>
          </a:p>
          <a:p>
            <a:pPr lvl="1"/>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currentMinIndex</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i</a:t>
            </a:r>
            <a:r>
              <a:rPr lang="en-US" b="1" dirty="0">
                <a:solidFill>
                  <a:srgbClr val="000000"/>
                </a:solidFill>
                <a:latin typeface="Consolas" panose="020B0609020204030204" pitchFamily="49" charset="0"/>
              </a:rPr>
              <a:t>;</a:t>
            </a:r>
            <a:endParaRPr lang="en-US" dirty="0">
              <a:latin typeface="Consolas" panose="020B0609020204030204" pitchFamily="49" charset="0"/>
            </a:endParaRPr>
          </a:p>
          <a:p>
            <a:pPr lvl="1"/>
            <a:r>
              <a:rPr lang="en-US" b="1" dirty="0">
                <a:solidFill>
                  <a:srgbClr val="7F0055"/>
                </a:solidFill>
                <a:latin typeface="Consolas" panose="020B0609020204030204" pitchFamily="49" charset="0"/>
              </a:rPr>
              <a:t>for</a:t>
            </a:r>
            <a:r>
              <a:rPr lang="en-US" b="1" dirty="0">
                <a:solidFill>
                  <a:srgbClr val="000000"/>
                </a:solidFill>
                <a:latin typeface="Consolas" panose="020B0609020204030204" pitchFamily="49" charset="0"/>
              </a:rPr>
              <a:t> (</a:t>
            </a:r>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j</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i</a:t>
            </a:r>
            <a:r>
              <a:rPr lang="en-US" b="1" dirty="0">
                <a:solidFill>
                  <a:srgbClr val="000000"/>
                </a:solidFill>
                <a:latin typeface="Consolas" panose="020B0609020204030204" pitchFamily="49" charset="0"/>
              </a:rPr>
              <a:t> + 1; </a:t>
            </a:r>
            <a:r>
              <a:rPr lang="en-US" b="1" dirty="0">
                <a:solidFill>
                  <a:srgbClr val="6A3E3E"/>
                </a:solidFill>
                <a:latin typeface="Consolas" panose="020B0609020204030204" pitchFamily="49" charset="0"/>
              </a:rPr>
              <a:t>j</a:t>
            </a:r>
            <a:r>
              <a:rPr lang="en-US" b="1" dirty="0">
                <a:solidFill>
                  <a:srgbClr val="000000"/>
                </a:solidFill>
                <a:latin typeface="Consolas" panose="020B0609020204030204" pitchFamily="49" charset="0"/>
              </a:rPr>
              <a:t> &lt; </a:t>
            </a:r>
            <a:r>
              <a:rPr lang="en-US" b="1" dirty="0" err="1">
                <a:solidFill>
                  <a:srgbClr val="6A3E3E"/>
                </a:solidFill>
                <a:latin typeface="Consolas" panose="020B0609020204030204" pitchFamily="49" charset="0"/>
              </a:rPr>
              <a:t>a</a:t>
            </a:r>
            <a:r>
              <a:rPr lang="en-US" b="1" dirty="0" err="1">
                <a:solidFill>
                  <a:srgbClr val="000000"/>
                </a:solidFill>
                <a:latin typeface="Consolas" panose="020B0609020204030204" pitchFamily="49" charset="0"/>
              </a:rPr>
              <a:t>.</a:t>
            </a:r>
            <a:r>
              <a:rPr lang="en-US" b="1" dirty="0" err="1">
                <a:solidFill>
                  <a:srgbClr val="0000C0"/>
                </a:solidFill>
                <a:latin typeface="Consolas" panose="020B0609020204030204" pitchFamily="49" charset="0"/>
              </a:rPr>
              <a:t>length</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j</a:t>
            </a:r>
            <a:r>
              <a:rPr lang="en-US" b="1" dirty="0" err="1">
                <a:solidFill>
                  <a:srgbClr val="000000"/>
                </a:solidFill>
                <a:latin typeface="Consolas" panose="020B0609020204030204" pitchFamily="49" charset="0"/>
              </a:rPr>
              <a:t>++</a:t>
            </a:r>
            <a:r>
              <a:rPr lang="en-US" b="1" dirty="0">
                <a:solidFill>
                  <a:srgbClr val="000000"/>
                </a:solidFill>
                <a:latin typeface="Consolas" panose="020B0609020204030204" pitchFamily="49" charset="0"/>
              </a:rPr>
              <a:t>) {</a:t>
            </a:r>
          </a:p>
          <a:p>
            <a:pPr lvl="2"/>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currentMin</a:t>
            </a:r>
            <a:r>
              <a:rPr lang="en-US" b="1" dirty="0">
                <a:solidFill>
                  <a:srgbClr val="000000"/>
                </a:solidFill>
                <a:latin typeface="Consolas" panose="020B0609020204030204" pitchFamily="49" charset="0"/>
              </a:rPr>
              <a:t> &gt; </a:t>
            </a:r>
            <a:r>
              <a:rPr lang="en-US" b="1" dirty="0">
                <a:solidFill>
                  <a:srgbClr val="6A3E3E"/>
                </a:solidFill>
                <a:latin typeface="Consolas" panose="020B0609020204030204" pitchFamily="49" charset="0"/>
              </a:rPr>
              <a:t>a</a:t>
            </a:r>
            <a:r>
              <a:rPr lang="en-US" b="1" dirty="0">
                <a:solidFill>
                  <a:srgbClr val="000000"/>
                </a:solidFill>
                <a:latin typeface="Consolas" panose="020B0609020204030204" pitchFamily="49" charset="0"/>
              </a:rPr>
              <a:t>[</a:t>
            </a:r>
            <a:r>
              <a:rPr lang="en-US" b="1" dirty="0">
                <a:solidFill>
                  <a:srgbClr val="6A3E3E"/>
                </a:solidFill>
                <a:latin typeface="Consolas" panose="020B0609020204030204" pitchFamily="49" charset="0"/>
              </a:rPr>
              <a:t>j</a:t>
            </a:r>
            <a:r>
              <a:rPr lang="en-US" b="1" dirty="0">
                <a:solidFill>
                  <a:srgbClr val="000000"/>
                </a:solidFill>
                <a:latin typeface="Consolas" panose="020B0609020204030204" pitchFamily="49" charset="0"/>
              </a:rPr>
              <a:t>]) {</a:t>
            </a:r>
          </a:p>
          <a:p>
            <a:pPr lvl="3"/>
            <a:r>
              <a:rPr lang="en-US" dirty="0" err="1">
                <a:solidFill>
                  <a:srgbClr val="6A3E3E"/>
                </a:solidFill>
                <a:latin typeface="Consolas" panose="020B0609020204030204" pitchFamily="49" charset="0"/>
              </a:rPr>
              <a:t>currentMin</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a</a:t>
            </a:r>
            <a:r>
              <a:rPr lang="en-US" dirty="0">
                <a:solidFill>
                  <a:srgbClr val="000000"/>
                </a:solidFill>
                <a:latin typeface="Consolas" panose="020B0609020204030204" pitchFamily="49" charset="0"/>
              </a:rPr>
              <a:t>[</a:t>
            </a:r>
            <a:r>
              <a:rPr lang="en-US" dirty="0">
                <a:solidFill>
                  <a:srgbClr val="6A3E3E"/>
                </a:solidFill>
                <a:latin typeface="Consolas" panose="020B0609020204030204" pitchFamily="49" charset="0"/>
              </a:rPr>
              <a:t>j</a:t>
            </a:r>
            <a:r>
              <a:rPr lang="en-US" dirty="0">
                <a:solidFill>
                  <a:srgbClr val="000000"/>
                </a:solidFill>
                <a:latin typeface="Consolas" panose="020B0609020204030204" pitchFamily="49" charset="0"/>
              </a:rPr>
              <a:t>];</a:t>
            </a:r>
          </a:p>
          <a:p>
            <a:pPr lvl="3"/>
            <a:r>
              <a:rPr lang="en-US" dirty="0" err="1">
                <a:solidFill>
                  <a:srgbClr val="6A3E3E"/>
                </a:solidFill>
                <a:latin typeface="Consolas" panose="020B0609020204030204" pitchFamily="49" charset="0"/>
              </a:rPr>
              <a:t>currentMinIndex</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j</a:t>
            </a:r>
            <a:r>
              <a:rPr lang="en-US" dirty="0">
                <a:solidFill>
                  <a:srgbClr val="000000"/>
                </a:solidFill>
                <a:latin typeface="Consolas" panose="020B0609020204030204" pitchFamily="49" charset="0"/>
              </a:rPr>
              <a:t>;</a:t>
            </a:r>
          </a:p>
          <a:p>
            <a:pPr lvl="2"/>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a:t>
            </a:r>
            <a:endParaRPr lang="en-US" dirty="0">
              <a:latin typeface="Consolas" panose="020B0609020204030204" pitchFamily="49" charset="0"/>
            </a:endParaRPr>
          </a:p>
          <a:p>
            <a:pPr lvl="1"/>
            <a:r>
              <a:rPr lang="en-US" dirty="0">
                <a:solidFill>
                  <a:srgbClr val="3F7F5F"/>
                </a:solidFill>
                <a:latin typeface="Consolas" panose="020B0609020204030204" pitchFamily="49" charset="0"/>
              </a:rPr>
              <a:t>// Swap a[</a:t>
            </a:r>
            <a:r>
              <a:rPr lang="en-US" dirty="0" err="1">
                <a:solidFill>
                  <a:srgbClr val="3F7F5F"/>
                </a:solidFill>
                <a:latin typeface="Consolas" panose="020B0609020204030204" pitchFamily="49" charset="0"/>
              </a:rPr>
              <a:t>i</a:t>
            </a:r>
            <a:r>
              <a:rPr lang="en-US" dirty="0">
                <a:solidFill>
                  <a:srgbClr val="3F7F5F"/>
                </a:solidFill>
                <a:latin typeface="Consolas" panose="020B0609020204030204" pitchFamily="49" charset="0"/>
              </a:rPr>
              <a:t>] with a[</a:t>
            </a:r>
            <a:r>
              <a:rPr lang="en-US" dirty="0" err="1">
                <a:solidFill>
                  <a:srgbClr val="3F7F5F"/>
                </a:solidFill>
                <a:latin typeface="Consolas" panose="020B0609020204030204" pitchFamily="49" charset="0"/>
              </a:rPr>
              <a:t>currentMinIndex</a:t>
            </a:r>
            <a:r>
              <a:rPr lang="en-US" dirty="0">
                <a:solidFill>
                  <a:srgbClr val="3F7F5F"/>
                </a:solidFill>
                <a:latin typeface="Consolas" panose="020B0609020204030204" pitchFamily="49" charset="0"/>
              </a:rPr>
              <a:t>] if necessary</a:t>
            </a:r>
          </a:p>
          <a:p>
            <a:pPr lvl="1"/>
            <a:r>
              <a:rPr lang="en-US" b="1" dirty="0">
                <a:solidFill>
                  <a:srgbClr val="7F0055"/>
                </a:solidFill>
                <a:latin typeface="Consolas" panose="020B0609020204030204" pitchFamily="49" charset="0"/>
              </a:rPr>
              <a:t>if</a:t>
            </a:r>
            <a:r>
              <a:rPr lang="en-US" b="1" dirty="0">
                <a:solidFill>
                  <a:srgbClr val="000000"/>
                </a:solidFill>
                <a:latin typeface="Consolas" panose="020B0609020204030204" pitchFamily="49" charset="0"/>
              </a:rPr>
              <a:t> (</a:t>
            </a:r>
            <a:r>
              <a:rPr lang="en-US" b="1" dirty="0" err="1">
                <a:solidFill>
                  <a:srgbClr val="6A3E3E"/>
                </a:solidFill>
                <a:latin typeface="Consolas" panose="020B0609020204030204" pitchFamily="49" charset="0"/>
              </a:rPr>
              <a:t>currentMinIndex</a:t>
            </a:r>
            <a:r>
              <a:rPr lang="en-US" b="1" dirty="0">
                <a:solidFill>
                  <a:srgbClr val="000000"/>
                </a:solidFill>
                <a:latin typeface="Consolas" panose="020B0609020204030204" pitchFamily="49" charset="0"/>
              </a:rPr>
              <a:t> != </a:t>
            </a:r>
            <a:r>
              <a:rPr lang="en-US" b="1" dirty="0" err="1">
                <a:solidFill>
                  <a:srgbClr val="6A3E3E"/>
                </a:solidFill>
                <a:latin typeface="Consolas" panose="020B0609020204030204" pitchFamily="49" charset="0"/>
              </a:rPr>
              <a:t>i</a:t>
            </a:r>
            <a:r>
              <a:rPr lang="en-US" b="1" dirty="0">
                <a:solidFill>
                  <a:srgbClr val="000000"/>
                </a:solidFill>
                <a:latin typeface="Consolas" panose="020B0609020204030204" pitchFamily="49" charset="0"/>
              </a:rPr>
              <a:t>) {</a:t>
            </a:r>
          </a:p>
          <a:p>
            <a:pPr lvl="2"/>
            <a:r>
              <a:rPr lang="en-US" dirty="0">
                <a:solidFill>
                  <a:srgbClr val="6A3E3E"/>
                </a:solidFill>
                <a:latin typeface="Consolas" panose="020B0609020204030204" pitchFamily="49" charset="0"/>
              </a:rPr>
              <a:t>a</a:t>
            </a:r>
            <a:r>
              <a:rPr lang="en-US" dirty="0">
                <a:solidFill>
                  <a:srgbClr val="000000"/>
                </a:solidFill>
                <a:latin typeface="Consolas" panose="020B0609020204030204" pitchFamily="49" charset="0"/>
              </a:rPr>
              <a:t>[</a:t>
            </a:r>
            <a:r>
              <a:rPr lang="en-US" dirty="0" err="1">
                <a:solidFill>
                  <a:srgbClr val="6A3E3E"/>
                </a:solidFill>
                <a:latin typeface="Consolas" panose="020B0609020204030204" pitchFamily="49" charset="0"/>
              </a:rPr>
              <a:t>currentMinIndex</a:t>
            </a:r>
            <a:r>
              <a:rPr lang="en-US" dirty="0">
                <a:solidFill>
                  <a:srgbClr val="000000"/>
                </a:solidFill>
                <a:latin typeface="Consolas" panose="020B0609020204030204" pitchFamily="49" charset="0"/>
              </a:rPr>
              <a:t>] = </a:t>
            </a:r>
            <a:r>
              <a:rPr lang="en-US" dirty="0">
                <a:solidFill>
                  <a:srgbClr val="6A3E3E"/>
                </a:solidFill>
                <a:latin typeface="Consolas" panose="020B0609020204030204" pitchFamily="49" charset="0"/>
              </a:rPr>
              <a:t>a</a:t>
            </a:r>
            <a:r>
              <a:rPr lang="en-US" dirty="0">
                <a:solidFill>
                  <a:srgbClr val="000000"/>
                </a:solidFill>
                <a:latin typeface="Consolas" panose="020B0609020204030204" pitchFamily="49" charset="0"/>
              </a:rPr>
              <a:t>[</a:t>
            </a:r>
            <a:r>
              <a:rPr lang="en-US" dirty="0" err="1">
                <a:solidFill>
                  <a:srgbClr val="6A3E3E"/>
                </a:solidFill>
                <a:latin typeface="Consolas" panose="020B0609020204030204" pitchFamily="49" charset="0"/>
              </a:rPr>
              <a:t>i</a:t>
            </a:r>
            <a:r>
              <a:rPr lang="en-US" dirty="0">
                <a:solidFill>
                  <a:srgbClr val="000000"/>
                </a:solidFill>
                <a:latin typeface="Consolas" panose="020B0609020204030204" pitchFamily="49" charset="0"/>
              </a:rPr>
              <a:t>];</a:t>
            </a:r>
          </a:p>
          <a:p>
            <a:pPr lvl="2"/>
            <a:r>
              <a:rPr lang="en-US" dirty="0">
                <a:solidFill>
                  <a:srgbClr val="6A3E3E"/>
                </a:solidFill>
                <a:latin typeface="Consolas" panose="020B0609020204030204" pitchFamily="49" charset="0"/>
              </a:rPr>
              <a:t>a</a:t>
            </a:r>
            <a:r>
              <a:rPr lang="en-US" dirty="0">
                <a:solidFill>
                  <a:srgbClr val="000000"/>
                </a:solidFill>
                <a:latin typeface="Consolas" panose="020B0609020204030204" pitchFamily="49" charset="0"/>
              </a:rPr>
              <a:t>[</a:t>
            </a:r>
            <a:r>
              <a:rPr lang="en-US" dirty="0" err="1">
                <a:solidFill>
                  <a:srgbClr val="6A3E3E"/>
                </a:solidFill>
                <a:latin typeface="Consolas" panose="020B0609020204030204" pitchFamily="49" charset="0"/>
              </a:rPr>
              <a:t>i</a:t>
            </a:r>
            <a:r>
              <a:rPr lang="en-US" dirty="0">
                <a:solidFill>
                  <a:srgbClr val="000000"/>
                </a:solidFill>
                <a:latin typeface="Consolas" panose="020B0609020204030204" pitchFamily="49" charset="0"/>
              </a:rPr>
              <a:t>] = </a:t>
            </a:r>
            <a:r>
              <a:rPr lang="en-US" dirty="0" err="1">
                <a:solidFill>
                  <a:srgbClr val="6A3E3E"/>
                </a:solidFill>
                <a:latin typeface="Consolas" panose="020B0609020204030204" pitchFamily="49" charset="0"/>
              </a:rPr>
              <a:t>currentMin</a:t>
            </a:r>
            <a:r>
              <a:rPr lang="en-US" dirty="0">
                <a:solidFill>
                  <a:srgbClr val="000000"/>
                </a:solidFill>
                <a:latin typeface="Consolas" panose="020B0609020204030204" pitchFamily="49" charset="0"/>
              </a:rPr>
              <a:t>;</a:t>
            </a:r>
          </a:p>
          <a:p>
            <a:pPr lvl="1"/>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a:p>
            <a:r>
              <a:rPr lang="en-US" b="1" dirty="0">
                <a:solidFill>
                  <a:srgbClr val="7F0055"/>
                </a:solidFill>
                <a:latin typeface="Consolas" panose="020B0609020204030204" pitchFamily="49" charset="0"/>
              </a:rPr>
              <a:t>for</a:t>
            </a:r>
            <a:r>
              <a:rPr lang="en-US" b="1" dirty="0">
                <a:solidFill>
                  <a:srgbClr val="000000"/>
                </a:solidFill>
                <a:latin typeface="Consolas" panose="020B0609020204030204" pitchFamily="49" charset="0"/>
              </a:rPr>
              <a:t>(</a:t>
            </a:r>
            <a:r>
              <a:rPr lang="en-US" b="1" dirty="0" err="1">
                <a:solidFill>
                  <a:srgbClr val="7F0055"/>
                </a:solidFill>
                <a:latin typeface="Consolas" panose="020B0609020204030204" pitchFamily="49" charset="0"/>
              </a:rPr>
              <a:t>int</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temp</a:t>
            </a:r>
            <a:r>
              <a:rPr lang="en-US" b="1" dirty="0">
                <a:solidFill>
                  <a:srgbClr val="000000"/>
                </a:solidFill>
                <a:latin typeface="Consolas" panose="020B0609020204030204" pitchFamily="49" charset="0"/>
              </a:rPr>
              <a:t>: </a:t>
            </a:r>
            <a:r>
              <a:rPr lang="en-US" b="1" dirty="0">
                <a:solidFill>
                  <a:srgbClr val="6A3E3E"/>
                </a:solidFill>
                <a:latin typeface="Consolas" panose="020B0609020204030204" pitchFamily="49" charset="0"/>
              </a:rPr>
              <a:t>a</a:t>
            </a:r>
            <a:r>
              <a:rPr lang="en-US" b="1" dirty="0">
                <a:solidFill>
                  <a:srgbClr val="000000"/>
                </a:solidFill>
                <a:latin typeface="Consolas" panose="020B0609020204030204" pitchFamily="49" charset="0"/>
              </a:rPr>
              <a:t>) { </a:t>
            </a:r>
            <a:r>
              <a:rPr lang="en-US" dirty="0">
                <a:solidFill>
                  <a:srgbClr val="3F7F5F"/>
                </a:solidFill>
                <a:latin typeface="Consolas" panose="020B0609020204030204" pitchFamily="49" charset="0"/>
              </a:rPr>
              <a:t>// this is </a:t>
            </a:r>
            <a:r>
              <a:rPr lang="en-US" dirty="0" err="1">
                <a:solidFill>
                  <a:srgbClr val="3F7F5F"/>
                </a:solidFill>
                <a:latin typeface="Consolas" panose="020B0609020204030204" pitchFamily="49" charset="0"/>
              </a:rPr>
              <a:t>foreach</a:t>
            </a:r>
            <a:r>
              <a:rPr lang="en-US" dirty="0">
                <a:solidFill>
                  <a:srgbClr val="3F7F5F"/>
                </a:solidFill>
                <a:latin typeface="Consolas" panose="020B0609020204030204" pitchFamily="49" charset="0"/>
              </a:rPr>
              <a:t> loop </a:t>
            </a:r>
            <a:endParaRPr lang="en-US" b="1"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System.</a:t>
            </a:r>
            <a:r>
              <a:rPr lang="en-US" b="1" i="1" dirty="0" err="1">
                <a:solidFill>
                  <a:srgbClr val="0000C0"/>
                </a:solidFill>
                <a:latin typeface="Consolas" panose="020B0609020204030204" pitchFamily="49" charset="0"/>
              </a:rPr>
              <a:t>out</a:t>
            </a:r>
            <a:r>
              <a:rPr lang="en-US" b="1" i="1" dirty="0" err="1">
                <a:solidFill>
                  <a:srgbClr val="000000"/>
                </a:solidFill>
                <a:latin typeface="Consolas" panose="020B0609020204030204" pitchFamily="49" charset="0"/>
              </a:rPr>
              <a:t>.print</a:t>
            </a:r>
            <a:r>
              <a:rPr lang="en-US" b="1" i="1" dirty="0">
                <a:solidFill>
                  <a:srgbClr val="000000"/>
                </a:solidFill>
                <a:latin typeface="Consolas" panose="020B0609020204030204" pitchFamily="49" charset="0"/>
              </a:rPr>
              <a:t>(</a:t>
            </a:r>
            <a:r>
              <a:rPr lang="en-US" b="1" i="1" dirty="0">
                <a:solidFill>
                  <a:srgbClr val="6A3E3E"/>
                </a:solidFill>
                <a:latin typeface="Consolas" panose="020B0609020204030204" pitchFamily="49" charset="0"/>
              </a:rPr>
              <a:t>temp</a:t>
            </a:r>
            <a:r>
              <a:rPr lang="en-US" b="1" i="1" dirty="0">
                <a:solidFill>
                  <a:srgbClr val="000000"/>
                </a:solidFill>
                <a:latin typeface="Consolas" panose="020B0609020204030204" pitchFamily="49" charset="0"/>
              </a:rPr>
              <a:t> + </a:t>
            </a:r>
            <a:r>
              <a:rPr lang="en-US" b="1" i="1" dirty="0">
                <a:solidFill>
                  <a:srgbClr val="2A00FF"/>
                </a:solidFill>
                <a:latin typeface="Consolas" panose="020B0609020204030204" pitchFamily="49" charset="0"/>
              </a:rPr>
              <a:t>", "</a:t>
            </a:r>
            <a:r>
              <a:rPr lang="en-US" b="1" i="1"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56953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5"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54FF2-E8C9-DEBD-EFD6-FE097A14C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794AD-F03D-EED1-6AD2-634AF2A38062}"/>
              </a:ext>
            </a:extLst>
          </p:cNvPr>
          <p:cNvSpPr>
            <a:spLocks noGrp="1"/>
          </p:cNvSpPr>
          <p:nvPr>
            <p:ph type="title"/>
          </p:nvPr>
        </p:nvSpPr>
        <p:spPr>
          <a:xfrm>
            <a:off x="0" y="1"/>
            <a:ext cx="12192000" cy="711200"/>
          </a:xfrm>
        </p:spPr>
        <p:txBody>
          <a:bodyPr/>
          <a:lstStyle/>
          <a:p>
            <a:r>
              <a:rPr lang="en-US" dirty="0"/>
              <a:t>Function</a:t>
            </a:r>
          </a:p>
        </p:txBody>
      </p:sp>
      <p:sp>
        <p:nvSpPr>
          <p:cNvPr id="3" name="Content Placeholder 2">
            <a:extLst>
              <a:ext uri="{FF2B5EF4-FFF2-40B4-BE49-F238E27FC236}">
                <a16:creationId xmlns:a16="http://schemas.microsoft.com/office/drawing/2014/main" id="{9294F0FA-DB43-B87C-2A62-0F8E2BDC80A3}"/>
              </a:ext>
            </a:extLst>
          </p:cNvPr>
          <p:cNvSpPr>
            <a:spLocks noGrp="1"/>
          </p:cNvSpPr>
          <p:nvPr>
            <p:ph idx="1"/>
          </p:nvPr>
        </p:nvSpPr>
        <p:spPr>
          <a:xfrm>
            <a:off x="131180" y="863444"/>
            <a:ext cx="11929641" cy="5590565"/>
          </a:xfrm>
        </p:spPr>
        <p:txBody>
          <a:bodyPr/>
          <a:lstStyle/>
          <a:p>
            <a:r>
              <a:rPr lang="en-US" dirty="0">
                <a:solidFill>
                  <a:srgbClr val="B71B1C"/>
                </a:solidFill>
              </a:rPr>
              <a:t>Functions</a:t>
            </a:r>
            <a:r>
              <a:rPr lang="en-US" dirty="0"/>
              <a:t> in Java are </a:t>
            </a:r>
            <a:r>
              <a:rPr lang="en-US" dirty="0">
                <a:solidFill>
                  <a:srgbClr val="B71B1C"/>
                </a:solidFill>
              </a:rPr>
              <a:t>blocks of code </a:t>
            </a:r>
            <a:r>
              <a:rPr lang="en-US" dirty="0"/>
              <a:t>that perform a specific task, and they are used to organize code and make it more modular and reusable.</a:t>
            </a:r>
          </a:p>
          <a:p>
            <a:r>
              <a:rPr lang="en-US" dirty="0">
                <a:solidFill>
                  <a:srgbClr val="000000"/>
                </a:solidFill>
              </a:rPr>
              <a:t>Types of Functions are as below:</a:t>
            </a:r>
          </a:p>
          <a:p>
            <a:r>
              <a:rPr lang="en-US" dirty="0">
                <a:solidFill>
                  <a:srgbClr val="B71B1C"/>
                </a:solidFill>
              </a:rPr>
              <a:t>Pre-Defined Function ( Built-in Library Function):</a:t>
            </a:r>
          </a:p>
          <a:p>
            <a:pPr lvl="1"/>
            <a:r>
              <a:rPr lang="en-US" sz="2200" dirty="0">
                <a:solidFill>
                  <a:srgbClr val="000000"/>
                </a:solidFill>
              </a:rPr>
              <a:t>In Java, predefined function are the method that is already defined in the Java class libraries is known as predefined function. It is also known as the standard library function or built-in function. We can directly use these functions just by calling them in the program at any point.</a:t>
            </a:r>
          </a:p>
          <a:p>
            <a:r>
              <a:rPr lang="en-US" dirty="0">
                <a:solidFill>
                  <a:srgbClr val="C00000"/>
                </a:solidFill>
              </a:rPr>
              <a:t>User Defined Function:</a:t>
            </a:r>
          </a:p>
          <a:p>
            <a:pPr lvl="1"/>
            <a:r>
              <a:rPr lang="en-US" sz="2200" dirty="0">
                <a:solidFill>
                  <a:srgbClr val="000000"/>
                </a:solidFill>
              </a:rPr>
              <a:t>The function written by the user or programmer is known as a user-defined function. These functions are modified according to the requirement.</a:t>
            </a:r>
          </a:p>
          <a:p>
            <a:endParaRPr lang="en-US" dirty="0"/>
          </a:p>
          <a:p>
            <a:endParaRPr lang="en-US" dirty="0"/>
          </a:p>
          <a:p>
            <a:endParaRPr lang="en-US" dirty="0"/>
          </a:p>
          <a:p>
            <a:endParaRPr lang="en-US" dirty="0"/>
          </a:p>
          <a:p>
            <a:endParaRPr lang="en-US" dirty="0"/>
          </a:p>
          <a:p>
            <a:pPr marL="0" indent="0">
              <a:buNone/>
            </a:pPr>
            <a:endParaRPr lang="en-US" sz="2000" dirty="0"/>
          </a:p>
        </p:txBody>
      </p:sp>
    </p:spTree>
    <p:extLst>
      <p:ext uri="{BB962C8B-B14F-4D97-AF65-F5344CB8AC3E}">
        <p14:creationId xmlns:p14="http://schemas.microsoft.com/office/powerpoint/2010/main" val="40357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063A8-633F-BD81-F7C1-BAE11900D4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FA7DE-4000-9085-2316-FDCAA4EDE60A}"/>
              </a:ext>
            </a:extLst>
          </p:cNvPr>
          <p:cNvSpPr>
            <a:spLocks noGrp="1"/>
          </p:cNvSpPr>
          <p:nvPr>
            <p:ph type="title"/>
          </p:nvPr>
        </p:nvSpPr>
        <p:spPr>
          <a:xfrm>
            <a:off x="0" y="1"/>
            <a:ext cx="12192000" cy="711200"/>
          </a:xfrm>
        </p:spPr>
        <p:txBody>
          <a:bodyPr/>
          <a:lstStyle/>
          <a:p>
            <a:r>
              <a:rPr lang="en-US" dirty="0"/>
              <a:t>Function</a:t>
            </a:r>
          </a:p>
        </p:txBody>
      </p:sp>
      <p:sp>
        <p:nvSpPr>
          <p:cNvPr id="3" name="Content Placeholder 2">
            <a:extLst>
              <a:ext uri="{FF2B5EF4-FFF2-40B4-BE49-F238E27FC236}">
                <a16:creationId xmlns:a16="http://schemas.microsoft.com/office/drawing/2014/main" id="{7232497E-09A5-09DE-CB98-8953E23BC0D5}"/>
              </a:ext>
            </a:extLst>
          </p:cNvPr>
          <p:cNvSpPr>
            <a:spLocks noGrp="1"/>
          </p:cNvSpPr>
          <p:nvPr>
            <p:ph idx="1"/>
          </p:nvPr>
        </p:nvSpPr>
        <p:spPr>
          <a:xfrm>
            <a:off x="131180" y="863444"/>
            <a:ext cx="12060820" cy="5590565"/>
          </a:xfrm>
        </p:spPr>
        <p:txBody>
          <a:bodyPr/>
          <a:lstStyle/>
          <a:p>
            <a:r>
              <a:rPr lang="en-US" dirty="0">
                <a:solidFill>
                  <a:srgbClr val="000000"/>
                </a:solidFill>
              </a:rPr>
              <a:t>There are two ways to define user define functions in java:</a:t>
            </a:r>
          </a:p>
          <a:p>
            <a:pPr lvl="1"/>
            <a:r>
              <a:rPr lang="en-US" sz="2200" dirty="0">
                <a:solidFill>
                  <a:srgbClr val="B71B1C"/>
                </a:solidFill>
              </a:rPr>
              <a:t>Instance Method: </a:t>
            </a:r>
            <a:r>
              <a:rPr lang="en-US" sz="2200" dirty="0"/>
              <a:t>Access the instance data using the object name. Declared inside a class.</a:t>
            </a:r>
          </a:p>
          <a:p>
            <a:pPr lvl="1"/>
            <a:r>
              <a:rPr lang="en-US" sz="2200" dirty="0">
                <a:solidFill>
                  <a:srgbClr val="B71B1C"/>
                </a:solidFill>
              </a:rPr>
              <a:t>Static Method:</a:t>
            </a:r>
            <a:r>
              <a:rPr lang="en-US" sz="2200" dirty="0"/>
              <a:t> Access the static data using class name. Declared inside class with static keyword.</a:t>
            </a:r>
          </a:p>
          <a:p>
            <a:pPr marL="457200" lvl="1" indent="0">
              <a:buNone/>
            </a:pPr>
            <a:endParaRPr lang="en-US" sz="2200" dirty="0">
              <a:solidFill>
                <a:srgbClr val="C00000"/>
              </a:solidFill>
            </a:endParaRPr>
          </a:p>
          <a:p>
            <a:endParaRPr lang="en-US" dirty="0">
              <a:solidFill>
                <a:srgbClr val="C00000"/>
              </a:solidFill>
            </a:endParaRPr>
          </a:p>
          <a:p>
            <a:endParaRPr lang="en-US" dirty="0"/>
          </a:p>
          <a:p>
            <a:endParaRPr lang="en-US" dirty="0"/>
          </a:p>
          <a:p>
            <a:endParaRPr lang="en-US" dirty="0"/>
          </a:p>
          <a:p>
            <a:endParaRPr lang="en-US" dirty="0"/>
          </a:p>
          <a:p>
            <a:endParaRPr lang="en-US" dirty="0"/>
          </a:p>
          <a:p>
            <a:pPr marL="0" indent="0">
              <a:buNone/>
            </a:pPr>
            <a:endParaRPr lang="en-US" sz="2000" dirty="0"/>
          </a:p>
        </p:txBody>
      </p:sp>
      <p:sp>
        <p:nvSpPr>
          <p:cNvPr id="4" name="TextBox 3">
            <a:extLst>
              <a:ext uri="{FF2B5EF4-FFF2-40B4-BE49-F238E27FC236}">
                <a16:creationId xmlns:a16="http://schemas.microsoft.com/office/drawing/2014/main" id="{343DEC62-E981-26E1-FC71-2AF10E6FC066}"/>
              </a:ext>
            </a:extLst>
          </p:cNvPr>
          <p:cNvSpPr txBox="1"/>
          <p:nvPr/>
        </p:nvSpPr>
        <p:spPr>
          <a:xfrm>
            <a:off x="541729" y="2749495"/>
            <a:ext cx="5726695" cy="3693319"/>
          </a:xfrm>
          <a:prstGeom prst="rect">
            <a:avLst/>
          </a:prstGeom>
          <a:noFill/>
          <a:ln w="19050">
            <a:solidFill>
              <a:schemeClr val="accent1"/>
            </a:solidFill>
            <a:prstDash val="dash"/>
          </a:ln>
        </p:spPr>
        <p:txBody>
          <a:bodyPr wrap="square" rtlCol="0">
            <a:spAutoFit/>
          </a:bodyPr>
          <a:lstStyle/>
          <a:p>
            <a:r>
              <a:rPr lang="en-US" dirty="0">
                <a:solidFill>
                  <a:srgbClr val="301B92"/>
                </a:solidFill>
                <a:latin typeface="Consolas"/>
              </a:rPr>
              <a:t>//Syntax of Instance Method:</a:t>
            </a:r>
          </a:p>
          <a:p>
            <a:pPr lvl="1"/>
            <a:r>
              <a:rPr lang="en-US" dirty="0">
                <a:solidFill>
                  <a:srgbClr val="000000"/>
                </a:solidFill>
                <a:latin typeface="Consolas"/>
              </a:rPr>
              <a:t>&lt;</a:t>
            </a:r>
            <a:r>
              <a:rPr lang="en-US" dirty="0" err="1">
                <a:solidFill>
                  <a:srgbClr val="000000"/>
                </a:solidFill>
                <a:latin typeface="Consolas"/>
              </a:rPr>
              <a:t>access_modifier</a:t>
            </a:r>
            <a:r>
              <a:rPr lang="en-US" dirty="0">
                <a:solidFill>
                  <a:srgbClr val="000000"/>
                </a:solidFill>
                <a:latin typeface="Consolas"/>
              </a:rPr>
              <a:t>&gt; &lt;</a:t>
            </a:r>
            <a:r>
              <a:rPr lang="en-US" dirty="0" err="1">
                <a:solidFill>
                  <a:srgbClr val="000000"/>
                </a:solidFill>
                <a:latin typeface="Consolas"/>
              </a:rPr>
              <a:t>return_type</a:t>
            </a:r>
            <a:r>
              <a:rPr lang="en-US" dirty="0">
                <a:solidFill>
                  <a:srgbClr val="000000"/>
                </a:solidFill>
                <a:latin typeface="Consolas"/>
              </a:rPr>
              <a:t>&gt; &lt;</a:t>
            </a:r>
            <a:r>
              <a:rPr lang="en-US" dirty="0" err="1">
                <a:solidFill>
                  <a:srgbClr val="000000"/>
                </a:solidFill>
                <a:latin typeface="Consolas"/>
              </a:rPr>
              <a:t>method_name</a:t>
            </a:r>
            <a:r>
              <a:rPr lang="en-US" dirty="0">
                <a:solidFill>
                  <a:srgbClr val="000000"/>
                </a:solidFill>
                <a:latin typeface="Consolas"/>
              </a:rPr>
              <a:t>&gt;( </a:t>
            </a:r>
            <a:r>
              <a:rPr lang="en-US" dirty="0" err="1">
                <a:solidFill>
                  <a:srgbClr val="000000"/>
                </a:solidFill>
                <a:latin typeface="Consolas"/>
              </a:rPr>
              <a:t>list_of_parameters</a:t>
            </a:r>
            <a:r>
              <a:rPr lang="en-US" dirty="0">
                <a:solidFill>
                  <a:srgbClr val="000000"/>
                </a:solidFill>
                <a:latin typeface="Consolas"/>
              </a:rPr>
              <a:t>)</a:t>
            </a:r>
          </a:p>
          <a:p>
            <a:pPr lvl="1"/>
            <a:r>
              <a:rPr lang="en-US" dirty="0">
                <a:solidFill>
                  <a:srgbClr val="000000"/>
                </a:solidFill>
                <a:latin typeface="Consolas"/>
              </a:rPr>
              <a:t>{</a:t>
            </a:r>
          </a:p>
          <a:p>
            <a:pPr lvl="1"/>
            <a:r>
              <a:rPr lang="en-US" dirty="0">
                <a:solidFill>
                  <a:srgbClr val="000000"/>
                </a:solidFill>
                <a:latin typeface="Consolas"/>
              </a:rPr>
              <a:t>    //body</a:t>
            </a:r>
          </a:p>
          <a:p>
            <a:pPr lvl="1"/>
            <a:r>
              <a:rPr lang="en-US" dirty="0">
                <a:solidFill>
                  <a:srgbClr val="000000"/>
                </a:solidFill>
                <a:latin typeface="Consolas"/>
              </a:rPr>
              <a:t>}</a:t>
            </a:r>
            <a:endParaRPr lang="en-US" dirty="0">
              <a:solidFill>
                <a:srgbClr val="B71B1C"/>
              </a:solidFill>
              <a:latin typeface="Consolas"/>
            </a:endParaRPr>
          </a:p>
          <a:p>
            <a:r>
              <a:rPr lang="en-US" dirty="0">
                <a:solidFill>
                  <a:srgbClr val="301B92"/>
                </a:solidFill>
                <a:latin typeface="Consolas"/>
              </a:rPr>
              <a:t>//Example:</a:t>
            </a:r>
            <a:endParaRPr lang="en-US" dirty="0">
              <a:solidFill>
                <a:srgbClr val="B71B1C"/>
              </a:solidFill>
              <a:latin typeface="Consolas"/>
            </a:endParaRPr>
          </a:p>
          <a:p>
            <a:pPr lvl="1"/>
            <a:r>
              <a:rPr lang="en-US" dirty="0">
                <a:solidFill>
                  <a:srgbClr val="000000"/>
                </a:solidFill>
                <a:latin typeface="Consolas"/>
              </a:rPr>
              <a:t>public void </a:t>
            </a:r>
            <a:r>
              <a:rPr lang="en-US" dirty="0" err="1">
                <a:solidFill>
                  <a:srgbClr val="000000"/>
                </a:solidFill>
                <a:latin typeface="Consolas"/>
              </a:rPr>
              <a:t>sayHello</a:t>
            </a:r>
            <a:r>
              <a:rPr lang="en-US" dirty="0">
                <a:solidFill>
                  <a:srgbClr val="000000"/>
                </a:solidFill>
                <a:latin typeface="Consolas"/>
              </a:rPr>
              <a:t>() {  </a:t>
            </a:r>
          </a:p>
          <a:p>
            <a:pPr lvl="1"/>
            <a:r>
              <a:rPr lang="en-US" dirty="0">
                <a:solidFill>
                  <a:srgbClr val="000000"/>
                </a:solidFill>
                <a:latin typeface="Consolas"/>
              </a:rPr>
              <a:t>  </a:t>
            </a:r>
            <a:r>
              <a:rPr lang="en-US" dirty="0" err="1">
                <a:solidFill>
                  <a:srgbClr val="000000"/>
                </a:solidFill>
                <a:latin typeface="Consolas"/>
              </a:rPr>
              <a:t>System.out.println</a:t>
            </a:r>
            <a:r>
              <a:rPr lang="en-US" dirty="0">
                <a:solidFill>
                  <a:srgbClr val="000000"/>
                </a:solidFill>
                <a:latin typeface="Consolas"/>
              </a:rPr>
              <a:t>("Hello, world!");  </a:t>
            </a:r>
          </a:p>
          <a:p>
            <a:pPr lvl="1"/>
            <a:r>
              <a:rPr lang="en-US" dirty="0">
                <a:solidFill>
                  <a:srgbClr val="000000"/>
                </a:solidFill>
                <a:latin typeface="Consolas"/>
              </a:rPr>
              <a:t>} }</a:t>
            </a:r>
          </a:p>
          <a:p>
            <a:r>
              <a:rPr lang="en-US" dirty="0">
                <a:solidFill>
                  <a:srgbClr val="301B92"/>
                </a:solidFill>
                <a:latin typeface="Consolas"/>
              </a:rPr>
              <a:t>//Function calling statement</a:t>
            </a:r>
          </a:p>
          <a:p>
            <a:pPr lvl="1"/>
            <a:r>
              <a:rPr lang="en-US" dirty="0">
                <a:solidFill>
                  <a:srgbClr val="000000"/>
                </a:solidFill>
                <a:latin typeface="Consolas"/>
              </a:rPr>
              <a:t>A obj = new A();</a:t>
            </a:r>
          </a:p>
          <a:p>
            <a:pPr lvl="1"/>
            <a:r>
              <a:rPr lang="en-US" dirty="0" err="1">
                <a:solidFill>
                  <a:srgbClr val="000000"/>
                </a:solidFill>
                <a:latin typeface="Consolas"/>
              </a:rPr>
              <a:t>Obj.sayHello</a:t>
            </a:r>
            <a:r>
              <a:rPr lang="en-US" dirty="0">
                <a:solidFill>
                  <a:srgbClr val="000000"/>
                </a:solidFill>
                <a:latin typeface="Consolas"/>
              </a:rPr>
              <a:t>();</a:t>
            </a:r>
          </a:p>
        </p:txBody>
      </p:sp>
      <p:sp>
        <p:nvSpPr>
          <p:cNvPr id="5" name="TextBox 4">
            <a:extLst>
              <a:ext uri="{FF2B5EF4-FFF2-40B4-BE49-F238E27FC236}">
                <a16:creationId xmlns:a16="http://schemas.microsoft.com/office/drawing/2014/main" id="{ACE21D1E-9E79-15E6-2900-8030E597A2E2}"/>
              </a:ext>
            </a:extLst>
          </p:cNvPr>
          <p:cNvSpPr txBox="1"/>
          <p:nvPr/>
        </p:nvSpPr>
        <p:spPr>
          <a:xfrm>
            <a:off x="6277755" y="2758825"/>
            <a:ext cx="5842711" cy="3693319"/>
          </a:xfrm>
          <a:prstGeom prst="rect">
            <a:avLst/>
          </a:prstGeom>
          <a:noFill/>
          <a:ln w="19050">
            <a:solidFill>
              <a:schemeClr val="accent1"/>
            </a:solidFill>
            <a:prstDash val="dash"/>
          </a:ln>
        </p:spPr>
        <p:txBody>
          <a:bodyPr wrap="square" rtlCol="0">
            <a:spAutoFit/>
          </a:bodyPr>
          <a:lstStyle/>
          <a:p>
            <a:r>
              <a:rPr lang="en-US" dirty="0">
                <a:solidFill>
                  <a:srgbClr val="301B92"/>
                </a:solidFill>
                <a:latin typeface="Consolas"/>
              </a:rPr>
              <a:t>//Syntax of Static Method:</a:t>
            </a:r>
          </a:p>
          <a:p>
            <a:pPr lvl="1"/>
            <a:r>
              <a:rPr lang="en-US" dirty="0">
                <a:solidFill>
                  <a:srgbClr val="000000"/>
                </a:solidFill>
                <a:latin typeface="Consolas"/>
              </a:rPr>
              <a:t>&lt;</a:t>
            </a:r>
            <a:r>
              <a:rPr lang="en-US" dirty="0" err="1">
                <a:solidFill>
                  <a:srgbClr val="000000"/>
                </a:solidFill>
                <a:latin typeface="Consolas"/>
              </a:rPr>
              <a:t>access_modifier</a:t>
            </a:r>
            <a:r>
              <a:rPr lang="en-US" dirty="0">
                <a:solidFill>
                  <a:srgbClr val="000000"/>
                </a:solidFill>
                <a:latin typeface="Consolas"/>
              </a:rPr>
              <a:t>&gt; &lt;static keyword&gt; &lt;</a:t>
            </a:r>
            <a:r>
              <a:rPr lang="en-US" dirty="0" err="1">
                <a:solidFill>
                  <a:srgbClr val="000000"/>
                </a:solidFill>
                <a:latin typeface="Consolas"/>
              </a:rPr>
              <a:t>return_type</a:t>
            </a:r>
            <a:r>
              <a:rPr lang="en-US" dirty="0">
                <a:solidFill>
                  <a:srgbClr val="000000"/>
                </a:solidFill>
                <a:latin typeface="Consolas"/>
              </a:rPr>
              <a:t>&gt; &lt;</a:t>
            </a:r>
            <a:r>
              <a:rPr lang="en-US" dirty="0" err="1">
                <a:solidFill>
                  <a:srgbClr val="000000"/>
                </a:solidFill>
                <a:latin typeface="Consolas"/>
              </a:rPr>
              <a:t>method_name</a:t>
            </a:r>
            <a:r>
              <a:rPr lang="en-US" dirty="0">
                <a:solidFill>
                  <a:srgbClr val="000000"/>
                </a:solidFill>
                <a:latin typeface="Consolas"/>
              </a:rPr>
              <a:t>&gt;( </a:t>
            </a:r>
            <a:r>
              <a:rPr lang="en-US" dirty="0" err="1">
                <a:solidFill>
                  <a:srgbClr val="000000"/>
                </a:solidFill>
                <a:latin typeface="Consolas"/>
              </a:rPr>
              <a:t>list_of_parameters</a:t>
            </a:r>
            <a:r>
              <a:rPr lang="en-US" dirty="0">
                <a:solidFill>
                  <a:srgbClr val="000000"/>
                </a:solidFill>
                <a:latin typeface="Consolas"/>
              </a:rPr>
              <a:t>)</a:t>
            </a:r>
          </a:p>
          <a:p>
            <a:pPr lvl="1"/>
            <a:r>
              <a:rPr lang="en-US" dirty="0">
                <a:solidFill>
                  <a:srgbClr val="000000"/>
                </a:solidFill>
                <a:latin typeface="Consolas"/>
              </a:rPr>
              <a:t>{</a:t>
            </a:r>
          </a:p>
          <a:p>
            <a:pPr lvl="1"/>
            <a:r>
              <a:rPr lang="en-US" dirty="0">
                <a:solidFill>
                  <a:srgbClr val="000000"/>
                </a:solidFill>
                <a:latin typeface="Consolas"/>
              </a:rPr>
              <a:t>    //body</a:t>
            </a:r>
          </a:p>
          <a:p>
            <a:pPr lvl="1"/>
            <a:r>
              <a:rPr lang="en-US" dirty="0">
                <a:solidFill>
                  <a:srgbClr val="000000"/>
                </a:solidFill>
                <a:latin typeface="Consolas"/>
              </a:rPr>
              <a:t>}</a:t>
            </a:r>
            <a:endParaRPr lang="en-US" dirty="0">
              <a:solidFill>
                <a:srgbClr val="B71B1C"/>
              </a:solidFill>
              <a:latin typeface="Consolas"/>
            </a:endParaRPr>
          </a:p>
          <a:p>
            <a:r>
              <a:rPr lang="en-US" dirty="0">
                <a:solidFill>
                  <a:srgbClr val="301B92"/>
                </a:solidFill>
                <a:latin typeface="Consolas"/>
              </a:rPr>
              <a:t>//Example:</a:t>
            </a:r>
            <a:endParaRPr lang="en-US" dirty="0">
              <a:solidFill>
                <a:srgbClr val="B71B1C"/>
              </a:solidFill>
              <a:latin typeface="Consolas"/>
            </a:endParaRPr>
          </a:p>
          <a:p>
            <a:pPr lvl="1"/>
            <a:r>
              <a:rPr lang="en-US" dirty="0">
                <a:solidFill>
                  <a:srgbClr val="000000"/>
                </a:solidFill>
                <a:latin typeface="Consolas"/>
              </a:rPr>
              <a:t>public static void </a:t>
            </a:r>
            <a:r>
              <a:rPr lang="en-US" dirty="0" err="1">
                <a:solidFill>
                  <a:srgbClr val="000000"/>
                </a:solidFill>
                <a:latin typeface="Consolas"/>
              </a:rPr>
              <a:t>sayHello</a:t>
            </a:r>
            <a:r>
              <a:rPr lang="en-US" dirty="0">
                <a:solidFill>
                  <a:srgbClr val="000000"/>
                </a:solidFill>
                <a:latin typeface="Consolas"/>
              </a:rPr>
              <a:t>() {  </a:t>
            </a:r>
          </a:p>
          <a:p>
            <a:pPr lvl="1"/>
            <a:r>
              <a:rPr lang="en-US" dirty="0">
                <a:solidFill>
                  <a:srgbClr val="000000"/>
                </a:solidFill>
                <a:latin typeface="Consolas"/>
              </a:rPr>
              <a:t>  </a:t>
            </a:r>
            <a:r>
              <a:rPr lang="en-US" dirty="0" err="1">
                <a:solidFill>
                  <a:srgbClr val="000000"/>
                </a:solidFill>
                <a:latin typeface="Consolas"/>
              </a:rPr>
              <a:t>System.out.println</a:t>
            </a:r>
            <a:r>
              <a:rPr lang="en-US" dirty="0">
                <a:solidFill>
                  <a:srgbClr val="000000"/>
                </a:solidFill>
                <a:latin typeface="Consolas"/>
              </a:rPr>
              <a:t>("Hello, world!");  </a:t>
            </a:r>
          </a:p>
          <a:p>
            <a:pPr lvl="1"/>
            <a:r>
              <a:rPr lang="en-US" dirty="0">
                <a:solidFill>
                  <a:srgbClr val="000000"/>
                </a:solidFill>
                <a:latin typeface="Consolas"/>
              </a:rPr>
              <a:t>} }</a:t>
            </a:r>
          </a:p>
          <a:p>
            <a:r>
              <a:rPr lang="en-US" dirty="0">
                <a:solidFill>
                  <a:srgbClr val="301B92"/>
                </a:solidFill>
                <a:latin typeface="Consolas"/>
              </a:rPr>
              <a:t>//Function calling statement</a:t>
            </a:r>
          </a:p>
          <a:p>
            <a:pPr lvl="1"/>
            <a:r>
              <a:rPr lang="en-US" dirty="0" err="1">
                <a:solidFill>
                  <a:srgbClr val="000000"/>
                </a:solidFill>
                <a:latin typeface="Consolas"/>
              </a:rPr>
              <a:t>sayHello</a:t>
            </a:r>
            <a:r>
              <a:rPr lang="en-US" dirty="0">
                <a:solidFill>
                  <a:srgbClr val="000000"/>
                </a:solidFill>
                <a:latin typeface="Consolas"/>
              </a:rPr>
              <a:t>();</a:t>
            </a:r>
          </a:p>
        </p:txBody>
      </p:sp>
    </p:spTree>
    <p:extLst>
      <p:ext uri="{BB962C8B-B14F-4D97-AF65-F5344CB8AC3E}">
        <p14:creationId xmlns:p14="http://schemas.microsoft.com/office/powerpoint/2010/main" val="1071219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bg/>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
                                            <p:bg/>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bldLvl="5" animBg="1"/>
      <p:bldP spid="5" grpId="0" build="p" bldLvl="5"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0379E-9978-3FDB-CDFD-5645AFECF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6149A6-389F-02F2-FC69-92220F0A5FCA}"/>
              </a:ext>
            </a:extLst>
          </p:cNvPr>
          <p:cNvSpPr>
            <a:spLocks noGrp="1"/>
          </p:cNvSpPr>
          <p:nvPr>
            <p:ph type="title"/>
          </p:nvPr>
        </p:nvSpPr>
        <p:spPr>
          <a:xfrm>
            <a:off x="0" y="1"/>
            <a:ext cx="12192000" cy="711200"/>
          </a:xfrm>
        </p:spPr>
        <p:txBody>
          <a:bodyPr/>
          <a:lstStyle/>
          <a:p>
            <a:r>
              <a:rPr lang="en-US" dirty="0"/>
              <a:t>Function</a:t>
            </a:r>
          </a:p>
        </p:txBody>
      </p:sp>
      <p:sp>
        <p:nvSpPr>
          <p:cNvPr id="3" name="Content Placeholder 2">
            <a:extLst>
              <a:ext uri="{FF2B5EF4-FFF2-40B4-BE49-F238E27FC236}">
                <a16:creationId xmlns:a16="http://schemas.microsoft.com/office/drawing/2014/main" id="{C7ABE71B-44A0-3991-421D-15DF1CB7ACAD}"/>
              </a:ext>
            </a:extLst>
          </p:cNvPr>
          <p:cNvSpPr>
            <a:spLocks noGrp="1"/>
          </p:cNvSpPr>
          <p:nvPr>
            <p:ph idx="1"/>
          </p:nvPr>
        </p:nvSpPr>
        <p:spPr>
          <a:xfrm>
            <a:off x="131180" y="863444"/>
            <a:ext cx="12060820" cy="5590565"/>
          </a:xfrm>
        </p:spPr>
        <p:txBody>
          <a:bodyPr/>
          <a:lstStyle/>
          <a:p>
            <a:r>
              <a:rPr lang="en-US" dirty="0">
                <a:solidFill>
                  <a:srgbClr val="C00000"/>
                </a:solidFill>
              </a:rPr>
              <a:t>Returning Values from a Java Function</a:t>
            </a:r>
          </a:p>
          <a:p>
            <a:pPr lvl="1"/>
            <a:r>
              <a:rPr lang="en-US" sz="2200" dirty="0">
                <a:solidFill>
                  <a:srgbClr val="000000"/>
                </a:solidFill>
              </a:rPr>
              <a:t>Functions in Java can also return a value, which is specified by the return type of the function. To define a function that returns a value, you simply specify the return type (which can be any data type, including objects) before the function name, like this</a:t>
            </a:r>
            <a:endParaRPr lang="en-US" sz="2200" dirty="0">
              <a:solidFill>
                <a:srgbClr val="C00000"/>
              </a:solidFill>
            </a:endParaRPr>
          </a:p>
          <a:p>
            <a:endParaRPr lang="en-US" dirty="0"/>
          </a:p>
          <a:p>
            <a:endParaRPr lang="en-US" dirty="0"/>
          </a:p>
          <a:p>
            <a:endParaRPr lang="en-US" dirty="0"/>
          </a:p>
          <a:p>
            <a:endParaRPr lang="en-US" dirty="0"/>
          </a:p>
          <a:p>
            <a:endParaRPr lang="en-US" dirty="0"/>
          </a:p>
          <a:p>
            <a:pPr marL="0" indent="0">
              <a:buNone/>
            </a:pPr>
            <a:endParaRPr lang="en-US" sz="2000" dirty="0"/>
          </a:p>
        </p:txBody>
      </p:sp>
      <p:sp>
        <p:nvSpPr>
          <p:cNvPr id="4" name="TextBox 3">
            <a:extLst>
              <a:ext uri="{FF2B5EF4-FFF2-40B4-BE49-F238E27FC236}">
                <a16:creationId xmlns:a16="http://schemas.microsoft.com/office/drawing/2014/main" id="{40B0D6D4-998A-A999-A582-D0B3013AE9E7}"/>
              </a:ext>
            </a:extLst>
          </p:cNvPr>
          <p:cNvSpPr txBox="1"/>
          <p:nvPr/>
        </p:nvSpPr>
        <p:spPr>
          <a:xfrm>
            <a:off x="1026530" y="2700318"/>
            <a:ext cx="5726695" cy="1754326"/>
          </a:xfrm>
          <a:prstGeom prst="rect">
            <a:avLst/>
          </a:prstGeom>
          <a:noFill/>
          <a:ln w="19050">
            <a:solidFill>
              <a:schemeClr val="accent1"/>
            </a:solidFill>
            <a:prstDash val="dash"/>
          </a:ln>
        </p:spPr>
        <p:txBody>
          <a:bodyPr wrap="square" rtlCol="0">
            <a:spAutoFit/>
          </a:bodyPr>
          <a:lstStyle/>
          <a:p>
            <a:r>
              <a:rPr lang="en-US" dirty="0">
                <a:solidFill>
                  <a:srgbClr val="301B92"/>
                </a:solidFill>
                <a:latin typeface="Consolas"/>
              </a:rPr>
              <a:t>//Example:</a:t>
            </a:r>
          </a:p>
          <a:p>
            <a:pPr lvl="1"/>
            <a:r>
              <a:rPr lang="en-US" dirty="0">
                <a:solidFill>
                  <a:srgbClr val="000000"/>
                </a:solidFill>
                <a:latin typeface="Consolas"/>
              </a:rPr>
              <a:t>public int </a:t>
            </a:r>
            <a:r>
              <a:rPr lang="en-US" dirty="0" err="1">
                <a:solidFill>
                  <a:srgbClr val="000000"/>
                </a:solidFill>
                <a:latin typeface="Consolas"/>
              </a:rPr>
              <a:t>doubleValue</a:t>
            </a:r>
            <a:r>
              <a:rPr lang="en-US" dirty="0">
                <a:solidFill>
                  <a:srgbClr val="000000"/>
                </a:solidFill>
                <a:latin typeface="Consolas"/>
              </a:rPr>
              <a:t>(int a) {  </a:t>
            </a:r>
          </a:p>
          <a:p>
            <a:pPr lvl="1"/>
            <a:r>
              <a:rPr lang="en-US" dirty="0">
                <a:solidFill>
                  <a:srgbClr val="000000"/>
                </a:solidFill>
                <a:latin typeface="Consolas"/>
              </a:rPr>
              <a:t>  return a * 2;  </a:t>
            </a:r>
          </a:p>
          <a:p>
            <a:pPr lvl="1"/>
            <a:r>
              <a:rPr lang="en-US" dirty="0">
                <a:solidFill>
                  <a:srgbClr val="000000"/>
                </a:solidFill>
                <a:latin typeface="Consolas"/>
              </a:rPr>
              <a:t>}</a:t>
            </a:r>
          </a:p>
          <a:p>
            <a:r>
              <a:rPr lang="en-US" dirty="0">
                <a:solidFill>
                  <a:srgbClr val="301B92"/>
                </a:solidFill>
                <a:latin typeface="Consolas"/>
              </a:rPr>
              <a:t>//Function calling statement</a:t>
            </a:r>
          </a:p>
          <a:p>
            <a:pPr lvl="1"/>
            <a:r>
              <a:rPr lang="en-US" dirty="0"/>
              <a:t>int result = </a:t>
            </a:r>
            <a:r>
              <a:rPr lang="en-US" dirty="0" err="1"/>
              <a:t>doubleValue</a:t>
            </a:r>
            <a:r>
              <a:rPr lang="en-US" dirty="0"/>
              <a:t>(5);  </a:t>
            </a:r>
          </a:p>
        </p:txBody>
      </p:sp>
    </p:spTree>
    <p:extLst>
      <p:ext uri="{BB962C8B-B14F-4D97-AF65-F5344CB8AC3E}">
        <p14:creationId xmlns:p14="http://schemas.microsoft.com/office/powerpoint/2010/main" val="1365651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5"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E2655-667A-FCB9-8BC0-994C64077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4556D6-B282-99EF-AFB3-E5A82E47699C}"/>
              </a:ext>
            </a:extLst>
          </p:cNvPr>
          <p:cNvSpPr>
            <a:spLocks noGrp="1"/>
          </p:cNvSpPr>
          <p:nvPr>
            <p:ph type="title"/>
          </p:nvPr>
        </p:nvSpPr>
        <p:spPr>
          <a:xfrm>
            <a:off x="0" y="1"/>
            <a:ext cx="12192000" cy="711200"/>
          </a:xfrm>
        </p:spPr>
        <p:txBody>
          <a:bodyPr/>
          <a:lstStyle/>
          <a:p>
            <a:r>
              <a:rPr lang="en-US" dirty="0"/>
              <a:t>Function</a:t>
            </a:r>
          </a:p>
        </p:txBody>
      </p:sp>
      <p:sp>
        <p:nvSpPr>
          <p:cNvPr id="3" name="Content Placeholder 2">
            <a:extLst>
              <a:ext uri="{FF2B5EF4-FFF2-40B4-BE49-F238E27FC236}">
                <a16:creationId xmlns:a16="http://schemas.microsoft.com/office/drawing/2014/main" id="{2DBC12D5-C2CB-8CDD-6E2D-AFFC2F36D35B}"/>
              </a:ext>
            </a:extLst>
          </p:cNvPr>
          <p:cNvSpPr>
            <a:spLocks noGrp="1"/>
          </p:cNvSpPr>
          <p:nvPr>
            <p:ph idx="1"/>
          </p:nvPr>
        </p:nvSpPr>
        <p:spPr>
          <a:xfrm>
            <a:off x="131180" y="863444"/>
            <a:ext cx="12060820" cy="5590565"/>
          </a:xfrm>
        </p:spPr>
        <p:txBody>
          <a:bodyPr/>
          <a:lstStyle/>
          <a:p>
            <a:r>
              <a:rPr lang="en-US" dirty="0">
                <a:solidFill>
                  <a:srgbClr val="C00000"/>
                </a:solidFill>
              </a:rPr>
              <a:t>Passing Parameters to a Java Function</a:t>
            </a:r>
          </a:p>
          <a:p>
            <a:pPr lvl="1"/>
            <a:r>
              <a:rPr lang="en-US" sz="2200" dirty="0">
                <a:solidFill>
                  <a:srgbClr val="000000"/>
                </a:solidFill>
              </a:rPr>
              <a:t>Functions can also take one or more parameters, which are passed in as values when the function is called. To define a function that takes one or more parameters, you simply list them inside the parentheses when you define the function. Here's an example of a function that takes two parameters (both of type "int") and returns their sum.</a:t>
            </a:r>
          </a:p>
          <a:p>
            <a:endParaRPr lang="en-US" dirty="0">
              <a:solidFill>
                <a:srgbClr val="C00000"/>
              </a:solidFill>
            </a:endParaRPr>
          </a:p>
          <a:p>
            <a:endParaRPr lang="en-US" dirty="0"/>
          </a:p>
          <a:p>
            <a:endParaRPr lang="en-US" dirty="0"/>
          </a:p>
          <a:p>
            <a:endParaRPr lang="en-US" dirty="0"/>
          </a:p>
          <a:p>
            <a:endParaRPr lang="en-US" dirty="0"/>
          </a:p>
          <a:p>
            <a:endParaRPr lang="en-US" dirty="0"/>
          </a:p>
          <a:p>
            <a:pPr marL="0" indent="0">
              <a:buNone/>
            </a:pPr>
            <a:endParaRPr lang="en-US" sz="2000" dirty="0"/>
          </a:p>
        </p:txBody>
      </p:sp>
      <p:sp>
        <p:nvSpPr>
          <p:cNvPr id="4" name="TextBox 3">
            <a:extLst>
              <a:ext uri="{FF2B5EF4-FFF2-40B4-BE49-F238E27FC236}">
                <a16:creationId xmlns:a16="http://schemas.microsoft.com/office/drawing/2014/main" id="{1FC11489-DADA-55A0-0C9A-28DDF0D6C86F}"/>
              </a:ext>
            </a:extLst>
          </p:cNvPr>
          <p:cNvSpPr txBox="1"/>
          <p:nvPr/>
        </p:nvSpPr>
        <p:spPr>
          <a:xfrm>
            <a:off x="1016617" y="3035827"/>
            <a:ext cx="5726695" cy="1754326"/>
          </a:xfrm>
          <a:prstGeom prst="rect">
            <a:avLst/>
          </a:prstGeom>
          <a:noFill/>
          <a:ln w="19050">
            <a:solidFill>
              <a:schemeClr val="accent1"/>
            </a:solidFill>
            <a:prstDash val="dash"/>
          </a:ln>
        </p:spPr>
        <p:txBody>
          <a:bodyPr wrap="square" rtlCol="0">
            <a:spAutoFit/>
          </a:bodyPr>
          <a:lstStyle/>
          <a:p>
            <a:r>
              <a:rPr lang="en-US" dirty="0">
                <a:solidFill>
                  <a:srgbClr val="301B92"/>
                </a:solidFill>
                <a:latin typeface="Consolas"/>
              </a:rPr>
              <a:t>//Example:</a:t>
            </a:r>
          </a:p>
          <a:p>
            <a:pPr lvl="1"/>
            <a:r>
              <a:rPr lang="en-US" dirty="0">
                <a:solidFill>
                  <a:srgbClr val="000000"/>
                </a:solidFill>
                <a:latin typeface="Consolas"/>
              </a:rPr>
              <a:t>public int add(int a, int b) {  </a:t>
            </a:r>
          </a:p>
          <a:p>
            <a:pPr lvl="1"/>
            <a:r>
              <a:rPr lang="en-US" dirty="0">
                <a:solidFill>
                  <a:srgbClr val="000000"/>
                </a:solidFill>
                <a:latin typeface="Consolas"/>
              </a:rPr>
              <a:t>  return a + b;  </a:t>
            </a:r>
          </a:p>
          <a:p>
            <a:pPr lvl="1"/>
            <a:r>
              <a:rPr lang="en-US" dirty="0">
                <a:solidFill>
                  <a:srgbClr val="000000"/>
                </a:solidFill>
                <a:latin typeface="Consolas"/>
              </a:rPr>
              <a:t>} </a:t>
            </a:r>
            <a:endParaRPr lang="en-US" dirty="0">
              <a:solidFill>
                <a:srgbClr val="B71B1C"/>
              </a:solidFill>
              <a:latin typeface="Consolas"/>
            </a:endParaRPr>
          </a:p>
          <a:p>
            <a:r>
              <a:rPr lang="en-US" dirty="0">
                <a:solidFill>
                  <a:srgbClr val="301B92"/>
                </a:solidFill>
                <a:latin typeface="Consolas"/>
              </a:rPr>
              <a:t>//Function calling statement</a:t>
            </a:r>
          </a:p>
          <a:p>
            <a:pPr lvl="1"/>
            <a:r>
              <a:rPr lang="en-US" dirty="0"/>
              <a:t>int result = add(5, 7);  </a:t>
            </a:r>
          </a:p>
        </p:txBody>
      </p:sp>
    </p:spTree>
    <p:extLst>
      <p:ext uri="{BB962C8B-B14F-4D97-AF65-F5344CB8AC3E}">
        <p14:creationId xmlns:p14="http://schemas.microsoft.com/office/powerpoint/2010/main" val="425145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bg/>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bldLvl="5"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chirag.sakhrani@darshan.ac.in</a:t>
            </a:r>
            <a:endParaRPr lang="en-US" dirty="0"/>
          </a:p>
        </p:txBody>
      </p:sp>
      <p:sp>
        <p:nvSpPr>
          <p:cNvPr id="3" name="Text Placeholder 2"/>
          <p:cNvSpPr>
            <a:spLocks noGrp="1"/>
          </p:cNvSpPr>
          <p:nvPr>
            <p:ph type="body" sz="quarter" idx="12"/>
          </p:nvPr>
        </p:nvSpPr>
        <p:spPr/>
        <p:txBody>
          <a:bodyPr/>
          <a:lstStyle/>
          <a:p>
            <a:r>
              <a:rPr lang="en-IN" dirty="0"/>
              <a:t>8401191184</a:t>
            </a:r>
            <a:endParaRPr lang="en-US" dirty="0"/>
          </a:p>
        </p:txBody>
      </p:sp>
      <p:sp>
        <p:nvSpPr>
          <p:cNvPr id="4" name="Text Placeholder 3"/>
          <p:cNvSpPr>
            <a:spLocks noGrp="1"/>
          </p:cNvSpPr>
          <p:nvPr>
            <p:ph type="body" sz="quarter" idx="13"/>
          </p:nvPr>
        </p:nvSpPr>
        <p:spPr/>
        <p:txBody>
          <a:bodyPr/>
          <a:lstStyle/>
          <a:p>
            <a:r>
              <a:rPr lang="en-US" dirty="0"/>
              <a:t>Department of Computer Applications</a:t>
            </a:r>
          </a:p>
        </p:txBody>
      </p:sp>
      <p:sp>
        <p:nvSpPr>
          <p:cNvPr id="5" name="Text Placeholder 4"/>
          <p:cNvSpPr>
            <a:spLocks noGrp="1"/>
          </p:cNvSpPr>
          <p:nvPr>
            <p:ph type="body" sz="quarter" idx="14"/>
          </p:nvPr>
        </p:nvSpPr>
        <p:spPr/>
        <p:txBody>
          <a:bodyPr/>
          <a:lstStyle/>
          <a:p>
            <a:r>
              <a:rPr lang="en-IN" dirty="0"/>
              <a:t>Prof. </a:t>
            </a:r>
            <a:r>
              <a:rPr lang="en-IN" dirty="0" err="1"/>
              <a:t>Chirag</a:t>
            </a:r>
            <a:r>
              <a:rPr lang="en-IN" dirty="0"/>
              <a:t> K </a:t>
            </a:r>
            <a:r>
              <a:rPr lang="en-IN" dirty="0" err="1"/>
              <a:t>Sakhrani</a:t>
            </a:r>
            <a:endParaRPr lang="en-US" dirty="0"/>
          </a:p>
        </p:txBody>
      </p:sp>
      <p:sp>
        <p:nvSpPr>
          <p:cNvPr id="6" name="Text Placeholder 5"/>
          <p:cNvSpPr>
            <a:spLocks noGrp="1"/>
          </p:cNvSpPr>
          <p:nvPr>
            <p:ph type="body" sz="quarter" idx="16"/>
          </p:nvPr>
        </p:nvSpPr>
        <p:spPr/>
        <p:txBody>
          <a:bodyPr/>
          <a:lstStyle/>
          <a:p>
            <a:r>
              <a:rPr lang="en-US" dirty="0"/>
              <a:t>Object Oriented Programming using Java </a:t>
            </a:r>
            <a:r>
              <a:rPr lang="en-IN" dirty="0"/>
              <a:t>(</a:t>
            </a:r>
            <a:r>
              <a:rPr lang="en-US" dirty="0"/>
              <a:t>2304CS302</a:t>
            </a:r>
            <a:r>
              <a:rPr lang="en-IN" dirty="0"/>
              <a:t>)</a:t>
            </a:r>
            <a:endParaRPr lang="en-US" dirty="0"/>
          </a:p>
        </p:txBody>
      </p:sp>
      <p:pic>
        <p:nvPicPr>
          <p:cNvPr id="10" name="Picture Placeholder 9"/>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3121899175"/>
      </p:ext>
    </p:extLst>
  </p:cSld>
  <p:clrMapOvr>
    <a:masterClrMapping/>
  </p:clrMapOvr>
  <p:transition/>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6749</TotalTime>
  <Words>2725</Words>
  <Application>Microsoft Office PowerPoint</Application>
  <PresentationFormat>Widescreen</PresentationFormat>
  <Paragraphs>648</Paragraphs>
  <Slides>38</Slides>
  <Notes>0</Notes>
  <HiddenSlides>0</HiddenSlides>
  <MMClips>2</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38</vt:i4>
      </vt:variant>
    </vt:vector>
  </HeadingPairs>
  <TitlesOfParts>
    <vt:vector size="51" baseType="lpstr">
      <vt:lpstr>Wingdings 2</vt:lpstr>
      <vt:lpstr>Roboto Condensed Light</vt:lpstr>
      <vt:lpstr>Wingdings</vt:lpstr>
      <vt:lpstr>Calibri</vt:lpstr>
      <vt:lpstr>Cambria</vt:lpstr>
      <vt:lpstr>Consolas</vt:lpstr>
      <vt:lpstr>Segoe UI Black</vt:lpstr>
      <vt:lpstr>Arial</vt:lpstr>
      <vt:lpstr>Courier New</vt:lpstr>
      <vt:lpstr>Wingdings 3</vt:lpstr>
      <vt:lpstr>Roboto Condensed</vt:lpstr>
      <vt:lpstr>Office Theme</vt:lpstr>
      <vt:lpstr>1_Office Theme</vt:lpstr>
      <vt:lpstr>Unit-02  Control Structure, Function and Array </vt:lpstr>
      <vt:lpstr>PowerPoint Presentation</vt:lpstr>
      <vt:lpstr>Control Statements</vt:lpstr>
      <vt:lpstr>if statement</vt:lpstr>
      <vt:lpstr>if-else statement</vt:lpstr>
      <vt:lpstr>if-else-if ladder statement</vt:lpstr>
      <vt:lpstr>if-else-if ladder statement</vt:lpstr>
      <vt:lpstr>Nested If statement</vt:lpstr>
      <vt:lpstr>Nested If statement</vt:lpstr>
      <vt:lpstr>switch statement</vt:lpstr>
      <vt:lpstr>switch statement</vt:lpstr>
      <vt:lpstr>Programs to perform (Conditional Statements)</vt:lpstr>
      <vt:lpstr>Looping Statement</vt:lpstr>
      <vt:lpstr>Looping Statement</vt:lpstr>
      <vt:lpstr>While Loop</vt:lpstr>
      <vt:lpstr>Do-while Loop</vt:lpstr>
      <vt:lpstr>For Loop</vt:lpstr>
      <vt:lpstr>Programs to perform (Looping Statements)</vt:lpstr>
      <vt:lpstr>Break statement</vt:lpstr>
      <vt:lpstr>Continue statement</vt:lpstr>
      <vt:lpstr>Array</vt:lpstr>
      <vt:lpstr>Array</vt:lpstr>
      <vt:lpstr>One-Dimensional Array</vt:lpstr>
      <vt:lpstr>Example (Array)</vt:lpstr>
      <vt:lpstr>Multi-Dimensional Array</vt:lpstr>
      <vt:lpstr>Multi-Dimensional Array (Example)</vt:lpstr>
      <vt:lpstr>Multi-Dimensional Array </vt:lpstr>
      <vt:lpstr>Searching in Array</vt:lpstr>
      <vt:lpstr>Linear Search</vt:lpstr>
      <vt:lpstr>Binary Search (Animation)</vt:lpstr>
      <vt:lpstr>Binary Search</vt:lpstr>
      <vt:lpstr>Sorting Array</vt:lpstr>
      <vt:lpstr>Selection Sort (Example)</vt:lpstr>
      <vt:lpstr>Function</vt:lpstr>
      <vt:lpstr>Function</vt:lpstr>
      <vt:lpstr>Function</vt:lpstr>
      <vt:lpstr>Function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1096</cp:revision>
  <dcterms:created xsi:type="dcterms:W3CDTF">2020-05-01T05:09:15Z</dcterms:created>
  <dcterms:modified xsi:type="dcterms:W3CDTF">2025-06-12T15:58:19Z</dcterms:modified>
</cp:coreProperties>
</file>