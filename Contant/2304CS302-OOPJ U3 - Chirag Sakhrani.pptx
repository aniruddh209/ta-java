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wdp" ContentType="image/vnd.ms-photo"/>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92" r:id="rId2"/>
  </p:sldMasterIdLst>
  <p:notesMasterIdLst>
    <p:notesMasterId r:id="rId57"/>
  </p:notesMasterIdLst>
  <p:handoutMasterIdLst>
    <p:handoutMasterId r:id="rId58"/>
  </p:handoutMasterIdLst>
  <p:sldIdLst>
    <p:sldId id="308" r:id="rId3"/>
    <p:sldId id="257" r:id="rId4"/>
    <p:sldId id="485" r:id="rId5"/>
    <p:sldId id="353" r:id="rId6"/>
    <p:sldId id="354" r:id="rId7"/>
    <p:sldId id="355" r:id="rId8"/>
    <p:sldId id="486" r:id="rId9"/>
    <p:sldId id="480" r:id="rId10"/>
    <p:sldId id="357" r:id="rId11"/>
    <p:sldId id="488" r:id="rId12"/>
    <p:sldId id="489" r:id="rId13"/>
    <p:sldId id="387" r:id="rId14"/>
    <p:sldId id="390" r:id="rId15"/>
    <p:sldId id="391" r:id="rId16"/>
    <p:sldId id="392" r:id="rId17"/>
    <p:sldId id="487" r:id="rId18"/>
    <p:sldId id="396" r:id="rId19"/>
    <p:sldId id="498" r:id="rId20"/>
    <p:sldId id="499" r:id="rId21"/>
    <p:sldId id="492" r:id="rId22"/>
    <p:sldId id="493" r:id="rId23"/>
    <p:sldId id="494" r:id="rId24"/>
    <p:sldId id="402" r:id="rId25"/>
    <p:sldId id="403" r:id="rId26"/>
    <p:sldId id="432" r:id="rId27"/>
    <p:sldId id="495" r:id="rId28"/>
    <p:sldId id="433" r:id="rId29"/>
    <p:sldId id="434" r:id="rId30"/>
    <p:sldId id="436" r:id="rId31"/>
    <p:sldId id="437" r:id="rId32"/>
    <p:sldId id="438" r:id="rId33"/>
    <p:sldId id="439" r:id="rId34"/>
    <p:sldId id="500" r:id="rId35"/>
    <p:sldId id="441" r:id="rId36"/>
    <p:sldId id="442" r:id="rId37"/>
    <p:sldId id="443" r:id="rId38"/>
    <p:sldId id="444" r:id="rId39"/>
    <p:sldId id="445" r:id="rId40"/>
    <p:sldId id="446" r:id="rId41"/>
    <p:sldId id="447" r:id="rId42"/>
    <p:sldId id="448" r:id="rId43"/>
    <p:sldId id="449" r:id="rId44"/>
    <p:sldId id="496" r:id="rId45"/>
    <p:sldId id="450" r:id="rId46"/>
    <p:sldId id="451" r:id="rId47"/>
    <p:sldId id="501" r:id="rId48"/>
    <p:sldId id="502" r:id="rId49"/>
    <p:sldId id="456" r:id="rId50"/>
    <p:sldId id="457" r:id="rId51"/>
    <p:sldId id="458" r:id="rId52"/>
    <p:sldId id="459" r:id="rId53"/>
    <p:sldId id="460" r:id="rId54"/>
    <p:sldId id="497" r:id="rId55"/>
    <p:sldId id="358" r:id="rId56"/>
  </p:sldIdLst>
  <p:sldSz cx="12192000" cy="6858000"/>
  <p:notesSz cx="6858000" cy="9144000"/>
  <p:embeddedFontLst>
    <p:embeddedFont>
      <p:font typeface="Wingdings 2" panose="05020102010507070707" pitchFamily="18" charset="2"/>
      <p:regular r:id="rId59"/>
    </p:embeddedFont>
    <p:embeddedFont>
      <p:font typeface="Segoe UI Black" panose="020B0A02040204020203" pitchFamily="34" charset="0"/>
      <p:bold r:id="rId60"/>
      <p:boldItalic r:id="rId61"/>
    </p:embeddedFont>
    <p:embeddedFont>
      <p:font typeface="Roboto Condensed Light" panose="02000000000000000000" pitchFamily="2" charset="0"/>
      <p:regular r:id="rId62"/>
      <p:italic r:id="rId63"/>
    </p:embeddedFont>
    <p:embeddedFont>
      <p:font typeface="Calibri" panose="020F0502020204030204" pitchFamily="34" charset="0"/>
      <p:regular r:id="rId64"/>
      <p:bold r:id="rId65"/>
      <p:italic r:id="rId66"/>
      <p:boldItalic r:id="rId67"/>
    </p:embeddedFont>
    <p:embeddedFont>
      <p:font typeface="Consolas" panose="020B0609020204030204" pitchFamily="49" charset="0"/>
      <p:regular r:id="rId68"/>
      <p:bold r:id="rId69"/>
      <p:italic r:id="rId70"/>
      <p:boldItalic r:id="rId71"/>
    </p:embeddedFont>
    <p:embeddedFont>
      <p:font typeface="Roboto Condensed" panose="02000000000000000000" pitchFamily="2" charset="0"/>
      <p:regular r:id="rId72"/>
      <p:bold r:id="rId73"/>
      <p:italic r:id="rId74"/>
      <p:boldItalic r:id="rId75"/>
    </p:embeddedFont>
    <p:embeddedFont>
      <p:font typeface="Cambria" panose="02040503050406030204" pitchFamily="18" charset="0"/>
      <p:regular r:id="rId76"/>
      <p:bold r:id="rId77"/>
      <p:italic r:id="rId78"/>
      <p:boldItalic r:id="rId79"/>
    </p:embeddedFont>
    <p:embeddedFont>
      <p:font typeface="Wingdings 3" panose="05040102010807070707" pitchFamily="18" charset="2"/>
      <p:regular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T9pzQxPooIt0r0Knrd+Hnw==" hashData="zvxgic7keWNtK/ysxqihVwpKDHzpZk3mOj6Am1qEs+jab0nPxdV/u8R3YuySnuaVHrGILEiPIGa7gd29W7YjPA=="/>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ED524F"/>
    <a:srgbClr val="301B92"/>
    <a:srgbClr val="673BB7"/>
    <a:srgbClr val="607D8B"/>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72" autoAdjust="0"/>
    <p:restoredTop sz="96404" autoAdjust="0"/>
  </p:normalViewPr>
  <p:slideViewPr>
    <p:cSldViewPr snapToGrid="0">
      <p:cViewPr varScale="1">
        <p:scale>
          <a:sx n="79" d="100"/>
          <a:sy n="79" d="100"/>
        </p:scale>
        <p:origin x="960" y="6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87"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5.fntdata"/><Relationship Id="rId68" Type="http://schemas.openxmlformats.org/officeDocument/2006/relationships/font" Target="fonts/font10.fntdata"/><Relationship Id="rId84"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handoutMaster" Target="handoutMasters/handoutMaster1.xml"/><Relationship Id="rId74" Type="http://schemas.openxmlformats.org/officeDocument/2006/relationships/font" Target="fonts/font16.fntdata"/><Relationship Id="rId79" Type="http://schemas.openxmlformats.org/officeDocument/2006/relationships/font" Target="fonts/font21.fntdata"/><Relationship Id="rId5" Type="http://schemas.openxmlformats.org/officeDocument/2006/relationships/slide" Target="slides/slide3.xml"/><Relationship Id="rId61" Type="http://schemas.openxmlformats.org/officeDocument/2006/relationships/font" Target="fonts/font3.fntdata"/><Relationship Id="rId8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6.fntdata"/><Relationship Id="rId69" Type="http://schemas.openxmlformats.org/officeDocument/2006/relationships/font" Target="fonts/font11.fntdata"/><Relationship Id="rId77" Type="http://schemas.openxmlformats.org/officeDocument/2006/relationships/font" Target="fonts/font19.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4.fntdata"/><Relationship Id="rId80" Type="http://schemas.openxmlformats.org/officeDocument/2006/relationships/font" Target="fonts/font2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4.fntdata"/><Relationship Id="rId70" Type="http://schemas.openxmlformats.org/officeDocument/2006/relationships/font" Target="fonts/font12.fntdata"/><Relationship Id="rId75" Type="http://schemas.openxmlformats.org/officeDocument/2006/relationships/font" Target="fonts/font17.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2.fntdata"/><Relationship Id="rId65" Type="http://schemas.openxmlformats.org/officeDocument/2006/relationships/font" Target="fonts/font7.fntdata"/><Relationship Id="rId73" Type="http://schemas.openxmlformats.org/officeDocument/2006/relationships/font" Target="fonts/font15.fntdata"/><Relationship Id="rId78" Type="http://schemas.openxmlformats.org/officeDocument/2006/relationships/font" Target="fonts/font20.fntdata"/><Relationship Id="rId8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8.fntdata"/><Relationship Id="rId7" Type="http://schemas.openxmlformats.org/officeDocument/2006/relationships/slide" Target="slides/slide5.xml"/><Relationship Id="rId71" Type="http://schemas.openxmlformats.org/officeDocument/2006/relationships/font" Target="fonts/font13.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8.fntdata"/></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5E266A-D8DB-430D-8685-481FEBE6011B}" type="doc">
      <dgm:prSet loTypeId="urn:microsoft.com/office/officeart/2005/8/layout/matrix1" loCatId="matrix" qsTypeId="urn:microsoft.com/office/officeart/2005/8/quickstyle/simple1" qsCatId="simple" csTypeId="urn:microsoft.com/office/officeart/2005/8/colors/accent0_3" csCatId="mainScheme" phldr="1"/>
      <dgm:spPr/>
      <dgm:t>
        <a:bodyPr/>
        <a:lstStyle/>
        <a:p>
          <a:endParaRPr lang="en-IN"/>
        </a:p>
      </dgm:t>
    </dgm:pt>
    <dgm:pt modelId="{D9F222C4-3D03-473F-BFD1-1C2F37AC6060}">
      <dgm:prSet phldrT="[Text]" custT="1"/>
      <dgm:spPr/>
      <dgm:t>
        <a:bodyPr/>
        <a:lstStyle/>
        <a:p>
          <a:r>
            <a:rPr lang="en-IN" sz="4000" dirty="0"/>
            <a:t>OOP</a:t>
          </a:r>
        </a:p>
      </dgm:t>
    </dgm:pt>
    <dgm:pt modelId="{1CD81CC2-0665-4279-BCCC-7B1571D93301}" type="parTrans" cxnId="{4EBA3610-FF66-4292-A431-DB529B8B83BF}">
      <dgm:prSet/>
      <dgm:spPr/>
      <dgm:t>
        <a:bodyPr/>
        <a:lstStyle/>
        <a:p>
          <a:endParaRPr lang="en-IN"/>
        </a:p>
      </dgm:t>
    </dgm:pt>
    <dgm:pt modelId="{5B93EDDA-0959-4895-A73B-A08AE3F2EB06}" type="sibTrans" cxnId="{4EBA3610-FF66-4292-A431-DB529B8B83BF}">
      <dgm:prSet/>
      <dgm:spPr/>
      <dgm:t>
        <a:bodyPr/>
        <a:lstStyle/>
        <a:p>
          <a:endParaRPr lang="en-IN"/>
        </a:p>
      </dgm:t>
    </dgm:pt>
    <dgm:pt modelId="{D6DD5EAD-F370-440E-9EF2-86A0582EC367}">
      <dgm:prSet phldrT="[Text]"/>
      <dgm:spPr/>
      <dgm:t>
        <a:bodyPr/>
        <a:lstStyle/>
        <a:p>
          <a:r>
            <a:rPr lang="en-IN" dirty="0"/>
            <a:t>Encapsulation</a:t>
          </a:r>
        </a:p>
      </dgm:t>
    </dgm:pt>
    <dgm:pt modelId="{C2ACC941-4A4B-49C2-9200-D2DB8A8D05B6}" type="parTrans" cxnId="{C9AE8498-A1D0-41CC-98AF-B8F994913624}">
      <dgm:prSet/>
      <dgm:spPr/>
      <dgm:t>
        <a:bodyPr/>
        <a:lstStyle/>
        <a:p>
          <a:endParaRPr lang="en-IN"/>
        </a:p>
      </dgm:t>
    </dgm:pt>
    <dgm:pt modelId="{CD215964-8CF2-4103-A9AB-02605B315AF6}" type="sibTrans" cxnId="{C9AE8498-A1D0-41CC-98AF-B8F994913624}">
      <dgm:prSet/>
      <dgm:spPr/>
      <dgm:t>
        <a:bodyPr/>
        <a:lstStyle/>
        <a:p>
          <a:endParaRPr lang="en-IN"/>
        </a:p>
      </dgm:t>
    </dgm:pt>
    <dgm:pt modelId="{680B0DCA-C939-41A9-BD7F-24943AC25EFA}">
      <dgm:prSet phldrT="[Text]"/>
      <dgm:spPr/>
      <dgm:t>
        <a:bodyPr/>
        <a:lstStyle/>
        <a:p>
          <a:r>
            <a:rPr lang="en-IN" dirty="0"/>
            <a:t>Inheritance</a:t>
          </a:r>
        </a:p>
      </dgm:t>
    </dgm:pt>
    <dgm:pt modelId="{32C7201E-77A5-4504-8777-683F58A02933}" type="parTrans" cxnId="{9AD2B553-8F6C-4596-AEF7-E1D033D385E0}">
      <dgm:prSet/>
      <dgm:spPr/>
      <dgm:t>
        <a:bodyPr/>
        <a:lstStyle/>
        <a:p>
          <a:endParaRPr lang="en-IN"/>
        </a:p>
      </dgm:t>
    </dgm:pt>
    <dgm:pt modelId="{D9C4DFB0-288E-437C-96F0-7A87F9058489}" type="sibTrans" cxnId="{9AD2B553-8F6C-4596-AEF7-E1D033D385E0}">
      <dgm:prSet/>
      <dgm:spPr/>
      <dgm:t>
        <a:bodyPr/>
        <a:lstStyle/>
        <a:p>
          <a:endParaRPr lang="en-IN"/>
        </a:p>
      </dgm:t>
    </dgm:pt>
    <dgm:pt modelId="{301E447F-5E18-4FA1-B259-7AE92FF5794C}">
      <dgm:prSet phldrT="[Text]"/>
      <dgm:spPr/>
      <dgm:t>
        <a:bodyPr/>
        <a:lstStyle/>
        <a:p>
          <a:r>
            <a:rPr lang="en-IN" dirty="0"/>
            <a:t>Abstraction</a:t>
          </a:r>
        </a:p>
      </dgm:t>
    </dgm:pt>
    <dgm:pt modelId="{8796AC29-71C3-48A2-848C-F7608307A478}" type="parTrans" cxnId="{C7BEAAE5-1276-4D27-A3EB-25C254D393B3}">
      <dgm:prSet/>
      <dgm:spPr/>
      <dgm:t>
        <a:bodyPr/>
        <a:lstStyle/>
        <a:p>
          <a:endParaRPr lang="en-IN"/>
        </a:p>
      </dgm:t>
    </dgm:pt>
    <dgm:pt modelId="{DF41DD93-BCC1-48B5-8352-B68E46BAE0AA}" type="sibTrans" cxnId="{C7BEAAE5-1276-4D27-A3EB-25C254D393B3}">
      <dgm:prSet/>
      <dgm:spPr/>
      <dgm:t>
        <a:bodyPr/>
        <a:lstStyle/>
        <a:p>
          <a:endParaRPr lang="en-IN"/>
        </a:p>
      </dgm:t>
    </dgm:pt>
    <dgm:pt modelId="{C34CC8BA-F797-49A8-BF7C-1712B889121C}">
      <dgm:prSet phldrT="[Text]"/>
      <dgm:spPr/>
      <dgm:t>
        <a:bodyPr/>
        <a:lstStyle/>
        <a:p>
          <a:r>
            <a:rPr lang="en-IN" dirty="0"/>
            <a:t>Polymorphism</a:t>
          </a:r>
        </a:p>
      </dgm:t>
    </dgm:pt>
    <dgm:pt modelId="{1AEB5A96-7491-42AE-9A50-837C9ED1F6BC}" type="parTrans" cxnId="{714F9ABB-896A-47CA-9ED8-F12520569108}">
      <dgm:prSet/>
      <dgm:spPr/>
      <dgm:t>
        <a:bodyPr/>
        <a:lstStyle/>
        <a:p>
          <a:endParaRPr lang="en-IN"/>
        </a:p>
      </dgm:t>
    </dgm:pt>
    <dgm:pt modelId="{CF016859-3BD5-4D4E-9A45-C0F5AEE1F4C8}" type="sibTrans" cxnId="{714F9ABB-896A-47CA-9ED8-F12520569108}">
      <dgm:prSet/>
      <dgm:spPr/>
      <dgm:t>
        <a:bodyPr/>
        <a:lstStyle/>
        <a:p>
          <a:endParaRPr lang="en-IN"/>
        </a:p>
      </dgm:t>
    </dgm:pt>
    <dgm:pt modelId="{98950321-A143-41F0-9F27-072DF50B4592}" type="pres">
      <dgm:prSet presAssocID="{535E266A-D8DB-430D-8685-481FEBE6011B}" presName="diagram" presStyleCnt="0">
        <dgm:presLayoutVars>
          <dgm:chMax val="1"/>
          <dgm:dir/>
          <dgm:animLvl val="ctr"/>
          <dgm:resizeHandles val="exact"/>
        </dgm:presLayoutVars>
      </dgm:prSet>
      <dgm:spPr/>
      <dgm:t>
        <a:bodyPr/>
        <a:lstStyle/>
        <a:p>
          <a:endParaRPr lang="en-US"/>
        </a:p>
      </dgm:t>
    </dgm:pt>
    <dgm:pt modelId="{C5FBD80D-0017-4AAC-B02F-27A40B803534}" type="pres">
      <dgm:prSet presAssocID="{535E266A-D8DB-430D-8685-481FEBE6011B}" presName="matrix" presStyleCnt="0"/>
      <dgm:spPr/>
    </dgm:pt>
    <dgm:pt modelId="{A7391574-8158-4F86-8FAC-9706B1CDC251}" type="pres">
      <dgm:prSet presAssocID="{535E266A-D8DB-430D-8685-481FEBE6011B}" presName="tile1" presStyleLbl="node1" presStyleIdx="0" presStyleCnt="4"/>
      <dgm:spPr/>
      <dgm:t>
        <a:bodyPr/>
        <a:lstStyle/>
        <a:p>
          <a:endParaRPr lang="en-US"/>
        </a:p>
      </dgm:t>
    </dgm:pt>
    <dgm:pt modelId="{A59FA2BD-0692-4691-A543-78FFC6B9C78B}" type="pres">
      <dgm:prSet presAssocID="{535E266A-D8DB-430D-8685-481FEBE6011B}" presName="tile1text" presStyleLbl="node1" presStyleIdx="0" presStyleCnt="4">
        <dgm:presLayoutVars>
          <dgm:chMax val="0"/>
          <dgm:chPref val="0"/>
          <dgm:bulletEnabled val="1"/>
        </dgm:presLayoutVars>
      </dgm:prSet>
      <dgm:spPr/>
      <dgm:t>
        <a:bodyPr/>
        <a:lstStyle/>
        <a:p>
          <a:endParaRPr lang="en-US"/>
        </a:p>
      </dgm:t>
    </dgm:pt>
    <dgm:pt modelId="{58A99F87-137E-4591-B532-713A776A52A5}" type="pres">
      <dgm:prSet presAssocID="{535E266A-D8DB-430D-8685-481FEBE6011B}" presName="tile2" presStyleLbl="node1" presStyleIdx="1" presStyleCnt="4"/>
      <dgm:spPr/>
      <dgm:t>
        <a:bodyPr/>
        <a:lstStyle/>
        <a:p>
          <a:endParaRPr lang="en-US"/>
        </a:p>
      </dgm:t>
    </dgm:pt>
    <dgm:pt modelId="{B6C558F3-FD5A-4D01-B1B7-884400FBE1DE}" type="pres">
      <dgm:prSet presAssocID="{535E266A-D8DB-430D-8685-481FEBE6011B}" presName="tile2text" presStyleLbl="node1" presStyleIdx="1" presStyleCnt="4">
        <dgm:presLayoutVars>
          <dgm:chMax val="0"/>
          <dgm:chPref val="0"/>
          <dgm:bulletEnabled val="1"/>
        </dgm:presLayoutVars>
      </dgm:prSet>
      <dgm:spPr/>
      <dgm:t>
        <a:bodyPr/>
        <a:lstStyle/>
        <a:p>
          <a:endParaRPr lang="en-US"/>
        </a:p>
      </dgm:t>
    </dgm:pt>
    <dgm:pt modelId="{C76E5692-C8A3-4FDB-8A48-E811FD47AB68}" type="pres">
      <dgm:prSet presAssocID="{535E266A-D8DB-430D-8685-481FEBE6011B}" presName="tile3" presStyleLbl="node1" presStyleIdx="2" presStyleCnt="4"/>
      <dgm:spPr/>
      <dgm:t>
        <a:bodyPr/>
        <a:lstStyle/>
        <a:p>
          <a:endParaRPr lang="en-US"/>
        </a:p>
      </dgm:t>
    </dgm:pt>
    <dgm:pt modelId="{116D0D5C-13FE-4C14-98B8-B8DDDDF084EE}" type="pres">
      <dgm:prSet presAssocID="{535E266A-D8DB-430D-8685-481FEBE6011B}" presName="tile3text" presStyleLbl="node1" presStyleIdx="2" presStyleCnt="4">
        <dgm:presLayoutVars>
          <dgm:chMax val="0"/>
          <dgm:chPref val="0"/>
          <dgm:bulletEnabled val="1"/>
        </dgm:presLayoutVars>
      </dgm:prSet>
      <dgm:spPr/>
      <dgm:t>
        <a:bodyPr/>
        <a:lstStyle/>
        <a:p>
          <a:endParaRPr lang="en-US"/>
        </a:p>
      </dgm:t>
    </dgm:pt>
    <dgm:pt modelId="{0B370AD1-CCAB-4F12-B60A-6942FDF58ED9}" type="pres">
      <dgm:prSet presAssocID="{535E266A-D8DB-430D-8685-481FEBE6011B}" presName="tile4" presStyleLbl="node1" presStyleIdx="3" presStyleCnt="4"/>
      <dgm:spPr/>
      <dgm:t>
        <a:bodyPr/>
        <a:lstStyle/>
        <a:p>
          <a:endParaRPr lang="en-US"/>
        </a:p>
      </dgm:t>
    </dgm:pt>
    <dgm:pt modelId="{7E4B937B-53AD-4244-8FAB-0EB36208347D}" type="pres">
      <dgm:prSet presAssocID="{535E266A-D8DB-430D-8685-481FEBE6011B}" presName="tile4text" presStyleLbl="node1" presStyleIdx="3" presStyleCnt="4">
        <dgm:presLayoutVars>
          <dgm:chMax val="0"/>
          <dgm:chPref val="0"/>
          <dgm:bulletEnabled val="1"/>
        </dgm:presLayoutVars>
      </dgm:prSet>
      <dgm:spPr/>
      <dgm:t>
        <a:bodyPr/>
        <a:lstStyle/>
        <a:p>
          <a:endParaRPr lang="en-US"/>
        </a:p>
      </dgm:t>
    </dgm:pt>
    <dgm:pt modelId="{3EF1FC36-95CD-4EE9-89E6-9B542AF85E68}" type="pres">
      <dgm:prSet presAssocID="{535E266A-D8DB-430D-8685-481FEBE6011B}" presName="centerTile" presStyleLbl="fgShp" presStyleIdx="0" presStyleCnt="1" custScaleX="150000" custScaleY="165000">
        <dgm:presLayoutVars>
          <dgm:chMax val="0"/>
          <dgm:chPref val="0"/>
        </dgm:presLayoutVars>
      </dgm:prSet>
      <dgm:spPr/>
      <dgm:t>
        <a:bodyPr/>
        <a:lstStyle/>
        <a:p>
          <a:endParaRPr lang="en-US"/>
        </a:p>
      </dgm:t>
    </dgm:pt>
  </dgm:ptLst>
  <dgm:cxnLst>
    <dgm:cxn modelId="{8252CE5F-4354-42A4-AFD5-D409246A640D}" type="presOf" srcId="{535E266A-D8DB-430D-8685-481FEBE6011B}" destId="{98950321-A143-41F0-9F27-072DF50B4592}" srcOrd="0" destOrd="0" presId="urn:microsoft.com/office/officeart/2005/8/layout/matrix1"/>
    <dgm:cxn modelId="{C7BEAAE5-1276-4D27-A3EB-25C254D393B3}" srcId="{D9F222C4-3D03-473F-BFD1-1C2F37AC6060}" destId="{301E447F-5E18-4FA1-B259-7AE92FF5794C}" srcOrd="2" destOrd="0" parTransId="{8796AC29-71C3-48A2-848C-F7608307A478}" sibTransId="{DF41DD93-BCC1-48B5-8352-B68E46BAE0AA}"/>
    <dgm:cxn modelId="{C9AE8498-A1D0-41CC-98AF-B8F994913624}" srcId="{D9F222C4-3D03-473F-BFD1-1C2F37AC6060}" destId="{D6DD5EAD-F370-440E-9EF2-86A0582EC367}" srcOrd="0" destOrd="0" parTransId="{C2ACC941-4A4B-49C2-9200-D2DB8A8D05B6}" sibTransId="{CD215964-8CF2-4103-A9AB-02605B315AF6}"/>
    <dgm:cxn modelId="{D04D465A-A732-4CBF-B0F8-F5B047F894F4}" type="presOf" srcId="{C34CC8BA-F797-49A8-BF7C-1712B889121C}" destId="{0B370AD1-CCAB-4F12-B60A-6942FDF58ED9}" srcOrd="0" destOrd="0" presId="urn:microsoft.com/office/officeart/2005/8/layout/matrix1"/>
    <dgm:cxn modelId="{73154326-0EF7-493B-9A00-6FDE44BAD699}" type="presOf" srcId="{D6DD5EAD-F370-440E-9EF2-86A0582EC367}" destId="{A7391574-8158-4F86-8FAC-9706B1CDC251}" srcOrd="0" destOrd="0" presId="urn:microsoft.com/office/officeart/2005/8/layout/matrix1"/>
    <dgm:cxn modelId="{9AD2B553-8F6C-4596-AEF7-E1D033D385E0}" srcId="{D9F222C4-3D03-473F-BFD1-1C2F37AC6060}" destId="{680B0DCA-C939-41A9-BD7F-24943AC25EFA}" srcOrd="1" destOrd="0" parTransId="{32C7201E-77A5-4504-8777-683F58A02933}" sibTransId="{D9C4DFB0-288E-437C-96F0-7A87F9058489}"/>
    <dgm:cxn modelId="{1182FEBB-C261-44E9-B9AD-CA61EB2A2B2B}" type="presOf" srcId="{D9F222C4-3D03-473F-BFD1-1C2F37AC6060}" destId="{3EF1FC36-95CD-4EE9-89E6-9B542AF85E68}" srcOrd="0" destOrd="0" presId="urn:microsoft.com/office/officeart/2005/8/layout/matrix1"/>
    <dgm:cxn modelId="{E59C1DFE-CDF1-4813-89C4-0002CC352EAD}" type="presOf" srcId="{301E447F-5E18-4FA1-B259-7AE92FF5794C}" destId="{C76E5692-C8A3-4FDB-8A48-E811FD47AB68}" srcOrd="0" destOrd="0" presId="urn:microsoft.com/office/officeart/2005/8/layout/matrix1"/>
    <dgm:cxn modelId="{F7458A69-20CA-4395-9EFD-6F769AEEB4C0}" type="presOf" srcId="{D6DD5EAD-F370-440E-9EF2-86A0582EC367}" destId="{A59FA2BD-0692-4691-A543-78FFC6B9C78B}" srcOrd="1" destOrd="0" presId="urn:microsoft.com/office/officeart/2005/8/layout/matrix1"/>
    <dgm:cxn modelId="{89E5DFD9-6EA7-4F4A-B905-DFBF3B598900}" type="presOf" srcId="{680B0DCA-C939-41A9-BD7F-24943AC25EFA}" destId="{B6C558F3-FD5A-4D01-B1B7-884400FBE1DE}" srcOrd="1" destOrd="0" presId="urn:microsoft.com/office/officeart/2005/8/layout/matrix1"/>
    <dgm:cxn modelId="{714F9ABB-896A-47CA-9ED8-F12520569108}" srcId="{D9F222C4-3D03-473F-BFD1-1C2F37AC6060}" destId="{C34CC8BA-F797-49A8-BF7C-1712B889121C}" srcOrd="3" destOrd="0" parTransId="{1AEB5A96-7491-42AE-9A50-837C9ED1F6BC}" sibTransId="{CF016859-3BD5-4D4E-9A45-C0F5AEE1F4C8}"/>
    <dgm:cxn modelId="{4EBA3610-FF66-4292-A431-DB529B8B83BF}" srcId="{535E266A-D8DB-430D-8685-481FEBE6011B}" destId="{D9F222C4-3D03-473F-BFD1-1C2F37AC6060}" srcOrd="0" destOrd="0" parTransId="{1CD81CC2-0665-4279-BCCC-7B1571D93301}" sibTransId="{5B93EDDA-0959-4895-A73B-A08AE3F2EB06}"/>
    <dgm:cxn modelId="{0D67CAB1-BB2E-4814-A5B4-D9541F02BACE}" type="presOf" srcId="{C34CC8BA-F797-49A8-BF7C-1712B889121C}" destId="{7E4B937B-53AD-4244-8FAB-0EB36208347D}" srcOrd="1" destOrd="0" presId="urn:microsoft.com/office/officeart/2005/8/layout/matrix1"/>
    <dgm:cxn modelId="{B3B24881-6A90-41A8-8A54-235D0F94E0DC}" type="presOf" srcId="{680B0DCA-C939-41A9-BD7F-24943AC25EFA}" destId="{58A99F87-137E-4591-B532-713A776A52A5}" srcOrd="0" destOrd="0" presId="urn:microsoft.com/office/officeart/2005/8/layout/matrix1"/>
    <dgm:cxn modelId="{FC6FBC0C-313D-46DF-8F25-446C3FCDB6E5}" type="presOf" srcId="{301E447F-5E18-4FA1-B259-7AE92FF5794C}" destId="{116D0D5C-13FE-4C14-98B8-B8DDDDF084EE}" srcOrd="1" destOrd="0" presId="urn:microsoft.com/office/officeart/2005/8/layout/matrix1"/>
    <dgm:cxn modelId="{27A7B4CE-CDFE-42F6-A613-403AB29641F2}" type="presParOf" srcId="{98950321-A143-41F0-9F27-072DF50B4592}" destId="{C5FBD80D-0017-4AAC-B02F-27A40B803534}" srcOrd="0" destOrd="0" presId="urn:microsoft.com/office/officeart/2005/8/layout/matrix1"/>
    <dgm:cxn modelId="{C9FD9574-66E9-4365-8BF4-4D58B640B821}" type="presParOf" srcId="{C5FBD80D-0017-4AAC-B02F-27A40B803534}" destId="{A7391574-8158-4F86-8FAC-9706B1CDC251}" srcOrd="0" destOrd="0" presId="urn:microsoft.com/office/officeart/2005/8/layout/matrix1"/>
    <dgm:cxn modelId="{55AC3D77-4270-4AD1-80D1-5B14DE317718}" type="presParOf" srcId="{C5FBD80D-0017-4AAC-B02F-27A40B803534}" destId="{A59FA2BD-0692-4691-A543-78FFC6B9C78B}" srcOrd="1" destOrd="0" presId="urn:microsoft.com/office/officeart/2005/8/layout/matrix1"/>
    <dgm:cxn modelId="{0260708A-A77C-4012-A321-EBC23D8A91BD}" type="presParOf" srcId="{C5FBD80D-0017-4AAC-B02F-27A40B803534}" destId="{58A99F87-137E-4591-B532-713A776A52A5}" srcOrd="2" destOrd="0" presId="urn:microsoft.com/office/officeart/2005/8/layout/matrix1"/>
    <dgm:cxn modelId="{DA78BE42-EAFB-4DDF-9AE9-1BAE970B3007}" type="presParOf" srcId="{C5FBD80D-0017-4AAC-B02F-27A40B803534}" destId="{B6C558F3-FD5A-4D01-B1B7-884400FBE1DE}" srcOrd="3" destOrd="0" presId="urn:microsoft.com/office/officeart/2005/8/layout/matrix1"/>
    <dgm:cxn modelId="{E58EF119-8D77-455B-80E5-45DD4DF1FF07}" type="presParOf" srcId="{C5FBD80D-0017-4AAC-B02F-27A40B803534}" destId="{C76E5692-C8A3-4FDB-8A48-E811FD47AB68}" srcOrd="4" destOrd="0" presId="urn:microsoft.com/office/officeart/2005/8/layout/matrix1"/>
    <dgm:cxn modelId="{0E92212F-8E75-4184-8C02-2EC1536A5891}" type="presParOf" srcId="{C5FBD80D-0017-4AAC-B02F-27A40B803534}" destId="{116D0D5C-13FE-4C14-98B8-B8DDDDF084EE}" srcOrd="5" destOrd="0" presId="urn:microsoft.com/office/officeart/2005/8/layout/matrix1"/>
    <dgm:cxn modelId="{962484C9-DB83-4771-BFA3-DC9ECBE33583}" type="presParOf" srcId="{C5FBD80D-0017-4AAC-B02F-27A40B803534}" destId="{0B370AD1-CCAB-4F12-B60A-6942FDF58ED9}" srcOrd="6" destOrd="0" presId="urn:microsoft.com/office/officeart/2005/8/layout/matrix1"/>
    <dgm:cxn modelId="{4A6A972F-F374-4E97-A978-D0B57B4DE4AA}" type="presParOf" srcId="{C5FBD80D-0017-4AAC-B02F-27A40B803534}" destId="{7E4B937B-53AD-4244-8FAB-0EB36208347D}" srcOrd="7" destOrd="0" presId="urn:microsoft.com/office/officeart/2005/8/layout/matrix1"/>
    <dgm:cxn modelId="{3FF82CC3-3BA7-49EA-BE92-22B0EAC3A709}" type="presParOf" srcId="{98950321-A143-41F0-9F27-072DF50B4592}" destId="{3EF1FC36-95CD-4EE9-89E6-9B542AF85E68}"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391574-8158-4F86-8FAC-9706B1CDC251}">
      <dsp:nvSpPr>
        <dsp:cNvPr id="0" name=""/>
        <dsp:cNvSpPr/>
      </dsp:nvSpPr>
      <dsp:spPr>
        <a:xfrm rot="16200000">
          <a:off x="598747" y="-598747"/>
          <a:ext cx="2032000" cy="3229494"/>
        </a:xfrm>
        <a:prstGeom prst="round1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lvl="0" algn="ctr" defTabSz="1644650">
            <a:lnSpc>
              <a:spcPct val="90000"/>
            </a:lnSpc>
            <a:spcBef>
              <a:spcPct val="0"/>
            </a:spcBef>
            <a:spcAft>
              <a:spcPct val="35000"/>
            </a:spcAft>
          </a:pPr>
          <a:r>
            <a:rPr lang="en-IN" sz="3700" kern="1200" dirty="0"/>
            <a:t>Encapsulation</a:t>
          </a:r>
        </a:p>
      </dsp:txBody>
      <dsp:txXfrm rot="5400000">
        <a:off x="0" y="0"/>
        <a:ext cx="3229494" cy="1524000"/>
      </dsp:txXfrm>
    </dsp:sp>
    <dsp:sp modelId="{58A99F87-137E-4591-B532-713A776A52A5}">
      <dsp:nvSpPr>
        <dsp:cNvPr id="0" name=""/>
        <dsp:cNvSpPr/>
      </dsp:nvSpPr>
      <dsp:spPr>
        <a:xfrm>
          <a:off x="3229494" y="0"/>
          <a:ext cx="3229494" cy="2032000"/>
        </a:xfrm>
        <a:prstGeom prst="round1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lvl="0" algn="ctr" defTabSz="1644650">
            <a:lnSpc>
              <a:spcPct val="90000"/>
            </a:lnSpc>
            <a:spcBef>
              <a:spcPct val="0"/>
            </a:spcBef>
            <a:spcAft>
              <a:spcPct val="35000"/>
            </a:spcAft>
          </a:pPr>
          <a:r>
            <a:rPr lang="en-IN" sz="3700" kern="1200" dirty="0"/>
            <a:t>Inheritance</a:t>
          </a:r>
        </a:p>
      </dsp:txBody>
      <dsp:txXfrm>
        <a:off x="3229494" y="0"/>
        <a:ext cx="3229494" cy="1524000"/>
      </dsp:txXfrm>
    </dsp:sp>
    <dsp:sp modelId="{C76E5692-C8A3-4FDB-8A48-E811FD47AB68}">
      <dsp:nvSpPr>
        <dsp:cNvPr id="0" name=""/>
        <dsp:cNvSpPr/>
      </dsp:nvSpPr>
      <dsp:spPr>
        <a:xfrm rot="10800000">
          <a:off x="0" y="2032000"/>
          <a:ext cx="3229494" cy="2032000"/>
        </a:xfrm>
        <a:prstGeom prst="round1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lvl="0" algn="ctr" defTabSz="1644650">
            <a:lnSpc>
              <a:spcPct val="90000"/>
            </a:lnSpc>
            <a:spcBef>
              <a:spcPct val="0"/>
            </a:spcBef>
            <a:spcAft>
              <a:spcPct val="35000"/>
            </a:spcAft>
          </a:pPr>
          <a:r>
            <a:rPr lang="en-IN" sz="3700" kern="1200" dirty="0"/>
            <a:t>Abstraction</a:t>
          </a:r>
        </a:p>
      </dsp:txBody>
      <dsp:txXfrm rot="10800000">
        <a:off x="0" y="2539999"/>
        <a:ext cx="3229494" cy="1524000"/>
      </dsp:txXfrm>
    </dsp:sp>
    <dsp:sp modelId="{0B370AD1-CCAB-4F12-B60A-6942FDF58ED9}">
      <dsp:nvSpPr>
        <dsp:cNvPr id="0" name=""/>
        <dsp:cNvSpPr/>
      </dsp:nvSpPr>
      <dsp:spPr>
        <a:xfrm rot="5400000">
          <a:off x="3828241" y="1433252"/>
          <a:ext cx="2032000" cy="3229494"/>
        </a:xfrm>
        <a:prstGeom prst="round1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3144" tIns="263144" rIns="263144" bIns="263144" numCol="1" spcCol="1270" anchor="ctr" anchorCtr="0">
          <a:noAutofit/>
        </a:bodyPr>
        <a:lstStyle/>
        <a:p>
          <a:pPr lvl="0" algn="ctr" defTabSz="1644650">
            <a:lnSpc>
              <a:spcPct val="90000"/>
            </a:lnSpc>
            <a:spcBef>
              <a:spcPct val="0"/>
            </a:spcBef>
            <a:spcAft>
              <a:spcPct val="35000"/>
            </a:spcAft>
          </a:pPr>
          <a:r>
            <a:rPr lang="en-IN" sz="3700" kern="1200" dirty="0"/>
            <a:t>Polymorphism</a:t>
          </a:r>
        </a:p>
      </dsp:txBody>
      <dsp:txXfrm rot="-5400000">
        <a:off x="3229494" y="2539999"/>
        <a:ext cx="3229494" cy="1524000"/>
      </dsp:txXfrm>
    </dsp:sp>
    <dsp:sp modelId="{3EF1FC36-95CD-4EE9-89E6-9B542AF85E68}">
      <dsp:nvSpPr>
        <dsp:cNvPr id="0" name=""/>
        <dsp:cNvSpPr/>
      </dsp:nvSpPr>
      <dsp:spPr>
        <a:xfrm>
          <a:off x="1776221" y="1193800"/>
          <a:ext cx="2906544" cy="1676399"/>
        </a:xfrm>
        <a:prstGeom prst="roundRect">
          <a:avLst/>
        </a:prstGeom>
        <a:solidFill>
          <a:schemeClr val="dk2">
            <a:tint val="60000"/>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IN" sz="4000" kern="1200" dirty="0"/>
            <a:t>OOP</a:t>
          </a:r>
        </a:p>
      </dsp:txBody>
      <dsp:txXfrm>
        <a:off x="1858056" y="1275635"/>
        <a:ext cx="2742874" cy="1512729"/>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CB8B648-81D7-4B97-BE43-C82A41EFF624}" type="datetimeFigureOut">
              <a:rPr lang="en-US" smtClean="0"/>
              <a:t>7/22/2025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E14FB9-2BAE-423A-AD69-78200BE88C93}" type="slidenum">
              <a:rPr lang="en-US" smtClean="0"/>
              <a:t>‹#›</a:t>
            </a:fld>
            <a:endParaRPr lang="en-US"/>
          </a:p>
        </p:txBody>
      </p:sp>
    </p:spTree>
    <p:extLst>
      <p:ext uri="{BB962C8B-B14F-4D97-AF65-F5344CB8AC3E}">
        <p14:creationId xmlns:p14="http://schemas.microsoft.com/office/powerpoint/2010/main" val="1389690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7/22/2025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956875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1211938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1211938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91D9-F9B5-ADCA-970A-C3A1B02272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A82FD-81D6-5818-3C22-1C48A94312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B0188-5214-0826-513F-29AB692C12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6B5205F-2AB7-781C-671E-3867F1C693FF}"/>
              </a:ext>
            </a:extLst>
          </p:cNvPr>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3228289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AA981-25F0-4F8A-3B4A-F746DEF3A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871E3-F18A-C299-A86C-1485CAF233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078B8-7177-752F-0B90-9C65C2D437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126FBA-06E2-201F-0F09-0F7CF9C7418F}"/>
              </a:ext>
            </a:extLst>
          </p:cNvPr>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1013887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pPr/>
              <a:t>49</a:t>
            </a:fld>
            <a:endParaRPr lang="en-US"/>
          </a:p>
        </p:txBody>
      </p:sp>
    </p:spTree>
    <p:extLst>
      <p:ext uri="{BB962C8B-B14F-4D97-AF65-F5344CB8AC3E}">
        <p14:creationId xmlns:p14="http://schemas.microsoft.com/office/powerpoint/2010/main" val="247336554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3.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4.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11" Type="http://schemas.openxmlformats.org/officeDocument/2006/relationships/image" Target="../media/image9.jpe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14.jpe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 K.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#2304CS302 (OOPJ)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Object Oriented Programming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454199" y="6612110"/>
            <a:ext cx="52835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#2304CS302 (OOPJ)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Object Oriented Programming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#2304CS302 (OOPJ)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Object Oriented Programming</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2105CS204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2105CS204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Darshan Institute of Computer Applications ,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129420851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26429846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5521596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2104CS512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(JSF)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184850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495876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374685313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0978197"/>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0000992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028422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52086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12720573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17426888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117097230"/>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81089902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338554"/>
          </a:xfrm>
          <a:prstGeom prst="rect">
            <a:avLst/>
          </a:prstGeom>
          <a:noFill/>
        </p:spPr>
        <p:txBody>
          <a:bodyPr wrap="none" rtlCol="0">
            <a:spAutoFit/>
          </a:bodyPr>
          <a:lstStyle/>
          <a:p>
            <a:r>
              <a:rPr lang="en-US" sz="1600" dirty="0"/>
              <a:t>Darshan Institute of Computer Applications ,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a:extLst>
              <a:ext uri="{FF2B5EF4-FFF2-40B4-BE49-F238E27FC236}">
                <a16:creationId xmlns:a16="http://schemas.microsoft.com/office/drawing/2014/main" id="{7CCC06F6-21AB-DA1A-AA70-A3E11D1BE30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644474" y="1609868"/>
            <a:ext cx="2116066" cy="2116066"/>
          </a:xfrm>
          <a:prstGeom prst="rect">
            <a:avLst/>
          </a:prstGeom>
        </p:spPr>
      </p:pic>
    </p:spTree>
    <p:extLst>
      <p:ext uri="{BB962C8B-B14F-4D97-AF65-F5344CB8AC3E}">
        <p14:creationId xmlns:p14="http://schemas.microsoft.com/office/powerpoint/2010/main" val="136773065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977840071"/>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22610387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440435433"/>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28954970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10560655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10913432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49907336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Darshan Institute of Computer Applications ,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369990358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7/22/2025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715"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7/22/2025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350828334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3.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10.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slideLayout" Target="../slideLayouts/slideLayout3.xml"/><Relationship Id="rId1" Type="http://schemas.openxmlformats.org/officeDocument/2006/relationships/tags" Target="../tags/tag1.xml"/><Relationship Id="rId4" Type="http://schemas.openxmlformats.org/officeDocument/2006/relationships/image" Target="../media/image3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5.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3.xml"/><Relationship Id="rId1" Type="http://schemas.openxmlformats.org/officeDocument/2006/relationships/tags" Target="../tags/tag8.xml"/><Relationship Id="rId4" Type="http://schemas.microsoft.com/office/2007/relationships/hdphoto" Target="../media/hdphoto3.wdp"/></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40.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hyperlink" Target="https://www.tpointtech.com/java-math-pow-method" TargetMode="External"/><Relationship Id="rId3" Type="http://schemas.openxmlformats.org/officeDocument/2006/relationships/hyperlink" Target="https://www.tpointtech.com/java-math-max-method" TargetMode="External"/><Relationship Id="rId7" Type="http://schemas.openxmlformats.org/officeDocument/2006/relationships/hyperlink" Target="https://www.tpointtech.com/java-math-cbrt-method" TargetMode="External"/><Relationship Id="rId2" Type="http://schemas.openxmlformats.org/officeDocument/2006/relationships/hyperlink" Target="https://www.tpointtech.com/java-math-abs-method" TargetMode="External"/><Relationship Id="rId1" Type="http://schemas.openxmlformats.org/officeDocument/2006/relationships/slideLayout" Target="../slideLayouts/slideLayout3.xml"/><Relationship Id="rId6" Type="http://schemas.openxmlformats.org/officeDocument/2006/relationships/hyperlink" Target="https://www.tpointtech.com/java-math-sqrt-method" TargetMode="External"/><Relationship Id="rId11" Type="http://schemas.openxmlformats.org/officeDocument/2006/relationships/hyperlink" Target="https://www.tpointtech.com/java-math-floor-method" TargetMode="External"/><Relationship Id="rId5" Type="http://schemas.openxmlformats.org/officeDocument/2006/relationships/hyperlink" Target="https://www.tpointtech.com/java-math-round-method" TargetMode="External"/><Relationship Id="rId10" Type="http://schemas.openxmlformats.org/officeDocument/2006/relationships/hyperlink" Target="https://www.tpointtech.com/java-math-ceil-method" TargetMode="External"/><Relationship Id="rId4" Type="http://schemas.openxmlformats.org/officeDocument/2006/relationships/hyperlink" Target="https://www.tpointtech.com/java-math-min-method" TargetMode="External"/><Relationship Id="rId9" Type="http://schemas.openxmlformats.org/officeDocument/2006/relationships/hyperlink" Target="https://www.tpointtech.com/java-math-signum-method" TargetMode="External"/></Relationships>
</file>

<file path=ppt/slides/_rels/slide46.xml.rels><?xml version="1.0" encoding="UTF-8" standalone="yes"?>
<Relationships xmlns="http://schemas.openxmlformats.org/package/2006/relationships"><Relationship Id="rId8" Type="http://schemas.openxmlformats.org/officeDocument/2006/relationships/hyperlink" Target="https://www.tpointtech.com/java-math-toradians-method" TargetMode="External"/><Relationship Id="rId3" Type="http://schemas.openxmlformats.org/officeDocument/2006/relationships/hyperlink" Target="https://www.tpointtech.com/java-math-log10-method" TargetMode="External"/><Relationship Id="rId7" Type="http://schemas.openxmlformats.org/officeDocument/2006/relationships/hyperlink" Target="https://www.tpointtech.com/java-math-todegrees-method" TargetMode="External"/><Relationship Id="rId2" Type="http://schemas.openxmlformats.org/officeDocument/2006/relationships/hyperlink" Target="https://www.tpointtech.com/java-math-log-method" TargetMode="External"/><Relationship Id="rId1" Type="http://schemas.openxmlformats.org/officeDocument/2006/relationships/slideLayout" Target="../slideLayouts/slideLayout3.xml"/><Relationship Id="rId6" Type="http://schemas.openxmlformats.org/officeDocument/2006/relationships/hyperlink" Target="https://www.tpointtech.com/java-math-expm1-method" TargetMode="External"/><Relationship Id="rId5" Type="http://schemas.openxmlformats.org/officeDocument/2006/relationships/hyperlink" Target="https://www.tpointtech.com/java-math-exp-method" TargetMode="External"/><Relationship Id="rId4" Type="http://schemas.openxmlformats.org/officeDocument/2006/relationships/hyperlink" Target="https://www.tpointtech.com/java-math-log1p-method" TargetMode="External"/></Relationships>
</file>

<file path=ppt/slides/_rels/slide47.xml.rels><?xml version="1.0" encoding="UTF-8" standalone="yes"?>
<Relationships xmlns="http://schemas.openxmlformats.org/package/2006/relationships"><Relationship Id="rId8" Type="http://schemas.openxmlformats.org/officeDocument/2006/relationships/hyperlink" Target="https://www.tpointtech.com/java-math-sinh-method" TargetMode="External"/><Relationship Id="rId3" Type="http://schemas.openxmlformats.org/officeDocument/2006/relationships/hyperlink" Target="https://www.tpointtech.com/java-math-cos-method" TargetMode="External"/><Relationship Id="rId7" Type="http://schemas.openxmlformats.org/officeDocument/2006/relationships/hyperlink" Target="https://www.tpointtech.com/java-math-atan-method" TargetMode="External"/><Relationship Id="rId2" Type="http://schemas.openxmlformats.org/officeDocument/2006/relationships/hyperlink" Target="https://www.tpointtech.com/java-math-sin-method" TargetMode="External"/><Relationship Id="rId1" Type="http://schemas.openxmlformats.org/officeDocument/2006/relationships/slideLayout" Target="../slideLayouts/slideLayout3.xml"/><Relationship Id="rId6" Type="http://schemas.openxmlformats.org/officeDocument/2006/relationships/hyperlink" Target="https://www.tpointtech.com/java-math-acos-method" TargetMode="External"/><Relationship Id="rId5" Type="http://schemas.openxmlformats.org/officeDocument/2006/relationships/hyperlink" Target="https://www.tpointtech.com/java-math-asin-method" TargetMode="External"/><Relationship Id="rId10" Type="http://schemas.openxmlformats.org/officeDocument/2006/relationships/hyperlink" Target="https://www.tpointtech.com/java-math-tanh-method" TargetMode="External"/><Relationship Id="rId4" Type="http://schemas.openxmlformats.org/officeDocument/2006/relationships/hyperlink" Target="https://www.tpointtech.com/java-math-tan-method" TargetMode="External"/><Relationship Id="rId9" Type="http://schemas.openxmlformats.org/officeDocument/2006/relationships/hyperlink" Target="https://www.tpointtech.com/java-math-cosh-method"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chirag.sakhrani@darshan.ac.in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8401191184</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US" dirty="0"/>
              <a:t>Department of Computer Applications</a:t>
            </a:r>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t>
            </a:r>
            <a:r>
              <a:rPr lang="en-IN" dirty="0" err="1"/>
              <a:t>Chirag</a:t>
            </a:r>
            <a:r>
              <a:rPr lang="en-IN" dirty="0"/>
              <a:t> K </a:t>
            </a:r>
            <a:r>
              <a:rPr lang="en-IN" dirty="0" err="1"/>
              <a:t>Sakhrani</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US" dirty="0"/>
              <a:t>Object Oriented Programming using Java </a:t>
            </a:r>
            <a:r>
              <a:rPr lang="en-IN" dirty="0"/>
              <a:t>(</a:t>
            </a:r>
            <a:r>
              <a:rPr lang="en-US" dirty="0"/>
              <a:t>2304CS302</a:t>
            </a:r>
            <a:r>
              <a:rPr lang="en-IN" dirty="0"/>
              <a:t>)</a:t>
            </a:r>
            <a:endParaRPr lang="en-US" dirty="0"/>
          </a:p>
        </p:txBody>
      </p:sp>
      <p:pic>
        <p:nvPicPr>
          <p:cNvPr id="16" name="Picture Placeholder 15"/>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197789"/>
            <a:ext cx="1353599" cy="1353599"/>
          </a:xfrm>
        </p:spPr>
      </p:pic>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794508" y="997890"/>
            <a:ext cx="7582576" cy="2578780"/>
          </a:xfrm>
        </p:spPr>
        <p:txBody>
          <a:bodyPr/>
          <a:lstStyle/>
          <a:p>
            <a:r>
              <a:rPr lang="en-US" sz="4800" b="0" dirty="0">
                <a:latin typeface="Roboto Condensed Light" panose="02000000000000000000" pitchFamily="2" charset="0"/>
                <a:ea typeface="Roboto Condensed Light" panose="02000000000000000000" pitchFamily="2" charset="0"/>
              </a:rPr>
              <a:t>Unit-03</a:t>
            </a:r>
            <a:r>
              <a:rPr lang="en-US" dirty="0"/>
              <a:t> </a:t>
            </a:r>
            <a:br>
              <a:rPr lang="en-US" dirty="0"/>
            </a:br>
            <a:r>
              <a:rPr lang="en-IN" dirty="0"/>
              <a:t>Object Oriented Programming</a:t>
            </a:r>
            <a:endParaRPr lang="en-US" dirty="0"/>
          </a:p>
        </p:txBody>
      </p:sp>
      <p:sp>
        <p:nvSpPr>
          <p:cNvPr id="4" name="TextBox 3">
            <a:extLst>
              <a:ext uri="{FF2B5EF4-FFF2-40B4-BE49-F238E27FC236}">
                <a16:creationId xmlns:a16="http://schemas.microsoft.com/office/drawing/2014/main" id="{9166C5B6-CA7E-D20E-2548-87ACCB95BDD8}"/>
              </a:ext>
            </a:extLst>
          </p:cNvPr>
          <p:cNvSpPr txBox="1"/>
          <p:nvPr/>
        </p:nvSpPr>
        <p:spPr>
          <a:xfrm>
            <a:off x="794508" y="4144065"/>
            <a:ext cx="8949260" cy="769441"/>
          </a:xfrm>
          <a:prstGeom prst="rect">
            <a:avLst/>
          </a:prstGeom>
          <a:noFill/>
        </p:spPr>
        <p:txBody>
          <a:bodyPr wrap="square">
            <a:spAutoFit/>
          </a:bodyPr>
          <a:lstStyle/>
          <a:p>
            <a:r>
              <a:rPr lang="en-US" sz="2200" b="1" i="1" dirty="0">
                <a:effectLst/>
              </a:rPr>
              <a:t>CO3 : At the end of this course, students will be able to,</a:t>
            </a:r>
          </a:p>
          <a:p>
            <a:r>
              <a:rPr lang="en-US" sz="2200" dirty="0"/>
              <a:t>          implement object oriented programming for problem solving.</a:t>
            </a:r>
            <a:endParaRPr lang="en-US" sz="2200" b="0" i="1" dirty="0">
              <a:effectLst/>
            </a:endParaRPr>
          </a:p>
        </p:txBody>
      </p:sp>
    </p:spTree>
    <p:extLst>
      <p:ext uri="{BB962C8B-B14F-4D97-AF65-F5344CB8AC3E}">
        <p14:creationId xmlns:p14="http://schemas.microsoft.com/office/powerpoint/2010/main" val="243652001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7005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5915230" cy="5539978"/>
          </a:xfrm>
          <a:prstGeom prst="rect">
            <a:avLst/>
          </a:prstGeom>
          <a:noFill/>
        </p:spPr>
        <p:txBody>
          <a:bodyPr wrap="square" rtlCol="0">
            <a:spAutoFit/>
          </a:bodyPr>
          <a:lstStyle/>
          <a:p>
            <a:r>
              <a:rPr lang="en-IN" sz="2400" b="1" dirty="0"/>
              <a:t>Outline</a:t>
            </a:r>
            <a:endParaRPr lang="en-US" sz="2400" b="1" dirty="0"/>
          </a:p>
          <a:p>
            <a:endParaRPr lang="en-US" sz="2200" b="1" dirty="0"/>
          </a:p>
          <a:p>
            <a:pPr indent="446088">
              <a:buFont typeface="Wingdings" pitchFamily="2" charset="2"/>
              <a:buChar char="ü"/>
            </a:pPr>
            <a:r>
              <a:rPr lang="en-IN" sz="2200" dirty="0"/>
              <a:t>Object Oriented Programming</a:t>
            </a:r>
          </a:p>
          <a:p>
            <a:pPr marL="800100" lvl="1" indent="-342900">
              <a:buFont typeface="Wingdings" panose="05000000000000000000" pitchFamily="2" charset="2"/>
              <a:buChar char="§"/>
            </a:pPr>
            <a:r>
              <a:rPr lang="en-US" sz="2200" dirty="0"/>
              <a:t>Class</a:t>
            </a:r>
          </a:p>
          <a:p>
            <a:pPr marL="800100" lvl="1" indent="-342900">
              <a:buFont typeface="Wingdings" panose="05000000000000000000" pitchFamily="2" charset="2"/>
              <a:buChar char="§"/>
            </a:pPr>
            <a:r>
              <a:rPr lang="en-US" sz="2200" dirty="0"/>
              <a:t>Object</a:t>
            </a:r>
          </a:p>
          <a:p>
            <a:pPr marL="800100" lvl="1" indent="-342900">
              <a:buFont typeface="Wingdings" panose="05000000000000000000" pitchFamily="2" charset="2"/>
              <a:buChar char="§"/>
            </a:pPr>
            <a:r>
              <a:rPr lang="en-US" sz="2200" dirty="0"/>
              <a:t>POP v/s OOP</a:t>
            </a:r>
          </a:p>
          <a:p>
            <a:pPr marL="800100" lvl="1" indent="-342900">
              <a:buFont typeface="Wingdings" panose="05000000000000000000" pitchFamily="2" charset="2"/>
              <a:buChar char="§"/>
            </a:pPr>
            <a:r>
              <a:rPr lang="en-US" sz="2200" dirty="0"/>
              <a:t>Encapsulation</a:t>
            </a:r>
          </a:p>
          <a:p>
            <a:pPr marL="800100" lvl="1" indent="-342900">
              <a:buFont typeface="Wingdings" panose="05000000000000000000" pitchFamily="2" charset="2"/>
              <a:buChar char="§"/>
            </a:pPr>
            <a:r>
              <a:rPr lang="en-US" sz="2200" dirty="0"/>
              <a:t>Inheritance</a:t>
            </a:r>
          </a:p>
          <a:p>
            <a:pPr marL="800100" lvl="1" indent="-342900">
              <a:buFont typeface="Wingdings" panose="05000000000000000000" pitchFamily="2" charset="2"/>
              <a:buChar char="§"/>
            </a:pPr>
            <a:r>
              <a:rPr lang="en-US" sz="2200" dirty="0"/>
              <a:t>Polymorphism</a:t>
            </a:r>
          </a:p>
          <a:p>
            <a:pPr marL="800100" lvl="1" indent="-342900">
              <a:buFont typeface="Wingdings" panose="05000000000000000000" pitchFamily="2" charset="2"/>
              <a:buChar char="§"/>
            </a:pPr>
            <a:r>
              <a:rPr lang="en-US" sz="2200" dirty="0"/>
              <a:t>Abstraction</a:t>
            </a:r>
          </a:p>
          <a:p>
            <a:pPr indent="446088">
              <a:buFont typeface="Wingdings" pitchFamily="2" charset="2"/>
              <a:buChar char="ü"/>
            </a:pPr>
            <a:r>
              <a:rPr lang="en-US" sz="2200" dirty="0"/>
              <a:t>Nested class</a:t>
            </a:r>
          </a:p>
          <a:p>
            <a:pPr indent="446088">
              <a:buFont typeface="Wingdings" pitchFamily="2" charset="2"/>
              <a:buChar char="ü"/>
            </a:pPr>
            <a:r>
              <a:rPr lang="en-IN" sz="2200" dirty="0"/>
              <a:t>Anonymous </a:t>
            </a:r>
            <a:r>
              <a:rPr lang="en-US" sz="2200" dirty="0"/>
              <a:t>inner class</a:t>
            </a:r>
          </a:p>
          <a:p>
            <a:pPr indent="446088">
              <a:buFont typeface="Wingdings" pitchFamily="2" charset="2"/>
              <a:buChar char="ü"/>
            </a:pPr>
            <a:r>
              <a:rPr lang="en-US" sz="2200" dirty="0"/>
              <a:t>String, String Buffer Class</a:t>
            </a:r>
          </a:p>
          <a:p>
            <a:pPr indent="446088">
              <a:buFont typeface="Wingdings" pitchFamily="2" charset="2"/>
              <a:buChar char="ü"/>
            </a:pPr>
            <a:r>
              <a:rPr lang="en-US" sz="2200" dirty="0"/>
              <a:t>Math Class</a:t>
            </a:r>
          </a:p>
          <a:p>
            <a:pPr indent="446088">
              <a:buFont typeface="Wingdings" pitchFamily="2" charset="2"/>
              <a:buChar char="ü"/>
            </a:pPr>
            <a:r>
              <a:rPr lang="en-US" sz="2200" dirty="0"/>
              <a:t>Wrapper Classes</a:t>
            </a:r>
          </a:p>
          <a:p>
            <a:pPr indent="446088">
              <a:buFont typeface="Wingdings" pitchFamily="2" charset="2"/>
              <a:buChar char="ü"/>
            </a:pPr>
            <a:endParaRPr lang="en-US" sz="2200" dirty="0"/>
          </a:p>
        </p:txBody>
      </p:sp>
    </p:spTree>
    <p:extLst>
      <p:ext uri="{BB962C8B-B14F-4D97-AF65-F5344CB8AC3E}">
        <p14:creationId xmlns:p14="http://schemas.microsoft.com/office/powerpoint/2010/main" val="182151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22" presetClass="entr" presetSubtype="1"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up)">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par>
                          <p:cTn id="19" fill="hold">
                            <p:stCondLst>
                              <p:cond delay="1000"/>
                            </p:stCondLst>
                            <p:childTnLst>
                              <p:par>
                                <p:cTn id="20" presetID="1"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a:t>
            </a:r>
          </a:p>
        </p:txBody>
      </p:sp>
      <p:sp>
        <p:nvSpPr>
          <p:cNvPr id="3" name="Content Placeholder 2"/>
          <p:cNvSpPr>
            <a:spLocks noGrp="1"/>
          </p:cNvSpPr>
          <p:nvPr>
            <p:ph idx="1"/>
          </p:nvPr>
        </p:nvSpPr>
        <p:spPr/>
        <p:txBody>
          <a:bodyPr/>
          <a:lstStyle/>
          <a:p>
            <a:r>
              <a:rPr lang="en-IN" dirty="0"/>
              <a:t>Class is </a:t>
            </a:r>
            <a:r>
              <a:rPr lang="en-IN" dirty="0">
                <a:solidFill>
                  <a:srgbClr val="C00000"/>
                </a:solidFill>
              </a:rPr>
              <a:t>derived datatype</a:t>
            </a:r>
            <a:r>
              <a:rPr lang="en-IN" dirty="0"/>
              <a:t>, it combines members of different datatypes into one.</a:t>
            </a:r>
            <a:endParaRPr lang="en-US" dirty="0"/>
          </a:p>
          <a:p>
            <a:r>
              <a:rPr lang="en-US" dirty="0"/>
              <a:t>Defines new datatype (primitive ones are not enough).                </a:t>
            </a:r>
          </a:p>
          <a:p>
            <a:pPr lvl="1"/>
            <a:r>
              <a:rPr lang="en-US" dirty="0"/>
              <a:t>For Example : </a:t>
            </a:r>
            <a:r>
              <a:rPr lang="en-US" b="1" dirty="0">
                <a:latin typeface="Cambria" pitchFamily="18" charset="0"/>
                <a:ea typeface="Cambria" pitchFamily="18" charset="0"/>
              </a:rPr>
              <a:t>Car, College, Bus etc..</a:t>
            </a:r>
          </a:p>
          <a:p>
            <a:r>
              <a:rPr lang="en-US" dirty="0"/>
              <a:t>This new datatype can be used to create objects.</a:t>
            </a:r>
          </a:p>
          <a:p>
            <a:r>
              <a:rPr lang="en-US" dirty="0"/>
              <a:t>A class is a template for multiple objects with similar features.</a:t>
            </a:r>
          </a:p>
          <a:p>
            <a:r>
              <a:rPr lang="en-US" dirty="0"/>
              <a:t>Classes embody all features of a particular set of objects.</a:t>
            </a:r>
          </a:p>
          <a:p>
            <a:r>
              <a:rPr lang="en-US" dirty="0"/>
              <a:t>Every class we write in java is generally made up of two components: attributes and behavior.</a:t>
            </a:r>
          </a:p>
          <a:p>
            <a:r>
              <a:rPr lang="en-US" dirty="0"/>
              <a:t>Behavior is defined by methods in a class.</a:t>
            </a:r>
          </a:p>
          <a:p>
            <a:r>
              <a:rPr lang="en-US" dirty="0"/>
              <a:t>Methods are used to access or modify attributes.</a:t>
            </a:r>
          </a:p>
        </p:txBody>
      </p:sp>
    </p:spTree>
    <p:extLst>
      <p:ext uri="{BB962C8B-B14F-4D97-AF65-F5344CB8AC3E}">
        <p14:creationId xmlns:p14="http://schemas.microsoft.com/office/powerpoint/2010/main" val="149047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a:t>
            </a:r>
          </a:p>
        </p:txBody>
      </p:sp>
      <p:sp>
        <p:nvSpPr>
          <p:cNvPr id="3" name="Content Placeholder 2"/>
          <p:cNvSpPr>
            <a:spLocks noGrp="1"/>
          </p:cNvSpPr>
          <p:nvPr>
            <p:ph idx="1"/>
          </p:nvPr>
        </p:nvSpPr>
        <p:spPr/>
        <p:txBody>
          <a:bodyPr/>
          <a:lstStyle/>
          <a:p>
            <a:r>
              <a:rPr lang="en-US" dirty="0"/>
              <a:t>Let us understand the concept of class and object in java programming through and example of ‘Room’.</a:t>
            </a:r>
          </a:p>
          <a:p>
            <a:r>
              <a:rPr lang="en-US" dirty="0"/>
              <a:t>A room of house, hostel, hotel or school possess common characteristics.</a:t>
            </a:r>
          </a:p>
          <a:p>
            <a:r>
              <a:rPr lang="en-US" dirty="0"/>
              <a:t>Each room can be uniquely identified by its properties like length, width, height, number of windows, etc.</a:t>
            </a:r>
          </a:p>
          <a:p>
            <a:r>
              <a:rPr lang="en-US" dirty="0"/>
              <a:t>To add or modify the details of above mentioned attributes we will create different methods.</a:t>
            </a:r>
          </a:p>
          <a:p>
            <a:r>
              <a:rPr lang="en-US" dirty="0"/>
              <a:t>Another Example:</a:t>
            </a:r>
          </a:p>
        </p:txBody>
      </p:sp>
      <p:sp>
        <p:nvSpPr>
          <p:cNvPr id="34" name="TextBox 33"/>
          <p:cNvSpPr txBox="1"/>
          <p:nvPr/>
        </p:nvSpPr>
        <p:spPr>
          <a:xfrm>
            <a:off x="473824" y="4140508"/>
            <a:ext cx="8153400" cy="2308324"/>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a:rPr>
              <a:t>class</a:t>
            </a:r>
            <a:r>
              <a:rPr lang="en-US" b="1" dirty="0">
                <a:solidFill>
                  <a:srgbClr val="000000"/>
                </a:solidFill>
                <a:latin typeface="Consolas"/>
              </a:rPr>
              <a:t> Car</a:t>
            </a:r>
            <a:r>
              <a:rPr lang="en-US" dirty="0">
                <a:solidFill>
                  <a:srgbClr val="000000"/>
                </a:solidFill>
                <a:latin typeface="Consolas"/>
              </a:rPr>
              <a:t>{</a:t>
            </a:r>
          </a:p>
          <a:p>
            <a:r>
              <a:rPr lang="en-US" dirty="0">
                <a:solidFill>
                  <a:srgbClr val="000000"/>
                </a:solidFill>
                <a:latin typeface="Consolas"/>
              </a:rPr>
              <a:t>	String </a:t>
            </a:r>
            <a:r>
              <a:rPr lang="en-US" dirty="0">
                <a:solidFill>
                  <a:srgbClr val="0000C0"/>
                </a:solidFill>
                <a:latin typeface="Consolas"/>
              </a:rPr>
              <a:t>company</a:t>
            </a:r>
            <a:r>
              <a:rPr lang="en-US" dirty="0">
                <a:solidFill>
                  <a:srgbClr val="000000"/>
                </a:solidFill>
                <a:latin typeface="Consolas"/>
              </a:rPr>
              <a:t>;</a:t>
            </a:r>
          </a:p>
          <a:p>
            <a:r>
              <a:rPr lang="en-US" dirty="0">
                <a:solidFill>
                  <a:srgbClr val="000000"/>
                </a:solidFill>
                <a:latin typeface="Consolas"/>
              </a:rPr>
              <a:t>	String </a:t>
            </a:r>
            <a:r>
              <a:rPr lang="en-US" dirty="0">
                <a:solidFill>
                  <a:srgbClr val="0000C0"/>
                </a:solidFill>
                <a:latin typeface="Consolas"/>
              </a:rPr>
              <a:t>model</a:t>
            </a:r>
            <a:r>
              <a:rPr lang="en-US" dirty="0">
                <a:solidFill>
                  <a:srgbClr val="000000"/>
                </a:solidFill>
                <a:latin typeface="Consolas"/>
              </a:rPr>
              <a:t>;</a:t>
            </a:r>
          </a:p>
          <a:p>
            <a:r>
              <a:rPr lang="en-US" b="1" dirty="0">
                <a:solidFill>
                  <a:srgbClr val="7F0055"/>
                </a:solidFill>
                <a:latin typeface="Consolas"/>
              </a:rPr>
              <a:t>	double</a:t>
            </a:r>
            <a:r>
              <a:rPr lang="en-US" b="1" dirty="0">
                <a:solidFill>
                  <a:srgbClr val="000000"/>
                </a:solidFill>
                <a:latin typeface="Consolas"/>
              </a:rPr>
              <a:t> </a:t>
            </a:r>
            <a:r>
              <a:rPr lang="en-US" b="1" dirty="0">
                <a:solidFill>
                  <a:srgbClr val="0000C0"/>
                </a:solidFill>
                <a:latin typeface="Consolas"/>
              </a:rPr>
              <a:t>price</a:t>
            </a:r>
            <a:r>
              <a:rPr lang="en-US" b="1" dirty="0">
                <a:solidFill>
                  <a:srgbClr val="000000"/>
                </a:solidFill>
                <a:latin typeface="Consolas"/>
              </a:rPr>
              <a:t>;</a:t>
            </a:r>
          </a:p>
          <a:p>
            <a:r>
              <a:rPr lang="en-US" b="1" dirty="0">
                <a:solidFill>
                  <a:srgbClr val="7F0055"/>
                </a:solidFill>
                <a:latin typeface="Consolas"/>
              </a:rPr>
              <a:t>	double</a:t>
            </a:r>
            <a:r>
              <a:rPr lang="en-US" b="1" dirty="0">
                <a:solidFill>
                  <a:srgbClr val="000000"/>
                </a:solidFill>
                <a:latin typeface="Consolas"/>
              </a:rPr>
              <a:t> </a:t>
            </a:r>
            <a:r>
              <a:rPr lang="en-US" b="1" dirty="0">
                <a:solidFill>
                  <a:srgbClr val="0000C0"/>
                </a:solidFill>
                <a:latin typeface="Consolas"/>
              </a:rPr>
              <a:t>mileage</a:t>
            </a:r>
            <a:r>
              <a:rPr lang="en-US" b="1" dirty="0">
                <a:solidFill>
                  <a:srgbClr val="000000"/>
                </a:solidFill>
                <a:latin typeface="Consolas"/>
              </a:rPr>
              <a:t>;</a:t>
            </a:r>
          </a:p>
          <a:p>
            <a:r>
              <a:rPr lang="en-IN" b="1" dirty="0">
                <a:solidFill>
                  <a:srgbClr val="000000"/>
                </a:solidFill>
                <a:latin typeface="Consolas"/>
              </a:rPr>
              <a:t>	void </a:t>
            </a:r>
            <a:r>
              <a:rPr lang="en-IN" b="1" dirty="0" err="1">
                <a:solidFill>
                  <a:srgbClr val="000000"/>
                </a:solidFill>
                <a:latin typeface="Consolas"/>
              </a:rPr>
              <a:t>addcar</a:t>
            </a:r>
            <a:r>
              <a:rPr lang="en-IN" b="1" dirty="0">
                <a:solidFill>
                  <a:srgbClr val="000000"/>
                </a:solidFill>
                <a:latin typeface="Consolas"/>
              </a:rPr>
              <a:t>(){…}</a:t>
            </a:r>
          </a:p>
          <a:p>
            <a:r>
              <a:rPr lang="en-IN" b="1" dirty="0">
                <a:solidFill>
                  <a:srgbClr val="000000"/>
                </a:solidFill>
                <a:latin typeface="Consolas"/>
                <a:cs typeface="Courier New" pitchFamily="49" charset="0"/>
              </a:rPr>
              <a:t>	void </a:t>
            </a:r>
            <a:r>
              <a:rPr lang="en-IN" b="1" dirty="0" err="1">
                <a:solidFill>
                  <a:srgbClr val="000000"/>
                </a:solidFill>
                <a:latin typeface="Consolas"/>
                <a:cs typeface="Courier New" pitchFamily="49" charset="0"/>
              </a:rPr>
              <a:t>viewcardetails</a:t>
            </a:r>
            <a:r>
              <a:rPr lang="en-IN" b="1" dirty="0">
                <a:solidFill>
                  <a:srgbClr val="000000"/>
                </a:solidFill>
                <a:latin typeface="Consolas"/>
                <a:cs typeface="Courier New" pitchFamily="49" charset="0"/>
              </a:rPr>
              <a:t>(){…}</a:t>
            </a:r>
            <a:endParaRPr lang="en-US" b="1" dirty="0">
              <a:solidFill>
                <a:srgbClr val="000000"/>
              </a:solidFill>
              <a:latin typeface="Courier New" pitchFamily="49" charset="0"/>
              <a:cs typeface="Courier New" pitchFamily="49" charset="0"/>
            </a:endParaRPr>
          </a:p>
          <a:p>
            <a:r>
              <a:rPr lang="en-US" dirty="0">
                <a:solidFill>
                  <a:srgbClr val="000000"/>
                </a:solidFill>
                <a:latin typeface="Consolas"/>
              </a:rPr>
              <a:t>}</a:t>
            </a:r>
          </a:p>
        </p:txBody>
      </p:sp>
    </p:spTree>
    <p:extLst>
      <p:ext uri="{BB962C8B-B14F-4D97-AF65-F5344CB8AC3E}">
        <p14:creationId xmlns:p14="http://schemas.microsoft.com/office/powerpoint/2010/main" val="3841984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Car Class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29000" y="2281081"/>
            <a:ext cx="5334000" cy="1862000"/>
          </a:xfrm>
          <a:prstGeom prst="rect">
            <a:avLst/>
          </a:prstGeom>
        </p:spPr>
      </p:pic>
      <p:sp>
        <p:nvSpPr>
          <p:cNvPr id="5" name="Freeform 4"/>
          <p:cNvSpPr/>
          <p:nvPr/>
        </p:nvSpPr>
        <p:spPr>
          <a:xfrm>
            <a:off x="4836000" y="1074051"/>
            <a:ext cx="2520000" cy="521835"/>
          </a:xfrm>
          <a:custGeom>
            <a:avLst/>
            <a:gdLst>
              <a:gd name="connsiteX0" fmla="*/ 0 w 1857374"/>
              <a:gd name="connsiteY0" fmla="*/ 0 h 742949"/>
              <a:gd name="connsiteX1" fmla="*/ 1857374 w 1857374"/>
              <a:gd name="connsiteY1" fmla="*/ 0 h 742949"/>
              <a:gd name="connsiteX2" fmla="*/ 1857374 w 1857374"/>
              <a:gd name="connsiteY2" fmla="*/ 742949 h 742949"/>
              <a:gd name="connsiteX3" fmla="*/ 0 w 1857374"/>
              <a:gd name="connsiteY3" fmla="*/ 742949 h 742949"/>
              <a:gd name="connsiteX4" fmla="*/ 0 w 1857374"/>
              <a:gd name="connsiteY4" fmla="*/ 0 h 742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7374" h="742949">
                <a:moveTo>
                  <a:pt x="0" y="0"/>
                </a:moveTo>
                <a:lnTo>
                  <a:pt x="1857374" y="0"/>
                </a:lnTo>
                <a:lnTo>
                  <a:pt x="1857374" y="742949"/>
                </a:lnTo>
                <a:lnTo>
                  <a:pt x="0" y="742949"/>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4696" tIns="134112" rIns="234696" bIns="134112" numCol="1" spcCol="1270" anchor="ctr" anchorCtr="0">
            <a:noAutofit/>
          </a:bodyPr>
          <a:lstStyle/>
          <a:p>
            <a:pPr lvl="0" algn="ctr" defTabSz="1466850">
              <a:lnSpc>
                <a:spcPct val="90000"/>
              </a:lnSpc>
              <a:spcBef>
                <a:spcPct val="0"/>
              </a:spcBef>
              <a:spcAft>
                <a:spcPct val="35000"/>
              </a:spcAft>
            </a:pPr>
            <a:r>
              <a:rPr lang="en-US" sz="3200" b="1" kern="1200" dirty="0"/>
              <a:t>Class: Car</a:t>
            </a:r>
          </a:p>
        </p:txBody>
      </p:sp>
      <p:graphicFrame>
        <p:nvGraphicFramePr>
          <p:cNvPr id="6" name="Table 5"/>
          <p:cNvGraphicFramePr>
            <a:graphicFrameLocks noGrp="1"/>
          </p:cNvGraphicFramePr>
          <p:nvPr/>
        </p:nvGraphicFramePr>
        <p:xfrm>
          <a:off x="141938" y="2106514"/>
          <a:ext cx="3352800" cy="4358640"/>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20000"/>
                    </a:ext>
                  </a:extLst>
                </a:gridCol>
              </a:tblGrid>
              <a:tr h="0">
                <a:tc>
                  <a:txBody>
                    <a:bodyPr/>
                    <a:lstStyle/>
                    <a:p>
                      <a:r>
                        <a:rPr lang="en-US" sz="2000" dirty="0"/>
                        <a:t>Properties (Describe)</a:t>
                      </a:r>
                    </a:p>
                  </a:txBody>
                  <a:tcPr/>
                </a:tc>
                <a:extLst>
                  <a:ext uri="{0D108BD9-81ED-4DB2-BD59-A6C34878D82A}">
                    <a16:rowId xmlns:a16="http://schemas.microsoft.com/office/drawing/2014/main" val="10000"/>
                  </a:ext>
                </a:extLst>
              </a:tr>
              <a:tr h="370840">
                <a:tc>
                  <a:txBody>
                    <a:bodyPr/>
                    <a:lstStyle/>
                    <a:p>
                      <a:r>
                        <a:rPr lang="en-US" sz="2000" dirty="0"/>
                        <a:t>Company</a:t>
                      </a:r>
                    </a:p>
                  </a:txBody>
                  <a:tcPr/>
                </a:tc>
                <a:extLst>
                  <a:ext uri="{0D108BD9-81ED-4DB2-BD59-A6C34878D82A}">
                    <a16:rowId xmlns:a16="http://schemas.microsoft.com/office/drawing/2014/main" val="10001"/>
                  </a:ext>
                </a:extLst>
              </a:tr>
              <a:tr h="370840">
                <a:tc>
                  <a:txBody>
                    <a:bodyPr/>
                    <a:lstStyle/>
                    <a:p>
                      <a:r>
                        <a:rPr lang="en-US" sz="2000" dirty="0"/>
                        <a:t>Model</a:t>
                      </a:r>
                    </a:p>
                  </a:txBody>
                  <a:tcPr/>
                </a:tc>
                <a:extLst>
                  <a:ext uri="{0D108BD9-81ED-4DB2-BD59-A6C34878D82A}">
                    <a16:rowId xmlns:a16="http://schemas.microsoft.com/office/drawing/2014/main" val="10002"/>
                  </a:ext>
                </a:extLst>
              </a:tr>
              <a:tr h="370840">
                <a:tc>
                  <a:txBody>
                    <a:bodyPr/>
                    <a:lstStyle/>
                    <a:p>
                      <a:r>
                        <a:rPr lang="en-US" sz="2000" dirty="0"/>
                        <a:t>Color</a:t>
                      </a:r>
                    </a:p>
                  </a:txBody>
                  <a:tcPr/>
                </a:tc>
                <a:extLst>
                  <a:ext uri="{0D108BD9-81ED-4DB2-BD59-A6C34878D82A}">
                    <a16:rowId xmlns:a16="http://schemas.microsoft.com/office/drawing/2014/main" val="10003"/>
                  </a:ext>
                </a:extLst>
              </a:tr>
              <a:tr h="370840">
                <a:tc>
                  <a:txBody>
                    <a:bodyPr/>
                    <a:lstStyle/>
                    <a:p>
                      <a:r>
                        <a:rPr lang="en-US" sz="2000" dirty="0"/>
                        <a:t>Mfg. Year</a:t>
                      </a:r>
                    </a:p>
                  </a:txBody>
                  <a:tcPr/>
                </a:tc>
                <a:extLst>
                  <a:ext uri="{0D108BD9-81ED-4DB2-BD59-A6C34878D82A}">
                    <a16:rowId xmlns:a16="http://schemas.microsoft.com/office/drawing/2014/main" val="10004"/>
                  </a:ext>
                </a:extLst>
              </a:tr>
              <a:tr h="370840">
                <a:tc>
                  <a:txBody>
                    <a:bodyPr/>
                    <a:lstStyle/>
                    <a:p>
                      <a:r>
                        <a:rPr lang="en-US" sz="2000" dirty="0"/>
                        <a:t>Price</a:t>
                      </a:r>
                    </a:p>
                  </a:txBody>
                  <a:tcPr/>
                </a:tc>
                <a:extLst>
                  <a:ext uri="{0D108BD9-81ED-4DB2-BD59-A6C34878D82A}">
                    <a16:rowId xmlns:a16="http://schemas.microsoft.com/office/drawing/2014/main" val="10005"/>
                  </a:ext>
                </a:extLst>
              </a:tr>
              <a:tr h="370840">
                <a:tc>
                  <a:txBody>
                    <a:bodyPr/>
                    <a:lstStyle/>
                    <a:p>
                      <a:r>
                        <a:rPr lang="en-US" sz="2000" dirty="0"/>
                        <a:t>Fuel Type</a:t>
                      </a:r>
                    </a:p>
                  </a:txBody>
                  <a:tcPr/>
                </a:tc>
                <a:extLst>
                  <a:ext uri="{0D108BD9-81ED-4DB2-BD59-A6C34878D82A}">
                    <a16:rowId xmlns:a16="http://schemas.microsoft.com/office/drawing/2014/main" val="10006"/>
                  </a:ext>
                </a:extLst>
              </a:tr>
              <a:tr h="370840">
                <a:tc>
                  <a:txBody>
                    <a:bodyPr/>
                    <a:lstStyle/>
                    <a:p>
                      <a:r>
                        <a:rPr lang="en-US" sz="2000" dirty="0"/>
                        <a:t>Mileage</a:t>
                      </a:r>
                    </a:p>
                  </a:txBody>
                  <a:tcPr/>
                </a:tc>
                <a:extLst>
                  <a:ext uri="{0D108BD9-81ED-4DB2-BD59-A6C34878D82A}">
                    <a16:rowId xmlns:a16="http://schemas.microsoft.com/office/drawing/2014/main" val="10007"/>
                  </a:ext>
                </a:extLst>
              </a:tr>
              <a:tr h="370840">
                <a:tc>
                  <a:txBody>
                    <a:bodyPr/>
                    <a:lstStyle/>
                    <a:p>
                      <a:r>
                        <a:rPr lang="en-US" sz="2000" dirty="0"/>
                        <a:t>Gear Type</a:t>
                      </a:r>
                    </a:p>
                  </a:txBody>
                  <a:tcPr/>
                </a:tc>
                <a:extLst>
                  <a:ext uri="{0D108BD9-81ED-4DB2-BD59-A6C34878D82A}">
                    <a16:rowId xmlns:a16="http://schemas.microsoft.com/office/drawing/2014/main" val="10008"/>
                  </a:ext>
                </a:extLst>
              </a:tr>
              <a:tr h="370840">
                <a:tc>
                  <a:txBody>
                    <a:bodyPr/>
                    <a:lstStyle/>
                    <a:p>
                      <a:r>
                        <a:rPr lang="en-US" sz="2000" dirty="0"/>
                        <a:t>Power Steering</a:t>
                      </a:r>
                    </a:p>
                  </a:txBody>
                  <a:tcPr/>
                </a:tc>
                <a:extLst>
                  <a:ext uri="{0D108BD9-81ED-4DB2-BD59-A6C34878D82A}">
                    <a16:rowId xmlns:a16="http://schemas.microsoft.com/office/drawing/2014/main" val="10009"/>
                  </a:ext>
                </a:extLst>
              </a:tr>
              <a:tr h="370840">
                <a:tc>
                  <a:txBody>
                    <a:bodyPr/>
                    <a:lstStyle/>
                    <a:p>
                      <a:r>
                        <a:rPr lang="en-US" sz="2000" dirty="0"/>
                        <a:t>Anti-Lock braking system</a:t>
                      </a:r>
                    </a:p>
                  </a:txBody>
                  <a:tcPr/>
                </a:tc>
                <a:extLst>
                  <a:ext uri="{0D108BD9-81ED-4DB2-BD59-A6C34878D82A}">
                    <a16:rowId xmlns:a16="http://schemas.microsoft.com/office/drawing/2014/main" val="10010"/>
                  </a:ext>
                </a:extLst>
              </a:tr>
            </a:tbl>
          </a:graphicData>
        </a:graphic>
      </p:graphicFrame>
      <p:graphicFrame>
        <p:nvGraphicFramePr>
          <p:cNvPr id="7" name="Table 6"/>
          <p:cNvGraphicFramePr>
            <a:graphicFrameLocks noGrp="1"/>
          </p:cNvGraphicFramePr>
          <p:nvPr/>
        </p:nvGraphicFramePr>
        <p:xfrm>
          <a:off x="8893233" y="3002406"/>
          <a:ext cx="3047999" cy="2773680"/>
        </p:xfrm>
        <a:graphic>
          <a:graphicData uri="http://schemas.openxmlformats.org/drawingml/2006/table">
            <a:tbl>
              <a:tblPr firstRow="1" bandRow="1">
                <a:tableStyleId>{5C22544A-7EE6-4342-B048-85BDC9FD1C3A}</a:tableStyleId>
              </a:tblPr>
              <a:tblGrid>
                <a:gridCol w="3047999">
                  <a:extLst>
                    <a:ext uri="{9D8B030D-6E8A-4147-A177-3AD203B41FA5}">
                      <a16:colId xmlns:a16="http://schemas.microsoft.com/office/drawing/2014/main" val="20000"/>
                    </a:ext>
                  </a:extLst>
                </a:gridCol>
              </a:tblGrid>
              <a:tr h="370840">
                <a:tc>
                  <a:txBody>
                    <a:bodyPr/>
                    <a:lstStyle/>
                    <a:p>
                      <a:r>
                        <a:rPr lang="en-US" sz="2000" dirty="0"/>
                        <a:t>Methods (Functions)</a:t>
                      </a:r>
                    </a:p>
                  </a:txBody>
                  <a:tcPr/>
                </a:tc>
                <a:extLst>
                  <a:ext uri="{0D108BD9-81ED-4DB2-BD59-A6C34878D82A}">
                    <a16:rowId xmlns:a16="http://schemas.microsoft.com/office/drawing/2014/main" val="10000"/>
                  </a:ext>
                </a:extLst>
              </a:tr>
              <a:tr h="370840">
                <a:tc>
                  <a:txBody>
                    <a:bodyPr/>
                    <a:lstStyle/>
                    <a:p>
                      <a:r>
                        <a:rPr lang="en-US" sz="2000" dirty="0">
                          <a:latin typeface="Consolas" panose="020B0609020204030204" pitchFamily="49" charset="0"/>
                        </a:rPr>
                        <a:t>Start</a:t>
                      </a:r>
                    </a:p>
                  </a:txBody>
                  <a:tcPr/>
                </a:tc>
                <a:extLst>
                  <a:ext uri="{0D108BD9-81ED-4DB2-BD59-A6C34878D82A}">
                    <a16:rowId xmlns:a16="http://schemas.microsoft.com/office/drawing/2014/main" val="10001"/>
                  </a:ext>
                </a:extLst>
              </a:tr>
              <a:tr h="370840">
                <a:tc>
                  <a:txBody>
                    <a:bodyPr/>
                    <a:lstStyle/>
                    <a:p>
                      <a:r>
                        <a:rPr lang="en-US" sz="2000" dirty="0">
                          <a:latin typeface="Consolas" panose="020B0609020204030204" pitchFamily="49" charset="0"/>
                        </a:rPr>
                        <a:t>Drive</a:t>
                      </a:r>
                    </a:p>
                  </a:txBody>
                  <a:tcPr/>
                </a:tc>
                <a:extLst>
                  <a:ext uri="{0D108BD9-81ED-4DB2-BD59-A6C34878D82A}">
                    <a16:rowId xmlns:a16="http://schemas.microsoft.com/office/drawing/2014/main" val="10002"/>
                  </a:ext>
                </a:extLst>
              </a:tr>
              <a:tr h="370840">
                <a:tc>
                  <a:txBody>
                    <a:bodyPr/>
                    <a:lstStyle/>
                    <a:p>
                      <a:r>
                        <a:rPr lang="en-US" sz="2000" dirty="0">
                          <a:latin typeface="Consolas" panose="020B0609020204030204" pitchFamily="49" charset="0"/>
                        </a:rPr>
                        <a:t>Park</a:t>
                      </a:r>
                    </a:p>
                  </a:txBody>
                  <a:tcPr/>
                </a:tc>
                <a:extLst>
                  <a:ext uri="{0D108BD9-81ED-4DB2-BD59-A6C34878D82A}">
                    <a16:rowId xmlns:a16="http://schemas.microsoft.com/office/drawing/2014/main" val="10003"/>
                  </a:ext>
                </a:extLst>
              </a:tr>
              <a:tr h="370840">
                <a:tc>
                  <a:txBody>
                    <a:bodyPr/>
                    <a:lstStyle/>
                    <a:p>
                      <a:r>
                        <a:rPr lang="en-US" sz="2000" dirty="0" err="1">
                          <a:latin typeface="Consolas" panose="020B0609020204030204" pitchFamily="49" charset="0"/>
                        </a:rPr>
                        <a:t>On_break</a:t>
                      </a:r>
                      <a:endParaRPr lang="en-US" sz="2000" dirty="0">
                        <a:latin typeface="Consolas" panose="020B0609020204030204" pitchFamily="49" charset="0"/>
                      </a:endParaRPr>
                    </a:p>
                  </a:txBody>
                  <a:tcPr/>
                </a:tc>
                <a:extLst>
                  <a:ext uri="{0D108BD9-81ED-4DB2-BD59-A6C34878D82A}">
                    <a16:rowId xmlns:a16="http://schemas.microsoft.com/office/drawing/2014/main" val="10004"/>
                  </a:ext>
                </a:extLst>
              </a:tr>
              <a:tr h="370840">
                <a:tc>
                  <a:txBody>
                    <a:bodyPr/>
                    <a:lstStyle/>
                    <a:p>
                      <a:r>
                        <a:rPr lang="en-US" sz="2000" dirty="0" err="1">
                          <a:latin typeface="Consolas" panose="020B0609020204030204" pitchFamily="49" charset="0"/>
                        </a:rPr>
                        <a:t>On_lock</a:t>
                      </a:r>
                      <a:endParaRPr lang="en-US" sz="2000" dirty="0">
                        <a:latin typeface="Consolas" panose="020B0609020204030204" pitchFamily="49" charset="0"/>
                      </a:endParaRP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rPr>
                        <a:t>On_turn</a:t>
                      </a:r>
                      <a:endParaRPr lang="en-US" sz="2000" dirty="0">
                        <a:latin typeface="Consolas" panose="020B0609020204030204" pitchFamily="49" charset="0"/>
                      </a:endParaRPr>
                    </a:p>
                  </a:txBody>
                  <a:tcPr/>
                </a:tc>
                <a:extLst>
                  <a:ext uri="{0D108BD9-81ED-4DB2-BD59-A6C34878D82A}">
                    <a16:rowId xmlns:a16="http://schemas.microsoft.com/office/drawing/2014/main" val="10006"/>
                  </a:ext>
                </a:extLst>
              </a:tr>
            </a:tbl>
          </a:graphicData>
        </a:graphic>
      </p:graphicFrame>
      <p:cxnSp>
        <p:nvCxnSpPr>
          <p:cNvPr id="8" name="Straight Arrow Connector 7"/>
          <p:cNvCxnSpPr/>
          <p:nvPr/>
        </p:nvCxnSpPr>
        <p:spPr>
          <a:xfrm flipH="1" flipV="1">
            <a:off x="3494738" y="2545651"/>
            <a:ext cx="990600" cy="305614"/>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8287789" y="2698458"/>
            <a:ext cx="947651" cy="244247"/>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057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a:t>
            </a:r>
            <a:endParaRPr lang="en-US" dirty="0"/>
          </a:p>
        </p:txBody>
      </p:sp>
      <p:sp>
        <p:nvSpPr>
          <p:cNvPr id="3" name="Content Placeholder 2"/>
          <p:cNvSpPr>
            <a:spLocks noGrp="1"/>
          </p:cNvSpPr>
          <p:nvPr>
            <p:ph idx="1"/>
          </p:nvPr>
        </p:nvSpPr>
        <p:spPr/>
        <p:txBody>
          <a:bodyPr/>
          <a:lstStyle/>
          <a:p>
            <a:r>
              <a:rPr lang="en-US" dirty="0"/>
              <a:t>An object is an </a:t>
            </a:r>
            <a:r>
              <a:rPr lang="en-US" dirty="0">
                <a:solidFill>
                  <a:srgbClr val="B71B1C"/>
                </a:solidFill>
              </a:rPr>
              <a:t>instance</a:t>
            </a:r>
            <a:r>
              <a:rPr lang="en-US" dirty="0"/>
              <a:t> of a </a:t>
            </a:r>
            <a:r>
              <a:rPr lang="en-US" dirty="0">
                <a:solidFill>
                  <a:srgbClr val="B71B1C"/>
                </a:solidFill>
              </a:rPr>
              <a:t>class</a:t>
            </a:r>
            <a:r>
              <a:rPr lang="en-US" dirty="0"/>
              <a:t>.</a:t>
            </a:r>
          </a:p>
          <a:p>
            <a:r>
              <a:rPr lang="en-US" dirty="0"/>
              <a:t>An object has a </a:t>
            </a:r>
            <a:r>
              <a:rPr lang="en-US" dirty="0">
                <a:solidFill>
                  <a:srgbClr val="B71B1C"/>
                </a:solidFill>
              </a:rPr>
              <a:t>state</a:t>
            </a:r>
            <a:r>
              <a:rPr lang="en-US" dirty="0"/>
              <a:t> and </a:t>
            </a:r>
            <a:r>
              <a:rPr lang="en-US" dirty="0">
                <a:solidFill>
                  <a:srgbClr val="B71B1C"/>
                </a:solidFill>
              </a:rPr>
              <a:t>behavior</a:t>
            </a:r>
            <a:r>
              <a:rPr lang="en-US" dirty="0"/>
              <a:t>. </a:t>
            </a:r>
          </a:p>
          <a:p>
            <a:pPr>
              <a:buNone/>
            </a:pPr>
            <a:r>
              <a:rPr lang="en-US" dirty="0"/>
              <a:t>	Example: A dog has </a:t>
            </a:r>
          </a:p>
          <a:p>
            <a:pPr>
              <a:buNone/>
            </a:pPr>
            <a:r>
              <a:rPr lang="en-US" dirty="0"/>
              <a:t>		states - color, name, breed as well as </a:t>
            </a:r>
          </a:p>
          <a:p>
            <a:pPr>
              <a:buNone/>
            </a:pPr>
            <a:r>
              <a:rPr lang="en-US" dirty="0"/>
              <a:t>		behaviors – wagging the tail, barking, eating.</a:t>
            </a:r>
          </a:p>
          <a:p>
            <a:r>
              <a:rPr lang="en-US" dirty="0"/>
              <a:t>The </a:t>
            </a:r>
            <a:r>
              <a:rPr lang="en-US" dirty="0">
                <a:solidFill>
                  <a:srgbClr val="B71B1C"/>
                </a:solidFill>
              </a:rPr>
              <a:t>state</a:t>
            </a:r>
            <a:r>
              <a:rPr lang="en-US" dirty="0"/>
              <a:t> of an object is stored in </a:t>
            </a:r>
            <a:r>
              <a:rPr lang="en-US" dirty="0">
                <a:solidFill>
                  <a:srgbClr val="B71B1C"/>
                </a:solidFill>
              </a:rPr>
              <a:t>fields</a:t>
            </a:r>
            <a:r>
              <a:rPr lang="en-US" dirty="0"/>
              <a:t> (variables), while </a:t>
            </a:r>
            <a:r>
              <a:rPr lang="en-US" dirty="0">
                <a:solidFill>
                  <a:srgbClr val="B71B1C"/>
                </a:solidFill>
              </a:rPr>
              <a:t>methods</a:t>
            </a:r>
            <a:r>
              <a:rPr lang="en-US" dirty="0"/>
              <a:t> (functions) display the object's </a:t>
            </a:r>
            <a:r>
              <a:rPr lang="en-US" dirty="0">
                <a:solidFill>
                  <a:srgbClr val="B71B1C"/>
                </a:solidFill>
              </a:rPr>
              <a:t>behavior</a:t>
            </a:r>
            <a:r>
              <a:rPr lang="en-US" dirty="0"/>
              <a:t>. </a:t>
            </a:r>
          </a:p>
          <a:p>
            <a:r>
              <a:rPr lang="en-US" dirty="0"/>
              <a:t>Creating an object from a class require the following steps:</a:t>
            </a:r>
          </a:p>
          <a:p>
            <a:pPr lvl="1"/>
            <a:r>
              <a:rPr lang="en-US" sz="2200" dirty="0"/>
              <a:t>Declaration: A variable (reference variable) name of type class is declared with syntax &lt;</a:t>
            </a:r>
            <a:r>
              <a:rPr lang="en-US" sz="2200" dirty="0" err="1"/>
              <a:t>classname</a:t>
            </a:r>
            <a:r>
              <a:rPr lang="en-US" sz="2200" dirty="0"/>
              <a:t>&gt; &lt;</a:t>
            </a:r>
            <a:r>
              <a:rPr lang="en-US" sz="2200" dirty="0" err="1"/>
              <a:t>variablename</a:t>
            </a:r>
            <a:r>
              <a:rPr lang="en-US" sz="2200" dirty="0"/>
              <a:t>&gt;</a:t>
            </a:r>
          </a:p>
          <a:p>
            <a:pPr lvl="1"/>
            <a:r>
              <a:rPr lang="en-US" sz="2200" dirty="0"/>
              <a:t>Instantiation: Keyword new is used to create the object by allocating memory.</a:t>
            </a:r>
          </a:p>
          <a:p>
            <a:pPr lvl="1"/>
            <a:r>
              <a:rPr lang="en-US" sz="2200" dirty="0"/>
              <a:t>Initialization: Constructor (a special type of method) is called to initialize the newly created object.</a:t>
            </a:r>
          </a:p>
          <a:p>
            <a:endParaRPr lang="en-US" dirty="0"/>
          </a:p>
        </p:txBody>
      </p:sp>
    </p:spTree>
    <p:extLst>
      <p:ext uri="{BB962C8B-B14F-4D97-AF65-F5344CB8AC3E}">
        <p14:creationId xmlns:p14="http://schemas.microsoft.com/office/powerpoint/2010/main" val="108957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a:t>
            </a:r>
            <a:endParaRPr lang="en-US" dirty="0"/>
          </a:p>
        </p:txBody>
      </p:sp>
      <p:sp>
        <p:nvSpPr>
          <p:cNvPr id="3" name="Content Placeholder 2"/>
          <p:cNvSpPr>
            <a:spLocks noGrp="1"/>
          </p:cNvSpPr>
          <p:nvPr>
            <p:ph idx="1"/>
          </p:nvPr>
        </p:nvSpPr>
        <p:spPr>
          <a:xfrm>
            <a:off x="159173" y="802433"/>
            <a:ext cx="11929641" cy="5775649"/>
          </a:xfrm>
        </p:spPr>
        <p:txBody>
          <a:bodyPr/>
          <a:lstStyle/>
          <a:p>
            <a:r>
              <a:rPr lang="en-US" dirty="0"/>
              <a:t>Remember that declaring a variable does not create an object.</a:t>
            </a:r>
          </a:p>
          <a:p>
            <a:r>
              <a:rPr lang="en-US" dirty="0"/>
              <a:t>In java, no variable can ever store an object.</a:t>
            </a:r>
          </a:p>
          <a:p>
            <a:r>
              <a:rPr lang="en-US" dirty="0"/>
              <a:t>A variable declared using class type can only store a reference to an object. So variables of class type are also referred to as reference variable.</a:t>
            </a:r>
          </a:p>
          <a:p>
            <a:r>
              <a:rPr lang="en-US" dirty="0"/>
              <a:t>Next step is to create an object. Operator new allocates the memory for an object and returns the address of the object.</a:t>
            </a:r>
          </a:p>
          <a:p>
            <a:r>
              <a:rPr lang="en-US" dirty="0"/>
              <a:t>There is a special portion of memory called the heap where the objects live.</a:t>
            </a:r>
          </a:p>
          <a:p>
            <a:r>
              <a:rPr lang="en-US" dirty="0"/>
              <a:t>When an object is created, in addition to allocation memory, a special method called ‘constructor’ is executed to perform initial task.</a:t>
            </a:r>
          </a:p>
          <a:p>
            <a:r>
              <a:rPr lang="en-US" dirty="0"/>
              <a:t>For example: </a:t>
            </a:r>
          </a:p>
          <a:p>
            <a:pPr lvl="1"/>
            <a:r>
              <a:rPr lang="en-US" sz="2200" dirty="0"/>
              <a:t>Room r1; //declaration	r1=new Room(); //instantiation</a:t>
            </a:r>
          </a:p>
          <a:p>
            <a:r>
              <a:rPr lang="en-US" dirty="0"/>
              <a:t>Another example: </a:t>
            </a:r>
          </a:p>
          <a:p>
            <a:pPr lvl="1"/>
            <a:r>
              <a:rPr lang="en-US" sz="2200" dirty="0"/>
              <a:t>Car c1=new Car();	</a:t>
            </a:r>
          </a:p>
          <a:p>
            <a:pPr lvl="1"/>
            <a:r>
              <a:rPr lang="en-US" sz="2200" dirty="0"/>
              <a:t>//we can also combine both declaration and instantiation.</a:t>
            </a:r>
          </a:p>
          <a:p>
            <a:endParaRPr lang="en-US" dirty="0"/>
          </a:p>
        </p:txBody>
      </p:sp>
    </p:spTree>
    <p:extLst>
      <p:ext uri="{BB962C8B-B14F-4D97-AF65-F5344CB8AC3E}">
        <p14:creationId xmlns:p14="http://schemas.microsoft.com/office/powerpoint/2010/main" val="428424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Objects of Class Bird</a:t>
            </a:r>
          </a:p>
        </p:txBody>
      </p:sp>
      <p:pic>
        <p:nvPicPr>
          <p:cNvPr id="9" name="Picture 8"/>
          <p:cNvPicPr>
            <a:picLocks noChangeAspect="1"/>
          </p:cNvPicPr>
          <p:nvPr/>
        </p:nvPicPr>
        <p:blipFill>
          <a:blip r:embed="rId2"/>
          <a:stretch>
            <a:fillRect/>
          </a:stretch>
        </p:blipFill>
        <p:spPr>
          <a:xfrm>
            <a:off x="634711" y="860888"/>
            <a:ext cx="2146015" cy="2459167"/>
          </a:xfrm>
          <a:prstGeom prst="rect">
            <a:avLst/>
          </a:prstGeom>
        </p:spPr>
      </p:pic>
      <p:pic>
        <p:nvPicPr>
          <p:cNvPr id="10" name="Picture 9"/>
          <p:cNvPicPr>
            <a:picLocks noChangeAspect="1"/>
          </p:cNvPicPr>
          <p:nvPr/>
        </p:nvPicPr>
        <p:blipFill>
          <a:blip r:embed="rId3"/>
          <a:stretch>
            <a:fillRect/>
          </a:stretch>
        </p:blipFill>
        <p:spPr>
          <a:xfrm>
            <a:off x="3093256" y="860888"/>
            <a:ext cx="2102198" cy="2466991"/>
          </a:xfrm>
          <a:prstGeom prst="rect">
            <a:avLst/>
          </a:prstGeom>
        </p:spPr>
      </p:pic>
      <p:pic>
        <p:nvPicPr>
          <p:cNvPr id="11" name="Picture 10"/>
          <p:cNvPicPr>
            <a:picLocks noChangeAspect="1"/>
          </p:cNvPicPr>
          <p:nvPr/>
        </p:nvPicPr>
        <p:blipFill>
          <a:blip r:embed="rId4"/>
          <a:stretch>
            <a:fillRect/>
          </a:stretch>
        </p:blipFill>
        <p:spPr>
          <a:xfrm>
            <a:off x="5507984" y="860887"/>
            <a:ext cx="1898656" cy="2460503"/>
          </a:xfrm>
          <a:prstGeom prst="rect">
            <a:avLst/>
          </a:prstGeom>
        </p:spPr>
      </p:pic>
      <p:pic>
        <p:nvPicPr>
          <p:cNvPr id="12" name="Picture 11"/>
          <p:cNvPicPr>
            <a:picLocks noChangeAspect="1"/>
          </p:cNvPicPr>
          <p:nvPr/>
        </p:nvPicPr>
        <p:blipFill>
          <a:blip r:embed="rId5"/>
          <a:stretch>
            <a:fillRect/>
          </a:stretch>
        </p:blipFill>
        <p:spPr>
          <a:xfrm>
            <a:off x="9672661" y="860887"/>
            <a:ext cx="1935462" cy="2466992"/>
          </a:xfrm>
          <a:prstGeom prst="rect">
            <a:avLst/>
          </a:prstGeom>
        </p:spPr>
      </p:pic>
      <p:pic>
        <p:nvPicPr>
          <p:cNvPr id="1040" name="Picture 16" descr="Peafowl - Wikipedia"/>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9170" y="860887"/>
            <a:ext cx="1640961" cy="2461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8884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Objects of Class Car</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143000"/>
            <a:ext cx="2177143" cy="1524000"/>
          </a:xfrm>
          <a:prstGeom prst="rect">
            <a:avLst/>
          </a:prstGeom>
        </p:spPr>
      </p:pic>
      <p:sp>
        <p:nvSpPr>
          <p:cNvPr id="5" name="TextBox 4"/>
          <p:cNvSpPr txBox="1"/>
          <p:nvPr/>
        </p:nvSpPr>
        <p:spPr>
          <a:xfrm>
            <a:off x="658585" y="2482334"/>
            <a:ext cx="1774372" cy="461665"/>
          </a:xfrm>
          <a:prstGeom prst="rect">
            <a:avLst/>
          </a:prstGeom>
          <a:noFill/>
        </p:spPr>
        <p:txBody>
          <a:bodyPr wrap="square" rtlCol="0">
            <a:spAutoFit/>
          </a:bodyPr>
          <a:lstStyle/>
          <a:p>
            <a:r>
              <a:rPr lang="en-IN" sz="2400" dirty="0"/>
              <a:t>Honda City</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3" y="1339780"/>
            <a:ext cx="2177143" cy="1130439"/>
          </a:xfrm>
          <a:prstGeom prst="rect">
            <a:avLst/>
          </a:prstGeom>
        </p:spPr>
      </p:pic>
      <p:sp>
        <p:nvSpPr>
          <p:cNvPr id="7" name="TextBox 6"/>
          <p:cNvSpPr txBox="1"/>
          <p:nvPr/>
        </p:nvSpPr>
        <p:spPr>
          <a:xfrm>
            <a:off x="3630388" y="2482334"/>
            <a:ext cx="1774372" cy="461665"/>
          </a:xfrm>
          <a:prstGeom prst="rect">
            <a:avLst/>
          </a:prstGeom>
          <a:noFill/>
        </p:spPr>
        <p:txBody>
          <a:bodyPr wrap="square" rtlCol="0">
            <a:spAutoFit/>
          </a:bodyPr>
          <a:lstStyle/>
          <a:p>
            <a:r>
              <a:rPr lang="en-IN" sz="2400" dirty="0"/>
              <a:t>Hyundai i20</a:t>
            </a: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6371" y="1275016"/>
            <a:ext cx="2177143" cy="1219724"/>
          </a:xfrm>
          <a:prstGeom prst="rect">
            <a:avLst/>
          </a:prstGeom>
        </p:spPr>
      </p:pic>
      <p:sp>
        <p:nvSpPr>
          <p:cNvPr id="9" name="TextBox 8"/>
          <p:cNvSpPr txBox="1"/>
          <p:nvPr/>
        </p:nvSpPr>
        <p:spPr>
          <a:xfrm>
            <a:off x="6547756" y="2462212"/>
            <a:ext cx="1774372" cy="461665"/>
          </a:xfrm>
          <a:prstGeom prst="rect">
            <a:avLst/>
          </a:prstGeom>
          <a:noFill/>
        </p:spPr>
        <p:txBody>
          <a:bodyPr wrap="square" rtlCol="0">
            <a:spAutoFit/>
          </a:bodyPr>
          <a:lstStyle/>
          <a:p>
            <a:r>
              <a:rPr lang="en-IN" sz="2400" dirty="0"/>
              <a:t>Sumo Grand </a:t>
            </a:r>
          </a:p>
        </p:txBody>
      </p:sp>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68282" y="3343469"/>
            <a:ext cx="2177143" cy="933061"/>
          </a:xfrm>
          <a:prstGeom prst="rect">
            <a:avLst/>
          </a:prstGeom>
        </p:spPr>
      </p:pic>
      <p:sp>
        <p:nvSpPr>
          <p:cNvPr id="11" name="TextBox 10"/>
          <p:cNvSpPr txBox="1"/>
          <p:nvPr/>
        </p:nvSpPr>
        <p:spPr>
          <a:xfrm>
            <a:off x="1962146" y="4387334"/>
            <a:ext cx="2389415" cy="461665"/>
          </a:xfrm>
          <a:prstGeom prst="rect">
            <a:avLst/>
          </a:prstGeom>
          <a:noFill/>
        </p:spPr>
        <p:txBody>
          <a:bodyPr wrap="square" rtlCol="0">
            <a:spAutoFit/>
          </a:bodyPr>
          <a:lstStyle/>
          <a:p>
            <a:r>
              <a:rPr lang="en-IN" sz="2400" dirty="0"/>
              <a:t>Mercedes E class</a:t>
            </a:r>
          </a:p>
        </p:txBody>
      </p:sp>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33257" y="3303031"/>
            <a:ext cx="2177143" cy="1047750"/>
          </a:xfrm>
          <a:prstGeom prst="rect">
            <a:avLst/>
          </a:prstGeom>
        </p:spPr>
      </p:pic>
      <p:sp>
        <p:nvSpPr>
          <p:cNvPr id="13" name="TextBox 12"/>
          <p:cNvSpPr txBox="1"/>
          <p:nvPr/>
        </p:nvSpPr>
        <p:spPr>
          <a:xfrm>
            <a:off x="5059135" y="4404240"/>
            <a:ext cx="1725386" cy="461665"/>
          </a:xfrm>
          <a:prstGeom prst="rect">
            <a:avLst/>
          </a:prstGeom>
          <a:noFill/>
        </p:spPr>
        <p:txBody>
          <a:bodyPr wrap="square" rtlCol="0">
            <a:spAutoFit/>
          </a:bodyPr>
          <a:lstStyle/>
          <a:p>
            <a:r>
              <a:rPr lang="en-IN" sz="2400" dirty="0"/>
              <a:t>Swift  </a:t>
            </a:r>
            <a:r>
              <a:rPr lang="en-IN" sz="2400" dirty="0" err="1"/>
              <a:t>Dzire</a:t>
            </a:r>
            <a:endParaRPr lang="en-IN" sz="2400" dirty="0"/>
          </a:p>
        </p:txBody>
      </p:sp>
    </p:spTree>
    <p:extLst>
      <p:ext uri="{BB962C8B-B14F-4D97-AF65-F5344CB8AC3E}">
        <p14:creationId xmlns:p14="http://schemas.microsoft.com/office/powerpoint/2010/main" val="13810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t>Class</a:t>
            </a:r>
            <a:endParaRPr lang="en-IN" sz="4200" b="1" dirty="0"/>
          </a:p>
        </p:txBody>
      </p:sp>
      <p:pic>
        <p:nvPicPr>
          <p:cNvPr id="5124" name="Picture 4" descr="Image result"/>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867524" y="1676399"/>
            <a:ext cx="3495675" cy="34194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age resul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28801" y="1676400"/>
            <a:ext cx="4323685" cy="34194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49213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Rectangle Class</a:t>
            </a:r>
          </a:p>
        </p:txBody>
      </p:sp>
      <p:sp>
        <p:nvSpPr>
          <p:cNvPr id="3" name="Content Placeholder 2"/>
          <p:cNvSpPr>
            <a:spLocks noGrp="1"/>
          </p:cNvSpPr>
          <p:nvPr>
            <p:ph idx="1"/>
          </p:nvPr>
        </p:nvSpPr>
        <p:spPr>
          <a:xfrm>
            <a:off x="131180" y="863445"/>
            <a:ext cx="11929641" cy="2021072"/>
          </a:xfrm>
        </p:spPr>
        <p:txBody>
          <a:bodyPr/>
          <a:lstStyle/>
          <a:p>
            <a:r>
              <a:rPr lang="en-US" dirty="0"/>
              <a:t>Properties in rectangle Class</a:t>
            </a:r>
          </a:p>
          <a:p>
            <a:pPr lvl="1"/>
            <a:r>
              <a:rPr lang="en-US" sz="2200" dirty="0"/>
              <a:t>length</a:t>
            </a:r>
          </a:p>
          <a:p>
            <a:pPr lvl="1"/>
            <a:r>
              <a:rPr lang="en-US" sz="2200" dirty="0"/>
              <a:t>width</a:t>
            </a:r>
          </a:p>
          <a:p>
            <a:pPr lvl="1"/>
            <a:r>
              <a:rPr lang="en-US" sz="2200" dirty="0" err="1"/>
              <a:t>borderColor</a:t>
            </a:r>
            <a:endParaRPr lang="en-US" sz="2200" dirty="0"/>
          </a:p>
          <a:p>
            <a:pPr lvl="1"/>
            <a:r>
              <a:rPr lang="en-US" sz="2200" dirty="0" err="1"/>
              <a:t>backgroundColor</a:t>
            </a:r>
            <a:endParaRPr lang="en-US" sz="2200" dirty="0"/>
          </a:p>
        </p:txBody>
      </p:sp>
      <p:sp>
        <p:nvSpPr>
          <p:cNvPr id="4" name="Rectangle 3"/>
          <p:cNvSpPr/>
          <p:nvPr/>
        </p:nvSpPr>
        <p:spPr>
          <a:xfrm>
            <a:off x="415847" y="3360344"/>
            <a:ext cx="3064438" cy="16047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length = 5</a:t>
            </a:r>
          </a:p>
          <a:p>
            <a:pPr algn="ctr"/>
            <a:r>
              <a:rPr lang="en-US" sz="2000" dirty="0">
                <a:solidFill>
                  <a:schemeClr val="tx1"/>
                </a:solidFill>
              </a:rPr>
              <a:t>width = 2</a:t>
            </a:r>
          </a:p>
          <a:p>
            <a:pPr algn="ctr"/>
            <a:r>
              <a:rPr lang="en-US" sz="2000" dirty="0" err="1">
                <a:solidFill>
                  <a:schemeClr val="tx1"/>
                </a:solidFill>
              </a:rPr>
              <a:t>borderColor</a:t>
            </a:r>
            <a:r>
              <a:rPr lang="en-US" sz="2000" dirty="0">
                <a:solidFill>
                  <a:schemeClr val="tx1"/>
                </a:solidFill>
              </a:rPr>
              <a:t>=black</a:t>
            </a:r>
          </a:p>
          <a:p>
            <a:pPr algn="ctr"/>
            <a:r>
              <a:rPr lang="en-US" sz="2000" dirty="0" err="1">
                <a:solidFill>
                  <a:schemeClr val="tx1"/>
                </a:solidFill>
              </a:rPr>
              <a:t>backgroundColor</a:t>
            </a:r>
            <a:r>
              <a:rPr lang="en-US" sz="2000" dirty="0">
                <a:solidFill>
                  <a:schemeClr val="tx1"/>
                </a:solidFill>
              </a:rPr>
              <a:t>=white</a:t>
            </a:r>
          </a:p>
        </p:txBody>
      </p:sp>
      <p:sp>
        <p:nvSpPr>
          <p:cNvPr id="5" name="Rectangle 4"/>
          <p:cNvSpPr/>
          <p:nvPr/>
        </p:nvSpPr>
        <p:spPr>
          <a:xfrm>
            <a:off x="3909498" y="3342735"/>
            <a:ext cx="1474265" cy="2386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length = 2</a:t>
            </a:r>
          </a:p>
          <a:p>
            <a:pPr algn="ctr"/>
            <a:r>
              <a:rPr lang="en-US" sz="2000" dirty="0">
                <a:solidFill>
                  <a:schemeClr val="tx1"/>
                </a:solidFill>
              </a:rPr>
              <a:t>width = 5</a:t>
            </a:r>
          </a:p>
          <a:p>
            <a:pPr algn="ctr"/>
            <a:r>
              <a:rPr lang="en-US" sz="2000" dirty="0" err="1">
                <a:solidFill>
                  <a:schemeClr val="tx1"/>
                </a:solidFill>
              </a:rPr>
              <a:t>borderColor</a:t>
            </a:r>
            <a:r>
              <a:rPr lang="en-US" sz="2000" dirty="0">
                <a:solidFill>
                  <a:schemeClr val="tx1"/>
                </a:solidFill>
              </a:rPr>
              <a:t>=black</a:t>
            </a:r>
          </a:p>
          <a:p>
            <a:pPr algn="ctr"/>
            <a:r>
              <a:rPr lang="en-US" sz="2000" dirty="0" err="1">
                <a:solidFill>
                  <a:schemeClr val="tx1"/>
                </a:solidFill>
              </a:rPr>
              <a:t>backgroundColor</a:t>
            </a:r>
            <a:r>
              <a:rPr lang="en-US" sz="2000" dirty="0">
                <a:solidFill>
                  <a:schemeClr val="tx1"/>
                </a:solidFill>
              </a:rPr>
              <a:t>=white</a:t>
            </a:r>
          </a:p>
        </p:txBody>
      </p:sp>
      <p:sp>
        <p:nvSpPr>
          <p:cNvPr id="6" name="Rectangle 5"/>
          <p:cNvSpPr/>
          <p:nvPr/>
        </p:nvSpPr>
        <p:spPr>
          <a:xfrm>
            <a:off x="5812975" y="3307788"/>
            <a:ext cx="2839411" cy="19383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length = 3</a:t>
            </a:r>
          </a:p>
          <a:p>
            <a:pPr algn="ctr"/>
            <a:r>
              <a:rPr lang="en-US" sz="2000" dirty="0">
                <a:solidFill>
                  <a:schemeClr val="tx1"/>
                </a:solidFill>
              </a:rPr>
              <a:t>width = 3</a:t>
            </a:r>
          </a:p>
          <a:p>
            <a:pPr algn="ctr"/>
            <a:r>
              <a:rPr lang="en-US" sz="2000" dirty="0" err="1">
                <a:solidFill>
                  <a:schemeClr val="tx1"/>
                </a:solidFill>
              </a:rPr>
              <a:t>borderColor</a:t>
            </a:r>
            <a:r>
              <a:rPr lang="en-US" sz="2000" dirty="0">
                <a:solidFill>
                  <a:schemeClr val="tx1"/>
                </a:solidFill>
              </a:rPr>
              <a:t>=red</a:t>
            </a:r>
          </a:p>
          <a:p>
            <a:pPr algn="ctr"/>
            <a:r>
              <a:rPr lang="en-US" sz="2000" dirty="0" err="1">
                <a:solidFill>
                  <a:schemeClr val="tx1"/>
                </a:solidFill>
              </a:rPr>
              <a:t>backgroundColor</a:t>
            </a:r>
            <a:r>
              <a:rPr lang="en-US" sz="2000" dirty="0">
                <a:solidFill>
                  <a:schemeClr val="tx1"/>
                </a:solidFill>
              </a:rPr>
              <a:t>=white</a:t>
            </a:r>
          </a:p>
        </p:txBody>
      </p:sp>
      <p:sp>
        <p:nvSpPr>
          <p:cNvPr id="7" name="Rectangle 6"/>
          <p:cNvSpPr/>
          <p:nvPr/>
        </p:nvSpPr>
        <p:spPr>
          <a:xfrm>
            <a:off x="9081598" y="3305402"/>
            <a:ext cx="2687626" cy="12904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length = 5</a:t>
            </a:r>
          </a:p>
          <a:p>
            <a:pPr algn="ctr"/>
            <a:r>
              <a:rPr lang="en-US" sz="2000" dirty="0">
                <a:solidFill>
                  <a:schemeClr val="tx1"/>
                </a:solidFill>
              </a:rPr>
              <a:t>width = 2</a:t>
            </a:r>
          </a:p>
          <a:p>
            <a:pPr algn="ctr"/>
            <a:r>
              <a:rPr lang="en-US" sz="2000" dirty="0" err="1">
                <a:solidFill>
                  <a:schemeClr val="tx1"/>
                </a:solidFill>
              </a:rPr>
              <a:t>borderColor</a:t>
            </a:r>
            <a:r>
              <a:rPr lang="en-US" sz="2000" dirty="0">
                <a:solidFill>
                  <a:schemeClr val="tx1"/>
                </a:solidFill>
              </a:rPr>
              <a:t>=none</a:t>
            </a:r>
          </a:p>
          <a:p>
            <a:pPr algn="ctr"/>
            <a:r>
              <a:rPr lang="en-US" sz="2000" dirty="0" err="1">
                <a:solidFill>
                  <a:schemeClr val="tx1"/>
                </a:solidFill>
              </a:rPr>
              <a:t>backgroundColor</a:t>
            </a:r>
            <a:r>
              <a:rPr lang="en-US" sz="2000" dirty="0">
                <a:solidFill>
                  <a:schemeClr val="tx1"/>
                </a:solidFill>
              </a:rPr>
              <a:t>=yellow</a:t>
            </a:r>
          </a:p>
        </p:txBody>
      </p:sp>
    </p:spTree>
    <p:extLst>
      <p:ext uri="{BB962C8B-B14F-4D97-AF65-F5344CB8AC3E}">
        <p14:creationId xmlns:p14="http://schemas.microsoft.com/office/powerpoint/2010/main" val="191765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mj-lt"/>
              </a:rPr>
              <a:t>Attributes and operations</a:t>
            </a:r>
            <a:endParaRPr lang="en-IN" b="1" dirty="0">
              <a:latin typeface="+mj-lt"/>
            </a:endParaRPr>
          </a:p>
        </p:txBody>
      </p:sp>
      <p:pic>
        <p:nvPicPr>
          <p:cNvPr id="1026" name="Picture 2" descr="Image result for person cartoon"/>
          <p:cNvPicPr>
            <a:picLocks noGrp="1" noChangeAspect="1" noChangeArrowheads="1"/>
          </p:cNvPicPr>
          <p:nvPr>
            <p:ph idx="1"/>
          </p:nvPr>
        </p:nvPicPr>
        <p:blipFill>
          <a:blip r:embed="rId4" cstate="print">
            <a:extLst>
              <a:ext uri="{28A0092B-C50C-407E-A947-70E740481C1C}">
                <a14:useLocalDpi xmlns:a14="http://schemas.microsoft.com/office/drawing/2010/main" val="0"/>
              </a:ext>
            </a:extLst>
          </a:blip>
          <a:stretch>
            <a:fillRect/>
          </a:stretch>
        </p:blipFill>
        <p:spPr bwMode="auto">
          <a:xfrm>
            <a:off x="2362200" y="1037647"/>
            <a:ext cx="1928553" cy="1446415"/>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4" descr="Image result"/>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2" name="Picture 8"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75200" y="1041400"/>
            <a:ext cx="1981200" cy="1397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2362200" y="2819401"/>
            <a:ext cx="1930400" cy="1200329"/>
          </a:xfrm>
          <a:prstGeom prst="rect">
            <a:avLst/>
          </a:prstGeom>
          <a:noFill/>
        </p:spPr>
        <p:txBody>
          <a:bodyPr wrap="square" rtlCol="0">
            <a:spAutoFit/>
          </a:bodyPr>
          <a:lstStyle/>
          <a:p>
            <a:r>
              <a:rPr lang="en-US" b="1" dirty="0"/>
              <a:t>Attributes:</a:t>
            </a:r>
          </a:p>
          <a:p>
            <a:r>
              <a:rPr lang="en-US" dirty="0"/>
              <a:t>Name</a:t>
            </a:r>
          </a:p>
          <a:p>
            <a:r>
              <a:rPr lang="en-US" dirty="0"/>
              <a:t>Age</a:t>
            </a:r>
          </a:p>
          <a:p>
            <a:r>
              <a:rPr lang="en-US" dirty="0"/>
              <a:t>Weight</a:t>
            </a:r>
            <a:endParaRPr lang="en-IN" dirty="0"/>
          </a:p>
        </p:txBody>
      </p:sp>
      <p:pic>
        <p:nvPicPr>
          <p:cNvPr id="14" name="Picture 4" descr="Image resul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49889" y="1041400"/>
            <a:ext cx="2949787" cy="13208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2413000" y="4191001"/>
            <a:ext cx="1930400" cy="1200329"/>
          </a:xfrm>
          <a:prstGeom prst="rect">
            <a:avLst/>
          </a:prstGeom>
          <a:noFill/>
        </p:spPr>
        <p:txBody>
          <a:bodyPr wrap="square" rtlCol="0">
            <a:spAutoFit/>
          </a:bodyPr>
          <a:lstStyle/>
          <a:p>
            <a:r>
              <a:rPr lang="en-US" b="1" dirty="0"/>
              <a:t>Operations:</a:t>
            </a:r>
          </a:p>
          <a:p>
            <a:r>
              <a:rPr lang="en-US" dirty="0"/>
              <a:t>Eat</a:t>
            </a:r>
          </a:p>
          <a:p>
            <a:r>
              <a:rPr lang="en-US" dirty="0"/>
              <a:t>Sleep	</a:t>
            </a:r>
          </a:p>
          <a:p>
            <a:r>
              <a:rPr lang="en-US" dirty="0"/>
              <a:t>Walk	</a:t>
            </a:r>
            <a:endParaRPr lang="en-IN" dirty="0"/>
          </a:p>
        </p:txBody>
      </p:sp>
      <p:sp>
        <p:nvSpPr>
          <p:cNvPr id="18" name="TextBox 17"/>
          <p:cNvSpPr txBox="1"/>
          <p:nvPr/>
        </p:nvSpPr>
        <p:spPr>
          <a:xfrm>
            <a:off x="4800600" y="2819401"/>
            <a:ext cx="1930400" cy="1200329"/>
          </a:xfrm>
          <a:prstGeom prst="rect">
            <a:avLst/>
          </a:prstGeom>
          <a:noFill/>
        </p:spPr>
        <p:txBody>
          <a:bodyPr wrap="square" rtlCol="0">
            <a:spAutoFit/>
          </a:bodyPr>
          <a:lstStyle/>
          <a:p>
            <a:r>
              <a:rPr lang="en-US" b="1" dirty="0"/>
              <a:t>Attributes:</a:t>
            </a:r>
          </a:p>
          <a:p>
            <a:r>
              <a:rPr lang="en-US" dirty="0"/>
              <a:t>Company</a:t>
            </a:r>
          </a:p>
          <a:p>
            <a:r>
              <a:rPr lang="en-US" dirty="0"/>
              <a:t>Model</a:t>
            </a:r>
          </a:p>
          <a:p>
            <a:r>
              <a:rPr lang="en-US" dirty="0"/>
              <a:t>Weight</a:t>
            </a:r>
            <a:endParaRPr lang="en-IN" dirty="0"/>
          </a:p>
        </p:txBody>
      </p:sp>
      <p:sp>
        <p:nvSpPr>
          <p:cNvPr id="19" name="TextBox 18"/>
          <p:cNvSpPr txBox="1"/>
          <p:nvPr/>
        </p:nvSpPr>
        <p:spPr>
          <a:xfrm>
            <a:off x="4851400" y="4191001"/>
            <a:ext cx="1930400" cy="1200329"/>
          </a:xfrm>
          <a:prstGeom prst="rect">
            <a:avLst/>
          </a:prstGeom>
          <a:noFill/>
        </p:spPr>
        <p:txBody>
          <a:bodyPr wrap="square" rtlCol="0">
            <a:spAutoFit/>
          </a:bodyPr>
          <a:lstStyle/>
          <a:p>
            <a:r>
              <a:rPr lang="en-US" b="1" dirty="0"/>
              <a:t>Operations:</a:t>
            </a:r>
          </a:p>
          <a:p>
            <a:r>
              <a:rPr lang="en-US" dirty="0"/>
              <a:t>Drive</a:t>
            </a:r>
          </a:p>
          <a:p>
            <a:r>
              <a:rPr lang="en-US" dirty="0"/>
              <a:t>Stop</a:t>
            </a:r>
          </a:p>
          <a:p>
            <a:r>
              <a:rPr lang="en-US" dirty="0" err="1"/>
              <a:t>FillFuel</a:t>
            </a:r>
            <a:endParaRPr lang="en-IN" dirty="0"/>
          </a:p>
        </p:txBody>
      </p:sp>
      <p:sp>
        <p:nvSpPr>
          <p:cNvPr id="20" name="TextBox 19"/>
          <p:cNvSpPr txBox="1"/>
          <p:nvPr/>
        </p:nvSpPr>
        <p:spPr>
          <a:xfrm>
            <a:off x="7620000" y="2819401"/>
            <a:ext cx="1930400" cy="1200329"/>
          </a:xfrm>
          <a:prstGeom prst="rect">
            <a:avLst/>
          </a:prstGeom>
          <a:noFill/>
        </p:spPr>
        <p:txBody>
          <a:bodyPr wrap="square" rtlCol="0">
            <a:spAutoFit/>
          </a:bodyPr>
          <a:lstStyle/>
          <a:p>
            <a:r>
              <a:rPr lang="en-US" b="1" dirty="0"/>
              <a:t>Attributes:</a:t>
            </a:r>
          </a:p>
          <a:p>
            <a:r>
              <a:rPr lang="en-US" dirty="0" err="1"/>
              <a:t>AccountNo</a:t>
            </a:r>
            <a:endParaRPr lang="en-US" dirty="0"/>
          </a:p>
          <a:p>
            <a:r>
              <a:rPr lang="en-US" dirty="0" err="1"/>
              <a:t>HolderName</a:t>
            </a:r>
            <a:endParaRPr lang="en-US" dirty="0"/>
          </a:p>
          <a:p>
            <a:r>
              <a:rPr lang="en-US" dirty="0"/>
              <a:t>Balance</a:t>
            </a:r>
          </a:p>
        </p:txBody>
      </p:sp>
      <p:sp>
        <p:nvSpPr>
          <p:cNvPr id="21" name="TextBox 20"/>
          <p:cNvSpPr txBox="1"/>
          <p:nvPr/>
        </p:nvSpPr>
        <p:spPr>
          <a:xfrm>
            <a:off x="7670800" y="4191001"/>
            <a:ext cx="1930400" cy="1200329"/>
          </a:xfrm>
          <a:prstGeom prst="rect">
            <a:avLst/>
          </a:prstGeom>
          <a:noFill/>
        </p:spPr>
        <p:txBody>
          <a:bodyPr wrap="square" rtlCol="0">
            <a:spAutoFit/>
          </a:bodyPr>
          <a:lstStyle/>
          <a:p>
            <a:r>
              <a:rPr lang="en-US" b="1" dirty="0"/>
              <a:t>Operations:</a:t>
            </a:r>
          </a:p>
          <a:p>
            <a:r>
              <a:rPr lang="en-US" dirty="0"/>
              <a:t>Deposit</a:t>
            </a:r>
          </a:p>
          <a:p>
            <a:r>
              <a:rPr lang="en-US" dirty="0"/>
              <a:t>Withdraw</a:t>
            </a:r>
          </a:p>
          <a:p>
            <a:r>
              <a:rPr lang="en-US" dirty="0"/>
              <a:t>Transfer</a:t>
            </a:r>
            <a:endParaRPr lang="en-IN" dirty="0"/>
          </a:p>
        </p:txBody>
      </p:sp>
      <p:sp>
        <p:nvSpPr>
          <p:cNvPr id="11" name="TextBox 10"/>
          <p:cNvSpPr txBox="1"/>
          <p:nvPr/>
        </p:nvSpPr>
        <p:spPr>
          <a:xfrm>
            <a:off x="2369586" y="5726669"/>
            <a:ext cx="7452828" cy="461665"/>
          </a:xfrm>
          <a:prstGeom prst="rect">
            <a:avLst/>
          </a:prstGeom>
          <a:noFill/>
        </p:spPr>
        <p:txBody>
          <a:bodyPr wrap="square" rtlCol="0">
            <a:spAutoFit/>
          </a:bodyPr>
          <a:lstStyle/>
          <a:p>
            <a:r>
              <a:rPr lang="en-US" sz="2400" dirty="0">
                <a:solidFill>
                  <a:srgbClr val="FF0000"/>
                </a:solidFill>
              </a:rPr>
              <a:t>Write down 5 objects with its attributes and operations </a:t>
            </a:r>
            <a:endParaRPr lang="en-IN" sz="2400" dirty="0">
              <a:solidFill>
                <a:srgbClr val="FF0000"/>
              </a:solidFill>
            </a:endParaRPr>
          </a:p>
        </p:txBody>
      </p:sp>
    </p:spTree>
    <p:custDataLst>
      <p:tags r:id="rId1"/>
    </p:custDataLst>
    <p:extLst>
      <p:ext uri="{BB962C8B-B14F-4D97-AF65-F5344CB8AC3E}">
        <p14:creationId xmlns:p14="http://schemas.microsoft.com/office/powerpoint/2010/main" val="353185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dirty="0"/>
              <a:t>Procedural Vs. Object Oriented Programming</a:t>
            </a:r>
          </a:p>
        </p:txBody>
      </p:sp>
      <p:graphicFrame>
        <p:nvGraphicFramePr>
          <p:cNvPr id="4" name="Table 3"/>
          <p:cNvGraphicFramePr>
            <a:graphicFrameLocks noGrp="1"/>
          </p:cNvGraphicFramePr>
          <p:nvPr>
            <p:extLst>
              <p:ext uri="{D42A27DB-BD31-4B8C-83A1-F6EECF244321}">
                <p14:modId xmlns:p14="http://schemas.microsoft.com/office/powerpoint/2010/main" val="3269586105"/>
              </p:ext>
            </p:extLst>
          </p:nvPr>
        </p:nvGraphicFramePr>
        <p:xfrm>
          <a:off x="1280651" y="1258025"/>
          <a:ext cx="8763000" cy="457200"/>
        </p:xfrm>
        <a:graphic>
          <a:graphicData uri="http://schemas.openxmlformats.org/drawingml/2006/table">
            <a:tbl>
              <a:tblPr firstRow="1" bandRow="1">
                <a:tableStyleId>{5C22544A-7EE6-4342-B048-85BDC9FD1C3A}</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algn="ctr"/>
                      <a:r>
                        <a:rPr lang="en-IN" sz="2400" dirty="0"/>
                        <a:t>POP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t>OOP</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387824909"/>
              </p:ext>
            </p:extLst>
          </p:nvPr>
        </p:nvGraphicFramePr>
        <p:xfrm>
          <a:off x="1280651" y="1726429"/>
          <a:ext cx="8763000" cy="762000"/>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marL="0" algn="just" defTabSz="914400" rtl="0" eaLnBrk="1" latinLnBrk="0" hangingPunct="1"/>
                      <a:r>
                        <a:rPr lang="en-US" sz="2200" b="0" kern="1200" dirty="0">
                          <a:solidFill>
                            <a:schemeClr val="dk1"/>
                          </a:solidFill>
                          <a:effectLst/>
                          <a:latin typeface="+mn-lt"/>
                          <a:ea typeface="+mn-ea"/>
                          <a:cs typeface="+mn-cs"/>
                        </a:rPr>
                        <a:t>Emphasis is on doing things not on data, means it is function driven</a:t>
                      </a:r>
                      <a:endParaRPr lang="en-IN" sz="2200" b="0" kern="1200" dirty="0">
                        <a:solidFill>
                          <a:schemeClr val="dk1"/>
                        </a:solidFill>
                        <a:effectLst/>
                        <a:latin typeface="+mn-lt"/>
                        <a:ea typeface="+mn-ea"/>
                        <a:cs typeface="+mn-cs"/>
                      </a:endParaRPr>
                    </a:p>
                  </a:txBody>
                  <a:tcPr/>
                </a:tc>
                <a:tc>
                  <a:txBody>
                    <a:bodyPr/>
                    <a:lstStyle/>
                    <a:p>
                      <a:pPr marL="0" algn="just" defTabSz="914400" rtl="0" eaLnBrk="1" latinLnBrk="0" hangingPunct="1"/>
                      <a:r>
                        <a:rPr lang="en-US" sz="2200" b="0" kern="1200" dirty="0">
                          <a:solidFill>
                            <a:schemeClr val="dk1"/>
                          </a:solidFill>
                          <a:effectLst/>
                          <a:latin typeface="+mn-lt"/>
                          <a:ea typeface="+mn-ea"/>
                          <a:cs typeface="+mn-cs"/>
                        </a:rPr>
                        <a:t>Emphasis is on data rather than procedure, means object driven</a:t>
                      </a:r>
                      <a:endParaRPr lang="en-IN" sz="2200" b="0" kern="1200" dirty="0">
                        <a:solidFill>
                          <a:schemeClr val="dk1"/>
                        </a:solidFill>
                        <a:effectLst/>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680946229"/>
              </p:ext>
            </p:extLst>
          </p:nvPr>
        </p:nvGraphicFramePr>
        <p:xfrm>
          <a:off x="1280651" y="2490483"/>
          <a:ext cx="8763000" cy="762000"/>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marL="0" algn="just" defTabSz="914400" rtl="0" eaLnBrk="1" latinLnBrk="0" hangingPunct="1"/>
                      <a:r>
                        <a:rPr lang="en-US" sz="2200" b="0" kern="1200" dirty="0">
                          <a:solidFill>
                            <a:schemeClr val="dk1"/>
                          </a:solidFill>
                          <a:effectLst/>
                          <a:latin typeface="+mn-lt"/>
                          <a:ea typeface="+mn-ea"/>
                          <a:cs typeface="+mn-cs"/>
                        </a:rPr>
                        <a:t>Main focus is on the function and procedures that operate on data</a:t>
                      </a:r>
                      <a:endParaRPr lang="en-IN" sz="2200" b="0" kern="1200" dirty="0">
                        <a:solidFill>
                          <a:schemeClr val="dk1"/>
                        </a:solidFill>
                        <a:effectLst/>
                        <a:latin typeface="+mn-lt"/>
                        <a:ea typeface="+mn-ea"/>
                        <a:cs typeface="+mn-cs"/>
                      </a:endParaRPr>
                    </a:p>
                  </a:txBody>
                  <a:tcPr/>
                </a:tc>
                <a:tc>
                  <a:txBody>
                    <a:bodyPr/>
                    <a:lstStyle/>
                    <a:p>
                      <a:pPr marL="0" algn="just" defTabSz="914400" rtl="0" eaLnBrk="1" latinLnBrk="0" hangingPunct="1"/>
                      <a:r>
                        <a:rPr lang="en-US" sz="2200" b="0" kern="1200" dirty="0">
                          <a:solidFill>
                            <a:schemeClr val="dk1"/>
                          </a:solidFill>
                          <a:effectLst/>
                          <a:latin typeface="+mn-lt"/>
                          <a:ea typeface="+mn-ea"/>
                          <a:cs typeface="+mn-cs"/>
                        </a:rPr>
                        <a:t>Main focus is on the data that is being operated</a:t>
                      </a:r>
                      <a:endParaRPr lang="en-IN" sz="2200" b="0" kern="1200" dirty="0">
                        <a:solidFill>
                          <a:schemeClr val="dk1"/>
                        </a:solidFill>
                        <a:effectLst/>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052235097"/>
              </p:ext>
            </p:extLst>
          </p:nvPr>
        </p:nvGraphicFramePr>
        <p:xfrm>
          <a:off x="1280651" y="3263687"/>
          <a:ext cx="8763000" cy="762000"/>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marL="0" algn="just" defTabSz="914400" rtl="0" eaLnBrk="1" latinLnBrk="0" hangingPunct="1"/>
                      <a:r>
                        <a:rPr lang="en-US" sz="2200" b="0" kern="1200" dirty="0">
                          <a:solidFill>
                            <a:schemeClr val="dk1"/>
                          </a:solidFill>
                          <a:effectLst/>
                          <a:latin typeface="+mn-lt"/>
                          <a:ea typeface="+mn-ea"/>
                          <a:cs typeface="+mn-cs"/>
                        </a:rPr>
                        <a:t>Top Down approach in program design</a:t>
                      </a:r>
                      <a:endParaRPr lang="en-IN" sz="2200" b="0" kern="1200" dirty="0">
                        <a:solidFill>
                          <a:schemeClr val="dk1"/>
                        </a:solidFill>
                        <a:effectLst/>
                        <a:latin typeface="+mn-lt"/>
                        <a:ea typeface="+mn-ea"/>
                        <a:cs typeface="+mn-cs"/>
                      </a:endParaRPr>
                    </a:p>
                  </a:txBody>
                  <a:tcPr/>
                </a:tc>
                <a:tc>
                  <a:txBody>
                    <a:bodyPr/>
                    <a:lstStyle/>
                    <a:p>
                      <a:pPr marL="0" algn="just" defTabSz="914400" rtl="0" eaLnBrk="1" latinLnBrk="0" hangingPunct="1"/>
                      <a:r>
                        <a:rPr lang="en-US" sz="2200" b="0" kern="1200" dirty="0">
                          <a:solidFill>
                            <a:schemeClr val="dk1"/>
                          </a:solidFill>
                          <a:effectLst/>
                          <a:latin typeface="+mn-lt"/>
                          <a:ea typeface="+mn-ea"/>
                          <a:cs typeface="+mn-cs"/>
                        </a:rPr>
                        <a:t>Bottom Up approach in program design</a:t>
                      </a:r>
                      <a:endParaRPr lang="en-IN" sz="2200" b="0" kern="1200" dirty="0">
                        <a:solidFill>
                          <a:schemeClr val="dk1"/>
                        </a:solidFill>
                        <a:effectLst/>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52194404"/>
              </p:ext>
            </p:extLst>
          </p:nvPr>
        </p:nvGraphicFramePr>
        <p:xfrm>
          <a:off x="1280651" y="4017055"/>
          <a:ext cx="8763000" cy="762000"/>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marL="0" algn="just" defTabSz="914400" rtl="0" eaLnBrk="1" latinLnBrk="0" hangingPunct="1"/>
                      <a:r>
                        <a:rPr lang="en-US" sz="2200" b="0" kern="1200" dirty="0">
                          <a:solidFill>
                            <a:schemeClr val="dk1"/>
                          </a:solidFill>
                          <a:effectLst/>
                          <a:latin typeface="+mn-lt"/>
                          <a:ea typeface="+mn-ea"/>
                          <a:cs typeface="+mn-cs"/>
                        </a:rPr>
                        <a:t>Large programs are divided into smaller programs known as functions</a:t>
                      </a:r>
                      <a:endParaRPr lang="en-IN" sz="2200" b="0" kern="1200" dirty="0">
                        <a:solidFill>
                          <a:schemeClr val="dk1"/>
                        </a:solidFill>
                        <a:effectLst/>
                        <a:latin typeface="+mn-lt"/>
                        <a:ea typeface="+mn-ea"/>
                        <a:cs typeface="+mn-cs"/>
                      </a:endParaRPr>
                    </a:p>
                  </a:txBody>
                  <a:tcPr/>
                </a:tc>
                <a:tc>
                  <a:txBody>
                    <a:bodyPr/>
                    <a:lstStyle/>
                    <a:p>
                      <a:pPr marL="0" algn="just" defTabSz="914400" rtl="0" eaLnBrk="1" latinLnBrk="0" hangingPunct="1"/>
                      <a:r>
                        <a:rPr lang="en-US" sz="2200" b="0" kern="1200" dirty="0">
                          <a:solidFill>
                            <a:schemeClr val="dk1"/>
                          </a:solidFill>
                          <a:effectLst/>
                          <a:latin typeface="+mn-lt"/>
                          <a:ea typeface="+mn-ea"/>
                          <a:cs typeface="+mn-cs"/>
                        </a:rPr>
                        <a:t>Large programs are divided into classes and objects</a:t>
                      </a:r>
                      <a:endParaRPr lang="en-IN" sz="2200" b="0" kern="1200" dirty="0">
                        <a:solidFill>
                          <a:schemeClr val="dk1"/>
                        </a:solidFill>
                        <a:effectLst/>
                        <a:latin typeface="+mn-lt"/>
                        <a:ea typeface="+mn-ea"/>
                        <a:cs typeface="+mn-cs"/>
                      </a:endParaRPr>
                    </a:p>
                  </a:txBody>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168709877"/>
              </p:ext>
            </p:extLst>
          </p:nvPr>
        </p:nvGraphicFramePr>
        <p:xfrm>
          <a:off x="1280651" y="4779055"/>
          <a:ext cx="8763000" cy="762000"/>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marL="0" algn="just" defTabSz="914400" rtl="0" eaLnBrk="1" latinLnBrk="0" hangingPunct="1"/>
                      <a:r>
                        <a:rPr lang="en-US" sz="2200" b="0" kern="1200" dirty="0">
                          <a:solidFill>
                            <a:schemeClr val="dk1"/>
                          </a:solidFill>
                          <a:effectLst/>
                          <a:latin typeface="+mn-lt"/>
                          <a:ea typeface="+mn-ea"/>
                          <a:cs typeface="+mn-cs"/>
                        </a:rPr>
                        <a:t>Most of the functions share global data</a:t>
                      </a:r>
                      <a:endParaRPr lang="en-IN" sz="2200" b="0" kern="1200" dirty="0">
                        <a:solidFill>
                          <a:schemeClr val="dk1"/>
                        </a:solidFill>
                        <a:effectLst/>
                        <a:latin typeface="+mn-lt"/>
                        <a:ea typeface="+mn-ea"/>
                        <a:cs typeface="+mn-cs"/>
                      </a:endParaRPr>
                    </a:p>
                  </a:txBody>
                  <a:tcPr/>
                </a:tc>
                <a:tc>
                  <a:txBody>
                    <a:bodyPr/>
                    <a:lstStyle/>
                    <a:p>
                      <a:pPr marL="0" algn="just" defTabSz="914400" rtl="0" eaLnBrk="1" latinLnBrk="0" hangingPunct="1"/>
                      <a:r>
                        <a:rPr lang="en-US" sz="2200" b="0" kern="1200" dirty="0">
                          <a:solidFill>
                            <a:schemeClr val="dk1"/>
                          </a:solidFill>
                          <a:effectLst/>
                          <a:latin typeface="+mn-lt"/>
                          <a:ea typeface="+mn-ea"/>
                          <a:cs typeface="+mn-cs"/>
                        </a:rPr>
                        <a:t>Data is tied together with function in the data structure</a:t>
                      </a:r>
                      <a:endParaRPr lang="en-IN" sz="2200" b="0" kern="1200" dirty="0">
                        <a:solidFill>
                          <a:schemeClr val="dk1"/>
                        </a:solidFill>
                        <a:effectLst/>
                        <a:latin typeface="+mn-lt"/>
                        <a:ea typeface="+mn-ea"/>
                        <a:cs typeface="+mn-cs"/>
                      </a:endParaRPr>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4167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dirty="0"/>
              <a:t>Procedural Vs. Object Oriented Programming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11240610"/>
              </p:ext>
            </p:extLst>
          </p:nvPr>
        </p:nvGraphicFramePr>
        <p:xfrm>
          <a:off x="1752600" y="1473201"/>
          <a:ext cx="8763000" cy="762000"/>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274972">
                <a:tc>
                  <a:txBody>
                    <a:bodyPr/>
                    <a:lstStyle/>
                    <a:p>
                      <a:pPr marL="0" algn="just" defTabSz="914400" rtl="0" eaLnBrk="1" latinLnBrk="0" hangingPunct="1"/>
                      <a:r>
                        <a:rPr lang="en-US" sz="2200" b="0" kern="1200" dirty="0">
                          <a:solidFill>
                            <a:schemeClr val="dk1"/>
                          </a:solidFill>
                          <a:effectLst/>
                          <a:latin typeface="+mn-lt"/>
                          <a:ea typeface="+mn-ea"/>
                          <a:cs typeface="+mn-cs"/>
                        </a:rPr>
                        <a:t>Data moves openly in the system from one function to another function</a:t>
                      </a:r>
                      <a:endParaRPr lang="en-IN" sz="2200" b="0" kern="1200" dirty="0">
                        <a:solidFill>
                          <a:schemeClr val="dk1"/>
                        </a:solidFill>
                        <a:effectLst/>
                        <a:latin typeface="+mn-lt"/>
                        <a:ea typeface="+mn-ea"/>
                        <a:cs typeface="+mn-cs"/>
                      </a:endParaRPr>
                    </a:p>
                  </a:txBody>
                  <a:tcPr marL="124471" marR="124471"/>
                </a:tc>
                <a:tc>
                  <a:txBody>
                    <a:bodyPr/>
                    <a:lstStyle/>
                    <a:p>
                      <a:pPr marL="0" algn="just" defTabSz="914400" rtl="0" eaLnBrk="1" latinLnBrk="0" hangingPunct="1"/>
                      <a:r>
                        <a:rPr lang="en-US" sz="2200" b="0" kern="1200" dirty="0">
                          <a:solidFill>
                            <a:schemeClr val="dk1"/>
                          </a:solidFill>
                          <a:effectLst/>
                          <a:latin typeface="+mn-lt"/>
                          <a:ea typeface="+mn-ea"/>
                          <a:cs typeface="+mn-cs"/>
                        </a:rPr>
                        <a:t>Data is hidden and cannot be accessed by external functions</a:t>
                      </a:r>
                      <a:endParaRPr lang="en-IN" sz="2200" b="0" kern="1200" dirty="0">
                        <a:solidFill>
                          <a:schemeClr val="dk1"/>
                        </a:solidFill>
                        <a:effectLst/>
                        <a:latin typeface="+mn-lt"/>
                        <a:ea typeface="+mn-ea"/>
                        <a:cs typeface="+mn-cs"/>
                      </a:endParaRPr>
                    </a:p>
                  </a:txBody>
                  <a:tcPr marL="124471" marR="124471"/>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2379942"/>
              </p:ext>
            </p:extLst>
          </p:nvPr>
        </p:nvGraphicFramePr>
        <p:xfrm>
          <a:off x="1752600" y="1016001"/>
          <a:ext cx="8763000" cy="457200"/>
        </p:xfrm>
        <a:graphic>
          <a:graphicData uri="http://schemas.openxmlformats.org/drawingml/2006/table">
            <a:tbl>
              <a:tblPr firstRow="1" bandRow="1">
                <a:tableStyleId>{5C22544A-7EE6-4342-B048-85BDC9FD1C3A}</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algn="ctr"/>
                      <a:r>
                        <a:rPr lang="en-IN" sz="2400" dirty="0"/>
                        <a:t>POP </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t>OOP</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60332146"/>
              </p:ext>
            </p:extLst>
          </p:nvPr>
        </p:nvGraphicFramePr>
        <p:xfrm>
          <a:off x="1752600" y="2243342"/>
          <a:ext cx="8763000" cy="762000"/>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marL="0" algn="just" defTabSz="914400" rtl="0" eaLnBrk="1" latinLnBrk="0" hangingPunct="1"/>
                      <a:r>
                        <a:rPr lang="en-IN" sz="2200" b="0" kern="1200" dirty="0">
                          <a:solidFill>
                            <a:schemeClr val="dk1"/>
                          </a:solidFill>
                          <a:effectLst/>
                          <a:latin typeface="+mn-lt"/>
                          <a:ea typeface="+mn-ea"/>
                          <a:cs typeface="+mn-cs"/>
                        </a:rPr>
                        <a:t>Adding of data and function is difficult</a:t>
                      </a:r>
                    </a:p>
                  </a:txBody>
                  <a:tcPr/>
                </a:tc>
                <a:tc>
                  <a:txBody>
                    <a:bodyPr/>
                    <a:lstStyle/>
                    <a:p>
                      <a:pPr marL="0" algn="just" defTabSz="914400" rtl="0" eaLnBrk="1" latinLnBrk="0" hangingPunct="1"/>
                      <a:r>
                        <a:rPr lang="en-IN" sz="2200" b="0" kern="1200" dirty="0">
                          <a:solidFill>
                            <a:schemeClr val="dk1"/>
                          </a:solidFill>
                          <a:effectLst/>
                          <a:latin typeface="+mn-lt"/>
                          <a:ea typeface="+mn-ea"/>
                          <a:cs typeface="+mn-cs"/>
                        </a:rPr>
                        <a:t>Adding of data and function is easy</a:t>
                      </a:r>
                    </a:p>
                  </a:txBody>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520918775"/>
              </p:ext>
            </p:extLst>
          </p:nvPr>
        </p:nvGraphicFramePr>
        <p:xfrm>
          <a:off x="1752600" y="3013483"/>
          <a:ext cx="8763000" cy="1341120"/>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370840">
                <a:tc>
                  <a:txBody>
                    <a:bodyPr/>
                    <a:lstStyle/>
                    <a:p>
                      <a:pPr marL="0" marR="0" lvl="0" indent="0" algn="just">
                        <a:lnSpc>
                          <a:spcPct val="100000"/>
                        </a:lnSpc>
                        <a:spcBef>
                          <a:spcPts val="0"/>
                        </a:spcBef>
                        <a:spcAft>
                          <a:spcPts val="0"/>
                        </a:spcAft>
                        <a:buFont typeface="+mj-lt"/>
                        <a:buNone/>
                      </a:pPr>
                      <a:r>
                        <a:rPr lang="en-IN" sz="2200" b="0" kern="1200" dirty="0">
                          <a:solidFill>
                            <a:schemeClr val="dk1"/>
                          </a:solidFill>
                          <a:effectLst/>
                          <a:latin typeface="+mn-lt"/>
                          <a:ea typeface="+mn-ea"/>
                          <a:cs typeface="+mn-cs"/>
                        </a:rPr>
                        <a:t>Concepts like inheritance, polymorphism, data encapsulation, abstraction, access specifiers are not available.</a:t>
                      </a:r>
                    </a:p>
                  </a:txBody>
                  <a:tcPr marL="68580" marR="68580" marT="0" marB="0"/>
                </a:tc>
                <a:tc>
                  <a:txBody>
                    <a:bodyPr/>
                    <a:lstStyle/>
                    <a:p>
                      <a:pPr marL="0" marR="0" lvl="0" indent="0" algn="just">
                        <a:lnSpc>
                          <a:spcPct val="100000"/>
                        </a:lnSpc>
                        <a:spcBef>
                          <a:spcPts val="0"/>
                        </a:spcBef>
                        <a:spcAft>
                          <a:spcPts val="0"/>
                        </a:spcAft>
                        <a:buFont typeface="+mj-lt"/>
                        <a:buNone/>
                      </a:pPr>
                      <a:r>
                        <a:rPr lang="en-IN" sz="2200" b="0" kern="1200" dirty="0">
                          <a:solidFill>
                            <a:schemeClr val="dk1"/>
                          </a:solidFill>
                          <a:effectLst/>
                          <a:latin typeface="+mn-lt"/>
                          <a:ea typeface="+mn-ea"/>
                          <a:cs typeface="+mn-cs"/>
                        </a:rPr>
                        <a:t>Concepts like inheritance, polymorphism, data encapsulation, abstraction, access specifiers are available and can be used easily</a:t>
                      </a:r>
                    </a:p>
                  </a:txBody>
                  <a:tcPr marL="68580" marR="68580" marT="0" marB="0"/>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195960158"/>
              </p:ext>
            </p:extLst>
          </p:nvPr>
        </p:nvGraphicFramePr>
        <p:xfrm>
          <a:off x="1752600" y="4362744"/>
          <a:ext cx="8763000" cy="447981"/>
        </p:xfrm>
        <a:graphic>
          <a:graphicData uri="http://schemas.openxmlformats.org/drawingml/2006/table">
            <a:tbl>
              <a:tblPr firstRow="1" bandRow="1">
                <a:tableStyleId>{69CF1AB2-1976-4502-BF36-3FF5EA218861}</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447981">
                <a:tc>
                  <a:txBody>
                    <a:bodyPr/>
                    <a:lstStyle/>
                    <a:p>
                      <a:pPr marL="0" marR="0" lvl="0" indent="0" algn="just">
                        <a:lnSpc>
                          <a:spcPct val="100000"/>
                        </a:lnSpc>
                        <a:spcBef>
                          <a:spcPts val="0"/>
                        </a:spcBef>
                        <a:spcAft>
                          <a:spcPts val="0"/>
                        </a:spcAft>
                        <a:buFont typeface="+mj-lt"/>
                        <a:buNone/>
                      </a:pPr>
                      <a:r>
                        <a:rPr lang="fr-FR" sz="2200" b="0" kern="1200" dirty="0" err="1">
                          <a:solidFill>
                            <a:schemeClr val="dk1"/>
                          </a:solidFill>
                          <a:effectLst/>
                          <a:latin typeface="+mn-lt"/>
                          <a:ea typeface="+mn-ea"/>
                          <a:cs typeface="+mn-cs"/>
                        </a:rPr>
                        <a:t>Examples</a:t>
                      </a:r>
                      <a:r>
                        <a:rPr lang="fr-FR" sz="2200" b="0" kern="1200" dirty="0">
                          <a:solidFill>
                            <a:schemeClr val="dk1"/>
                          </a:solidFill>
                          <a:effectLst/>
                          <a:latin typeface="+mn-lt"/>
                          <a:ea typeface="+mn-ea"/>
                          <a:cs typeface="+mn-cs"/>
                        </a:rPr>
                        <a:t>: C, Fortran, Pascal, etc…</a:t>
                      </a:r>
                      <a:endParaRPr lang="en-IN" sz="2200" b="0" kern="1200" dirty="0">
                        <a:solidFill>
                          <a:schemeClr val="dk1"/>
                        </a:solidFill>
                        <a:effectLst/>
                        <a:latin typeface="+mn-lt"/>
                        <a:ea typeface="+mn-ea"/>
                        <a:cs typeface="+mn-cs"/>
                      </a:endParaRPr>
                    </a:p>
                  </a:txBody>
                  <a:tcPr marL="68580" marR="68580" marT="0" marB="0"/>
                </a:tc>
                <a:tc>
                  <a:txBody>
                    <a:bodyPr/>
                    <a:lstStyle/>
                    <a:p>
                      <a:pPr marL="0" marR="0" lvl="0" indent="0" algn="just">
                        <a:lnSpc>
                          <a:spcPct val="100000"/>
                        </a:lnSpc>
                        <a:spcBef>
                          <a:spcPts val="0"/>
                        </a:spcBef>
                        <a:spcAft>
                          <a:spcPts val="0"/>
                        </a:spcAft>
                        <a:buFont typeface="+mj-lt"/>
                        <a:buNone/>
                      </a:pPr>
                      <a:r>
                        <a:rPr lang="fr-FR" sz="2200" b="0" kern="1200" dirty="0" err="1">
                          <a:solidFill>
                            <a:schemeClr val="dk1"/>
                          </a:solidFill>
                          <a:effectLst/>
                          <a:latin typeface="+mn-lt"/>
                          <a:ea typeface="+mn-ea"/>
                          <a:cs typeface="+mn-cs"/>
                        </a:rPr>
                        <a:t>Examples</a:t>
                      </a:r>
                      <a:r>
                        <a:rPr lang="fr-FR" sz="2200" b="0" kern="1200" dirty="0">
                          <a:solidFill>
                            <a:schemeClr val="dk1"/>
                          </a:solidFill>
                          <a:effectLst/>
                          <a:latin typeface="+mn-lt"/>
                          <a:ea typeface="+mn-ea"/>
                          <a:cs typeface="+mn-cs"/>
                        </a:rPr>
                        <a:t>: C++, Java, C#, etc…</a:t>
                      </a:r>
                      <a:endParaRPr lang="en-IN" sz="2200" b="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8392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OOPs Concept</a:t>
            </a:r>
          </a:p>
        </p:txBody>
      </p:sp>
      <p:sp>
        <p:nvSpPr>
          <p:cNvPr id="3" name="Content Placeholder 2"/>
          <p:cNvSpPr>
            <a:spLocks noGrp="1"/>
          </p:cNvSpPr>
          <p:nvPr>
            <p:ph idx="1"/>
          </p:nvPr>
        </p:nvSpPr>
        <p:spPr/>
        <p:txBody>
          <a:bodyPr/>
          <a:lstStyle/>
          <a:p>
            <a:r>
              <a:rPr lang="en-IN" dirty="0"/>
              <a:t>4 pillars that makes a language ‘Object Oriented Programming language’.</a:t>
            </a:r>
          </a:p>
          <a:p>
            <a:pPr marL="0" indent="0">
              <a:buNone/>
            </a:pPr>
            <a:r>
              <a:rPr lang="en-US" dirty="0"/>
              <a:t> </a:t>
            </a:r>
          </a:p>
        </p:txBody>
      </p:sp>
      <p:graphicFrame>
        <p:nvGraphicFramePr>
          <p:cNvPr id="12" name="Diagram 11"/>
          <p:cNvGraphicFramePr/>
          <p:nvPr/>
        </p:nvGraphicFramePr>
        <p:xfrm>
          <a:off x="2866506" y="1724429"/>
          <a:ext cx="6458988"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226434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2">
                                            <p:graphicEl>
                                              <a:dgm id="{3EF1FC36-95CD-4EE9-89E6-9B542AF85E68}"/>
                                            </p:graphicEl>
                                          </p:spTgt>
                                        </p:tgtEl>
                                        <p:attrNameLst>
                                          <p:attrName>style.visibility</p:attrName>
                                        </p:attrNameLst>
                                      </p:cBhvr>
                                      <p:to>
                                        <p:strVal val="visible"/>
                                      </p:to>
                                    </p:set>
                                    <p:animEffect transition="in" filter="fade">
                                      <p:cBhvr>
                                        <p:cTn id="11" dur="500"/>
                                        <p:tgtEl>
                                          <p:spTgt spid="12">
                                            <p:graphicEl>
                                              <a:dgm id="{3EF1FC36-95CD-4EE9-89E6-9B542AF85E68}"/>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graphicEl>
                                              <a:dgm id="{A7391574-8158-4F86-8FAC-9706B1CDC251}"/>
                                            </p:graphicEl>
                                          </p:spTgt>
                                        </p:tgtEl>
                                        <p:attrNameLst>
                                          <p:attrName>style.visibility</p:attrName>
                                        </p:attrNameLst>
                                      </p:cBhvr>
                                      <p:to>
                                        <p:strVal val="visible"/>
                                      </p:to>
                                    </p:set>
                                    <p:animEffect transition="in" filter="fade">
                                      <p:cBhvr>
                                        <p:cTn id="16" dur="500"/>
                                        <p:tgtEl>
                                          <p:spTgt spid="12">
                                            <p:graphicEl>
                                              <a:dgm id="{A7391574-8158-4F86-8FAC-9706B1CDC251}"/>
                                            </p:graphic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graphicEl>
                                              <a:dgm id="{58A99F87-137E-4591-B532-713A776A52A5}"/>
                                            </p:graphicEl>
                                          </p:spTgt>
                                        </p:tgtEl>
                                        <p:attrNameLst>
                                          <p:attrName>style.visibility</p:attrName>
                                        </p:attrNameLst>
                                      </p:cBhvr>
                                      <p:to>
                                        <p:strVal val="visible"/>
                                      </p:to>
                                    </p:set>
                                    <p:animEffect transition="in" filter="fade">
                                      <p:cBhvr>
                                        <p:cTn id="21" dur="500"/>
                                        <p:tgtEl>
                                          <p:spTgt spid="12">
                                            <p:graphicEl>
                                              <a:dgm id="{58A99F87-137E-4591-B532-713A776A52A5}"/>
                                            </p:graphic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graphicEl>
                                              <a:dgm id="{C76E5692-C8A3-4FDB-8A48-E811FD47AB68}"/>
                                            </p:graphicEl>
                                          </p:spTgt>
                                        </p:tgtEl>
                                        <p:attrNameLst>
                                          <p:attrName>style.visibility</p:attrName>
                                        </p:attrNameLst>
                                      </p:cBhvr>
                                      <p:to>
                                        <p:strVal val="visible"/>
                                      </p:to>
                                    </p:set>
                                    <p:animEffect transition="in" filter="fade">
                                      <p:cBhvr>
                                        <p:cTn id="26" dur="500"/>
                                        <p:tgtEl>
                                          <p:spTgt spid="12">
                                            <p:graphicEl>
                                              <a:dgm id="{C76E5692-C8A3-4FDB-8A48-E811FD47AB68}"/>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graphicEl>
                                              <a:dgm id="{0B370AD1-CCAB-4F12-B60A-6942FDF58ED9}"/>
                                            </p:graphicEl>
                                          </p:spTgt>
                                        </p:tgtEl>
                                        <p:attrNameLst>
                                          <p:attrName>style.visibility</p:attrName>
                                        </p:attrNameLst>
                                      </p:cBhvr>
                                      <p:to>
                                        <p:strVal val="visible"/>
                                      </p:to>
                                    </p:set>
                                    <p:animEffect transition="in" filter="fade">
                                      <p:cBhvr>
                                        <p:cTn id="31" dur="500"/>
                                        <p:tgtEl>
                                          <p:spTgt spid="12">
                                            <p:graphicEl>
                                              <a:dgm id="{0B370AD1-CCAB-4F12-B60A-6942FDF58ED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Encapsulation</a:t>
            </a:r>
          </a:p>
        </p:txBody>
      </p:sp>
      <p:sp>
        <p:nvSpPr>
          <p:cNvPr id="3" name="Content Placeholder 2"/>
          <p:cNvSpPr>
            <a:spLocks noGrp="1"/>
          </p:cNvSpPr>
          <p:nvPr>
            <p:ph idx="1"/>
          </p:nvPr>
        </p:nvSpPr>
        <p:spPr/>
        <p:txBody>
          <a:bodyPr/>
          <a:lstStyle/>
          <a:p>
            <a:pPr algn="just"/>
            <a:r>
              <a:rPr lang="en-IN" dirty="0"/>
              <a:t>The insulation of the data from direct access by the program is called </a:t>
            </a:r>
            <a:r>
              <a:rPr lang="en-IN" dirty="0">
                <a:solidFill>
                  <a:srgbClr val="B71B1C"/>
                </a:solidFill>
              </a:rPr>
              <a:t>data hiding</a:t>
            </a:r>
            <a:r>
              <a:rPr lang="en-IN" dirty="0">
                <a:solidFill>
                  <a:schemeClr val="tx2"/>
                </a:solidFill>
              </a:rPr>
              <a:t> </a:t>
            </a:r>
            <a:r>
              <a:rPr lang="en-IN" dirty="0"/>
              <a:t>or </a:t>
            </a:r>
            <a:r>
              <a:rPr lang="en-IN" dirty="0">
                <a:solidFill>
                  <a:srgbClr val="B71B1C"/>
                </a:solidFill>
              </a:rPr>
              <a:t>information hiding</a:t>
            </a:r>
            <a:r>
              <a:rPr lang="en-IN" dirty="0"/>
              <a:t>.</a:t>
            </a:r>
          </a:p>
          <a:p>
            <a:pPr algn="just"/>
            <a:r>
              <a:rPr lang="en-IN" dirty="0"/>
              <a:t>It is the process of enclosing one or more details from outside world through access right.</a:t>
            </a:r>
          </a:p>
          <a:p>
            <a:r>
              <a:rPr lang="en-US" dirty="0"/>
              <a:t>This mechanism of providing protection to data and methods of a program is called encapsulation.</a:t>
            </a:r>
          </a:p>
          <a:p>
            <a:r>
              <a:rPr lang="en-IN" dirty="0"/>
              <a:t>This is possible by wrapping up of data and methods into a single unit known as </a:t>
            </a:r>
            <a:r>
              <a:rPr lang="en-IN" dirty="0">
                <a:solidFill>
                  <a:srgbClr val="B71B1C"/>
                </a:solidFill>
              </a:rPr>
              <a:t>class </a:t>
            </a:r>
            <a:r>
              <a:rPr lang="en-IN" dirty="0"/>
              <a:t>and declaring them as</a:t>
            </a:r>
            <a:r>
              <a:rPr lang="en-IN" dirty="0">
                <a:solidFill>
                  <a:srgbClr val="B71B1C"/>
                </a:solidFill>
              </a:rPr>
              <a:t> private.</a:t>
            </a:r>
          </a:p>
          <a:p>
            <a:r>
              <a:rPr lang="en-US" dirty="0"/>
              <a:t>Private members of the class are not available directly to the outside world.</a:t>
            </a:r>
          </a:p>
          <a:p>
            <a:endParaRPr lang="en-US" dirty="0"/>
          </a:p>
          <a:p>
            <a:pPr algn="just"/>
            <a:endParaRPr lang="en-IN" dirty="0"/>
          </a:p>
        </p:txBody>
      </p:sp>
    </p:spTree>
    <p:custDataLst>
      <p:tags r:id="rId1"/>
    </p:custDataLst>
    <p:extLst>
      <p:ext uri="{BB962C8B-B14F-4D97-AF65-F5344CB8AC3E}">
        <p14:creationId xmlns:p14="http://schemas.microsoft.com/office/powerpoint/2010/main" val="25508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Encapsulation</a:t>
            </a:r>
          </a:p>
        </p:txBody>
      </p:sp>
      <p:sp>
        <p:nvSpPr>
          <p:cNvPr id="3" name="Content Placeholder 2"/>
          <p:cNvSpPr>
            <a:spLocks noGrp="1"/>
          </p:cNvSpPr>
          <p:nvPr>
            <p:ph idx="1"/>
          </p:nvPr>
        </p:nvSpPr>
        <p:spPr/>
        <p:txBody>
          <a:bodyPr/>
          <a:lstStyle/>
          <a:p>
            <a:r>
              <a:rPr lang="en-US" dirty="0"/>
              <a:t>In simple words, "Encapsulation is nothing but data hiding capability.</a:t>
            </a:r>
          </a:p>
          <a:p>
            <a:r>
              <a:rPr lang="en-US" dirty="0"/>
              <a:t>It keeps the data safe from unintended actions and inadvertent access by outside objects.</a:t>
            </a:r>
          </a:p>
          <a:p>
            <a:pPr algn="just"/>
            <a:endParaRPr lang="en-IN" dirty="0"/>
          </a:p>
        </p:txBody>
      </p:sp>
      <p:pic>
        <p:nvPicPr>
          <p:cNvPr id="4" name="Picture 4" descr="What is Encapsulation in Java and How to Implement I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16810" y="2309327"/>
            <a:ext cx="4793285" cy="283797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16353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15D16-575D-735A-D5FB-1040BB0B9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2DE06-95F1-4546-AF83-B97C6BE5F143}"/>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4469BFA9-D142-55E1-8A73-A4D6057F5042}"/>
              </a:ext>
            </a:extLst>
          </p:cNvPr>
          <p:cNvSpPr>
            <a:spLocks noGrp="1"/>
          </p:cNvSpPr>
          <p:nvPr>
            <p:ph idx="1"/>
          </p:nvPr>
        </p:nvSpPr>
        <p:spPr/>
        <p:txBody>
          <a:bodyPr/>
          <a:lstStyle/>
          <a:p>
            <a:r>
              <a:rPr lang="en-US" dirty="0">
                <a:solidFill>
                  <a:srgbClr val="C00000"/>
                </a:solidFill>
              </a:rPr>
              <a:t>Abstraction</a:t>
            </a:r>
            <a:r>
              <a:rPr lang="en-US" dirty="0"/>
              <a:t> refers to the act of representing essential features without including the background details or explanations.</a:t>
            </a:r>
          </a:p>
          <a:p>
            <a:r>
              <a:rPr lang="en-US" dirty="0">
                <a:solidFill>
                  <a:srgbClr val="C00000"/>
                </a:solidFill>
              </a:rPr>
              <a:t>Abstraction</a:t>
            </a:r>
            <a:r>
              <a:rPr lang="en-US" dirty="0"/>
              <a:t> provides you a generalized view of your classes or object by providing relevant information.</a:t>
            </a:r>
          </a:p>
          <a:p>
            <a:r>
              <a:rPr lang="en-US" dirty="0">
                <a:solidFill>
                  <a:srgbClr val="C00000"/>
                </a:solidFill>
              </a:rPr>
              <a:t>Abstraction</a:t>
            </a:r>
            <a:r>
              <a:rPr lang="en-US" dirty="0"/>
              <a:t> is the process of hiding the working style of an object, and showing the information of an object in understandable manner.</a:t>
            </a:r>
          </a:p>
          <a:p>
            <a:r>
              <a:rPr lang="en-US" dirty="0"/>
              <a:t>Example:</a:t>
            </a:r>
          </a:p>
          <a:p>
            <a:pPr lvl="1"/>
            <a:r>
              <a:rPr lang="en-US" sz="2200" dirty="0">
                <a:solidFill>
                  <a:srgbClr val="C00000"/>
                </a:solidFill>
              </a:rPr>
              <a:t>Electric Switch Board</a:t>
            </a:r>
            <a:r>
              <a:rPr lang="en-US" sz="2200" dirty="0"/>
              <a:t>: we need not to worry about the internal work of switch board in order to use it, simply switch on/off to start/stop the device.</a:t>
            </a:r>
          </a:p>
          <a:p>
            <a:pPr lvl="1"/>
            <a:r>
              <a:rPr lang="en-US" sz="2200" dirty="0">
                <a:solidFill>
                  <a:srgbClr val="C00000"/>
                </a:solidFill>
              </a:rPr>
              <a:t>Car</a:t>
            </a:r>
            <a:r>
              <a:rPr lang="en-US" sz="2200" dirty="0"/>
              <a:t>: you need not to understand how engine works in order to drive a car, you just need to know how to drive the car.</a:t>
            </a:r>
          </a:p>
          <a:p>
            <a:pPr lvl="1"/>
            <a:r>
              <a:rPr lang="en-US" sz="2200" dirty="0">
                <a:solidFill>
                  <a:srgbClr val="C00000"/>
                </a:solidFill>
              </a:rPr>
              <a:t>TV Remote</a:t>
            </a:r>
            <a:r>
              <a:rPr lang="en-US" sz="2200" dirty="0"/>
              <a:t>: while increasing the TV volume you need not to understand the underlying process, just press the + volume button and it will work.</a:t>
            </a:r>
          </a:p>
          <a:p>
            <a:endParaRPr lang="en-US" dirty="0"/>
          </a:p>
          <a:p>
            <a:pPr algn="just"/>
            <a:endParaRPr lang="en-IN" dirty="0"/>
          </a:p>
        </p:txBody>
      </p:sp>
    </p:spTree>
    <p:custDataLst>
      <p:tags r:id="rId1"/>
    </p:custDataLst>
    <p:extLst>
      <p:ext uri="{BB962C8B-B14F-4D97-AF65-F5344CB8AC3E}">
        <p14:creationId xmlns:p14="http://schemas.microsoft.com/office/powerpoint/2010/main" val="13803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122B4-C470-A871-86C7-5EF0303E0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14F74-DE0F-F903-FAE2-B94781B322AD}"/>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09DCDF5E-5E0C-7A7A-4B0A-B3C9A2EAAC05}"/>
              </a:ext>
            </a:extLst>
          </p:cNvPr>
          <p:cNvSpPr>
            <a:spLocks noGrp="1"/>
          </p:cNvSpPr>
          <p:nvPr>
            <p:ph idx="1"/>
          </p:nvPr>
        </p:nvSpPr>
        <p:spPr/>
        <p:txBody>
          <a:bodyPr/>
          <a:lstStyle/>
          <a:p>
            <a:r>
              <a:rPr lang="en-US" dirty="0"/>
              <a:t>Data Abstraction thus is a technique that relies on the separation of interface and implementation.</a:t>
            </a:r>
          </a:p>
          <a:p>
            <a:r>
              <a:rPr lang="en-US" dirty="0"/>
              <a:t>For example: use of sqrt(), pow(), </a:t>
            </a:r>
            <a:r>
              <a:rPr lang="en-US" dirty="0" err="1"/>
              <a:t>printf</a:t>
            </a:r>
            <a:r>
              <a:rPr lang="en-US" dirty="0"/>
              <a:t>() functions in c.</a:t>
            </a:r>
          </a:p>
          <a:p>
            <a:r>
              <a:rPr lang="en-US" dirty="0"/>
              <a:t>Thus data abstraction provides the skeleton or templates for our use.</a:t>
            </a:r>
          </a:p>
          <a:p>
            <a:r>
              <a:rPr lang="en-US" dirty="0"/>
              <a:t>The system hides certain details of how data is stored, created and maintained.</a:t>
            </a:r>
          </a:p>
          <a:p>
            <a:r>
              <a:rPr lang="en-US" dirty="0"/>
              <a:t>All that is visible to the rest of the world is the abstract behavior of the data type, details of how that behavior is implemented are hidden, so that they can be changed as per need without impaction others.</a:t>
            </a:r>
          </a:p>
          <a:p>
            <a:r>
              <a:rPr lang="en-US" dirty="0"/>
              <a:t>The basic difference between data encapsulation and data abstraction is: Encapsulation protects data by making them inaccessible from outside and abstraction enables to represent data in which the implementation details are hidden (abstracted).</a:t>
            </a:r>
          </a:p>
        </p:txBody>
      </p:sp>
    </p:spTree>
    <p:custDataLst>
      <p:tags r:id="rId1"/>
    </p:custDataLst>
    <p:extLst>
      <p:ext uri="{BB962C8B-B14F-4D97-AF65-F5344CB8AC3E}">
        <p14:creationId xmlns:p14="http://schemas.microsoft.com/office/powerpoint/2010/main" val="194229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Polymorphism</a:t>
            </a:r>
          </a:p>
        </p:txBody>
      </p:sp>
      <p:sp>
        <p:nvSpPr>
          <p:cNvPr id="3" name="Content Placeholder 2"/>
          <p:cNvSpPr>
            <a:spLocks noGrp="1"/>
          </p:cNvSpPr>
          <p:nvPr>
            <p:ph idx="1"/>
          </p:nvPr>
        </p:nvSpPr>
        <p:spPr>
          <a:ln>
            <a:noFill/>
          </a:ln>
        </p:spPr>
        <p:txBody>
          <a:bodyPr/>
          <a:lstStyle/>
          <a:p>
            <a:r>
              <a:rPr lang="en-US" dirty="0"/>
              <a:t>Polymorphism is a Greek term which means ability to take </a:t>
            </a:r>
            <a:r>
              <a:rPr lang="en-US" dirty="0">
                <a:solidFill>
                  <a:srgbClr val="C00000"/>
                </a:solidFill>
              </a:rPr>
              <a:t>more than one form</a:t>
            </a:r>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 person at the same time can have different characteristics. Like a man at the same time is a father, a husband, an employee. So the same person possesses different behavior in different situations. This is called polymorphism. </a:t>
            </a:r>
          </a:p>
          <a:p>
            <a:pPr marL="0" indent="0" algn="just">
              <a:buNone/>
            </a:pPr>
            <a:endParaRPr lang="en-IN" dirty="0"/>
          </a:p>
        </p:txBody>
      </p:sp>
      <p:pic>
        <p:nvPicPr>
          <p:cNvPr id="5" name="Picture 4"/>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Effect>
                      <a14:brightnessContrast contrast="23000"/>
                    </a14:imgEffect>
                  </a14:imgLayer>
                </a14:imgProps>
              </a:ext>
              <a:ext uri="{28A0092B-C50C-407E-A947-70E740481C1C}">
                <a14:useLocalDpi xmlns:a14="http://schemas.microsoft.com/office/drawing/2010/main" val="0"/>
              </a:ext>
            </a:extLst>
          </a:blip>
          <a:srcRect l="8333" r="6667"/>
          <a:stretch/>
        </p:blipFill>
        <p:spPr>
          <a:xfrm>
            <a:off x="3091431" y="1240889"/>
            <a:ext cx="6002235" cy="3702634"/>
          </a:xfrm>
          <a:prstGeom prst="rect">
            <a:avLst/>
          </a:prstGeom>
        </p:spPr>
      </p:pic>
    </p:spTree>
    <p:custDataLst>
      <p:tags r:id="rId1"/>
    </p:custDataLst>
    <p:extLst>
      <p:ext uri="{BB962C8B-B14F-4D97-AF65-F5344CB8AC3E}">
        <p14:creationId xmlns:p14="http://schemas.microsoft.com/office/powerpoint/2010/main" val="770151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Polymorphism</a:t>
            </a:r>
          </a:p>
        </p:txBody>
      </p:sp>
      <p:sp>
        <p:nvSpPr>
          <p:cNvPr id="3" name="Content Placeholder 2"/>
          <p:cNvSpPr>
            <a:spLocks noGrp="1"/>
          </p:cNvSpPr>
          <p:nvPr>
            <p:ph idx="1"/>
          </p:nvPr>
        </p:nvSpPr>
        <p:spPr>
          <a:ln>
            <a:noFill/>
          </a:ln>
        </p:spPr>
        <p:txBody>
          <a:bodyPr/>
          <a:lstStyle/>
          <a:p>
            <a:r>
              <a:rPr lang="en-US" dirty="0"/>
              <a:t>Polymorphism can be achieved using two types of overloading: Function overloading and Operator overloading.</a:t>
            </a:r>
          </a:p>
          <a:p>
            <a:r>
              <a:rPr lang="en-US" dirty="0"/>
              <a:t>Object-oriented programming allows defining more than one method having same name but different signature in a single class. This feature is known as function or method overloading.</a:t>
            </a:r>
          </a:p>
          <a:p>
            <a:r>
              <a:rPr lang="en-US" dirty="0"/>
              <a:t>Normally we use ‘+’ sign for addition but when we use it with SOP it is known as concatenation. This feature is known as operator overloading.</a:t>
            </a:r>
          </a:p>
          <a:p>
            <a:r>
              <a:rPr lang="en-US" dirty="0"/>
              <a:t>In general, the capacity of using same name to mean different things in different context is called overloading.</a:t>
            </a:r>
          </a:p>
          <a:p>
            <a:pPr marL="0" indent="0" algn="just">
              <a:buNone/>
            </a:pPr>
            <a:endParaRPr lang="en-IN" dirty="0"/>
          </a:p>
        </p:txBody>
      </p:sp>
    </p:spTree>
    <p:custDataLst>
      <p:tags r:id="rId1"/>
    </p:custDataLst>
    <p:extLst>
      <p:ext uri="{BB962C8B-B14F-4D97-AF65-F5344CB8AC3E}">
        <p14:creationId xmlns:p14="http://schemas.microsoft.com/office/powerpoint/2010/main" val="9816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Inheritance</a:t>
            </a:r>
            <a:endParaRPr lang="en-IN" dirty="0"/>
          </a:p>
        </p:txBody>
      </p:sp>
      <p:sp>
        <p:nvSpPr>
          <p:cNvPr id="3" name="Content Placeholder 2"/>
          <p:cNvSpPr>
            <a:spLocks noGrp="1"/>
          </p:cNvSpPr>
          <p:nvPr>
            <p:ph idx="1"/>
          </p:nvPr>
        </p:nvSpPr>
        <p:spPr>
          <a:ln>
            <a:noFill/>
          </a:ln>
        </p:spPr>
        <p:txBody>
          <a:bodyPr/>
          <a:lstStyle/>
          <a:p>
            <a:r>
              <a:rPr lang="en-US" dirty="0"/>
              <a:t>The mechanism of deriving a </a:t>
            </a:r>
            <a:r>
              <a:rPr lang="en-US" dirty="0">
                <a:solidFill>
                  <a:srgbClr val="C00000"/>
                </a:solidFill>
              </a:rPr>
              <a:t>new class </a:t>
            </a:r>
            <a:r>
              <a:rPr lang="en-US" dirty="0"/>
              <a:t>from an </a:t>
            </a:r>
            <a:r>
              <a:rPr lang="en-US" dirty="0">
                <a:solidFill>
                  <a:srgbClr val="C00000"/>
                </a:solidFill>
              </a:rPr>
              <a:t>old class </a:t>
            </a:r>
            <a:r>
              <a:rPr lang="en-US" dirty="0"/>
              <a:t>is called inheritance or derivation.</a:t>
            </a:r>
          </a:p>
          <a:p>
            <a:r>
              <a:rPr lang="en-US" dirty="0"/>
              <a:t>The old class is known as </a:t>
            </a:r>
            <a:r>
              <a:rPr lang="en-US" dirty="0">
                <a:solidFill>
                  <a:srgbClr val="C00000"/>
                </a:solidFill>
              </a:rPr>
              <a:t>base class</a:t>
            </a:r>
            <a:r>
              <a:rPr lang="en-US" dirty="0"/>
              <a:t>,</a:t>
            </a:r>
            <a:r>
              <a:rPr lang="en-US" dirty="0">
                <a:solidFill>
                  <a:srgbClr val="C00000"/>
                </a:solidFill>
              </a:rPr>
              <a:t> super class or parent class </a:t>
            </a:r>
            <a:r>
              <a:rPr lang="en-US" dirty="0"/>
              <a:t>while new class is known as </a:t>
            </a:r>
            <a:r>
              <a:rPr lang="en-US" dirty="0">
                <a:solidFill>
                  <a:srgbClr val="C00000"/>
                </a:solidFill>
              </a:rPr>
              <a:t>derived class</a:t>
            </a:r>
            <a:r>
              <a:rPr lang="en-US" dirty="0"/>
              <a:t>,</a:t>
            </a:r>
            <a:r>
              <a:rPr lang="en-US" dirty="0">
                <a:solidFill>
                  <a:srgbClr val="C00000"/>
                </a:solidFill>
              </a:rPr>
              <a:t> child class or subclass</a:t>
            </a:r>
            <a:r>
              <a:rPr lang="en-US" dirty="0"/>
              <a:t>.</a:t>
            </a:r>
          </a:p>
          <a:p>
            <a:r>
              <a:rPr lang="en-US" dirty="0"/>
              <a:t>Inheritance is generally referred to as ‘is-a-kind-of’ relationship between two classes. For example: teacher is a kind of person. So, all the attributes and methods of class ‘person’ are applicable to class ‘Teacher’ also.</a:t>
            </a:r>
          </a:p>
          <a:p>
            <a:r>
              <a:rPr lang="en-US" dirty="0"/>
              <a:t>This feature provides reusability where existing methods can be reused without redefining.</a:t>
            </a:r>
          </a:p>
          <a:p>
            <a:r>
              <a:rPr lang="en-US" dirty="0"/>
              <a:t>Generalization is another name of inheritance. It refers to a relationship between two classes where one class is specialized version of another.</a:t>
            </a:r>
          </a:p>
          <a:p>
            <a:r>
              <a:rPr lang="en-US" dirty="0"/>
              <a:t>There are 5 types of inheritance: single-level, multilevel, multiple, hierarchical, hybrid (combination of hierarchical and multiple). Note that java does not support multiple and hybrid inheritance directly. But can be accessible via interfaces.</a:t>
            </a:r>
          </a:p>
          <a:p>
            <a:pPr marL="0" indent="0" algn="just">
              <a:buNone/>
            </a:pPr>
            <a:endParaRPr lang="en-IN" dirty="0"/>
          </a:p>
        </p:txBody>
      </p:sp>
    </p:spTree>
    <p:custDataLst>
      <p:tags r:id="rId1"/>
    </p:custDataLst>
    <p:extLst>
      <p:ext uri="{BB962C8B-B14F-4D97-AF65-F5344CB8AC3E}">
        <p14:creationId xmlns:p14="http://schemas.microsoft.com/office/powerpoint/2010/main" val="1169639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Inheritance</a:t>
            </a:r>
          </a:p>
        </p:txBody>
      </p:sp>
      <p:sp>
        <p:nvSpPr>
          <p:cNvPr id="5" name="Content Placeholder 2"/>
          <p:cNvSpPr>
            <a:spLocks noGrp="1"/>
          </p:cNvSpPr>
          <p:nvPr>
            <p:ph idx="1"/>
          </p:nvPr>
        </p:nvSpPr>
        <p:spPr>
          <a:xfrm>
            <a:off x="131180" y="863444"/>
            <a:ext cx="6211431" cy="5590565"/>
          </a:xfrm>
        </p:spPr>
        <p:txBody>
          <a:bodyPr/>
          <a:lstStyle/>
          <a:p>
            <a:r>
              <a:rPr lang="en-US" dirty="0"/>
              <a:t>It lets programmers create new classes that share some of the attributes of existing classes. </a:t>
            </a:r>
          </a:p>
          <a:p>
            <a:r>
              <a:rPr lang="en-US" dirty="0"/>
              <a:t>Inheritance lets us build on previous work without reinventing the wheel.</a:t>
            </a:r>
          </a:p>
          <a:p>
            <a:r>
              <a:rPr lang="en-US" dirty="0"/>
              <a:t>The inheritance is the most powerful feature of OOP.</a:t>
            </a:r>
          </a:p>
          <a:p>
            <a:r>
              <a:rPr lang="en-US" dirty="0"/>
              <a:t>Through effective use of inheritance, we can save lot of time in programming and also reduce errors, which in turn will increase the quality of work and productivity.</a:t>
            </a:r>
          </a:p>
          <a:p>
            <a:endParaRPr lang="en-US" dirty="0"/>
          </a:p>
        </p:txBody>
      </p:sp>
      <p:sp>
        <p:nvSpPr>
          <p:cNvPr id="6" name="Rectangle 5"/>
          <p:cNvSpPr/>
          <p:nvPr/>
        </p:nvSpPr>
        <p:spPr>
          <a:xfrm>
            <a:off x="6648797" y="4216244"/>
            <a:ext cx="2133600" cy="13716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2000" dirty="0">
                <a:ln w="0"/>
                <a:solidFill>
                  <a:schemeClr val="tx1"/>
                </a:solidFill>
                <a:effectLst>
                  <a:outerShdw blurRad="38100" dist="19050" dir="2700000" algn="tl" rotWithShape="0">
                    <a:schemeClr val="dk1">
                      <a:alpha val="40000"/>
                    </a:schemeClr>
                  </a:outerShdw>
                </a:effectLst>
              </a:rPr>
              <a:t>- ID</a:t>
            </a:r>
          </a:p>
          <a:p>
            <a:r>
              <a:rPr lang="en-IN" sz="2000" dirty="0">
                <a:ln w="0"/>
                <a:solidFill>
                  <a:schemeClr val="tx1"/>
                </a:solidFill>
                <a:effectLst>
                  <a:outerShdw blurRad="38100" dist="19050" dir="2700000" algn="tl" rotWithShape="0">
                    <a:schemeClr val="dk1">
                      <a:alpha val="40000"/>
                    </a:schemeClr>
                  </a:outerShdw>
                </a:effectLst>
              </a:rPr>
              <a:t>- Name</a:t>
            </a:r>
          </a:p>
          <a:p>
            <a:r>
              <a:rPr lang="en-IN" sz="2000" dirty="0">
                <a:ln w="0"/>
                <a:solidFill>
                  <a:schemeClr val="tx1"/>
                </a:solidFill>
                <a:effectLst>
                  <a:outerShdw blurRad="38100" dist="19050" dir="2700000" algn="tl" rotWithShape="0">
                    <a:schemeClr val="dk1">
                      <a:alpha val="40000"/>
                    </a:schemeClr>
                  </a:outerShdw>
                </a:effectLst>
              </a:rPr>
              <a:t>- Address</a:t>
            </a:r>
          </a:p>
          <a:p>
            <a:r>
              <a:rPr lang="en-IN" sz="2000" dirty="0">
                <a:ln w="0"/>
                <a:solidFill>
                  <a:schemeClr val="tx1"/>
                </a:solidFill>
                <a:effectLst>
                  <a:outerShdw blurRad="38100" dist="19050" dir="2700000" algn="tl" rotWithShape="0">
                    <a:schemeClr val="dk1">
                      <a:alpha val="40000"/>
                    </a:schemeClr>
                  </a:outerShdw>
                </a:effectLst>
              </a:rPr>
              <a:t>- Contact</a:t>
            </a:r>
          </a:p>
        </p:txBody>
      </p:sp>
      <p:sp>
        <p:nvSpPr>
          <p:cNvPr id="7" name="Rectangle 6"/>
          <p:cNvSpPr/>
          <p:nvPr/>
        </p:nvSpPr>
        <p:spPr>
          <a:xfrm>
            <a:off x="6648797" y="3530444"/>
            <a:ext cx="2133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Manager</a:t>
            </a:r>
          </a:p>
        </p:txBody>
      </p:sp>
      <p:sp>
        <p:nvSpPr>
          <p:cNvPr id="8" name="Rectangle 7"/>
          <p:cNvSpPr/>
          <p:nvPr/>
        </p:nvSpPr>
        <p:spPr>
          <a:xfrm>
            <a:off x="6648797" y="4216244"/>
            <a:ext cx="2133600" cy="18288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2000" dirty="0">
                <a:ln w="0"/>
                <a:solidFill>
                  <a:schemeClr val="tx1"/>
                </a:solidFill>
                <a:effectLst>
                  <a:outerShdw blurRad="38100" dist="19050" dir="2700000" algn="tl" rotWithShape="0">
                    <a:schemeClr val="dk1">
                      <a:alpha val="40000"/>
                    </a:schemeClr>
                  </a:outerShdw>
                </a:effectLst>
              </a:rPr>
              <a:t>- ID</a:t>
            </a:r>
          </a:p>
          <a:p>
            <a:r>
              <a:rPr lang="en-IN" sz="2000" dirty="0">
                <a:ln w="0"/>
                <a:solidFill>
                  <a:schemeClr val="tx1"/>
                </a:solidFill>
                <a:effectLst>
                  <a:outerShdw blurRad="38100" dist="19050" dir="2700000" algn="tl" rotWithShape="0">
                    <a:schemeClr val="dk1">
                      <a:alpha val="40000"/>
                    </a:schemeClr>
                  </a:outerShdw>
                </a:effectLst>
              </a:rPr>
              <a:t>- Name</a:t>
            </a:r>
          </a:p>
          <a:p>
            <a:r>
              <a:rPr lang="en-IN" sz="2000" dirty="0">
                <a:ln w="0"/>
                <a:solidFill>
                  <a:schemeClr val="tx1"/>
                </a:solidFill>
                <a:effectLst>
                  <a:outerShdw blurRad="38100" dist="19050" dir="2700000" algn="tl" rotWithShape="0">
                    <a:schemeClr val="dk1">
                      <a:alpha val="40000"/>
                    </a:schemeClr>
                  </a:outerShdw>
                </a:effectLst>
              </a:rPr>
              <a:t>- Address</a:t>
            </a:r>
          </a:p>
          <a:p>
            <a:r>
              <a:rPr lang="en-IN" sz="2000" dirty="0">
                <a:ln w="0"/>
                <a:solidFill>
                  <a:schemeClr val="tx1"/>
                </a:solidFill>
                <a:effectLst>
                  <a:outerShdw blurRad="38100" dist="19050" dir="2700000" algn="tl" rotWithShape="0">
                    <a:schemeClr val="dk1">
                      <a:alpha val="40000"/>
                    </a:schemeClr>
                  </a:outerShdw>
                </a:effectLst>
              </a:rPr>
              <a:t>- Contact</a:t>
            </a:r>
          </a:p>
          <a:p>
            <a:r>
              <a:rPr lang="en-IN" sz="2000" dirty="0">
                <a:ln w="0"/>
                <a:solidFill>
                  <a:schemeClr val="tx1"/>
                </a:solidFill>
                <a:effectLst>
                  <a:outerShdw blurRad="38100" dist="19050" dir="2700000" algn="tl" rotWithShape="0">
                    <a:schemeClr val="dk1">
                      <a:alpha val="40000"/>
                    </a:schemeClr>
                  </a:outerShdw>
                </a:effectLst>
              </a:rPr>
              <a:t>- </a:t>
            </a:r>
            <a:r>
              <a:rPr lang="en-IN" sz="2000" dirty="0" err="1">
                <a:ln w="0"/>
                <a:solidFill>
                  <a:schemeClr val="tx1"/>
                </a:solidFill>
                <a:effectLst>
                  <a:outerShdw blurRad="38100" dist="19050" dir="2700000" algn="tl" rotWithShape="0">
                    <a:schemeClr val="dk1">
                      <a:alpha val="40000"/>
                    </a:schemeClr>
                  </a:outerShdw>
                </a:effectLst>
              </a:rPr>
              <a:t>MonthlySalary</a:t>
            </a:r>
            <a:endParaRPr lang="en-IN" sz="2000" dirty="0">
              <a:ln w="0"/>
              <a:solidFill>
                <a:schemeClr val="tx1"/>
              </a:solidFill>
              <a:effectLst>
                <a:outerShdw blurRad="38100" dist="19050" dir="2700000" algn="tl" rotWithShape="0">
                  <a:schemeClr val="dk1">
                    <a:alpha val="40000"/>
                  </a:schemeClr>
                </a:outerShdw>
              </a:effectLst>
            </a:endParaRPr>
          </a:p>
        </p:txBody>
      </p:sp>
      <p:sp>
        <p:nvSpPr>
          <p:cNvPr id="9" name="Rectangle 8"/>
          <p:cNvSpPr/>
          <p:nvPr/>
        </p:nvSpPr>
        <p:spPr>
          <a:xfrm>
            <a:off x="9925397" y="3530444"/>
            <a:ext cx="2133600" cy="7481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Worker</a:t>
            </a:r>
          </a:p>
        </p:txBody>
      </p:sp>
      <p:sp>
        <p:nvSpPr>
          <p:cNvPr id="10" name="Rectangle 9"/>
          <p:cNvSpPr/>
          <p:nvPr/>
        </p:nvSpPr>
        <p:spPr>
          <a:xfrm>
            <a:off x="9925397" y="4278589"/>
            <a:ext cx="2133600" cy="1995055"/>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IN" sz="2000" dirty="0">
                <a:ln w="0"/>
                <a:solidFill>
                  <a:schemeClr val="tx1"/>
                </a:solidFill>
                <a:effectLst>
                  <a:outerShdw blurRad="38100" dist="19050" dir="2700000" algn="tl" rotWithShape="0">
                    <a:schemeClr val="dk1">
                      <a:alpha val="40000"/>
                    </a:schemeClr>
                  </a:outerShdw>
                </a:effectLst>
              </a:rPr>
              <a:t>- ID</a:t>
            </a:r>
          </a:p>
          <a:p>
            <a:r>
              <a:rPr lang="en-IN" sz="2000" dirty="0">
                <a:ln w="0"/>
                <a:solidFill>
                  <a:schemeClr val="tx1"/>
                </a:solidFill>
                <a:effectLst>
                  <a:outerShdw blurRad="38100" dist="19050" dir="2700000" algn="tl" rotWithShape="0">
                    <a:schemeClr val="dk1">
                      <a:alpha val="40000"/>
                    </a:schemeClr>
                  </a:outerShdw>
                </a:effectLst>
              </a:rPr>
              <a:t>- Name</a:t>
            </a:r>
          </a:p>
          <a:p>
            <a:r>
              <a:rPr lang="en-IN" sz="2000" dirty="0">
                <a:ln w="0"/>
                <a:solidFill>
                  <a:schemeClr val="tx1"/>
                </a:solidFill>
                <a:effectLst>
                  <a:outerShdw blurRad="38100" dist="19050" dir="2700000" algn="tl" rotWithShape="0">
                    <a:schemeClr val="dk1">
                      <a:alpha val="40000"/>
                    </a:schemeClr>
                  </a:outerShdw>
                </a:effectLst>
              </a:rPr>
              <a:t>- Address</a:t>
            </a:r>
          </a:p>
          <a:p>
            <a:r>
              <a:rPr lang="en-IN" sz="2000" dirty="0">
                <a:ln w="0"/>
                <a:solidFill>
                  <a:schemeClr val="tx1"/>
                </a:solidFill>
                <a:effectLst>
                  <a:outerShdw blurRad="38100" dist="19050" dir="2700000" algn="tl" rotWithShape="0">
                    <a:schemeClr val="dk1">
                      <a:alpha val="40000"/>
                    </a:schemeClr>
                  </a:outerShdw>
                </a:effectLst>
              </a:rPr>
              <a:t>- Contact</a:t>
            </a:r>
          </a:p>
          <a:p>
            <a:r>
              <a:rPr lang="en-IN" sz="2000" dirty="0">
                <a:ln w="0"/>
                <a:solidFill>
                  <a:schemeClr val="tx1"/>
                </a:solidFill>
                <a:effectLst>
                  <a:outerShdw blurRad="38100" dist="19050" dir="2700000" algn="tl" rotWithShape="0">
                    <a:schemeClr val="dk1">
                      <a:alpha val="40000"/>
                    </a:schemeClr>
                  </a:outerShdw>
                </a:effectLst>
              </a:rPr>
              <a:t>- </a:t>
            </a:r>
            <a:r>
              <a:rPr lang="en-IN" sz="2000" dirty="0" err="1">
                <a:ln w="0"/>
                <a:solidFill>
                  <a:schemeClr val="tx1"/>
                </a:solidFill>
                <a:effectLst>
                  <a:outerShdw blurRad="38100" dist="19050" dir="2700000" algn="tl" rotWithShape="0">
                    <a:schemeClr val="dk1">
                      <a:alpha val="40000"/>
                    </a:schemeClr>
                  </a:outerShdw>
                </a:effectLst>
              </a:rPr>
              <a:t>DailySalary</a:t>
            </a:r>
            <a:endParaRPr lang="en-IN" sz="2000" dirty="0">
              <a:ln w="0"/>
              <a:solidFill>
                <a:schemeClr val="tx1"/>
              </a:solidFill>
              <a:effectLst>
                <a:outerShdw blurRad="38100" dist="19050" dir="2700000" algn="tl" rotWithShape="0">
                  <a:schemeClr val="dk1">
                    <a:alpha val="40000"/>
                  </a:schemeClr>
                </a:outerShdw>
              </a:effectLst>
            </a:endParaRPr>
          </a:p>
          <a:p>
            <a:r>
              <a:rPr lang="en-IN" sz="2000" dirty="0">
                <a:ln w="0"/>
                <a:solidFill>
                  <a:schemeClr val="tx1"/>
                </a:solidFill>
                <a:effectLst>
                  <a:outerShdw blurRad="38100" dist="19050" dir="2700000" algn="tl" rotWithShape="0">
                    <a:schemeClr val="dk1">
                      <a:alpha val="40000"/>
                    </a:schemeClr>
                  </a:outerShdw>
                </a:effectLst>
              </a:rPr>
              <a:t>- </a:t>
            </a:r>
            <a:r>
              <a:rPr lang="en-IN" sz="2000" dirty="0" err="1">
                <a:ln w="0"/>
                <a:solidFill>
                  <a:schemeClr val="tx1"/>
                </a:solidFill>
                <a:effectLst>
                  <a:outerShdw blurRad="38100" dist="19050" dir="2700000" algn="tl" rotWithShape="0">
                    <a:schemeClr val="dk1">
                      <a:alpha val="40000"/>
                    </a:schemeClr>
                  </a:outerShdw>
                </a:effectLst>
              </a:rPr>
              <a:t>NoOfHours</a:t>
            </a:r>
            <a:endParaRPr lang="en-IN" sz="2000" dirty="0">
              <a:ln w="0"/>
              <a:solidFill>
                <a:schemeClr val="tx1"/>
              </a:solidFill>
              <a:effectLst>
                <a:outerShdw blurRad="38100" dist="19050" dir="2700000" algn="tl" rotWithShape="0">
                  <a:schemeClr val="dk1">
                    <a:alpha val="40000"/>
                  </a:schemeClr>
                </a:outerShdw>
              </a:effectLst>
            </a:endParaRPr>
          </a:p>
        </p:txBody>
      </p:sp>
      <p:sp>
        <p:nvSpPr>
          <p:cNvPr id="11" name="Rectangle 10"/>
          <p:cNvSpPr/>
          <p:nvPr/>
        </p:nvSpPr>
        <p:spPr>
          <a:xfrm>
            <a:off x="8477597" y="863444"/>
            <a:ext cx="2133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Employee</a:t>
            </a:r>
          </a:p>
        </p:txBody>
      </p:sp>
      <p:sp>
        <p:nvSpPr>
          <p:cNvPr id="12" name="Rectangle 11"/>
          <p:cNvSpPr/>
          <p:nvPr/>
        </p:nvSpPr>
        <p:spPr>
          <a:xfrm>
            <a:off x="6496397" y="4278589"/>
            <a:ext cx="1600200" cy="123305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9811097" y="4354789"/>
            <a:ext cx="1600200" cy="123305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6705947" y="4278589"/>
            <a:ext cx="1600200" cy="1233055"/>
          </a:xfrm>
          <a:prstGeom prst="rect">
            <a:avLst/>
          </a:prstGeom>
          <a:solidFill>
            <a:srgbClr val="CAE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10001597" y="4354789"/>
            <a:ext cx="1600200" cy="1233055"/>
          </a:xfrm>
          <a:prstGeom prst="rect">
            <a:avLst/>
          </a:prstGeom>
          <a:solidFill>
            <a:srgbClr val="CAE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p:cNvCxnSpPr>
            <a:endCxn id="7" idx="0"/>
          </p:cNvCxnSpPr>
          <p:nvPr/>
        </p:nvCxnSpPr>
        <p:spPr>
          <a:xfrm flipH="1">
            <a:off x="7715597" y="2932624"/>
            <a:ext cx="1327440" cy="569353"/>
          </a:xfrm>
          <a:prstGeom prst="straightConnector1">
            <a:avLst/>
          </a:prstGeom>
          <a:ln w="31750">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9" idx="0"/>
          </p:cNvCxnSpPr>
          <p:nvPr/>
        </p:nvCxnSpPr>
        <p:spPr>
          <a:xfrm>
            <a:off x="9925397" y="2932624"/>
            <a:ext cx="1066800" cy="597820"/>
          </a:xfrm>
          <a:prstGeom prst="straightConnector1">
            <a:avLst/>
          </a:prstGeom>
          <a:ln w="3175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00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par>
                                <p:cTn id="28" presetID="22" presetClass="entr" presetSubtype="1" fill="hold" grpId="1"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up)">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500"/>
                                        <p:tgtEl>
                                          <p:spTgt spid="12"/>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0" presetClass="path" presetSubtype="0" accel="50000" decel="50000" fill="hold" grpId="0" nodeType="clickEffect">
                                  <p:stCondLst>
                                    <p:cond delay="0"/>
                                  </p:stCondLst>
                                  <p:childTnLst>
                                    <p:animMotion origin="layout" path="M -2.5E-6 -4.81481E-6 L -2.5E-6 0.00024 C 0.00026 -0.02268 -0.00039 -0.04537 0.00104 -0.06782 C 0.00157 -0.078 0.00612 -0.09745 0.00612 -0.09722 C 0.00886 -0.13634 0.00573 -0.10115 0.00847 -0.12083 C 0.00899 -0.12407 0.00899 -0.12777 0.00964 -0.13125 C 0.01016 -0.13356 0.01146 -0.13541 0.01224 -0.1375 C 0.01393 -0.14305 0.01589 -0.14861 0.01706 -0.15439 C 0.01784 -0.15856 0.01979 -0.16851 0.02097 -0.17152 C 0.02175 -0.17384 0.02344 -0.17546 0.02461 -0.17777 C 0.02591 -0.18055 0.02696 -0.18356 0.02826 -0.18611 C 0.03151 -0.19259 0.0319 -0.19236 0.03568 -0.19675 C 0.03607 -0.19907 0.0362 -0.20138 0.03698 -0.20324 C 0.03828 -0.20648 0.04037 -0.20856 0.04193 -0.21157 C 0.04336 -0.21412 0.04453 -0.21712 0.04571 -0.22013 L 0.053 -0.23912 C 0.05391 -0.2412 0.05456 -0.24375 0.05573 -0.24537 C 0.0569 -0.24745 0.05808 -0.2493 0.05925 -0.25185 C 0.06029 -0.2537 0.06081 -0.25601 0.06185 -0.25787 C 0.06302 -0.26087 0.06433 -0.26365 0.0655 -0.26666 C 0.06628 -0.26851 0.06706 -0.27106 0.0681 -0.27291 C 0.06901 -0.27523 0.07058 -0.27685 0.07162 -0.27916 C 0.08373 -0.30578 0.06849 -0.278 0.08412 -0.30462 L 0.08776 -0.31087 L 0.09154 -0.31712 C 0.09193 -0.32013 0.0918 -0.32337 0.09284 -0.32569 C 0.09362 -0.32777 0.09532 -0.32824 0.09649 -0.33009 C 0.09792 -0.33171 0.09909 -0.33425 0.10026 -0.33634 C 0.10065 -0.33842 0.10065 -0.34074 0.10143 -0.34259 C 0.10729 -0.35555 0.10651 -0.35393 0.11263 -0.3574 C 0.12058 -0.37106 0.11784 -0.37083 0.125 -0.3743 C 0.1267 -0.37523 0.12826 -0.37569 0.12995 -0.37638 C 0.13203 -0.37708 0.13412 -0.37754 0.1362 -0.3787 C 0.13828 -0.37962 0.14024 -0.38148 0.14245 -0.38287 C 0.14362 -0.38356 0.14492 -0.38402 0.1461 -0.38472 C 0.14753 -0.38587 0.15 -0.38888 0.15 -0.38865 " pathEditMode="relative" rAng="0" ptsTypes="AAAAAAAAAAAAAAAAAAAAAAAAAAAAAAAAAAAA">
                                      <p:cBhvr>
                                        <p:cTn id="55" dur="2000" fill="hold"/>
                                        <p:tgtEl>
                                          <p:spTgt spid="6"/>
                                        </p:tgtEl>
                                        <p:attrNameLst>
                                          <p:attrName>ppt_x</p:attrName>
                                          <p:attrName>ppt_y</p:attrName>
                                        </p:attrNameLst>
                                      </p:cBhvr>
                                      <p:rCtr x="7500" y="-19444"/>
                                    </p:animMotion>
                                  </p:childTnLst>
                                </p:cTn>
                              </p:par>
                              <p:par>
                                <p:cTn id="56" presetID="1" presetClass="exit" presetSubtype="0" fill="hold" grpId="1" nodeType="withEffect">
                                  <p:stCondLst>
                                    <p:cond delay="0"/>
                                  </p:stCondLst>
                                  <p:childTnLst>
                                    <p:set>
                                      <p:cBhvr>
                                        <p:cTn id="57" dur="1" fill="hold">
                                          <p:stCondLst>
                                            <p:cond delay="0"/>
                                          </p:stCondLst>
                                        </p:cTn>
                                        <p:tgtEl>
                                          <p:spTgt spid="12"/>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13"/>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up)">
                                      <p:cBhvr>
                                        <p:cTn id="68" dur="500"/>
                                        <p:tgtEl>
                                          <p:spTgt spid="16"/>
                                        </p:tgtEl>
                                      </p:cBhvr>
                                    </p:animEffect>
                                  </p:childTnLst>
                                </p:cTn>
                              </p:par>
                              <p:par>
                                <p:cTn id="69" presetID="22" presetClass="entr" presetSubtype="1" fill="hold"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up)">
                                      <p:cBhvr>
                                        <p:cTn id="7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animBg="1"/>
      <p:bldP spid="6" grpId="1" animBg="1"/>
      <p:bldP spid="7" grpId="0" animBg="1"/>
      <p:bldP spid="8" grpId="0" animBg="1"/>
      <p:bldP spid="9" grpId="0" animBg="1"/>
      <p:bldP spid="10" grpId="0" animBg="1"/>
      <p:bldP spid="11" grpId="0" animBg="1"/>
      <p:bldP spid="12" grpId="0" animBg="1"/>
      <p:bldP spid="12" grpId="1" animBg="1"/>
      <p:bldP spid="13" grpId="0" animBg="1"/>
      <p:bldP spid="13" grpId="1"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Example of Inheritance</a:t>
            </a:r>
          </a:p>
        </p:txBody>
      </p:sp>
      <p:sp>
        <p:nvSpPr>
          <p:cNvPr id="4" name="Rectangle 3"/>
          <p:cNvSpPr/>
          <p:nvPr/>
        </p:nvSpPr>
        <p:spPr>
          <a:xfrm>
            <a:off x="4619703" y="925395"/>
            <a:ext cx="1981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Vehicle</a:t>
            </a:r>
            <a:endParaRPr lang="en-IN" sz="2000" b="1" dirty="0"/>
          </a:p>
          <a:p>
            <a:pPr lvl="0" algn="ctr"/>
            <a:endParaRPr lang="en-US" sz="2000" b="1" dirty="0"/>
          </a:p>
        </p:txBody>
      </p:sp>
      <p:sp>
        <p:nvSpPr>
          <p:cNvPr id="5" name="Rectangle 4"/>
          <p:cNvSpPr/>
          <p:nvPr/>
        </p:nvSpPr>
        <p:spPr>
          <a:xfrm>
            <a:off x="1800303" y="3363795"/>
            <a:ext cx="1981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Bike</a:t>
            </a:r>
          </a:p>
          <a:p>
            <a:pPr lvl="0" algn="ctr"/>
            <a:r>
              <a:rPr lang="en-US" sz="2000" dirty="0" err="1">
                <a:solidFill>
                  <a:srgbClr val="FFFF00"/>
                </a:solidFill>
              </a:rPr>
              <a:t>cubicCapacity</a:t>
            </a:r>
            <a:endParaRPr lang="en-US" sz="2000" dirty="0">
              <a:solidFill>
                <a:srgbClr val="FFFF00"/>
              </a:solidFill>
            </a:endParaRPr>
          </a:p>
          <a:p>
            <a:pPr lvl="0" algn="ctr"/>
            <a:r>
              <a:rPr lang="en-US" sz="2000" dirty="0" err="1">
                <a:solidFill>
                  <a:srgbClr val="FFFF00"/>
                </a:solidFill>
              </a:rPr>
              <a:t>isMoped</a:t>
            </a:r>
            <a:endParaRPr lang="en-US" sz="2000" dirty="0">
              <a:solidFill>
                <a:srgbClr val="FFFF00"/>
              </a:solidFill>
            </a:endParaRPr>
          </a:p>
        </p:txBody>
      </p:sp>
      <p:sp>
        <p:nvSpPr>
          <p:cNvPr id="6" name="Rectangle 5"/>
          <p:cNvSpPr/>
          <p:nvPr/>
        </p:nvSpPr>
        <p:spPr>
          <a:xfrm>
            <a:off x="4695903" y="3363795"/>
            <a:ext cx="1981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Car</a:t>
            </a:r>
            <a:endParaRPr lang="en-IN" sz="2000" b="1" dirty="0"/>
          </a:p>
          <a:p>
            <a:pPr lvl="0" algn="ctr"/>
            <a:r>
              <a:rPr lang="en-US" sz="2000" dirty="0" err="1">
                <a:solidFill>
                  <a:srgbClr val="FFFF00"/>
                </a:solidFill>
              </a:rPr>
              <a:t>horsePower</a:t>
            </a:r>
            <a:endParaRPr lang="en-US" sz="2000" dirty="0">
              <a:solidFill>
                <a:srgbClr val="FFFF00"/>
              </a:solidFill>
            </a:endParaRPr>
          </a:p>
          <a:p>
            <a:pPr lvl="0" algn="ctr"/>
            <a:r>
              <a:rPr lang="en-US" sz="2000" dirty="0" err="1">
                <a:solidFill>
                  <a:srgbClr val="FFFF00"/>
                </a:solidFill>
              </a:rPr>
              <a:t>noOfAirBags</a:t>
            </a:r>
            <a:endParaRPr lang="en-US" sz="2000" dirty="0">
              <a:solidFill>
                <a:srgbClr val="FFFF00"/>
              </a:solidFill>
            </a:endParaRPr>
          </a:p>
          <a:p>
            <a:pPr lvl="0" algn="ctr"/>
            <a:r>
              <a:rPr lang="en-US" sz="2000" dirty="0" err="1">
                <a:solidFill>
                  <a:srgbClr val="FFFF00"/>
                </a:solidFill>
              </a:rPr>
              <a:t>tollTaxAmount</a:t>
            </a:r>
            <a:r>
              <a:rPr lang="en-US" sz="2000" dirty="0">
                <a:solidFill>
                  <a:srgbClr val="FFFF00"/>
                </a:solidFill>
              </a:rPr>
              <a:t>()</a:t>
            </a:r>
          </a:p>
          <a:p>
            <a:pPr lvl="0" algn="ctr"/>
            <a:endParaRPr lang="en-US" dirty="0"/>
          </a:p>
        </p:txBody>
      </p:sp>
      <p:sp>
        <p:nvSpPr>
          <p:cNvPr id="7" name="Rectangle 6"/>
          <p:cNvSpPr/>
          <p:nvPr/>
        </p:nvSpPr>
        <p:spPr>
          <a:xfrm>
            <a:off x="7515303" y="3363795"/>
            <a:ext cx="1981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Truck</a:t>
            </a:r>
            <a:endParaRPr lang="en-IN" sz="2000" b="1" dirty="0"/>
          </a:p>
          <a:p>
            <a:pPr lvl="0" algn="ctr"/>
            <a:r>
              <a:rPr lang="en-US" sz="2000" dirty="0" err="1">
                <a:solidFill>
                  <a:srgbClr val="FFFF00"/>
                </a:solidFill>
              </a:rPr>
              <a:t>horsePower</a:t>
            </a:r>
            <a:endParaRPr lang="en-US" sz="2000" dirty="0">
              <a:solidFill>
                <a:srgbClr val="FFFF00"/>
              </a:solidFill>
            </a:endParaRPr>
          </a:p>
          <a:p>
            <a:pPr lvl="0" algn="ctr"/>
            <a:r>
              <a:rPr lang="en-US" sz="2000" dirty="0" err="1">
                <a:solidFill>
                  <a:srgbClr val="FFFF00"/>
                </a:solidFill>
              </a:rPr>
              <a:t>loadingCapacity</a:t>
            </a:r>
            <a:endParaRPr lang="en-US" sz="2000" dirty="0">
              <a:solidFill>
                <a:srgbClr val="FFFF00"/>
              </a:solidFill>
            </a:endParaRPr>
          </a:p>
          <a:p>
            <a:pPr lvl="0" algn="ctr"/>
            <a:r>
              <a:rPr lang="en-US" sz="2000" dirty="0" err="1">
                <a:solidFill>
                  <a:srgbClr val="FFFF00"/>
                </a:solidFill>
              </a:rPr>
              <a:t>payTollTax</a:t>
            </a:r>
            <a:r>
              <a:rPr lang="en-US" sz="2000" dirty="0">
                <a:solidFill>
                  <a:srgbClr val="FFFF00"/>
                </a:solidFill>
              </a:rPr>
              <a:t>()</a:t>
            </a:r>
          </a:p>
        </p:txBody>
      </p:sp>
      <p:sp>
        <p:nvSpPr>
          <p:cNvPr id="8" name="Rectangle 7"/>
          <p:cNvSpPr/>
          <p:nvPr/>
        </p:nvSpPr>
        <p:spPr>
          <a:xfrm>
            <a:off x="1800303" y="3363795"/>
            <a:ext cx="1981200"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Bike</a:t>
            </a:r>
          </a:p>
          <a:p>
            <a:pPr lvl="0" algn="ctr"/>
            <a:r>
              <a:rPr lang="en-US" sz="2000" dirty="0" err="1">
                <a:solidFill>
                  <a:srgbClr val="002060"/>
                </a:solidFill>
              </a:rPr>
              <a:t>cubicCapacity</a:t>
            </a:r>
            <a:endParaRPr lang="en-US" sz="2000" dirty="0">
              <a:solidFill>
                <a:srgbClr val="002060"/>
              </a:solidFill>
            </a:endParaRPr>
          </a:p>
          <a:p>
            <a:pPr lvl="0" algn="ctr"/>
            <a:r>
              <a:rPr lang="en-US" sz="2000" dirty="0" err="1">
                <a:solidFill>
                  <a:srgbClr val="002060"/>
                </a:solidFill>
              </a:rPr>
              <a:t>isMoped</a:t>
            </a:r>
            <a:endParaRPr lang="en-US" sz="2000" dirty="0">
              <a:solidFill>
                <a:srgbClr val="002060"/>
              </a:solidFill>
            </a:endParaRPr>
          </a:p>
        </p:txBody>
      </p:sp>
      <p:sp>
        <p:nvSpPr>
          <p:cNvPr id="9" name="Rectangle 10.1"/>
          <p:cNvSpPr/>
          <p:nvPr/>
        </p:nvSpPr>
        <p:spPr>
          <a:xfrm>
            <a:off x="4695903" y="1382595"/>
            <a:ext cx="1828800" cy="1200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err="1">
                <a:solidFill>
                  <a:schemeClr val="bg1"/>
                </a:solidFill>
              </a:rPr>
              <a:t>noOfPassanger</a:t>
            </a:r>
            <a:endParaRPr lang="en-US" dirty="0">
              <a:solidFill>
                <a:schemeClr val="bg1"/>
              </a:solidFill>
            </a:endParaRPr>
          </a:p>
          <a:p>
            <a:pPr lvl="0" algn="ctr"/>
            <a:r>
              <a:rPr lang="en-US" dirty="0" err="1">
                <a:solidFill>
                  <a:schemeClr val="bg1"/>
                </a:solidFill>
              </a:rPr>
              <a:t>maxSpeed</a:t>
            </a:r>
            <a:endParaRPr lang="en-US" dirty="0">
              <a:solidFill>
                <a:schemeClr val="bg1"/>
              </a:solidFill>
            </a:endParaRPr>
          </a:p>
          <a:p>
            <a:pPr lvl="0" algn="ctr"/>
            <a:r>
              <a:rPr lang="en-US" dirty="0" err="1">
                <a:solidFill>
                  <a:schemeClr val="bg1"/>
                </a:solidFill>
              </a:rPr>
              <a:t>noOfWheels</a:t>
            </a:r>
            <a:endParaRPr lang="en-US" dirty="0">
              <a:solidFill>
                <a:schemeClr val="bg1"/>
              </a:solidFill>
            </a:endParaRPr>
          </a:p>
          <a:p>
            <a:pPr lvl="0" algn="ctr"/>
            <a:r>
              <a:rPr lang="en-US" dirty="0" err="1">
                <a:solidFill>
                  <a:schemeClr val="bg1"/>
                </a:solidFill>
              </a:rPr>
              <a:t>noOfGears</a:t>
            </a:r>
            <a:endParaRPr lang="en-US" dirty="0">
              <a:solidFill>
                <a:schemeClr val="bg1"/>
              </a:solidFill>
            </a:endParaRPr>
          </a:p>
        </p:txBody>
      </p:sp>
      <p:sp>
        <p:nvSpPr>
          <p:cNvPr id="10" name="Rectangle 9"/>
          <p:cNvSpPr/>
          <p:nvPr/>
        </p:nvSpPr>
        <p:spPr>
          <a:xfrm>
            <a:off x="4695903" y="3363795"/>
            <a:ext cx="1981200"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Car</a:t>
            </a:r>
            <a:endParaRPr lang="en-IN" sz="2000" b="1" dirty="0"/>
          </a:p>
          <a:p>
            <a:pPr lvl="0" algn="ctr"/>
            <a:r>
              <a:rPr lang="en-US" sz="2000" dirty="0" err="1">
                <a:solidFill>
                  <a:srgbClr val="002060"/>
                </a:solidFill>
              </a:rPr>
              <a:t>horsePower</a:t>
            </a:r>
            <a:endParaRPr lang="en-US" sz="2000" dirty="0">
              <a:solidFill>
                <a:srgbClr val="002060"/>
              </a:solidFill>
            </a:endParaRPr>
          </a:p>
          <a:p>
            <a:pPr lvl="0" algn="ctr"/>
            <a:r>
              <a:rPr lang="en-US" sz="2000" dirty="0" err="1">
                <a:solidFill>
                  <a:srgbClr val="002060"/>
                </a:solidFill>
              </a:rPr>
              <a:t>noOfAirBags</a:t>
            </a:r>
            <a:endParaRPr lang="en-US" sz="2000" dirty="0">
              <a:solidFill>
                <a:srgbClr val="002060"/>
              </a:solidFill>
            </a:endParaRPr>
          </a:p>
          <a:p>
            <a:pPr lvl="0" algn="ctr"/>
            <a:r>
              <a:rPr lang="en-US" sz="2000" dirty="0" err="1">
                <a:solidFill>
                  <a:srgbClr val="002060"/>
                </a:solidFill>
              </a:rPr>
              <a:t>tollTaxAmount</a:t>
            </a:r>
            <a:r>
              <a:rPr lang="en-US" sz="2000" dirty="0">
                <a:solidFill>
                  <a:srgbClr val="002060"/>
                </a:solidFill>
              </a:rPr>
              <a:t>()</a:t>
            </a:r>
          </a:p>
          <a:p>
            <a:pPr lvl="0" algn="ctr"/>
            <a:endParaRPr lang="en-US" dirty="0"/>
          </a:p>
        </p:txBody>
      </p:sp>
      <p:sp>
        <p:nvSpPr>
          <p:cNvPr id="11" name="Rectangle 10.2"/>
          <p:cNvSpPr/>
          <p:nvPr/>
        </p:nvSpPr>
        <p:spPr>
          <a:xfrm>
            <a:off x="4695903" y="1382595"/>
            <a:ext cx="1828800" cy="1200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err="1">
                <a:solidFill>
                  <a:schemeClr val="bg1"/>
                </a:solidFill>
              </a:rPr>
              <a:t>noOfPassanger</a:t>
            </a:r>
            <a:endParaRPr lang="en-US" dirty="0">
              <a:solidFill>
                <a:schemeClr val="bg1"/>
              </a:solidFill>
            </a:endParaRPr>
          </a:p>
          <a:p>
            <a:pPr lvl="0" algn="ctr"/>
            <a:r>
              <a:rPr lang="en-US" dirty="0" err="1">
                <a:solidFill>
                  <a:schemeClr val="bg1"/>
                </a:solidFill>
              </a:rPr>
              <a:t>maxSpeed</a:t>
            </a:r>
            <a:endParaRPr lang="en-US" dirty="0">
              <a:solidFill>
                <a:schemeClr val="bg1"/>
              </a:solidFill>
            </a:endParaRPr>
          </a:p>
          <a:p>
            <a:pPr lvl="0" algn="ctr"/>
            <a:r>
              <a:rPr lang="en-US" dirty="0" err="1">
                <a:solidFill>
                  <a:schemeClr val="bg1"/>
                </a:solidFill>
              </a:rPr>
              <a:t>noOfWheels</a:t>
            </a:r>
            <a:endParaRPr lang="en-US" dirty="0">
              <a:solidFill>
                <a:schemeClr val="bg1"/>
              </a:solidFill>
            </a:endParaRPr>
          </a:p>
          <a:p>
            <a:pPr lvl="0" algn="ctr"/>
            <a:r>
              <a:rPr lang="en-US" dirty="0" err="1">
                <a:solidFill>
                  <a:schemeClr val="bg1"/>
                </a:solidFill>
              </a:rPr>
              <a:t>noOfGears</a:t>
            </a:r>
            <a:endParaRPr lang="en-US" dirty="0">
              <a:solidFill>
                <a:schemeClr val="bg1"/>
              </a:solidFill>
            </a:endParaRPr>
          </a:p>
        </p:txBody>
      </p:sp>
      <p:sp>
        <p:nvSpPr>
          <p:cNvPr id="12" name="Rectangle 11"/>
          <p:cNvSpPr/>
          <p:nvPr/>
        </p:nvSpPr>
        <p:spPr>
          <a:xfrm>
            <a:off x="7515303" y="3363795"/>
            <a:ext cx="1981200" cy="297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t>Truck</a:t>
            </a:r>
            <a:endParaRPr lang="en-IN" sz="2000" b="1" dirty="0"/>
          </a:p>
          <a:p>
            <a:pPr lvl="0" algn="ctr"/>
            <a:r>
              <a:rPr lang="en-US" sz="2000" dirty="0" err="1">
                <a:solidFill>
                  <a:srgbClr val="002060"/>
                </a:solidFill>
              </a:rPr>
              <a:t>horsePower</a:t>
            </a:r>
            <a:endParaRPr lang="en-US" sz="2000" dirty="0">
              <a:solidFill>
                <a:srgbClr val="002060"/>
              </a:solidFill>
            </a:endParaRPr>
          </a:p>
          <a:p>
            <a:pPr lvl="0" algn="ctr"/>
            <a:r>
              <a:rPr lang="en-US" sz="2000" dirty="0" err="1">
                <a:solidFill>
                  <a:srgbClr val="002060"/>
                </a:solidFill>
              </a:rPr>
              <a:t>loadingCapacity</a:t>
            </a:r>
            <a:endParaRPr lang="en-US" sz="2000" dirty="0">
              <a:solidFill>
                <a:srgbClr val="002060"/>
              </a:solidFill>
            </a:endParaRPr>
          </a:p>
          <a:p>
            <a:pPr lvl="0" algn="ctr"/>
            <a:r>
              <a:rPr lang="en-US" sz="2000" dirty="0" err="1">
                <a:solidFill>
                  <a:srgbClr val="002060"/>
                </a:solidFill>
              </a:rPr>
              <a:t>payTollTax</a:t>
            </a:r>
            <a:r>
              <a:rPr lang="en-US" sz="2000" dirty="0">
                <a:solidFill>
                  <a:srgbClr val="002060"/>
                </a:solidFill>
              </a:rPr>
              <a:t>()</a:t>
            </a:r>
          </a:p>
        </p:txBody>
      </p:sp>
      <p:sp>
        <p:nvSpPr>
          <p:cNvPr id="13" name="Rectangle 10.3"/>
          <p:cNvSpPr/>
          <p:nvPr/>
        </p:nvSpPr>
        <p:spPr>
          <a:xfrm>
            <a:off x="4695903" y="1382595"/>
            <a:ext cx="1828800" cy="1200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err="1">
                <a:solidFill>
                  <a:schemeClr val="bg1"/>
                </a:solidFill>
              </a:rPr>
              <a:t>noOfPassanger</a:t>
            </a:r>
            <a:endParaRPr lang="en-US" dirty="0">
              <a:solidFill>
                <a:schemeClr val="bg1"/>
              </a:solidFill>
            </a:endParaRPr>
          </a:p>
          <a:p>
            <a:pPr lvl="0" algn="ctr"/>
            <a:r>
              <a:rPr lang="en-US" dirty="0" err="1">
                <a:solidFill>
                  <a:schemeClr val="bg1"/>
                </a:solidFill>
              </a:rPr>
              <a:t>maxSpeed</a:t>
            </a:r>
            <a:endParaRPr lang="en-US" dirty="0">
              <a:solidFill>
                <a:schemeClr val="bg1"/>
              </a:solidFill>
            </a:endParaRPr>
          </a:p>
          <a:p>
            <a:pPr lvl="0" algn="ctr"/>
            <a:r>
              <a:rPr lang="en-US" dirty="0" err="1">
                <a:solidFill>
                  <a:schemeClr val="bg1"/>
                </a:solidFill>
              </a:rPr>
              <a:t>noOfWheels</a:t>
            </a:r>
            <a:endParaRPr lang="en-US" dirty="0">
              <a:solidFill>
                <a:schemeClr val="bg1"/>
              </a:solidFill>
            </a:endParaRPr>
          </a:p>
          <a:p>
            <a:pPr lvl="0" algn="ctr"/>
            <a:r>
              <a:rPr lang="en-US" dirty="0" err="1">
                <a:solidFill>
                  <a:schemeClr val="bg1"/>
                </a:solidFill>
              </a:rPr>
              <a:t>noOfGears</a:t>
            </a:r>
            <a:endParaRPr lang="en-US" dirty="0">
              <a:solidFill>
                <a:schemeClr val="bg1"/>
              </a:solidFill>
            </a:endParaRPr>
          </a:p>
        </p:txBody>
      </p:sp>
      <p:cxnSp>
        <p:nvCxnSpPr>
          <p:cNvPr id="14" name="Elbow Connector 13"/>
          <p:cNvCxnSpPr>
            <a:stCxn id="4" idx="2"/>
            <a:endCxn id="8" idx="0"/>
          </p:cNvCxnSpPr>
          <p:nvPr/>
        </p:nvCxnSpPr>
        <p:spPr>
          <a:xfrm rot="5400000">
            <a:off x="3819603" y="1573095"/>
            <a:ext cx="762000" cy="281940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992665" y="2601795"/>
            <a:ext cx="1577676" cy="369332"/>
          </a:xfrm>
          <a:prstGeom prst="rect">
            <a:avLst/>
          </a:prstGeom>
          <a:noFill/>
        </p:spPr>
        <p:txBody>
          <a:bodyPr wrap="none" rtlCol="0">
            <a:spAutoFit/>
          </a:bodyPr>
          <a:lstStyle/>
          <a:p>
            <a:r>
              <a:rPr lang="en-IN" b="1" dirty="0">
                <a:solidFill>
                  <a:srgbClr val="7F0055"/>
                </a:solidFill>
                <a:latin typeface="Consolas"/>
              </a:rPr>
              <a:t>Inheritance</a:t>
            </a:r>
            <a:endParaRPr lang="en-US" b="1" dirty="0">
              <a:solidFill>
                <a:srgbClr val="7F0055"/>
              </a:solidFill>
              <a:latin typeface="Consolas"/>
            </a:endParaRPr>
          </a:p>
        </p:txBody>
      </p:sp>
      <p:cxnSp>
        <p:nvCxnSpPr>
          <p:cNvPr id="16" name="Elbow Connector 15"/>
          <p:cNvCxnSpPr>
            <a:stCxn id="13" idx="2"/>
            <a:endCxn id="10" idx="0"/>
          </p:cNvCxnSpPr>
          <p:nvPr/>
        </p:nvCxnSpPr>
        <p:spPr>
          <a:xfrm rot="16200000" flipH="1">
            <a:off x="5257878" y="2935170"/>
            <a:ext cx="781050" cy="76200"/>
          </a:xfrm>
          <a:prstGeom prst="bentConnector3">
            <a:avLst>
              <a:gd name="adj1" fmla="val 51038"/>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4" idx="2"/>
            <a:endCxn id="12" idx="0"/>
          </p:cNvCxnSpPr>
          <p:nvPr/>
        </p:nvCxnSpPr>
        <p:spPr>
          <a:xfrm rot="16200000" flipH="1">
            <a:off x="6677103" y="1534995"/>
            <a:ext cx="762000" cy="289560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686503" y="2982795"/>
            <a:ext cx="1577676" cy="369332"/>
          </a:xfrm>
          <a:prstGeom prst="rect">
            <a:avLst/>
          </a:prstGeom>
          <a:noFill/>
        </p:spPr>
        <p:txBody>
          <a:bodyPr wrap="none" rtlCol="0">
            <a:spAutoFit/>
          </a:bodyPr>
          <a:lstStyle/>
          <a:p>
            <a:r>
              <a:rPr lang="en-IN" b="1" dirty="0">
                <a:solidFill>
                  <a:srgbClr val="7F0055"/>
                </a:solidFill>
                <a:latin typeface="Consolas"/>
              </a:rPr>
              <a:t>Inheritance</a:t>
            </a:r>
            <a:endParaRPr lang="en-US" b="1" dirty="0">
              <a:solidFill>
                <a:srgbClr val="7F0055"/>
              </a:solidFill>
              <a:latin typeface="Consolas"/>
            </a:endParaRPr>
          </a:p>
        </p:txBody>
      </p:sp>
      <p:sp>
        <p:nvSpPr>
          <p:cNvPr id="19" name="TextBox 18"/>
          <p:cNvSpPr txBox="1"/>
          <p:nvPr/>
        </p:nvSpPr>
        <p:spPr>
          <a:xfrm>
            <a:off x="6928227" y="2601795"/>
            <a:ext cx="1577676" cy="369332"/>
          </a:xfrm>
          <a:prstGeom prst="rect">
            <a:avLst/>
          </a:prstGeom>
          <a:noFill/>
        </p:spPr>
        <p:txBody>
          <a:bodyPr wrap="none" rtlCol="0">
            <a:spAutoFit/>
          </a:bodyPr>
          <a:lstStyle/>
          <a:p>
            <a:r>
              <a:rPr lang="en-IN" b="1" dirty="0">
                <a:solidFill>
                  <a:srgbClr val="7F0055"/>
                </a:solidFill>
                <a:latin typeface="Consolas"/>
              </a:rPr>
              <a:t>Inheritance</a:t>
            </a:r>
            <a:endParaRPr lang="en-US" b="1" dirty="0">
              <a:solidFill>
                <a:srgbClr val="7F0055"/>
              </a:solidFill>
              <a:latin typeface="Consolas"/>
            </a:endParaRPr>
          </a:p>
        </p:txBody>
      </p:sp>
      <p:sp>
        <p:nvSpPr>
          <p:cNvPr id="20" name="Rectangle 10.0"/>
          <p:cNvSpPr/>
          <p:nvPr/>
        </p:nvSpPr>
        <p:spPr>
          <a:xfrm>
            <a:off x="4695903" y="1382595"/>
            <a:ext cx="1828800" cy="1200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dirty="0" err="1">
                <a:solidFill>
                  <a:srgbClr val="002060"/>
                </a:solidFill>
              </a:rPr>
              <a:t>noOfPassanger</a:t>
            </a:r>
            <a:endParaRPr lang="en-US" dirty="0">
              <a:solidFill>
                <a:srgbClr val="002060"/>
              </a:solidFill>
            </a:endParaRPr>
          </a:p>
          <a:p>
            <a:pPr lvl="0" algn="ctr"/>
            <a:r>
              <a:rPr lang="en-US" dirty="0" err="1">
                <a:solidFill>
                  <a:srgbClr val="002060"/>
                </a:solidFill>
              </a:rPr>
              <a:t>maxSpeed</a:t>
            </a:r>
            <a:endParaRPr lang="en-US" dirty="0">
              <a:solidFill>
                <a:srgbClr val="002060"/>
              </a:solidFill>
            </a:endParaRPr>
          </a:p>
          <a:p>
            <a:pPr lvl="0" algn="ctr"/>
            <a:r>
              <a:rPr lang="en-US" dirty="0" err="1">
                <a:solidFill>
                  <a:srgbClr val="002060"/>
                </a:solidFill>
              </a:rPr>
              <a:t>noOfWheels</a:t>
            </a:r>
            <a:endParaRPr lang="en-US" dirty="0">
              <a:solidFill>
                <a:srgbClr val="002060"/>
              </a:solidFill>
            </a:endParaRPr>
          </a:p>
          <a:p>
            <a:pPr lvl="0" algn="ctr"/>
            <a:r>
              <a:rPr lang="en-US" dirty="0" err="1">
                <a:solidFill>
                  <a:srgbClr val="002060"/>
                </a:solidFill>
              </a:rPr>
              <a:t>noOfGears</a:t>
            </a:r>
            <a:endParaRPr lang="en-US" dirty="0">
              <a:solidFill>
                <a:srgbClr val="002060"/>
              </a:solidFill>
            </a:endParaRPr>
          </a:p>
        </p:txBody>
      </p:sp>
    </p:spTree>
    <p:extLst>
      <p:ext uri="{BB962C8B-B14F-4D97-AF65-F5344CB8AC3E}">
        <p14:creationId xmlns:p14="http://schemas.microsoft.com/office/powerpoint/2010/main" val="144905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grpId="0" nodeType="clickEffect">
                                  <p:stCondLst>
                                    <p:cond delay="0"/>
                                  </p:stCondLst>
                                  <p:childTnLst>
                                    <p:animMotion origin="layout" path="M 3.75E-6 -3.7037E-7 L -0.23125 0.48519 " pathEditMode="relative" rAng="0" ptsTypes="AA">
                                      <p:cBhvr>
                                        <p:cTn id="16" dur="2000" fill="hold"/>
                                        <p:tgtEl>
                                          <p:spTgt spid="9"/>
                                        </p:tgtEl>
                                        <p:attrNameLst>
                                          <p:attrName>ppt_x</p:attrName>
                                          <p:attrName>ppt_y</p:attrName>
                                        </p:attrNameLst>
                                      </p:cBhvr>
                                      <p:rCtr x="-11563" y="24259"/>
                                    </p:animMotion>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0" nodeType="clickEffect">
                                  <p:stCondLst>
                                    <p:cond delay="0"/>
                                  </p:stCondLst>
                                  <p:childTnLst>
                                    <p:animMotion origin="layout" path="M 3.75E-6 -3.7037E-7 L 0.00833 0.5125 " pathEditMode="relative" rAng="0" ptsTypes="AA">
                                      <p:cBhvr>
                                        <p:cTn id="30" dur="2000" fill="hold"/>
                                        <p:tgtEl>
                                          <p:spTgt spid="11"/>
                                        </p:tgtEl>
                                        <p:attrNameLst>
                                          <p:attrName>ppt_x</p:attrName>
                                          <p:attrName>ppt_y</p:attrName>
                                        </p:attrNameLst>
                                      </p:cBhvr>
                                      <p:rCtr x="417" y="25625"/>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0" presetClass="path" presetSubtype="0" accel="50000" decel="50000" fill="hold" grpId="0" nodeType="clickEffect">
                                  <p:stCondLst>
                                    <p:cond delay="0"/>
                                  </p:stCondLst>
                                  <p:childTnLst>
                                    <p:animMotion origin="layout" path="M 3.75E-6 -3.7037E-7 L 0.2375 0.51944 " pathEditMode="relative" rAng="0" ptsTypes="AA">
                                      <p:cBhvr>
                                        <p:cTn id="44" dur="2000" fill="hold"/>
                                        <p:tgtEl>
                                          <p:spTgt spid="13"/>
                                        </p:tgtEl>
                                        <p:attrNameLst>
                                          <p:attrName>ppt_x</p:attrName>
                                          <p:attrName>ppt_y</p:attrName>
                                        </p:attrNameLst>
                                      </p:cBhvr>
                                      <p:rCtr x="11875" y="2597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3" grpId="0" animBg="1"/>
      <p:bldP spid="15" grpId="0"/>
      <p:bldP spid="18"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Class</a:t>
            </a:r>
          </a:p>
        </p:txBody>
      </p:sp>
      <p:sp>
        <p:nvSpPr>
          <p:cNvPr id="3" name="Content Placeholder 2"/>
          <p:cNvSpPr>
            <a:spLocks noGrp="1"/>
          </p:cNvSpPr>
          <p:nvPr>
            <p:ph idx="1"/>
          </p:nvPr>
        </p:nvSpPr>
        <p:spPr>
          <a:xfrm>
            <a:off x="131180" y="863444"/>
            <a:ext cx="6710195" cy="5590565"/>
          </a:xfrm>
        </p:spPr>
        <p:txBody>
          <a:bodyPr/>
          <a:lstStyle/>
          <a:p>
            <a:r>
              <a:rPr lang="en-US" dirty="0"/>
              <a:t>The Java programming language allows you to define a class within another class. Such a class is called a </a:t>
            </a:r>
            <a:r>
              <a:rPr lang="en-US" i="1" dirty="0"/>
              <a:t>nested class</a:t>
            </a:r>
            <a:r>
              <a:rPr lang="en-US" dirty="0"/>
              <a:t> and is illustrated here</a:t>
            </a:r>
          </a:p>
          <a:p>
            <a:r>
              <a:rPr lang="en-US" dirty="0"/>
              <a:t>Nested classes are divided into two categories: non-static and static.</a:t>
            </a:r>
          </a:p>
          <a:p>
            <a:pPr lvl="1"/>
            <a:r>
              <a:rPr lang="en-US" sz="2200" dirty="0"/>
              <a:t>Non-static nested classes are called </a:t>
            </a:r>
            <a:r>
              <a:rPr lang="en-US" sz="2200" b="1" i="1" dirty="0"/>
              <a:t>inner classes</a:t>
            </a:r>
            <a:r>
              <a:rPr lang="en-US" sz="2200" dirty="0"/>
              <a:t>.</a:t>
            </a:r>
          </a:p>
          <a:p>
            <a:pPr lvl="1"/>
            <a:r>
              <a:rPr lang="en-US" sz="2200" dirty="0"/>
              <a:t>Nested classes that are declared static are called </a:t>
            </a:r>
            <a:r>
              <a:rPr lang="en-US" sz="2200" b="1" dirty="0"/>
              <a:t>static nested classes</a:t>
            </a:r>
            <a:r>
              <a:rPr lang="en-US" sz="2200" dirty="0"/>
              <a:t>.</a:t>
            </a:r>
          </a:p>
          <a:p>
            <a:r>
              <a:rPr lang="en-US" dirty="0"/>
              <a:t>A nested class is a member of its enclosing class.</a:t>
            </a:r>
          </a:p>
          <a:p>
            <a:r>
              <a:rPr lang="en-US" dirty="0"/>
              <a:t>Non-static nested classes (inner classes) have access to other members of the enclosing class, even if they are declared private.</a:t>
            </a:r>
          </a:p>
          <a:p>
            <a:r>
              <a:rPr lang="en-US" dirty="0"/>
              <a:t>Static nested classes do not have access to other members of the enclosing class.</a:t>
            </a:r>
          </a:p>
        </p:txBody>
      </p:sp>
      <p:sp>
        <p:nvSpPr>
          <p:cNvPr id="4" name="Rectangle 3"/>
          <p:cNvSpPr/>
          <p:nvPr/>
        </p:nvSpPr>
        <p:spPr>
          <a:xfrm>
            <a:off x="7202976" y="863444"/>
            <a:ext cx="4774277" cy="1754326"/>
          </a:xfrm>
          <a:prstGeom prst="rect">
            <a:avLst/>
          </a:prstGeom>
          <a:ln w="19050">
            <a:solidFill>
              <a:schemeClr val="accent1"/>
            </a:solidFill>
            <a:prstDash val="dash"/>
          </a:ln>
        </p:spPr>
        <p:txBody>
          <a:bodyPr wrap="square">
            <a:spAutoFit/>
          </a:bodyPr>
          <a:lstStyle/>
          <a:p>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OuterClass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NestedClass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6" name="Rectangle 5"/>
          <p:cNvSpPr/>
          <p:nvPr/>
        </p:nvSpPr>
        <p:spPr>
          <a:xfrm>
            <a:off x="7202976" y="2801183"/>
            <a:ext cx="4774277" cy="2585323"/>
          </a:xfrm>
          <a:prstGeom prst="rect">
            <a:avLst/>
          </a:prstGeom>
          <a:ln w="19050">
            <a:solidFill>
              <a:schemeClr val="accent1"/>
            </a:solidFill>
            <a:prstDash val="dash"/>
          </a:ln>
        </p:spPr>
        <p:txBody>
          <a:bodyPr wrap="square">
            <a:spAutoFit/>
          </a:bodyPr>
          <a:lstStyle/>
          <a:p>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OuterClass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InnerClass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static</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StaticNestedClass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048394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Class</a:t>
            </a:r>
          </a:p>
        </p:txBody>
      </p:sp>
      <p:sp>
        <p:nvSpPr>
          <p:cNvPr id="3" name="Content Placeholder 2"/>
          <p:cNvSpPr>
            <a:spLocks noGrp="1"/>
          </p:cNvSpPr>
          <p:nvPr>
            <p:ph idx="1"/>
          </p:nvPr>
        </p:nvSpPr>
        <p:spPr>
          <a:xfrm>
            <a:off x="131180" y="863444"/>
            <a:ext cx="11989285" cy="5590565"/>
          </a:xfrm>
        </p:spPr>
        <p:txBody>
          <a:bodyPr/>
          <a:lstStyle/>
          <a:p>
            <a:r>
              <a:rPr lang="en-US" dirty="0"/>
              <a:t>A nested class is a member of its enclosing class.</a:t>
            </a:r>
          </a:p>
          <a:p>
            <a:r>
              <a:rPr lang="en-US" dirty="0"/>
              <a:t>Non-static nested classes (inner classes) have access to other members of the enclosing class, even if they are declared private.</a:t>
            </a:r>
          </a:p>
          <a:p>
            <a:r>
              <a:rPr lang="en-US" dirty="0"/>
              <a:t>Static nested classes do not have access to other members of the enclosing class.</a:t>
            </a:r>
          </a:p>
          <a:p>
            <a:r>
              <a:rPr lang="en-US" dirty="0"/>
              <a:t>As with class methods and variables, a static nested class is associated with its outer class.</a:t>
            </a:r>
          </a:p>
          <a:p>
            <a:r>
              <a:rPr lang="en-US" dirty="0"/>
              <a:t>You instantiate a static nested class the same way as a top-level class:</a:t>
            </a:r>
          </a:p>
          <a:p>
            <a:endParaRPr lang="en-US" dirty="0"/>
          </a:p>
          <a:p>
            <a:endParaRPr lang="en-US" dirty="0"/>
          </a:p>
        </p:txBody>
      </p:sp>
      <p:sp>
        <p:nvSpPr>
          <p:cNvPr id="7" name="Rectangle 6"/>
          <p:cNvSpPr/>
          <p:nvPr/>
        </p:nvSpPr>
        <p:spPr>
          <a:xfrm>
            <a:off x="905485" y="3848898"/>
            <a:ext cx="8820575" cy="369332"/>
          </a:xfrm>
          <a:prstGeom prst="rect">
            <a:avLst/>
          </a:prstGeom>
          <a:ln w="19050">
            <a:solidFill>
              <a:schemeClr val="accent1"/>
            </a:solidFill>
            <a:prstDash val="dash"/>
          </a:ln>
        </p:spPr>
        <p:txBody>
          <a:bodyPr wrap="square">
            <a:spAutoFit/>
          </a:bodyPr>
          <a:lstStyle/>
          <a:p>
            <a:r>
              <a:rPr lang="en-US" dirty="0" err="1">
                <a:solidFill>
                  <a:srgbClr val="267F99"/>
                </a:solidFill>
                <a:latin typeface="Consolas" panose="020B0609020204030204" pitchFamily="49" charset="0"/>
              </a:rPr>
              <a:t>StaticNestedClass</a:t>
            </a:r>
            <a:r>
              <a:rPr lang="en-US" dirty="0">
                <a:solidFill>
                  <a:srgbClr val="000000"/>
                </a:solidFill>
                <a:latin typeface="Consolas" panose="020B0609020204030204" pitchFamily="49" charset="0"/>
              </a:rPr>
              <a:t> </a:t>
            </a:r>
            <a:r>
              <a:rPr lang="en-US" dirty="0" err="1">
                <a:solidFill>
                  <a:srgbClr val="001080"/>
                </a:solidFill>
                <a:latin typeface="Consolas" panose="020B0609020204030204" pitchFamily="49" charset="0"/>
              </a:rPr>
              <a:t>staticNestedObject</a:t>
            </a:r>
            <a:r>
              <a:rPr lang="en-US" dirty="0">
                <a:solidFill>
                  <a:srgbClr val="000000"/>
                </a:solidFill>
                <a:latin typeface="Consolas" panose="020B0609020204030204" pitchFamily="49" charset="0"/>
              </a:rPr>
              <a:t> = </a:t>
            </a:r>
            <a:r>
              <a:rPr lang="en-US" dirty="0">
                <a:solidFill>
                  <a:srgbClr val="AF00DB"/>
                </a:solidFill>
                <a:latin typeface="Consolas" panose="020B0609020204030204" pitchFamily="49" charset="0"/>
              </a:rPr>
              <a:t>new</a:t>
            </a:r>
            <a:r>
              <a:rPr lang="en-US" dirty="0">
                <a:solidFill>
                  <a:srgbClr val="000000"/>
                </a:solidFill>
                <a:latin typeface="Consolas" panose="020B0609020204030204" pitchFamily="49" charset="0"/>
              </a:rPr>
              <a:t> </a:t>
            </a:r>
            <a:r>
              <a:rPr lang="en-US" dirty="0" err="1">
                <a:solidFill>
                  <a:srgbClr val="795E26"/>
                </a:solidFill>
                <a:latin typeface="Consolas" panose="020B0609020204030204" pitchFamily="49" charset="0"/>
              </a:rPr>
              <a:t>StaticNestedClass</a:t>
            </a:r>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425567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Class </a:t>
            </a:r>
          </a:p>
        </p:txBody>
      </p:sp>
      <p:sp>
        <p:nvSpPr>
          <p:cNvPr id="3" name="Content Placeholder 2"/>
          <p:cNvSpPr>
            <a:spLocks noGrp="1"/>
          </p:cNvSpPr>
          <p:nvPr>
            <p:ph idx="1"/>
          </p:nvPr>
        </p:nvSpPr>
        <p:spPr/>
        <p:txBody>
          <a:bodyPr/>
          <a:lstStyle/>
          <a:p>
            <a:r>
              <a:rPr lang="en-US" dirty="0"/>
              <a:t>Why Use Nested Classes?</a:t>
            </a:r>
          </a:p>
          <a:p>
            <a:pPr lvl="1"/>
            <a:r>
              <a:rPr lang="en-US" sz="2200" dirty="0"/>
              <a:t>It is a way of logically grouping classes that are only used in one place:</a:t>
            </a:r>
          </a:p>
          <a:p>
            <a:pPr lvl="2"/>
            <a:r>
              <a:rPr lang="en-US" sz="2000" dirty="0"/>
              <a:t>If a class is useful to only one other class, then it is logical to embed it in that class and keep the two together. Nesting such "helper classes" makes their package more streamlined.</a:t>
            </a:r>
          </a:p>
          <a:p>
            <a:pPr lvl="1"/>
            <a:r>
              <a:rPr lang="en-US" sz="2200" dirty="0"/>
              <a:t>It increases encapsulation:</a:t>
            </a:r>
          </a:p>
          <a:p>
            <a:pPr lvl="2"/>
            <a:r>
              <a:rPr lang="en-US" sz="2000" dirty="0"/>
              <a:t>Consider two top-level classes, A and B, where B needs access to members of A that would otherwise be declared private. By hiding class B within class A, A's members can be declared private and B can access them. In addition, B itself can be hidden from the outside world.</a:t>
            </a:r>
          </a:p>
          <a:p>
            <a:pPr lvl="1"/>
            <a:r>
              <a:rPr lang="en-US" sz="2200" dirty="0"/>
              <a:t>It can lead to more readable and maintainable code:</a:t>
            </a:r>
          </a:p>
          <a:p>
            <a:pPr lvl="2"/>
            <a:r>
              <a:rPr lang="en-US" sz="2000" dirty="0"/>
              <a:t>Nesting small classes within top-level classes places the code closer to where it is used.</a:t>
            </a:r>
          </a:p>
        </p:txBody>
      </p:sp>
    </p:spTree>
    <p:extLst>
      <p:ext uri="{BB962C8B-B14F-4D97-AF65-F5344CB8AC3E}">
        <p14:creationId xmlns:p14="http://schemas.microsoft.com/office/powerpoint/2010/main" val="661385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Inner classes</a:t>
            </a:r>
          </a:p>
        </p:txBody>
      </p:sp>
      <p:sp>
        <p:nvSpPr>
          <p:cNvPr id="3" name="Content Placeholder 2"/>
          <p:cNvSpPr>
            <a:spLocks noGrp="1"/>
          </p:cNvSpPr>
          <p:nvPr>
            <p:ph idx="1"/>
          </p:nvPr>
        </p:nvSpPr>
        <p:spPr/>
        <p:txBody>
          <a:bodyPr/>
          <a:lstStyle/>
          <a:p>
            <a:r>
              <a:rPr lang="en-US" dirty="0"/>
              <a:t>As with instance methods and variables, an inner class is associated with an instance of its enclosing class and has direct access to that object's methods and fields. Also, because an inner class is associated with an instance, it cannot define any static members itself.</a:t>
            </a:r>
          </a:p>
          <a:p>
            <a:r>
              <a:rPr lang="en-US" dirty="0"/>
              <a:t>Objects that are instances of an inner class exist </a:t>
            </a:r>
            <a:r>
              <a:rPr lang="en-US" i="1" dirty="0"/>
              <a:t>within</a:t>
            </a:r>
            <a:r>
              <a:rPr lang="en-US" dirty="0"/>
              <a:t> an instance of the outer class. Consider the following classes:</a:t>
            </a:r>
          </a:p>
          <a:p>
            <a:endParaRPr lang="en-US" dirty="0"/>
          </a:p>
          <a:p>
            <a:endParaRPr lang="en-US" dirty="0"/>
          </a:p>
          <a:p>
            <a:endParaRPr lang="en-US" dirty="0"/>
          </a:p>
          <a:p>
            <a:endParaRPr lang="en-US" dirty="0"/>
          </a:p>
          <a:p>
            <a:endParaRPr lang="en-US" dirty="0"/>
          </a:p>
          <a:p>
            <a:r>
              <a:rPr lang="en-US" dirty="0"/>
              <a:t>To instantiate an inner class, you must first instantiate the outer class. Then, create the inner object within the outer object with this syntax:</a:t>
            </a:r>
          </a:p>
        </p:txBody>
      </p:sp>
      <p:sp>
        <p:nvSpPr>
          <p:cNvPr id="4" name="Rectangle 3"/>
          <p:cNvSpPr/>
          <p:nvPr/>
        </p:nvSpPr>
        <p:spPr>
          <a:xfrm>
            <a:off x="523081" y="2948712"/>
            <a:ext cx="4774277" cy="1754326"/>
          </a:xfrm>
          <a:prstGeom prst="rect">
            <a:avLst/>
          </a:prstGeom>
          <a:ln w="19050">
            <a:solidFill>
              <a:schemeClr val="accent1"/>
            </a:solidFill>
            <a:prstDash val="dash"/>
          </a:ln>
        </p:spPr>
        <p:txBody>
          <a:bodyPr wrap="square">
            <a:spAutoFit/>
          </a:bodyPr>
          <a:lstStyle/>
          <a:p>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OuterClass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InnerClass</a:t>
            </a:r>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6" name="Content Placeholder 2"/>
          <p:cNvSpPr txBox="1">
            <a:spLocks/>
          </p:cNvSpPr>
          <p:nvPr/>
        </p:nvSpPr>
        <p:spPr>
          <a:xfrm>
            <a:off x="5433166" y="3052163"/>
            <a:ext cx="6235753" cy="175432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 instance of </a:t>
            </a:r>
            <a:r>
              <a:rPr lang="en-US" dirty="0" err="1"/>
              <a:t>InnerClass</a:t>
            </a:r>
            <a:r>
              <a:rPr lang="en-US" dirty="0"/>
              <a:t> can exist only within an instance of OuterClass and has direct access to the methods and fields of its enclosing instance.</a:t>
            </a:r>
          </a:p>
        </p:txBody>
      </p:sp>
      <p:sp>
        <p:nvSpPr>
          <p:cNvPr id="9" name="Rectangle 8"/>
          <p:cNvSpPr/>
          <p:nvPr/>
        </p:nvSpPr>
        <p:spPr>
          <a:xfrm>
            <a:off x="523081" y="5807677"/>
            <a:ext cx="8820575" cy="646331"/>
          </a:xfrm>
          <a:prstGeom prst="rect">
            <a:avLst/>
          </a:prstGeom>
          <a:ln w="19050">
            <a:solidFill>
              <a:schemeClr val="accent1"/>
            </a:solidFill>
            <a:prstDash val="dash"/>
          </a:ln>
        </p:spPr>
        <p:txBody>
          <a:bodyPr wrap="square">
            <a:spAutoFit/>
          </a:bodyPr>
          <a:lstStyle/>
          <a:p>
            <a:r>
              <a:rPr lang="en-US" dirty="0">
                <a:solidFill>
                  <a:srgbClr val="267F99"/>
                </a:solidFill>
                <a:latin typeface="Consolas" panose="020B0609020204030204" pitchFamily="49" charset="0"/>
              </a:rPr>
              <a:t>OuterClass</a:t>
            </a:r>
            <a:r>
              <a:rPr lang="en-US" dirty="0">
                <a:solidFill>
                  <a:srgbClr val="000000"/>
                </a:solidFill>
                <a:latin typeface="Consolas" panose="020B0609020204030204" pitchFamily="49" charset="0"/>
              </a:rPr>
              <a:t> </a:t>
            </a:r>
            <a:r>
              <a:rPr lang="en-US" dirty="0" err="1">
                <a:solidFill>
                  <a:srgbClr val="001080"/>
                </a:solidFill>
                <a:latin typeface="Consolas" panose="020B0609020204030204" pitchFamily="49" charset="0"/>
              </a:rPr>
              <a:t>outerObject</a:t>
            </a:r>
            <a:r>
              <a:rPr lang="en-US" dirty="0">
                <a:solidFill>
                  <a:srgbClr val="000000"/>
                </a:solidFill>
                <a:latin typeface="Consolas" panose="020B0609020204030204" pitchFamily="49" charset="0"/>
              </a:rPr>
              <a:t> = </a:t>
            </a:r>
            <a:r>
              <a:rPr lang="en-US" dirty="0">
                <a:solidFill>
                  <a:srgbClr val="AF00DB"/>
                </a:solidFill>
                <a:latin typeface="Consolas" panose="020B0609020204030204" pitchFamily="49" charset="0"/>
              </a:rPr>
              <a:t>new</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OuterClass</a:t>
            </a:r>
            <a:r>
              <a:rPr lang="en-US" dirty="0">
                <a:solidFill>
                  <a:srgbClr val="000000"/>
                </a:solidFill>
                <a:latin typeface="Consolas" panose="020B0609020204030204" pitchFamily="49" charset="0"/>
              </a:rPr>
              <a:t>();</a:t>
            </a:r>
          </a:p>
          <a:p>
            <a:r>
              <a:rPr lang="en-US" dirty="0" err="1">
                <a:solidFill>
                  <a:srgbClr val="267F99"/>
                </a:solidFill>
                <a:latin typeface="Consolas" panose="020B0609020204030204" pitchFamily="49" charset="0"/>
              </a:rPr>
              <a:t>OuterClass</a:t>
            </a:r>
            <a:r>
              <a:rPr lang="en-US" dirty="0" err="1">
                <a:solidFill>
                  <a:srgbClr val="000000"/>
                </a:solidFill>
                <a:latin typeface="Consolas" panose="020B0609020204030204" pitchFamily="49" charset="0"/>
              </a:rPr>
              <a:t>.</a:t>
            </a:r>
            <a:r>
              <a:rPr lang="en-US" dirty="0" err="1">
                <a:solidFill>
                  <a:srgbClr val="267F99"/>
                </a:solidFill>
                <a:latin typeface="Consolas" panose="020B0609020204030204" pitchFamily="49" charset="0"/>
              </a:rPr>
              <a:t>InnerClass</a:t>
            </a:r>
            <a:r>
              <a:rPr lang="en-US" dirty="0">
                <a:solidFill>
                  <a:srgbClr val="000000"/>
                </a:solidFill>
                <a:latin typeface="Consolas" panose="020B0609020204030204" pitchFamily="49" charset="0"/>
              </a:rPr>
              <a:t> </a:t>
            </a:r>
            <a:r>
              <a:rPr lang="en-US" dirty="0" err="1">
                <a:solidFill>
                  <a:srgbClr val="001080"/>
                </a:solidFill>
                <a:latin typeface="Consolas" panose="020B0609020204030204" pitchFamily="49" charset="0"/>
              </a:rPr>
              <a:t>innerObject</a:t>
            </a:r>
            <a:r>
              <a:rPr lang="en-US" dirty="0">
                <a:solidFill>
                  <a:srgbClr val="000000"/>
                </a:solidFill>
                <a:latin typeface="Consolas" panose="020B0609020204030204" pitchFamily="49" charset="0"/>
              </a:rPr>
              <a:t> = </a:t>
            </a:r>
            <a:r>
              <a:rPr lang="en-US" dirty="0" err="1">
                <a:solidFill>
                  <a:srgbClr val="001080"/>
                </a:solidFill>
                <a:latin typeface="Consolas" panose="020B0609020204030204" pitchFamily="49" charset="0"/>
              </a:rPr>
              <a:t>outerObject</a:t>
            </a:r>
            <a:r>
              <a:rPr lang="en-US" dirty="0" err="1">
                <a:solidFill>
                  <a:srgbClr val="000000"/>
                </a:solidFill>
                <a:latin typeface="Consolas" panose="020B0609020204030204" pitchFamily="49" charset="0"/>
              </a:rPr>
              <a:t>.</a:t>
            </a:r>
            <a:r>
              <a:rPr lang="en-US" dirty="0" err="1">
                <a:solidFill>
                  <a:srgbClr val="001080"/>
                </a:solidFill>
                <a:latin typeface="Consolas" panose="020B0609020204030204" pitchFamily="49" charset="0"/>
              </a:rPr>
              <a:t>new</a:t>
            </a:r>
            <a:r>
              <a:rPr lang="en-US" dirty="0">
                <a:solidFill>
                  <a:srgbClr val="000000"/>
                </a:solidFill>
                <a:latin typeface="Consolas" panose="020B0609020204030204" pitchFamily="49" charset="0"/>
              </a:rPr>
              <a:t> </a:t>
            </a:r>
            <a:r>
              <a:rPr lang="en-US" dirty="0" err="1">
                <a:solidFill>
                  <a:srgbClr val="795E26"/>
                </a:solidFill>
                <a:latin typeface="Consolas" panose="020B0609020204030204" pitchFamily="49" charset="0"/>
              </a:rPr>
              <a:t>InnerClass</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70964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6" grpId="0"/>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Class</a:t>
            </a:r>
          </a:p>
        </p:txBody>
      </p:sp>
      <p:sp>
        <p:nvSpPr>
          <p:cNvPr id="3" name="Content Placeholder 2"/>
          <p:cNvSpPr>
            <a:spLocks noGrp="1"/>
          </p:cNvSpPr>
          <p:nvPr>
            <p:ph idx="1"/>
          </p:nvPr>
        </p:nvSpPr>
        <p:spPr/>
        <p:txBody>
          <a:bodyPr/>
          <a:lstStyle/>
          <a:p>
            <a:pPr>
              <a:lnSpc>
                <a:spcPct val="100000"/>
              </a:lnSpc>
            </a:pPr>
            <a:r>
              <a:rPr lang="en-US" dirty="0"/>
              <a:t>An object of the </a:t>
            </a:r>
            <a:r>
              <a:rPr lang="en-US" dirty="0">
                <a:solidFill>
                  <a:srgbClr val="C00000"/>
                </a:solidFill>
                <a:latin typeface="Cambria" pitchFamily="18" charset="0"/>
                <a:ea typeface="Cambria" pitchFamily="18" charset="0"/>
                <a:cs typeface="Courier New" pitchFamily="49" charset="0"/>
              </a:rPr>
              <a:t>String</a:t>
            </a:r>
            <a:r>
              <a:rPr lang="en-US" dirty="0">
                <a:ea typeface="Cambria" pitchFamily="18" charset="0"/>
                <a:cs typeface="Courier New" pitchFamily="49" charset="0"/>
              </a:rPr>
              <a:t> </a:t>
            </a:r>
            <a:r>
              <a:rPr lang="en-US" dirty="0"/>
              <a:t>class represents a string of characters.</a:t>
            </a:r>
          </a:p>
          <a:p>
            <a:pPr>
              <a:lnSpc>
                <a:spcPct val="100000"/>
              </a:lnSpc>
            </a:pPr>
            <a:r>
              <a:rPr lang="en-US" dirty="0"/>
              <a:t>The String class belongs to the </a:t>
            </a:r>
            <a:r>
              <a:rPr lang="en-US" dirty="0" err="1">
                <a:solidFill>
                  <a:srgbClr val="C00000"/>
                </a:solidFill>
                <a:latin typeface="Cambria" pitchFamily="18" charset="0"/>
                <a:ea typeface="Cambria" pitchFamily="18" charset="0"/>
                <a:cs typeface="Courier New" pitchFamily="49" charset="0"/>
              </a:rPr>
              <a:t>java.lang</a:t>
            </a:r>
            <a:r>
              <a:rPr lang="en-US" dirty="0">
                <a:solidFill>
                  <a:srgbClr val="C00000"/>
                </a:solidFill>
              </a:rPr>
              <a:t> </a:t>
            </a:r>
            <a:r>
              <a:rPr lang="en-US" dirty="0"/>
              <a:t>package, which does not require an import statement.</a:t>
            </a:r>
          </a:p>
          <a:p>
            <a:pPr>
              <a:lnSpc>
                <a:spcPct val="100000"/>
              </a:lnSpc>
            </a:pPr>
            <a:r>
              <a:rPr lang="en-US" dirty="0"/>
              <a:t>Like other classes, </a:t>
            </a:r>
            <a:r>
              <a:rPr lang="en-US" dirty="0">
                <a:solidFill>
                  <a:srgbClr val="C00000"/>
                </a:solidFill>
                <a:latin typeface="Cambria" pitchFamily="18" charset="0"/>
                <a:ea typeface="Cambria" pitchFamily="18" charset="0"/>
              </a:rPr>
              <a:t>String</a:t>
            </a:r>
            <a:r>
              <a:rPr lang="en-US" dirty="0"/>
              <a:t> has constructors and methods.</a:t>
            </a:r>
          </a:p>
          <a:p>
            <a:pPr>
              <a:lnSpc>
                <a:spcPct val="100000"/>
              </a:lnSpc>
            </a:pPr>
            <a:r>
              <a:rPr lang="en-US" dirty="0">
                <a:solidFill>
                  <a:srgbClr val="C00000"/>
                </a:solidFill>
                <a:latin typeface="Cambria" pitchFamily="18" charset="0"/>
                <a:ea typeface="Cambria" pitchFamily="18" charset="0"/>
              </a:rPr>
              <a:t>String</a:t>
            </a:r>
            <a:r>
              <a:rPr lang="en-US" dirty="0"/>
              <a:t> class has </a:t>
            </a:r>
            <a:r>
              <a:rPr lang="en-US" dirty="0">
                <a:solidFill>
                  <a:srgbClr val="C00000"/>
                </a:solidFill>
              </a:rPr>
              <a:t>two operators, + and += </a:t>
            </a:r>
            <a:r>
              <a:rPr lang="en-US" dirty="0"/>
              <a:t>(used for concatenation).</a:t>
            </a:r>
          </a:p>
          <a:p>
            <a:pPr>
              <a:lnSpc>
                <a:spcPct val="100000"/>
              </a:lnSpc>
            </a:pPr>
            <a:r>
              <a:rPr lang="en-US" dirty="0"/>
              <a:t>Empty String :</a:t>
            </a:r>
          </a:p>
          <a:p>
            <a:pPr lvl="1">
              <a:lnSpc>
                <a:spcPct val="100000"/>
              </a:lnSpc>
            </a:pPr>
            <a:r>
              <a:rPr lang="en-US" sz="2200" dirty="0"/>
              <a:t>An empty String has no characters.  It’s length is 0.</a:t>
            </a:r>
          </a:p>
          <a:p>
            <a:pPr lvl="1">
              <a:lnSpc>
                <a:spcPct val="100000"/>
              </a:lnSpc>
            </a:pPr>
            <a:endParaRPr lang="en-US" sz="2000" dirty="0"/>
          </a:p>
          <a:p>
            <a:pPr lvl="1">
              <a:lnSpc>
                <a:spcPct val="100000"/>
              </a:lnSpc>
            </a:pPr>
            <a:endParaRPr lang="en-US" sz="2000" dirty="0"/>
          </a:p>
          <a:p>
            <a:pPr lvl="1">
              <a:lnSpc>
                <a:spcPct val="100000"/>
              </a:lnSpc>
            </a:pPr>
            <a:endParaRPr lang="en-US" sz="2200" dirty="0"/>
          </a:p>
          <a:p>
            <a:pPr lvl="1">
              <a:lnSpc>
                <a:spcPct val="100000"/>
              </a:lnSpc>
            </a:pPr>
            <a:r>
              <a:rPr lang="en-US" sz="2200" dirty="0"/>
              <a:t>Not the same as an uninitialized String.</a:t>
            </a:r>
          </a:p>
        </p:txBody>
      </p:sp>
      <p:sp>
        <p:nvSpPr>
          <p:cNvPr id="35" name="Line 5"/>
          <p:cNvSpPr>
            <a:spLocks noChangeShapeType="1"/>
          </p:cNvSpPr>
          <p:nvPr/>
        </p:nvSpPr>
        <p:spPr bwMode="auto">
          <a:xfrm flipV="1">
            <a:off x="4261832" y="4052957"/>
            <a:ext cx="1600200" cy="0"/>
          </a:xfrm>
          <a:prstGeom prst="line">
            <a:avLst/>
          </a:prstGeom>
          <a:noFill/>
          <a:ln w="9525">
            <a:solidFill>
              <a:srgbClr val="FF0000"/>
            </a:solidFill>
            <a:round/>
            <a:headEnd type="triangle" w="med" len="med"/>
            <a:tailEnd/>
          </a:ln>
          <a:effectLst/>
        </p:spPr>
        <p:txBody>
          <a:bodyPr wrap="none" anchor="ctr"/>
          <a:lstStyle/>
          <a:p>
            <a:endParaRPr lang="en-US"/>
          </a:p>
        </p:txBody>
      </p:sp>
      <p:sp>
        <p:nvSpPr>
          <p:cNvPr id="36" name="Line 6"/>
          <p:cNvSpPr>
            <a:spLocks noChangeShapeType="1"/>
          </p:cNvSpPr>
          <p:nvPr/>
        </p:nvSpPr>
        <p:spPr bwMode="auto">
          <a:xfrm flipV="1">
            <a:off x="4804757" y="4052957"/>
            <a:ext cx="1057275" cy="287337"/>
          </a:xfrm>
          <a:prstGeom prst="line">
            <a:avLst/>
          </a:prstGeom>
          <a:noFill/>
          <a:ln w="9525">
            <a:solidFill>
              <a:srgbClr val="FF0000"/>
            </a:solidFill>
            <a:round/>
            <a:headEnd type="triangle" w="med" len="med"/>
            <a:tailEnd/>
          </a:ln>
          <a:effectLst/>
        </p:spPr>
        <p:txBody>
          <a:bodyPr wrap="none" anchor="ctr"/>
          <a:lstStyle/>
          <a:p>
            <a:endParaRPr lang="en-US"/>
          </a:p>
        </p:txBody>
      </p:sp>
      <p:sp>
        <p:nvSpPr>
          <p:cNvPr id="37" name="Text Box 10"/>
          <p:cNvSpPr txBox="1">
            <a:spLocks noChangeArrowheads="1"/>
          </p:cNvSpPr>
          <p:nvPr/>
        </p:nvSpPr>
        <p:spPr bwMode="auto">
          <a:xfrm>
            <a:off x="5795357" y="3833882"/>
            <a:ext cx="2133600" cy="457200"/>
          </a:xfrm>
          <a:prstGeom prst="rect">
            <a:avLst/>
          </a:prstGeom>
          <a:solidFill>
            <a:schemeClr val="accent6">
              <a:lumMod val="20000"/>
              <a:lumOff val="80000"/>
            </a:schemeClr>
          </a:solidFill>
          <a:ln w="9525">
            <a:noFill/>
            <a:miter lim="800000"/>
            <a:headEnd/>
            <a:tailEnd/>
          </a:ln>
          <a:effectLst/>
        </p:spPr>
        <p:txBody>
          <a:bodyPr>
            <a:spAutoFit/>
          </a:bodyPr>
          <a:lstStyle/>
          <a:p>
            <a:r>
              <a:rPr lang="en-US" sz="2400" b="1" dirty="0"/>
              <a:t>Empty</a:t>
            </a:r>
            <a:r>
              <a:rPr lang="en-US" sz="2400" dirty="0"/>
              <a:t> strings</a:t>
            </a:r>
          </a:p>
        </p:txBody>
      </p:sp>
      <p:sp>
        <p:nvSpPr>
          <p:cNvPr id="38" name="TextBox 37"/>
          <p:cNvSpPr txBox="1"/>
          <p:nvPr/>
        </p:nvSpPr>
        <p:spPr>
          <a:xfrm>
            <a:off x="1070957" y="3883094"/>
            <a:ext cx="4343400" cy="646331"/>
          </a:xfrm>
          <a:prstGeom prst="rect">
            <a:avLst/>
          </a:prstGeom>
          <a:noFill/>
          <a:ln w="19050">
            <a:solidFill>
              <a:schemeClr val="accent1"/>
            </a:solidFill>
            <a:prstDash val="dash"/>
          </a:ln>
        </p:spPr>
        <p:txBody>
          <a:bodyPr wrap="square" rtlCol="0">
            <a:spAutoFit/>
          </a:bodyPr>
          <a:lstStyle/>
          <a:p>
            <a:r>
              <a:rPr lang="en-US" dirty="0">
                <a:solidFill>
                  <a:srgbClr val="000000"/>
                </a:solidFill>
                <a:latin typeface="Consolas"/>
              </a:rPr>
              <a:t>String </a:t>
            </a:r>
            <a:r>
              <a:rPr lang="en-US" dirty="0">
                <a:solidFill>
                  <a:srgbClr val="6A3E3E"/>
                </a:solidFill>
                <a:latin typeface="Consolas"/>
              </a:rPr>
              <a:t>word1</a:t>
            </a:r>
            <a:r>
              <a:rPr lang="en-US" dirty="0">
                <a:solidFill>
                  <a:srgbClr val="000000"/>
                </a:solidFill>
                <a:latin typeface="Consolas"/>
              </a:rPr>
              <a:t> = </a:t>
            </a:r>
            <a:r>
              <a:rPr lang="en-US" dirty="0">
                <a:solidFill>
                  <a:srgbClr val="2A00FF"/>
                </a:solidFill>
                <a:latin typeface="Consolas"/>
              </a:rPr>
              <a:t>""</a:t>
            </a:r>
            <a:r>
              <a:rPr lang="en-US" dirty="0">
                <a:solidFill>
                  <a:srgbClr val="000000"/>
                </a:solidFill>
                <a:latin typeface="Consolas"/>
              </a:rPr>
              <a:t>;</a:t>
            </a:r>
          </a:p>
          <a:p>
            <a:r>
              <a:rPr lang="en-US" dirty="0">
                <a:solidFill>
                  <a:srgbClr val="000000"/>
                </a:solidFill>
                <a:latin typeface="Consolas"/>
              </a:rPr>
              <a:t>String </a:t>
            </a:r>
            <a:r>
              <a:rPr lang="en-US" dirty="0">
                <a:solidFill>
                  <a:srgbClr val="6A3E3E"/>
                </a:solidFill>
                <a:latin typeface="Consolas"/>
              </a:rPr>
              <a:t>word2</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String();</a:t>
            </a:r>
            <a:endParaRPr lang="en-US" dirty="0">
              <a:solidFill>
                <a:srgbClr val="000000"/>
              </a:solidFill>
              <a:latin typeface="Consolas"/>
            </a:endParaRPr>
          </a:p>
        </p:txBody>
      </p:sp>
      <p:sp>
        <p:nvSpPr>
          <p:cNvPr id="43" name="Text Box 8"/>
          <p:cNvSpPr txBox="1">
            <a:spLocks noChangeArrowheads="1"/>
          </p:cNvSpPr>
          <p:nvPr/>
        </p:nvSpPr>
        <p:spPr bwMode="auto">
          <a:xfrm>
            <a:off x="5782308" y="5291395"/>
            <a:ext cx="1524000" cy="461665"/>
          </a:xfrm>
          <a:prstGeom prst="rect">
            <a:avLst/>
          </a:prstGeom>
          <a:solidFill>
            <a:schemeClr val="accent6">
              <a:lumMod val="20000"/>
              <a:lumOff val="80000"/>
            </a:schemeClr>
          </a:solidFill>
          <a:ln w="9525">
            <a:noFill/>
            <a:miter lim="800000"/>
            <a:headEnd/>
            <a:tailEnd/>
          </a:ln>
          <a:effectLst/>
        </p:spPr>
        <p:txBody>
          <a:bodyPr>
            <a:spAutoFit/>
          </a:bodyPr>
          <a:lstStyle/>
          <a:p>
            <a:r>
              <a:rPr lang="en-US" sz="2400" dirty="0"/>
              <a:t>This is </a:t>
            </a:r>
            <a:r>
              <a:rPr lang="en-US" sz="2400" b="1" dirty="0"/>
              <a:t>null</a:t>
            </a:r>
          </a:p>
        </p:txBody>
      </p:sp>
      <p:sp>
        <p:nvSpPr>
          <p:cNvPr id="44" name="Line 9"/>
          <p:cNvSpPr>
            <a:spLocks noChangeShapeType="1"/>
          </p:cNvSpPr>
          <p:nvPr/>
        </p:nvSpPr>
        <p:spPr bwMode="auto">
          <a:xfrm>
            <a:off x="4410708" y="5548570"/>
            <a:ext cx="1371600" cy="0"/>
          </a:xfrm>
          <a:prstGeom prst="line">
            <a:avLst/>
          </a:prstGeom>
          <a:noFill/>
          <a:ln w="9525">
            <a:solidFill>
              <a:srgbClr val="FF0000"/>
            </a:solidFill>
            <a:round/>
            <a:headEnd type="triangle" w="med" len="med"/>
            <a:tailEnd/>
          </a:ln>
          <a:effectLst/>
        </p:spPr>
        <p:txBody>
          <a:bodyPr wrap="none" anchor="ctr"/>
          <a:lstStyle/>
          <a:p>
            <a:endParaRPr lang="en-US"/>
          </a:p>
        </p:txBody>
      </p:sp>
      <p:sp>
        <p:nvSpPr>
          <p:cNvPr id="45" name="TextBox 44"/>
          <p:cNvSpPr txBox="1"/>
          <p:nvPr/>
        </p:nvSpPr>
        <p:spPr>
          <a:xfrm>
            <a:off x="1057908" y="5355450"/>
            <a:ext cx="4343400" cy="369332"/>
          </a:xfrm>
          <a:prstGeom prst="rect">
            <a:avLst/>
          </a:prstGeom>
          <a:noFill/>
          <a:ln w="19050">
            <a:solidFill>
              <a:schemeClr val="accent1"/>
            </a:solidFill>
            <a:prstDash val="dash"/>
          </a:ln>
        </p:spPr>
        <p:txBody>
          <a:bodyPr wrap="square" rtlCol="0">
            <a:spAutoFit/>
          </a:bodyPr>
          <a:lstStyle/>
          <a:p>
            <a:r>
              <a:rPr lang="en-US" dirty="0">
                <a:solidFill>
                  <a:srgbClr val="000000"/>
                </a:solidFill>
                <a:latin typeface="Consolas"/>
              </a:rPr>
              <a:t>String </a:t>
            </a:r>
            <a:r>
              <a:rPr lang="en-US" dirty="0">
                <a:solidFill>
                  <a:srgbClr val="6A3E3E"/>
                </a:solidFill>
                <a:latin typeface="Consolas"/>
              </a:rPr>
              <a:t>word1;</a:t>
            </a:r>
            <a:endParaRPr lang="en-US" dirty="0">
              <a:solidFill>
                <a:srgbClr val="000000"/>
              </a:solidFill>
              <a:latin typeface="Consolas"/>
            </a:endParaRPr>
          </a:p>
        </p:txBody>
      </p:sp>
    </p:spTree>
    <p:extLst>
      <p:ext uri="{BB962C8B-B14F-4D97-AF65-F5344CB8AC3E}">
        <p14:creationId xmlns:p14="http://schemas.microsoft.com/office/powerpoint/2010/main" val="243385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5">
                                            <p:bg/>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5" grpId="0" animBg="1"/>
      <p:bldP spid="36" grpId="0" animBg="1"/>
      <p:bldP spid="37" grpId="0" animBg="1"/>
      <p:bldP spid="38" grpId="0" uiExpand="1" build="allAtOnce" animBg="1"/>
      <p:bldP spid="43" grpId="0" animBg="1"/>
      <p:bldP spid="44" grpId="0" animBg="1"/>
      <p:bldP spid="45" grpId="0" uiExpand="1" build="allAtOnce"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Initialization</a:t>
            </a:r>
          </a:p>
        </p:txBody>
      </p:sp>
      <p:sp>
        <p:nvSpPr>
          <p:cNvPr id="3" name="Content Placeholder 2"/>
          <p:cNvSpPr>
            <a:spLocks noGrp="1"/>
          </p:cNvSpPr>
          <p:nvPr>
            <p:ph idx="1"/>
          </p:nvPr>
        </p:nvSpPr>
        <p:spPr/>
        <p:txBody>
          <a:bodyPr/>
          <a:lstStyle/>
          <a:p>
            <a:pPr lvl="0"/>
            <a:r>
              <a:rPr lang="en-US" dirty="0"/>
              <a:t>Copy constructor creates a copy of an existing String.</a:t>
            </a:r>
          </a:p>
          <a:p>
            <a:endParaRPr lang="en-US" dirty="0"/>
          </a:p>
        </p:txBody>
      </p:sp>
      <p:sp>
        <p:nvSpPr>
          <p:cNvPr id="4" name="Text Box 16"/>
          <p:cNvSpPr txBox="1">
            <a:spLocks noChangeArrowheads="1"/>
          </p:cNvSpPr>
          <p:nvPr/>
        </p:nvSpPr>
        <p:spPr bwMode="auto">
          <a:xfrm>
            <a:off x="5275052" y="1911487"/>
            <a:ext cx="890587" cy="346075"/>
          </a:xfrm>
          <a:prstGeom prst="rect">
            <a:avLst/>
          </a:prstGeom>
          <a:noFill/>
          <a:ln w="9525">
            <a:solidFill>
              <a:schemeClr val="tx1"/>
            </a:solidFill>
            <a:miter lim="800000"/>
            <a:headEnd/>
            <a:tailEnd/>
          </a:ln>
          <a:effectLst/>
        </p:spPr>
        <p:txBody>
          <a:bodyPr>
            <a:spAutoFit/>
          </a:bodyPr>
          <a:lstStyle/>
          <a:p>
            <a:pPr algn="ctr"/>
            <a:r>
              <a:rPr lang="en-US" sz="1600" dirty="0"/>
              <a:t>word</a:t>
            </a:r>
          </a:p>
        </p:txBody>
      </p:sp>
      <p:sp>
        <p:nvSpPr>
          <p:cNvPr id="5" name="Line 17"/>
          <p:cNvSpPr>
            <a:spLocks noChangeShapeType="1"/>
          </p:cNvSpPr>
          <p:nvPr/>
        </p:nvSpPr>
        <p:spPr bwMode="auto">
          <a:xfrm>
            <a:off x="6165639" y="2081350"/>
            <a:ext cx="587375" cy="9525"/>
          </a:xfrm>
          <a:prstGeom prst="line">
            <a:avLst/>
          </a:prstGeom>
          <a:noFill/>
          <a:ln w="9525">
            <a:solidFill>
              <a:schemeClr val="tx1"/>
            </a:solidFill>
            <a:round/>
            <a:headEnd/>
            <a:tailEnd type="triangle" w="med" len="med"/>
          </a:ln>
          <a:effectLst/>
        </p:spPr>
        <p:txBody>
          <a:bodyPr wrap="none" anchor="ctr"/>
          <a:lstStyle/>
          <a:p>
            <a:endParaRPr lang="en-US"/>
          </a:p>
        </p:txBody>
      </p:sp>
      <p:sp>
        <p:nvSpPr>
          <p:cNvPr id="6" name="Text Box 22"/>
          <p:cNvSpPr txBox="1">
            <a:spLocks noChangeArrowheads="1"/>
          </p:cNvSpPr>
          <p:nvPr/>
        </p:nvSpPr>
        <p:spPr bwMode="auto">
          <a:xfrm>
            <a:off x="5275052" y="2344875"/>
            <a:ext cx="890587" cy="346075"/>
          </a:xfrm>
          <a:prstGeom prst="rect">
            <a:avLst/>
          </a:prstGeom>
          <a:noFill/>
          <a:ln w="9525">
            <a:solidFill>
              <a:schemeClr val="tx1"/>
            </a:solidFill>
            <a:miter lim="800000"/>
            <a:headEnd/>
            <a:tailEnd/>
          </a:ln>
          <a:effectLst/>
        </p:spPr>
        <p:txBody>
          <a:bodyPr>
            <a:spAutoFit/>
          </a:bodyPr>
          <a:lstStyle/>
          <a:p>
            <a:pPr algn="ctr"/>
            <a:r>
              <a:rPr lang="en-US" sz="1600"/>
              <a:t>word2</a:t>
            </a:r>
          </a:p>
        </p:txBody>
      </p:sp>
      <p:sp>
        <p:nvSpPr>
          <p:cNvPr id="7" name="Line 26"/>
          <p:cNvSpPr>
            <a:spLocks noChangeShapeType="1"/>
          </p:cNvSpPr>
          <p:nvPr/>
        </p:nvSpPr>
        <p:spPr bwMode="auto">
          <a:xfrm>
            <a:off x="6162464" y="2511562"/>
            <a:ext cx="587375" cy="9525"/>
          </a:xfrm>
          <a:prstGeom prst="line">
            <a:avLst/>
          </a:prstGeom>
          <a:noFill/>
          <a:ln w="9525">
            <a:solidFill>
              <a:schemeClr val="tx1"/>
            </a:solidFill>
            <a:round/>
            <a:headEnd/>
            <a:tailEnd type="triangle" w="med" len="med"/>
          </a:ln>
          <a:effectLst/>
        </p:spPr>
        <p:txBody>
          <a:bodyPr wrap="none" anchor="ctr"/>
          <a:lstStyle/>
          <a:p>
            <a:endParaRPr lang="en-US"/>
          </a:p>
        </p:txBody>
      </p:sp>
      <p:grpSp>
        <p:nvGrpSpPr>
          <p:cNvPr id="8" name="Group 27"/>
          <p:cNvGrpSpPr>
            <a:grpSpLocks/>
          </p:cNvGrpSpPr>
          <p:nvPr/>
        </p:nvGrpSpPr>
        <p:grpSpPr bwMode="auto">
          <a:xfrm>
            <a:off x="6622839" y="1855925"/>
            <a:ext cx="1673225" cy="457200"/>
            <a:chOff x="1408" y="2838"/>
            <a:chExt cx="1054" cy="288"/>
          </a:xfrm>
        </p:grpSpPr>
        <p:sp>
          <p:nvSpPr>
            <p:cNvPr id="9" name="Text Box 28"/>
            <p:cNvSpPr txBox="1">
              <a:spLocks noChangeArrowheads="1"/>
            </p:cNvSpPr>
            <p:nvPr/>
          </p:nvSpPr>
          <p:spPr bwMode="auto">
            <a:xfrm>
              <a:off x="1408" y="2838"/>
              <a:ext cx="1054" cy="288"/>
            </a:xfrm>
            <a:prstGeom prst="rect">
              <a:avLst/>
            </a:prstGeom>
            <a:noFill/>
            <a:ln w="9525">
              <a:noFill/>
              <a:miter lim="800000"/>
              <a:headEnd/>
              <a:tailEnd/>
            </a:ln>
            <a:effectLst/>
          </p:spPr>
          <p:txBody>
            <a:bodyPr>
              <a:spAutoFit/>
            </a:bodyPr>
            <a:lstStyle/>
            <a:p>
              <a:pPr algn="ctr"/>
              <a:r>
                <a:rPr lang="en-US" sz="2400" dirty="0"/>
                <a:t>"Java"</a:t>
              </a:r>
            </a:p>
          </p:txBody>
        </p:sp>
        <p:sp>
          <p:nvSpPr>
            <p:cNvPr id="10" name="AutoShape 29"/>
            <p:cNvSpPr>
              <a:spLocks noChangeArrowheads="1"/>
            </p:cNvSpPr>
            <p:nvPr/>
          </p:nvSpPr>
          <p:spPr bwMode="auto">
            <a:xfrm>
              <a:off x="1500" y="2866"/>
              <a:ext cx="898" cy="247"/>
            </a:xfrm>
            <a:prstGeom prst="roundRect">
              <a:avLst>
                <a:gd name="adj" fmla="val 16667"/>
              </a:avLst>
            </a:prstGeom>
            <a:noFill/>
            <a:ln w="9525">
              <a:solidFill>
                <a:schemeClr val="tx1"/>
              </a:solidFill>
              <a:round/>
              <a:headEnd/>
              <a:tailEnd/>
            </a:ln>
            <a:effectLst/>
          </p:spPr>
          <p:txBody>
            <a:bodyPr wrap="none" anchor="ctr"/>
            <a:lstStyle/>
            <a:p>
              <a:endParaRPr lang="en-US"/>
            </a:p>
          </p:txBody>
        </p:sp>
      </p:grpSp>
      <p:grpSp>
        <p:nvGrpSpPr>
          <p:cNvPr id="11" name="Group 30"/>
          <p:cNvGrpSpPr>
            <a:grpSpLocks/>
          </p:cNvGrpSpPr>
          <p:nvPr/>
        </p:nvGrpSpPr>
        <p:grpSpPr bwMode="auto">
          <a:xfrm>
            <a:off x="6622839" y="2278200"/>
            <a:ext cx="1673225" cy="457200"/>
            <a:chOff x="1408" y="2838"/>
            <a:chExt cx="1054" cy="288"/>
          </a:xfrm>
        </p:grpSpPr>
        <p:sp>
          <p:nvSpPr>
            <p:cNvPr id="12" name="Text Box 31"/>
            <p:cNvSpPr txBox="1">
              <a:spLocks noChangeArrowheads="1"/>
            </p:cNvSpPr>
            <p:nvPr/>
          </p:nvSpPr>
          <p:spPr bwMode="auto">
            <a:xfrm>
              <a:off x="1408" y="2838"/>
              <a:ext cx="1054" cy="288"/>
            </a:xfrm>
            <a:prstGeom prst="rect">
              <a:avLst/>
            </a:prstGeom>
            <a:noFill/>
            <a:ln w="9525">
              <a:noFill/>
              <a:miter lim="800000"/>
              <a:headEnd/>
              <a:tailEnd/>
            </a:ln>
            <a:effectLst/>
          </p:spPr>
          <p:txBody>
            <a:bodyPr>
              <a:spAutoFit/>
            </a:bodyPr>
            <a:lstStyle/>
            <a:p>
              <a:pPr algn="ctr"/>
              <a:r>
                <a:rPr lang="en-US" sz="2400" dirty="0"/>
                <a:t>"Java"</a:t>
              </a:r>
            </a:p>
          </p:txBody>
        </p:sp>
        <p:sp>
          <p:nvSpPr>
            <p:cNvPr id="13" name="AutoShape 32"/>
            <p:cNvSpPr>
              <a:spLocks noChangeArrowheads="1"/>
            </p:cNvSpPr>
            <p:nvPr/>
          </p:nvSpPr>
          <p:spPr bwMode="auto">
            <a:xfrm>
              <a:off x="1500" y="2866"/>
              <a:ext cx="898" cy="247"/>
            </a:xfrm>
            <a:prstGeom prst="roundRect">
              <a:avLst>
                <a:gd name="adj" fmla="val 16667"/>
              </a:avLst>
            </a:prstGeom>
            <a:noFill/>
            <a:ln w="9525">
              <a:solidFill>
                <a:schemeClr val="tx1"/>
              </a:solidFill>
              <a:round/>
              <a:headEnd/>
              <a:tailEnd/>
            </a:ln>
            <a:effectLst/>
          </p:spPr>
          <p:txBody>
            <a:bodyPr wrap="none" anchor="ctr"/>
            <a:lstStyle/>
            <a:p>
              <a:endParaRPr lang="en-US"/>
            </a:p>
          </p:txBody>
        </p:sp>
      </p:grpSp>
      <p:sp>
        <p:nvSpPr>
          <p:cNvPr id="14" name="Text Box 35"/>
          <p:cNvSpPr txBox="1">
            <a:spLocks noChangeArrowheads="1"/>
          </p:cNvSpPr>
          <p:nvPr/>
        </p:nvSpPr>
        <p:spPr bwMode="auto">
          <a:xfrm>
            <a:off x="495242" y="1336963"/>
            <a:ext cx="8894563" cy="430887"/>
          </a:xfrm>
          <a:prstGeom prst="rect">
            <a:avLst/>
          </a:prstGeom>
          <a:noFill/>
          <a:ln w="9525">
            <a:noFill/>
            <a:miter lim="800000"/>
            <a:headEnd/>
            <a:tailEnd/>
          </a:ln>
          <a:effectLst/>
        </p:spPr>
        <p:txBody>
          <a:bodyPr wrap="square">
            <a:spAutoFit/>
          </a:bodyPr>
          <a:lstStyle/>
          <a:p>
            <a:r>
              <a:rPr lang="en-US" sz="2200" dirty="0"/>
              <a:t>Copy Constructor: Each variable points to a different copy of the String.</a:t>
            </a:r>
          </a:p>
        </p:txBody>
      </p:sp>
      <p:sp>
        <p:nvSpPr>
          <p:cNvPr id="15" name="Text Box 37"/>
          <p:cNvSpPr txBox="1">
            <a:spLocks noChangeArrowheads="1"/>
          </p:cNvSpPr>
          <p:nvPr/>
        </p:nvSpPr>
        <p:spPr bwMode="auto">
          <a:xfrm>
            <a:off x="5298864" y="3649345"/>
            <a:ext cx="890588" cy="346075"/>
          </a:xfrm>
          <a:prstGeom prst="rect">
            <a:avLst/>
          </a:prstGeom>
          <a:noFill/>
          <a:ln w="9525">
            <a:solidFill>
              <a:schemeClr val="tx1"/>
            </a:solidFill>
            <a:miter lim="800000"/>
            <a:headEnd/>
            <a:tailEnd/>
          </a:ln>
          <a:effectLst/>
        </p:spPr>
        <p:txBody>
          <a:bodyPr>
            <a:spAutoFit/>
          </a:bodyPr>
          <a:lstStyle/>
          <a:p>
            <a:pPr algn="ctr"/>
            <a:r>
              <a:rPr lang="en-US" sz="1600"/>
              <a:t>word</a:t>
            </a:r>
          </a:p>
        </p:txBody>
      </p:sp>
      <p:sp>
        <p:nvSpPr>
          <p:cNvPr id="16" name="Line 38"/>
          <p:cNvSpPr>
            <a:spLocks noChangeShapeType="1"/>
          </p:cNvSpPr>
          <p:nvPr/>
        </p:nvSpPr>
        <p:spPr bwMode="auto">
          <a:xfrm flipV="1">
            <a:off x="6189452" y="3835398"/>
            <a:ext cx="609600" cy="7620"/>
          </a:xfrm>
          <a:prstGeom prst="line">
            <a:avLst/>
          </a:prstGeom>
          <a:noFill/>
          <a:ln w="9525">
            <a:solidFill>
              <a:schemeClr val="tx1"/>
            </a:solidFill>
            <a:round/>
            <a:headEnd/>
            <a:tailEnd type="triangle" w="med" len="med"/>
          </a:ln>
          <a:effectLst/>
        </p:spPr>
        <p:txBody>
          <a:bodyPr wrap="none" anchor="ctr"/>
          <a:lstStyle/>
          <a:p>
            <a:endParaRPr lang="en-US"/>
          </a:p>
        </p:txBody>
      </p:sp>
      <p:sp>
        <p:nvSpPr>
          <p:cNvPr id="17" name="Line 39"/>
          <p:cNvSpPr>
            <a:spLocks noChangeShapeType="1"/>
          </p:cNvSpPr>
          <p:nvPr/>
        </p:nvSpPr>
        <p:spPr bwMode="auto">
          <a:xfrm flipV="1">
            <a:off x="6189452" y="4052570"/>
            <a:ext cx="685800" cy="171450"/>
          </a:xfrm>
          <a:prstGeom prst="line">
            <a:avLst/>
          </a:prstGeom>
          <a:noFill/>
          <a:ln w="9525">
            <a:solidFill>
              <a:schemeClr val="tx1"/>
            </a:solidFill>
            <a:round/>
            <a:headEnd/>
            <a:tailEnd type="triangle" w="med" len="med"/>
          </a:ln>
          <a:effectLst/>
        </p:spPr>
        <p:txBody>
          <a:bodyPr wrap="none" anchor="ctr"/>
          <a:lstStyle/>
          <a:p>
            <a:endParaRPr lang="en-US"/>
          </a:p>
        </p:txBody>
      </p:sp>
      <p:grpSp>
        <p:nvGrpSpPr>
          <p:cNvPr id="18" name="Group 40"/>
          <p:cNvGrpSpPr>
            <a:grpSpLocks/>
          </p:cNvGrpSpPr>
          <p:nvPr/>
        </p:nvGrpSpPr>
        <p:grpSpPr bwMode="auto">
          <a:xfrm>
            <a:off x="6649827" y="3585845"/>
            <a:ext cx="1673225" cy="457200"/>
            <a:chOff x="1408" y="2838"/>
            <a:chExt cx="1054" cy="288"/>
          </a:xfrm>
        </p:grpSpPr>
        <p:sp>
          <p:nvSpPr>
            <p:cNvPr id="19" name="Text Box 41"/>
            <p:cNvSpPr txBox="1">
              <a:spLocks noChangeArrowheads="1"/>
            </p:cNvSpPr>
            <p:nvPr/>
          </p:nvSpPr>
          <p:spPr bwMode="auto">
            <a:xfrm>
              <a:off x="1408" y="2838"/>
              <a:ext cx="1054" cy="288"/>
            </a:xfrm>
            <a:prstGeom prst="rect">
              <a:avLst/>
            </a:prstGeom>
            <a:noFill/>
            <a:ln w="9525">
              <a:noFill/>
              <a:miter lim="800000"/>
              <a:headEnd/>
              <a:tailEnd/>
            </a:ln>
            <a:effectLst/>
          </p:spPr>
          <p:txBody>
            <a:bodyPr>
              <a:spAutoFit/>
            </a:bodyPr>
            <a:lstStyle/>
            <a:p>
              <a:pPr algn="ctr"/>
              <a:r>
                <a:rPr lang="en-US" sz="2400" dirty="0"/>
                <a:t>"Java"</a:t>
              </a:r>
            </a:p>
          </p:txBody>
        </p:sp>
        <p:sp>
          <p:nvSpPr>
            <p:cNvPr id="20" name="AutoShape 42"/>
            <p:cNvSpPr>
              <a:spLocks noChangeArrowheads="1"/>
            </p:cNvSpPr>
            <p:nvPr/>
          </p:nvSpPr>
          <p:spPr bwMode="auto">
            <a:xfrm>
              <a:off x="1500" y="2866"/>
              <a:ext cx="898" cy="247"/>
            </a:xfrm>
            <a:prstGeom prst="roundRect">
              <a:avLst>
                <a:gd name="adj" fmla="val 16667"/>
              </a:avLst>
            </a:prstGeom>
            <a:noFill/>
            <a:ln w="9525">
              <a:solidFill>
                <a:schemeClr val="tx1"/>
              </a:solidFill>
              <a:round/>
              <a:headEnd/>
              <a:tailEnd/>
            </a:ln>
            <a:effectLst/>
          </p:spPr>
          <p:txBody>
            <a:bodyPr wrap="none" anchor="ctr"/>
            <a:lstStyle/>
            <a:p>
              <a:endParaRPr lang="en-US"/>
            </a:p>
          </p:txBody>
        </p:sp>
      </p:grpSp>
      <p:sp>
        <p:nvSpPr>
          <p:cNvPr id="21" name="Text Box 43"/>
          <p:cNvSpPr txBox="1">
            <a:spLocks noChangeArrowheads="1"/>
          </p:cNvSpPr>
          <p:nvPr/>
        </p:nvSpPr>
        <p:spPr bwMode="auto">
          <a:xfrm>
            <a:off x="5298864" y="4071620"/>
            <a:ext cx="890588" cy="346075"/>
          </a:xfrm>
          <a:prstGeom prst="rect">
            <a:avLst/>
          </a:prstGeom>
          <a:noFill/>
          <a:ln w="9525">
            <a:solidFill>
              <a:schemeClr val="tx1"/>
            </a:solidFill>
            <a:miter lim="800000"/>
            <a:headEnd/>
            <a:tailEnd/>
          </a:ln>
          <a:effectLst/>
        </p:spPr>
        <p:txBody>
          <a:bodyPr>
            <a:spAutoFit/>
          </a:bodyPr>
          <a:lstStyle/>
          <a:p>
            <a:pPr algn="ctr"/>
            <a:r>
              <a:rPr lang="en-US" sz="1600" dirty="0"/>
              <a:t>word2</a:t>
            </a:r>
          </a:p>
        </p:txBody>
      </p:sp>
      <p:sp>
        <p:nvSpPr>
          <p:cNvPr id="22" name="Text Box 44"/>
          <p:cNvSpPr txBox="1">
            <a:spLocks noChangeArrowheads="1"/>
          </p:cNvSpPr>
          <p:nvPr/>
        </p:nvSpPr>
        <p:spPr bwMode="auto">
          <a:xfrm>
            <a:off x="495242" y="2955808"/>
            <a:ext cx="7224974" cy="430887"/>
          </a:xfrm>
          <a:prstGeom prst="rect">
            <a:avLst/>
          </a:prstGeom>
          <a:noFill/>
          <a:ln w="9525">
            <a:noFill/>
            <a:miter lim="800000"/>
            <a:headEnd/>
            <a:tailEnd/>
          </a:ln>
          <a:effectLst/>
        </p:spPr>
        <p:txBody>
          <a:bodyPr wrap="square">
            <a:spAutoFit/>
          </a:bodyPr>
          <a:lstStyle/>
          <a:p>
            <a:r>
              <a:rPr lang="en-US" sz="2200" dirty="0"/>
              <a:t>Assignment: Both variables point to the same String.</a:t>
            </a:r>
          </a:p>
        </p:txBody>
      </p:sp>
      <p:sp>
        <p:nvSpPr>
          <p:cNvPr id="23" name="TextBox 22"/>
          <p:cNvSpPr txBox="1"/>
          <p:nvPr/>
        </p:nvSpPr>
        <p:spPr>
          <a:xfrm>
            <a:off x="626852" y="1970006"/>
            <a:ext cx="4343400" cy="646331"/>
          </a:xfrm>
          <a:prstGeom prst="rect">
            <a:avLst/>
          </a:prstGeom>
          <a:noFill/>
          <a:ln w="19050">
            <a:solidFill>
              <a:schemeClr val="accent1"/>
            </a:solidFill>
            <a:prstDash val="dash"/>
          </a:ln>
        </p:spPr>
        <p:txBody>
          <a:bodyPr wrap="square" rtlCol="0">
            <a:spAutoFit/>
          </a:bodyPr>
          <a:lstStyle/>
          <a:p>
            <a:r>
              <a:rPr lang="en-US" dirty="0">
                <a:solidFill>
                  <a:srgbClr val="000000"/>
                </a:solidFill>
                <a:latin typeface="Consolas"/>
              </a:rPr>
              <a:t>String </a:t>
            </a:r>
            <a:r>
              <a:rPr lang="en-US" dirty="0">
                <a:solidFill>
                  <a:srgbClr val="6A3E3E"/>
                </a:solidFill>
                <a:latin typeface="Consolas"/>
              </a:rPr>
              <a:t>word</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String(</a:t>
            </a:r>
            <a:r>
              <a:rPr lang="en-US" b="1" dirty="0">
                <a:solidFill>
                  <a:srgbClr val="2A00FF"/>
                </a:solidFill>
                <a:latin typeface="Consolas"/>
              </a:rPr>
              <a:t>"Java"</a:t>
            </a:r>
            <a:r>
              <a:rPr lang="en-US" b="1" dirty="0">
                <a:solidFill>
                  <a:srgbClr val="000000"/>
                </a:solidFill>
                <a:latin typeface="Consolas"/>
              </a:rPr>
              <a:t>);</a:t>
            </a:r>
          </a:p>
          <a:p>
            <a:r>
              <a:rPr lang="en-US" dirty="0">
                <a:solidFill>
                  <a:srgbClr val="000000"/>
                </a:solidFill>
                <a:latin typeface="Consolas"/>
              </a:rPr>
              <a:t>String </a:t>
            </a:r>
            <a:r>
              <a:rPr lang="en-US" dirty="0">
                <a:solidFill>
                  <a:srgbClr val="6A3E3E"/>
                </a:solidFill>
                <a:latin typeface="Consolas"/>
              </a:rPr>
              <a:t>word2</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String(</a:t>
            </a:r>
            <a:r>
              <a:rPr lang="en-US" b="1" dirty="0">
                <a:solidFill>
                  <a:srgbClr val="6A3E3E"/>
                </a:solidFill>
                <a:latin typeface="Consolas"/>
              </a:rPr>
              <a:t>word</a:t>
            </a:r>
            <a:r>
              <a:rPr lang="en-US" b="1" dirty="0">
                <a:solidFill>
                  <a:srgbClr val="000000"/>
                </a:solidFill>
                <a:latin typeface="Consolas"/>
              </a:rPr>
              <a:t>);</a:t>
            </a:r>
            <a:endParaRPr lang="en-US" dirty="0">
              <a:solidFill>
                <a:srgbClr val="000000"/>
              </a:solidFill>
              <a:latin typeface="Consolas"/>
            </a:endParaRPr>
          </a:p>
        </p:txBody>
      </p:sp>
      <p:sp>
        <p:nvSpPr>
          <p:cNvPr id="24" name="TextBox 23"/>
          <p:cNvSpPr txBox="1"/>
          <p:nvPr/>
        </p:nvSpPr>
        <p:spPr>
          <a:xfrm>
            <a:off x="626852" y="3712626"/>
            <a:ext cx="4343400" cy="646331"/>
          </a:xfrm>
          <a:prstGeom prst="rect">
            <a:avLst/>
          </a:prstGeom>
          <a:noFill/>
          <a:ln w="19050">
            <a:solidFill>
              <a:schemeClr val="accent1"/>
            </a:solidFill>
            <a:prstDash val="dash"/>
          </a:ln>
        </p:spPr>
        <p:txBody>
          <a:bodyPr wrap="square" rtlCol="0">
            <a:spAutoFit/>
          </a:bodyPr>
          <a:lstStyle/>
          <a:p>
            <a:r>
              <a:rPr lang="en-US" dirty="0">
                <a:solidFill>
                  <a:srgbClr val="000000"/>
                </a:solidFill>
                <a:latin typeface="Consolas"/>
              </a:rPr>
              <a:t>String </a:t>
            </a:r>
            <a:r>
              <a:rPr lang="en-US" dirty="0">
                <a:solidFill>
                  <a:srgbClr val="6A3E3E"/>
                </a:solidFill>
                <a:latin typeface="Consolas"/>
              </a:rPr>
              <a:t>word</a:t>
            </a:r>
            <a:r>
              <a:rPr lang="en-US" dirty="0">
                <a:solidFill>
                  <a:srgbClr val="000000"/>
                </a:solidFill>
                <a:latin typeface="Consolas"/>
              </a:rPr>
              <a:t> = </a:t>
            </a:r>
            <a:r>
              <a:rPr lang="en-US" dirty="0">
                <a:solidFill>
                  <a:srgbClr val="2A00FF"/>
                </a:solidFill>
                <a:latin typeface="Consolas"/>
              </a:rPr>
              <a:t>"Java"</a:t>
            </a:r>
            <a:r>
              <a:rPr lang="en-US" dirty="0">
                <a:solidFill>
                  <a:srgbClr val="000000"/>
                </a:solidFill>
                <a:latin typeface="Consolas"/>
              </a:rPr>
              <a:t>;</a:t>
            </a:r>
          </a:p>
          <a:p>
            <a:r>
              <a:rPr lang="en-US" dirty="0">
                <a:solidFill>
                  <a:srgbClr val="000000"/>
                </a:solidFill>
                <a:latin typeface="Consolas"/>
              </a:rPr>
              <a:t>String </a:t>
            </a:r>
            <a:r>
              <a:rPr lang="en-US" dirty="0">
                <a:solidFill>
                  <a:srgbClr val="6A3E3E"/>
                </a:solidFill>
                <a:latin typeface="Consolas"/>
              </a:rPr>
              <a:t>word2</a:t>
            </a:r>
            <a:r>
              <a:rPr lang="en-US" dirty="0">
                <a:solidFill>
                  <a:srgbClr val="000000"/>
                </a:solidFill>
                <a:latin typeface="Consolas"/>
              </a:rPr>
              <a:t> = </a:t>
            </a:r>
            <a:r>
              <a:rPr lang="en-US" dirty="0">
                <a:solidFill>
                  <a:srgbClr val="6A3E3E"/>
                </a:solidFill>
                <a:latin typeface="Consolas"/>
              </a:rPr>
              <a:t>word</a:t>
            </a:r>
            <a:r>
              <a:rPr lang="en-US" dirty="0">
                <a:solidFill>
                  <a:srgbClr val="000000"/>
                </a:solidFill>
                <a:latin typeface="Consolas"/>
              </a:rPr>
              <a:t>;</a:t>
            </a:r>
          </a:p>
        </p:txBody>
      </p:sp>
    </p:spTree>
    <p:extLst>
      <p:ext uri="{BB962C8B-B14F-4D97-AF65-F5344CB8AC3E}">
        <p14:creationId xmlns:p14="http://schemas.microsoft.com/office/powerpoint/2010/main" val="28171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bg/>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15" grpId="0" animBg="1"/>
      <p:bldP spid="16" grpId="0" animBg="1"/>
      <p:bldP spid="17" grpId="0" animBg="1"/>
      <p:bldP spid="21" grpId="0" animBg="1"/>
      <p:bldP spid="22" grpId="0"/>
      <p:bldP spid="23" grpId="0" uiExpand="1" build="p" bldLvl="5" animBg="1"/>
      <p:bldP spid="24" grpId="0" uiExpand="1" build="p" bldLvl="5"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Immutability</a:t>
            </a:r>
            <a:endParaRPr lang="en-US" dirty="0"/>
          </a:p>
        </p:txBody>
      </p:sp>
      <p:sp>
        <p:nvSpPr>
          <p:cNvPr id="5" name="Content Placeholder 2"/>
          <p:cNvSpPr>
            <a:spLocks noGrp="1"/>
          </p:cNvSpPr>
          <p:nvPr>
            <p:ph idx="1"/>
          </p:nvPr>
        </p:nvSpPr>
        <p:spPr>
          <a:xfrm>
            <a:off x="6479425" y="1371600"/>
            <a:ext cx="5316335" cy="5082409"/>
          </a:xfrm>
        </p:spPr>
        <p:txBody>
          <a:bodyPr>
            <a:normAutofit/>
          </a:bodyPr>
          <a:lstStyle/>
          <a:p>
            <a:pPr lvl="0" algn="just">
              <a:lnSpc>
                <a:spcPct val="90000"/>
              </a:lnSpc>
              <a:buNone/>
              <a:defRPr/>
            </a:pPr>
            <a:r>
              <a:rPr lang="en-US" b="1" dirty="0"/>
              <a:t>Less efficient </a:t>
            </a:r>
            <a:r>
              <a:rPr lang="en-US" dirty="0"/>
              <a:t>— you need to create a new string and throw away the old one even for small changes.</a:t>
            </a:r>
          </a:p>
        </p:txBody>
      </p:sp>
      <p:cxnSp>
        <p:nvCxnSpPr>
          <p:cNvPr id="4" name="Straight Connector 3"/>
          <p:cNvCxnSpPr/>
          <p:nvPr/>
        </p:nvCxnSpPr>
        <p:spPr>
          <a:xfrm>
            <a:off x="6201295" y="914043"/>
            <a:ext cx="0" cy="5562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Content Placeholder 2"/>
          <p:cNvSpPr txBox="1">
            <a:spLocks/>
          </p:cNvSpPr>
          <p:nvPr/>
        </p:nvSpPr>
        <p:spPr>
          <a:xfrm>
            <a:off x="7935323" y="914400"/>
            <a:ext cx="2590800" cy="5334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90000"/>
              </a:lnSpc>
              <a:spcBef>
                <a:spcPct val="20000"/>
              </a:spcBef>
              <a:spcAft>
                <a:spcPts val="0"/>
              </a:spcAft>
              <a:buClrTx/>
              <a:buSzTx/>
              <a:buFont typeface="Wingdings" panose="05000000000000000000" pitchFamily="2" charset="2"/>
              <a:buNone/>
              <a:tabLst/>
              <a:defRPr/>
            </a:pPr>
            <a:r>
              <a:rPr kumimoji="0" lang="en-IN" sz="2400" b="1" i="0" u="none" strike="noStrike" kern="1200" cap="none" spc="0" normalizeH="0" baseline="0" noProof="0" dirty="0">
                <a:ln>
                  <a:noFill/>
                </a:ln>
                <a:solidFill>
                  <a:srgbClr val="FF0000"/>
                </a:solidFill>
                <a:effectLst/>
                <a:uLnTx/>
                <a:uFillTx/>
                <a:latin typeface="+mj-lt"/>
                <a:ea typeface="Times New Roman" panose="02020603050405020304" pitchFamily="18" charset="0"/>
                <a:cs typeface="Times New Roman" panose="02020603050405020304" pitchFamily="18" charset="0"/>
              </a:rPr>
              <a:t>Disadvantage</a:t>
            </a:r>
            <a:endParaRPr kumimoji="0" lang="en-US" sz="2400" b="1" i="0" u="none" strike="noStrike" kern="1200" cap="none" spc="0" normalizeH="0" baseline="0" noProof="0" dirty="0">
              <a:ln>
                <a:noFill/>
              </a:ln>
              <a:solidFill>
                <a:srgbClr val="FF0000"/>
              </a:solidFill>
              <a:effectLst/>
              <a:uLnTx/>
              <a:uFillTx/>
              <a:latin typeface="+mj-lt"/>
              <a:ea typeface="Times New Roman" panose="02020603050405020304" pitchFamily="18" charset="0"/>
              <a:cs typeface="Times New Roman" panose="02020603050405020304" pitchFamily="18" charset="0"/>
            </a:endParaRPr>
          </a:p>
        </p:txBody>
      </p:sp>
      <p:sp>
        <p:nvSpPr>
          <p:cNvPr id="7" name="Content Placeholder 2"/>
          <p:cNvSpPr txBox="1">
            <a:spLocks/>
          </p:cNvSpPr>
          <p:nvPr/>
        </p:nvSpPr>
        <p:spPr>
          <a:xfrm>
            <a:off x="2128406" y="905373"/>
            <a:ext cx="2590800" cy="5334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90000"/>
              </a:lnSpc>
              <a:spcBef>
                <a:spcPct val="20000"/>
              </a:spcBef>
              <a:spcAft>
                <a:spcPts val="0"/>
              </a:spcAft>
              <a:buClrTx/>
              <a:buSzTx/>
              <a:buFont typeface="Wingdings" panose="05000000000000000000" pitchFamily="2" charset="2"/>
              <a:buNone/>
              <a:tabLst/>
              <a:defRPr/>
            </a:pPr>
            <a:r>
              <a:rPr kumimoji="0" lang="en-IN" sz="2400" b="1" i="0" u="none" strike="noStrike" kern="1200" cap="none" spc="0" normalizeH="0" baseline="0" noProof="0" dirty="0">
                <a:ln>
                  <a:noFill/>
                </a:ln>
                <a:solidFill>
                  <a:srgbClr val="FF0000"/>
                </a:solidFill>
                <a:effectLst/>
                <a:uLnTx/>
                <a:uFillTx/>
                <a:latin typeface="+mj-lt"/>
                <a:ea typeface="Times New Roman" panose="02020603050405020304" pitchFamily="18" charset="0"/>
                <a:cs typeface="Times New Roman" panose="02020603050405020304" pitchFamily="18" charset="0"/>
              </a:rPr>
              <a:t>Advantage</a:t>
            </a:r>
            <a:endParaRPr kumimoji="0" lang="en-US" sz="2400" b="1" i="0" u="none" strike="noStrike" kern="1200" cap="none" spc="0" normalizeH="0" baseline="0" noProof="0" dirty="0">
              <a:ln>
                <a:noFill/>
              </a:ln>
              <a:solidFill>
                <a:srgbClr val="FF0000"/>
              </a:solidFill>
              <a:effectLst/>
              <a:uLnTx/>
              <a:uFillTx/>
              <a:latin typeface="+mj-lt"/>
              <a:ea typeface="Times New Roman" panose="02020603050405020304" pitchFamily="18" charset="0"/>
              <a:cs typeface="Times New Roman" panose="02020603050405020304" pitchFamily="18" charset="0"/>
            </a:endParaRPr>
          </a:p>
        </p:txBody>
      </p:sp>
      <p:sp>
        <p:nvSpPr>
          <p:cNvPr id="8" name="TextBox 7"/>
          <p:cNvSpPr txBox="1"/>
          <p:nvPr/>
        </p:nvSpPr>
        <p:spPr>
          <a:xfrm>
            <a:off x="6479425" y="2956679"/>
            <a:ext cx="4621538" cy="1477328"/>
          </a:xfrm>
          <a:prstGeom prst="rect">
            <a:avLst/>
          </a:prstGeom>
          <a:noFill/>
          <a:ln w="19050">
            <a:solidFill>
              <a:schemeClr val="accent1"/>
            </a:solidFill>
            <a:prstDash val="dash"/>
          </a:ln>
        </p:spPr>
        <p:txBody>
          <a:bodyPr wrap="square" rtlCol="0">
            <a:spAutoFit/>
          </a:bodyPr>
          <a:lstStyle/>
          <a:p>
            <a:r>
              <a:rPr lang="en-US" dirty="0">
                <a:solidFill>
                  <a:srgbClr val="000000"/>
                </a:solidFill>
                <a:latin typeface="Consolas"/>
              </a:rPr>
              <a:t>String </a:t>
            </a:r>
            <a:r>
              <a:rPr lang="en-US" dirty="0">
                <a:solidFill>
                  <a:srgbClr val="6A3E3E"/>
                </a:solidFill>
                <a:latin typeface="Consolas"/>
              </a:rPr>
              <a:t>word</a:t>
            </a:r>
            <a:r>
              <a:rPr lang="en-US" dirty="0">
                <a:solidFill>
                  <a:srgbClr val="000000"/>
                </a:solidFill>
                <a:latin typeface="Consolas"/>
              </a:rPr>
              <a:t> = </a:t>
            </a:r>
            <a:r>
              <a:rPr lang="en-US" dirty="0">
                <a:solidFill>
                  <a:srgbClr val="2A00FF"/>
                </a:solidFill>
                <a:latin typeface="Consolas"/>
              </a:rPr>
              <a:t>"java"</a:t>
            </a:r>
            <a:r>
              <a:rPr lang="en-US" dirty="0">
                <a:solidFill>
                  <a:srgbClr val="000000"/>
                </a:solidFill>
                <a:latin typeface="Consolas"/>
              </a:rPr>
              <a:t>;</a:t>
            </a:r>
            <a:endParaRPr lang="en-US" dirty="0"/>
          </a:p>
          <a:p>
            <a:r>
              <a:rPr lang="en-US" b="1" dirty="0">
                <a:solidFill>
                  <a:srgbClr val="7F0055"/>
                </a:solidFill>
                <a:latin typeface="Consolas"/>
              </a:rPr>
              <a:t>char</a:t>
            </a:r>
            <a:r>
              <a:rPr lang="en-US" b="1" dirty="0">
                <a:solidFill>
                  <a:srgbClr val="000000"/>
                </a:solidFill>
                <a:latin typeface="Consolas"/>
              </a:rPr>
              <a:t> </a:t>
            </a:r>
            <a:r>
              <a:rPr lang="en-US" b="1" dirty="0" err="1">
                <a:solidFill>
                  <a:srgbClr val="6A3E3E"/>
                </a:solidFill>
                <a:latin typeface="Consolas"/>
              </a:rPr>
              <a:t>ch</a:t>
            </a:r>
            <a:r>
              <a:rPr lang="en-US" b="1" dirty="0">
                <a:solidFill>
                  <a:srgbClr val="000000"/>
                </a:solidFill>
                <a:latin typeface="Consolas"/>
              </a:rPr>
              <a:t> = </a:t>
            </a:r>
          </a:p>
          <a:p>
            <a:r>
              <a:rPr lang="en-US" b="1" dirty="0">
                <a:solidFill>
                  <a:srgbClr val="000000"/>
                </a:solidFill>
                <a:latin typeface="Consolas"/>
              </a:rPr>
              <a:t>	</a:t>
            </a:r>
            <a:r>
              <a:rPr lang="en-US" b="1" dirty="0" err="1">
                <a:solidFill>
                  <a:srgbClr val="000000"/>
                </a:solidFill>
                <a:latin typeface="Consolas"/>
              </a:rPr>
              <a:t>Character.</a:t>
            </a:r>
            <a:r>
              <a:rPr lang="en-US" b="1" i="1" dirty="0" err="1">
                <a:solidFill>
                  <a:srgbClr val="000000"/>
                </a:solidFill>
                <a:latin typeface="Consolas"/>
              </a:rPr>
              <a:t>toUpperCase</a:t>
            </a:r>
            <a:r>
              <a:rPr lang="en-US" b="1" i="1" dirty="0">
                <a:solidFill>
                  <a:srgbClr val="000000"/>
                </a:solidFill>
                <a:latin typeface="Consolas"/>
              </a:rPr>
              <a:t>(</a:t>
            </a:r>
          </a:p>
          <a:p>
            <a:r>
              <a:rPr lang="en-US" b="1" i="1" dirty="0">
                <a:solidFill>
                  <a:srgbClr val="000000"/>
                </a:solidFill>
                <a:latin typeface="Consolas"/>
              </a:rPr>
              <a:t>		</a:t>
            </a:r>
            <a:r>
              <a:rPr lang="en-US" b="1" i="1" dirty="0" err="1">
                <a:solidFill>
                  <a:srgbClr val="6A3E3E"/>
                </a:solidFill>
                <a:latin typeface="Consolas"/>
              </a:rPr>
              <a:t>word</a:t>
            </a:r>
            <a:r>
              <a:rPr lang="en-US" b="1" i="1" dirty="0" err="1">
                <a:solidFill>
                  <a:srgbClr val="000000"/>
                </a:solidFill>
                <a:latin typeface="Consolas"/>
              </a:rPr>
              <a:t>.charAt</a:t>
            </a:r>
            <a:r>
              <a:rPr lang="en-US" b="1" i="1" dirty="0">
                <a:solidFill>
                  <a:srgbClr val="000000"/>
                </a:solidFill>
                <a:latin typeface="Consolas"/>
              </a:rPr>
              <a:t> (0));</a:t>
            </a:r>
            <a:endParaRPr lang="en-US" dirty="0"/>
          </a:p>
          <a:p>
            <a:r>
              <a:rPr lang="en-US" dirty="0">
                <a:solidFill>
                  <a:srgbClr val="6A3E3E"/>
                </a:solidFill>
                <a:latin typeface="Consolas"/>
              </a:rPr>
              <a:t>word</a:t>
            </a:r>
            <a:r>
              <a:rPr lang="en-US" dirty="0">
                <a:solidFill>
                  <a:srgbClr val="000000"/>
                </a:solidFill>
                <a:latin typeface="Consolas"/>
              </a:rPr>
              <a:t> =  </a:t>
            </a:r>
            <a:r>
              <a:rPr lang="en-US" dirty="0" err="1">
                <a:solidFill>
                  <a:srgbClr val="6A3E3E"/>
                </a:solidFill>
                <a:latin typeface="Consolas"/>
              </a:rPr>
              <a:t>ch</a:t>
            </a:r>
            <a:r>
              <a:rPr lang="en-US" dirty="0">
                <a:solidFill>
                  <a:srgbClr val="000000"/>
                </a:solidFill>
                <a:latin typeface="Consolas"/>
              </a:rPr>
              <a:t> + </a:t>
            </a:r>
            <a:r>
              <a:rPr lang="en-US" dirty="0" err="1">
                <a:solidFill>
                  <a:srgbClr val="6A3E3E"/>
                </a:solidFill>
                <a:latin typeface="Consolas"/>
              </a:rPr>
              <a:t>word</a:t>
            </a:r>
            <a:r>
              <a:rPr lang="en-US" dirty="0" err="1">
                <a:solidFill>
                  <a:srgbClr val="000000"/>
                </a:solidFill>
                <a:latin typeface="Consolas"/>
              </a:rPr>
              <a:t>.substring</a:t>
            </a:r>
            <a:r>
              <a:rPr lang="en-US" dirty="0">
                <a:solidFill>
                  <a:srgbClr val="000000"/>
                </a:solidFill>
                <a:latin typeface="Consolas"/>
              </a:rPr>
              <a:t> (1); </a:t>
            </a:r>
          </a:p>
        </p:txBody>
      </p:sp>
      <p:sp>
        <p:nvSpPr>
          <p:cNvPr id="9" name="Text Box 5"/>
          <p:cNvSpPr txBox="1">
            <a:spLocks noChangeArrowheads="1"/>
          </p:cNvSpPr>
          <p:nvPr/>
        </p:nvSpPr>
        <p:spPr bwMode="auto">
          <a:xfrm>
            <a:off x="6460375" y="4572000"/>
            <a:ext cx="865188" cy="466725"/>
          </a:xfrm>
          <a:prstGeom prst="rect">
            <a:avLst/>
          </a:prstGeom>
          <a:noFill/>
          <a:ln w="9525">
            <a:solidFill>
              <a:schemeClr val="tx1"/>
            </a:solidFill>
            <a:miter lim="800000"/>
            <a:headEnd/>
            <a:tailEnd/>
          </a:ln>
          <a:effectLst/>
        </p:spPr>
        <p:txBody>
          <a:bodyPr>
            <a:spAutoFit/>
          </a:bodyPr>
          <a:lstStyle/>
          <a:p>
            <a:pPr algn="ctr"/>
            <a:r>
              <a:rPr lang="en-US" sz="2400" dirty="0"/>
              <a:t>word</a:t>
            </a:r>
          </a:p>
        </p:txBody>
      </p:sp>
      <p:grpSp>
        <p:nvGrpSpPr>
          <p:cNvPr id="10" name="Group 7"/>
          <p:cNvGrpSpPr>
            <a:grpSpLocks/>
          </p:cNvGrpSpPr>
          <p:nvPr/>
        </p:nvGrpSpPr>
        <p:grpSpPr bwMode="auto">
          <a:xfrm>
            <a:off x="7755775" y="4662488"/>
            <a:ext cx="304800" cy="304800"/>
            <a:chOff x="1536" y="3696"/>
            <a:chExt cx="192" cy="192"/>
          </a:xfrm>
        </p:grpSpPr>
        <p:sp>
          <p:nvSpPr>
            <p:cNvPr id="11" name="Line 8"/>
            <p:cNvSpPr>
              <a:spLocks noChangeShapeType="1"/>
            </p:cNvSpPr>
            <p:nvPr/>
          </p:nvSpPr>
          <p:spPr bwMode="auto">
            <a:xfrm flipV="1">
              <a:off x="1536" y="3696"/>
              <a:ext cx="192" cy="192"/>
            </a:xfrm>
            <a:prstGeom prst="line">
              <a:avLst/>
            </a:prstGeom>
            <a:noFill/>
            <a:ln w="28575">
              <a:solidFill>
                <a:srgbClr val="FF3300"/>
              </a:solidFill>
              <a:round/>
              <a:headEnd/>
              <a:tailEnd/>
            </a:ln>
            <a:effectLst/>
          </p:spPr>
          <p:txBody>
            <a:bodyPr wrap="none" anchor="ctr"/>
            <a:lstStyle/>
            <a:p>
              <a:endParaRPr lang="en-US"/>
            </a:p>
          </p:txBody>
        </p:sp>
        <p:sp>
          <p:nvSpPr>
            <p:cNvPr id="12" name="Line 9"/>
            <p:cNvSpPr>
              <a:spLocks noChangeShapeType="1"/>
            </p:cNvSpPr>
            <p:nvPr/>
          </p:nvSpPr>
          <p:spPr bwMode="auto">
            <a:xfrm>
              <a:off x="1536" y="3696"/>
              <a:ext cx="192" cy="192"/>
            </a:xfrm>
            <a:prstGeom prst="line">
              <a:avLst/>
            </a:prstGeom>
            <a:noFill/>
            <a:ln w="28575">
              <a:solidFill>
                <a:srgbClr val="FF3300"/>
              </a:solidFill>
              <a:round/>
              <a:headEnd/>
              <a:tailEnd/>
            </a:ln>
            <a:effectLst/>
          </p:spPr>
          <p:txBody>
            <a:bodyPr wrap="none" anchor="ctr"/>
            <a:lstStyle/>
            <a:p>
              <a:endParaRPr lang="en-US"/>
            </a:p>
          </p:txBody>
        </p:sp>
      </p:grpSp>
      <p:sp>
        <p:nvSpPr>
          <p:cNvPr id="13" name="Line 10"/>
          <p:cNvSpPr>
            <a:spLocks noChangeShapeType="1"/>
          </p:cNvSpPr>
          <p:nvPr/>
        </p:nvSpPr>
        <p:spPr bwMode="auto">
          <a:xfrm>
            <a:off x="7603375" y="5576888"/>
            <a:ext cx="685801" cy="0"/>
          </a:xfrm>
          <a:prstGeom prst="line">
            <a:avLst/>
          </a:prstGeom>
          <a:noFill/>
          <a:ln w="9525">
            <a:solidFill>
              <a:schemeClr val="tx1"/>
            </a:solidFill>
            <a:round/>
            <a:headEnd/>
            <a:tailEnd type="triangle" w="med" len="med"/>
          </a:ln>
          <a:effectLst/>
        </p:spPr>
        <p:txBody>
          <a:bodyPr wrap="none" anchor="ctr"/>
          <a:lstStyle/>
          <a:p>
            <a:endParaRPr lang="en-US"/>
          </a:p>
        </p:txBody>
      </p:sp>
      <p:sp>
        <p:nvSpPr>
          <p:cNvPr id="14" name="Line 11"/>
          <p:cNvSpPr>
            <a:spLocks noChangeShapeType="1"/>
          </p:cNvSpPr>
          <p:nvPr/>
        </p:nvSpPr>
        <p:spPr bwMode="auto">
          <a:xfrm>
            <a:off x="7603375" y="4800600"/>
            <a:ext cx="0" cy="762000"/>
          </a:xfrm>
          <a:prstGeom prst="line">
            <a:avLst/>
          </a:prstGeom>
          <a:noFill/>
          <a:ln w="9525">
            <a:solidFill>
              <a:schemeClr val="tx1"/>
            </a:solidFill>
            <a:round/>
            <a:headEnd/>
            <a:tailEnd/>
          </a:ln>
          <a:effectLst/>
        </p:spPr>
        <p:txBody>
          <a:bodyPr wrap="none" anchor="ctr"/>
          <a:lstStyle/>
          <a:p>
            <a:endParaRPr lang="en-US"/>
          </a:p>
        </p:txBody>
      </p:sp>
      <p:grpSp>
        <p:nvGrpSpPr>
          <p:cNvPr id="15" name="Group 12"/>
          <p:cNvGrpSpPr>
            <a:grpSpLocks/>
          </p:cNvGrpSpPr>
          <p:nvPr/>
        </p:nvGrpSpPr>
        <p:grpSpPr bwMode="auto">
          <a:xfrm>
            <a:off x="10021138" y="5292725"/>
            <a:ext cx="1087437" cy="671513"/>
            <a:chOff x="0" y="0"/>
            <a:chExt cx="20000" cy="20002"/>
          </a:xfrm>
        </p:grpSpPr>
        <p:sp>
          <p:nvSpPr>
            <p:cNvPr id="16" name="Freeform 15"/>
            <p:cNvSpPr>
              <a:spLocks/>
            </p:cNvSpPr>
            <p:nvPr/>
          </p:nvSpPr>
          <p:spPr bwMode="auto">
            <a:xfrm>
              <a:off x="0" y="227"/>
              <a:ext cx="19930" cy="6150"/>
            </a:xfrm>
            <a:custGeom>
              <a:avLst/>
              <a:gdLst/>
              <a:ahLst/>
              <a:cxnLst>
                <a:cxn ang="0">
                  <a:pos x="0" y="19938"/>
                </a:cxn>
                <a:cxn ang="0">
                  <a:pos x="5490" y="0"/>
                </a:cxn>
                <a:cxn ang="0">
                  <a:pos x="5349" y="0"/>
                </a:cxn>
                <a:cxn ang="0">
                  <a:pos x="19988" y="0"/>
                </a:cxn>
                <a:cxn ang="0">
                  <a:pos x="16188" y="19938"/>
                </a:cxn>
                <a:cxn ang="0">
                  <a:pos x="0" y="19938"/>
                </a:cxn>
              </a:cxnLst>
              <a:rect l="0" t="0" r="r" b="b"/>
              <a:pathLst>
                <a:path w="20000" h="20000">
                  <a:moveTo>
                    <a:pt x="0" y="19938"/>
                  </a:moveTo>
                  <a:lnTo>
                    <a:pt x="5490" y="0"/>
                  </a:lnTo>
                  <a:lnTo>
                    <a:pt x="5349" y="0"/>
                  </a:lnTo>
                  <a:lnTo>
                    <a:pt x="19988" y="0"/>
                  </a:lnTo>
                  <a:lnTo>
                    <a:pt x="16188" y="19938"/>
                  </a:lnTo>
                  <a:lnTo>
                    <a:pt x="0" y="19938"/>
                  </a:lnTo>
                  <a:close/>
                </a:path>
              </a:pathLst>
            </a:custGeom>
            <a:solidFill>
              <a:srgbClr val="DFDFDF"/>
            </a:solidFill>
            <a:ln w="3175" cap="flat">
              <a:solidFill>
                <a:srgbClr val="000000"/>
              </a:solidFill>
              <a:prstDash val="solid"/>
              <a:round/>
              <a:headEnd type="none" w="sm" len="lg"/>
              <a:tailEnd type="none" w="sm" len="lg"/>
            </a:ln>
            <a:effectLst/>
          </p:spPr>
          <p:txBody>
            <a:bodyPr/>
            <a:lstStyle/>
            <a:p>
              <a:endParaRPr lang="en-US"/>
            </a:p>
          </p:txBody>
        </p:sp>
        <p:sp>
          <p:nvSpPr>
            <p:cNvPr id="17" name="Freeform 16"/>
            <p:cNvSpPr>
              <a:spLocks/>
            </p:cNvSpPr>
            <p:nvPr/>
          </p:nvSpPr>
          <p:spPr bwMode="auto">
            <a:xfrm>
              <a:off x="13957" y="0"/>
              <a:ext cx="6043" cy="20002"/>
            </a:xfrm>
            <a:custGeom>
              <a:avLst/>
              <a:gdLst/>
              <a:ahLst/>
              <a:cxnLst>
                <a:cxn ang="0">
                  <a:pos x="19497" y="568"/>
                </a:cxn>
                <a:cxn ang="0">
                  <a:pos x="19961" y="0"/>
                </a:cxn>
                <a:cxn ang="0">
                  <a:pos x="11141" y="15667"/>
                </a:cxn>
                <a:cxn ang="0">
                  <a:pos x="0" y="19981"/>
                </a:cxn>
                <a:cxn ang="0">
                  <a:pos x="6963" y="7039"/>
                </a:cxn>
                <a:cxn ang="0">
                  <a:pos x="7427" y="6358"/>
                </a:cxn>
              </a:cxnLst>
              <a:rect l="0" t="0" r="r" b="b"/>
              <a:pathLst>
                <a:path w="20000" h="20000">
                  <a:moveTo>
                    <a:pt x="19497" y="568"/>
                  </a:moveTo>
                  <a:lnTo>
                    <a:pt x="19961" y="0"/>
                  </a:lnTo>
                  <a:lnTo>
                    <a:pt x="11141" y="15667"/>
                  </a:lnTo>
                  <a:lnTo>
                    <a:pt x="0" y="19981"/>
                  </a:lnTo>
                  <a:lnTo>
                    <a:pt x="6963" y="7039"/>
                  </a:lnTo>
                  <a:lnTo>
                    <a:pt x="7427" y="6358"/>
                  </a:lnTo>
                </a:path>
              </a:pathLst>
            </a:custGeom>
            <a:solidFill>
              <a:srgbClr val="9F9F9F"/>
            </a:solidFill>
            <a:ln w="3175" cap="flat">
              <a:solidFill>
                <a:srgbClr val="000000"/>
              </a:solidFill>
              <a:prstDash val="solid"/>
              <a:round/>
              <a:headEnd type="none" w="sm" len="lg"/>
              <a:tailEnd type="none" w="sm" len="lg"/>
            </a:ln>
            <a:effectLst/>
          </p:spPr>
          <p:txBody>
            <a:bodyPr/>
            <a:lstStyle/>
            <a:p>
              <a:endParaRPr lang="en-US"/>
            </a:p>
          </p:txBody>
        </p:sp>
        <p:sp>
          <p:nvSpPr>
            <p:cNvPr id="18" name="Freeform 17"/>
            <p:cNvSpPr>
              <a:spLocks/>
            </p:cNvSpPr>
            <p:nvPr/>
          </p:nvSpPr>
          <p:spPr bwMode="auto">
            <a:xfrm>
              <a:off x="140" y="6358"/>
              <a:ext cx="13899" cy="13644"/>
            </a:xfrm>
            <a:custGeom>
              <a:avLst/>
              <a:gdLst/>
              <a:ahLst/>
              <a:cxnLst>
                <a:cxn ang="0">
                  <a:pos x="0" y="0"/>
                </a:cxn>
                <a:cxn ang="0">
                  <a:pos x="4037" y="19972"/>
                </a:cxn>
                <a:cxn ang="0">
                  <a:pos x="19983" y="19972"/>
                </a:cxn>
              </a:cxnLst>
              <a:rect l="0" t="0" r="r" b="b"/>
              <a:pathLst>
                <a:path w="20000" h="20000">
                  <a:moveTo>
                    <a:pt x="0" y="0"/>
                  </a:moveTo>
                  <a:lnTo>
                    <a:pt x="4037" y="19972"/>
                  </a:lnTo>
                  <a:lnTo>
                    <a:pt x="19983" y="19972"/>
                  </a:lnTo>
                </a:path>
              </a:pathLst>
            </a:custGeom>
            <a:noFill/>
            <a:ln w="3175" cap="flat">
              <a:solidFill>
                <a:srgbClr val="000000"/>
              </a:solidFill>
              <a:prstDash val="solid"/>
              <a:round/>
              <a:headEnd type="none" w="sm" len="lg"/>
              <a:tailEnd type="none" w="sm" len="lg"/>
            </a:ln>
            <a:effectLst/>
          </p:spPr>
          <p:txBody>
            <a:bodyPr/>
            <a:lstStyle/>
            <a:p>
              <a:endParaRPr lang="en-US"/>
            </a:p>
          </p:txBody>
        </p:sp>
        <p:sp>
          <p:nvSpPr>
            <p:cNvPr id="19" name="Freeform 18"/>
            <p:cNvSpPr>
              <a:spLocks/>
            </p:cNvSpPr>
            <p:nvPr/>
          </p:nvSpPr>
          <p:spPr bwMode="auto">
            <a:xfrm>
              <a:off x="210" y="114"/>
              <a:ext cx="19650" cy="6944"/>
            </a:xfrm>
            <a:custGeom>
              <a:avLst/>
              <a:gdLst/>
              <a:ahLst/>
              <a:cxnLst>
                <a:cxn ang="0">
                  <a:pos x="0" y="19619"/>
                </a:cxn>
                <a:cxn ang="0">
                  <a:pos x="16133" y="19946"/>
                </a:cxn>
                <a:cxn ang="0">
                  <a:pos x="19917" y="2616"/>
                </a:cxn>
                <a:cxn ang="0">
                  <a:pos x="19988" y="0"/>
                </a:cxn>
                <a:cxn ang="0">
                  <a:pos x="16133" y="17657"/>
                </a:cxn>
              </a:cxnLst>
              <a:rect l="0" t="0" r="r" b="b"/>
              <a:pathLst>
                <a:path w="20000" h="20000">
                  <a:moveTo>
                    <a:pt x="0" y="19619"/>
                  </a:moveTo>
                  <a:lnTo>
                    <a:pt x="16133" y="19946"/>
                  </a:lnTo>
                  <a:lnTo>
                    <a:pt x="19917" y="2616"/>
                  </a:lnTo>
                  <a:lnTo>
                    <a:pt x="19988" y="0"/>
                  </a:lnTo>
                  <a:lnTo>
                    <a:pt x="16133" y="17657"/>
                  </a:lnTo>
                </a:path>
              </a:pathLst>
            </a:custGeom>
            <a:noFill/>
            <a:ln w="3175" cap="flat">
              <a:solidFill>
                <a:srgbClr val="000000"/>
              </a:solidFill>
              <a:prstDash val="solid"/>
              <a:round/>
              <a:headEnd type="none" w="sm" len="lg"/>
              <a:tailEnd type="none" w="sm" len="lg"/>
            </a:ln>
            <a:effectLst/>
          </p:spPr>
          <p:txBody>
            <a:bodyPr/>
            <a:lstStyle/>
            <a:p>
              <a:endParaRPr lang="en-US"/>
            </a:p>
          </p:txBody>
        </p:sp>
        <p:sp>
          <p:nvSpPr>
            <p:cNvPr id="20" name="Freeform 19"/>
            <p:cNvSpPr>
              <a:spLocks/>
            </p:cNvSpPr>
            <p:nvPr/>
          </p:nvSpPr>
          <p:spPr bwMode="auto">
            <a:xfrm>
              <a:off x="5400" y="341"/>
              <a:ext cx="82" cy="5923"/>
            </a:xfrm>
            <a:custGeom>
              <a:avLst/>
              <a:gdLst/>
              <a:ahLst/>
              <a:cxnLst>
                <a:cxn ang="0">
                  <a:pos x="17143" y="0"/>
                </a:cxn>
                <a:cxn ang="0">
                  <a:pos x="0" y="0"/>
                </a:cxn>
                <a:cxn ang="0">
                  <a:pos x="17143" y="0"/>
                </a:cxn>
                <a:cxn ang="0">
                  <a:pos x="0" y="0"/>
                </a:cxn>
                <a:cxn ang="0">
                  <a:pos x="17143" y="0"/>
                </a:cxn>
                <a:cxn ang="0">
                  <a:pos x="17143" y="19936"/>
                </a:cxn>
              </a:cxnLst>
              <a:rect l="0" t="0" r="r" b="b"/>
              <a:pathLst>
                <a:path w="20000" h="20000">
                  <a:moveTo>
                    <a:pt x="17143" y="0"/>
                  </a:moveTo>
                  <a:lnTo>
                    <a:pt x="0" y="0"/>
                  </a:lnTo>
                  <a:lnTo>
                    <a:pt x="17143" y="0"/>
                  </a:lnTo>
                  <a:lnTo>
                    <a:pt x="0" y="0"/>
                  </a:lnTo>
                  <a:lnTo>
                    <a:pt x="17143" y="0"/>
                  </a:lnTo>
                  <a:lnTo>
                    <a:pt x="17143" y="19936"/>
                  </a:lnTo>
                </a:path>
              </a:pathLst>
            </a:custGeom>
            <a:noFill/>
            <a:ln w="3175" cap="flat">
              <a:solidFill>
                <a:srgbClr val="000000"/>
              </a:solidFill>
              <a:prstDash val="solid"/>
              <a:round/>
              <a:headEnd type="none" w="sm" len="lg"/>
              <a:tailEnd type="none" w="sm" len="lg"/>
            </a:ln>
            <a:effectLst/>
          </p:spPr>
          <p:txBody>
            <a:bodyPr/>
            <a:lstStyle/>
            <a:p>
              <a:endParaRPr lang="en-US"/>
            </a:p>
          </p:txBody>
        </p:sp>
        <p:sp>
          <p:nvSpPr>
            <p:cNvPr id="21" name="Freeform 20"/>
            <p:cNvSpPr>
              <a:spLocks/>
            </p:cNvSpPr>
            <p:nvPr/>
          </p:nvSpPr>
          <p:spPr bwMode="auto">
            <a:xfrm>
              <a:off x="5470" y="908"/>
              <a:ext cx="13829" cy="19"/>
            </a:xfrm>
            <a:custGeom>
              <a:avLst/>
              <a:gdLst/>
              <a:ahLst/>
              <a:cxnLst>
                <a:cxn ang="0">
                  <a:pos x="0" y="0"/>
                </a:cxn>
                <a:cxn ang="0">
                  <a:pos x="19983" y="0"/>
                </a:cxn>
              </a:cxnLst>
              <a:rect l="0" t="0" r="r" b="b"/>
              <a:pathLst>
                <a:path w="20000" h="20000">
                  <a:moveTo>
                    <a:pt x="0" y="0"/>
                  </a:moveTo>
                  <a:lnTo>
                    <a:pt x="19983" y="0"/>
                  </a:lnTo>
                </a:path>
              </a:pathLst>
            </a:custGeom>
            <a:noFill/>
            <a:ln w="3175" cap="flat">
              <a:solidFill>
                <a:srgbClr val="000000"/>
              </a:solidFill>
              <a:prstDash val="solid"/>
              <a:round/>
              <a:headEnd type="none" w="sm" len="lg"/>
              <a:tailEnd type="none" w="sm" len="lg"/>
            </a:ln>
            <a:effectLst/>
          </p:spPr>
          <p:txBody>
            <a:bodyPr/>
            <a:lstStyle/>
            <a:p>
              <a:endParaRPr lang="en-US"/>
            </a:p>
          </p:txBody>
        </p:sp>
        <p:sp>
          <p:nvSpPr>
            <p:cNvPr id="22" name="Freeform 21"/>
            <p:cNvSpPr>
              <a:spLocks/>
            </p:cNvSpPr>
            <p:nvPr/>
          </p:nvSpPr>
          <p:spPr bwMode="auto">
            <a:xfrm>
              <a:off x="631" y="908"/>
              <a:ext cx="4921" cy="5583"/>
            </a:xfrm>
            <a:custGeom>
              <a:avLst/>
              <a:gdLst/>
              <a:ahLst/>
              <a:cxnLst>
                <a:cxn ang="0">
                  <a:pos x="0" y="19932"/>
                </a:cxn>
                <a:cxn ang="0">
                  <a:pos x="19952" y="0"/>
                </a:cxn>
              </a:cxnLst>
              <a:rect l="0" t="0" r="r" b="b"/>
              <a:pathLst>
                <a:path w="20000" h="20000">
                  <a:moveTo>
                    <a:pt x="0" y="19932"/>
                  </a:moveTo>
                  <a:lnTo>
                    <a:pt x="19952" y="0"/>
                  </a:lnTo>
                </a:path>
              </a:pathLst>
            </a:custGeom>
            <a:noFill/>
            <a:ln w="3175" cap="flat">
              <a:solidFill>
                <a:srgbClr val="000000"/>
              </a:solidFill>
              <a:prstDash val="solid"/>
              <a:round/>
              <a:headEnd type="none" w="sm" len="lg"/>
              <a:tailEnd type="none" w="sm" len="lg"/>
            </a:ln>
            <a:effectLst/>
          </p:spPr>
          <p:txBody>
            <a:bodyPr/>
            <a:lstStyle/>
            <a:p>
              <a:endParaRPr lang="en-US"/>
            </a:p>
          </p:txBody>
        </p:sp>
      </p:grpSp>
      <p:sp>
        <p:nvSpPr>
          <p:cNvPr id="23" name="Line 20"/>
          <p:cNvSpPr>
            <a:spLocks noChangeShapeType="1"/>
          </p:cNvSpPr>
          <p:nvPr/>
        </p:nvSpPr>
        <p:spPr bwMode="auto">
          <a:xfrm>
            <a:off x="9813174" y="4814888"/>
            <a:ext cx="708025" cy="0"/>
          </a:xfrm>
          <a:prstGeom prst="line">
            <a:avLst/>
          </a:prstGeom>
          <a:noFill/>
          <a:ln w="9525">
            <a:solidFill>
              <a:schemeClr val="tx1"/>
            </a:solidFill>
            <a:round/>
            <a:headEnd/>
            <a:tailEnd/>
          </a:ln>
          <a:effectLst/>
        </p:spPr>
        <p:txBody>
          <a:bodyPr wrap="none" anchor="ctr"/>
          <a:lstStyle/>
          <a:p>
            <a:endParaRPr lang="en-US"/>
          </a:p>
        </p:txBody>
      </p:sp>
      <p:sp>
        <p:nvSpPr>
          <p:cNvPr id="24" name="Line 21"/>
          <p:cNvSpPr>
            <a:spLocks noChangeShapeType="1"/>
          </p:cNvSpPr>
          <p:nvPr/>
        </p:nvSpPr>
        <p:spPr bwMode="auto">
          <a:xfrm flipH="1">
            <a:off x="10521200" y="4814888"/>
            <a:ext cx="0" cy="457200"/>
          </a:xfrm>
          <a:prstGeom prst="line">
            <a:avLst/>
          </a:prstGeom>
          <a:noFill/>
          <a:ln w="9525">
            <a:solidFill>
              <a:schemeClr val="tx1"/>
            </a:solidFill>
            <a:round/>
            <a:headEnd/>
            <a:tailEnd type="triangle" w="med" len="med"/>
          </a:ln>
          <a:effectLst/>
        </p:spPr>
        <p:txBody>
          <a:bodyPr wrap="none" anchor="ctr"/>
          <a:lstStyle/>
          <a:p>
            <a:endParaRPr lang="en-US"/>
          </a:p>
        </p:txBody>
      </p:sp>
      <p:graphicFrame>
        <p:nvGraphicFramePr>
          <p:cNvPr id="25" name="Object 24"/>
          <p:cNvGraphicFramePr>
            <a:graphicFrameLocks noChangeAspect="1"/>
          </p:cNvGraphicFramePr>
          <p:nvPr/>
        </p:nvGraphicFramePr>
        <p:xfrm>
          <a:off x="10275138" y="5546725"/>
          <a:ext cx="431800" cy="431800"/>
        </p:xfrm>
        <a:graphic>
          <a:graphicData uri="http://schemas.openxmlformats.org/presentationml/2006/ole">
            <mc:AlternateContent xmlns:mc="http://schemas.openxmlformats.org/markup-compatibility/2006">
              <mc:Choice xmlns:v="urn:schemas-microsoft-com:vml" Requires="v">
                <p:oleObj spid="_x0000_s1026" name="Document" r:id="rId3" imgW="433080" imgH="432720" progId="Word.Document.8">
                  <p:embed/>
                </p:oleObj>
              </mc:Choice>
              <mc:Fallback>
                <p:oleObj name="Document" r:id="rId3" imgW="433080" imgH="432720" progId="Word.Document.8">
                  <p:embed/>
                  <p:pic>
                    <p:nvPicPr>
                      <p:cNvPr id="25"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5138" y="5546725"/>
                        <a:ext cx="4318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6" name="Group 25"/>
          <p:cNvGrpSpPr>
            <a:grpSpLocks/>
          </p:cNvGrpSpPr>
          <p:nvPr/>
        </p:nvGrpSpPr>
        <p:grpSpPr bwMode="auto">
          <a:xfrm>
            <a:off x="8212975" y="4564063"/>
            <a:ext cx="1673225" cy="457200"/>
            <a:chOff x="1408" y="2838"/>
            <a:chExt cx="1054" cy="288"/>
          </a:xfrm>
        </p:grpSpPr>
        <p:sp>
          <p:nvSpPr>
            <p:cNvPr id="27" name="Text Box 26"/>
            <p:cNvSpPr txBox="1">
              <a:spLocks noChangeArrowheads="1"/>
            </p:cNvSpPr>
            <p:nvPr/>
          </p:nvSpPr>
          <p:spPr bwMode="auto">
            <a:xfrm>
              <a:off x="1408" y="2838"/>
              <a:ext cx="1054" cy="288"/>
            </a:xfrm>
            <a:prstGeom prst="rect">
              <a:avLst/>
            </a:prstGeom>
            <a:noFill/>
            <a:ln w="9525">
              <a:noFill/>
              <a:miter lim="800000"/>
              <a:headEnd/>
              <a:tailEnd/>
            </a:ln>
            <a:effectLst/>
          </p:spPr>
          <p:txBody>
            <a:bodyPr>
              <a:spAutoFit/>
            </a:bodyPr>
            <a:lstStyle/>
            <a:p>
              <a:pPr algn="ctr"/>
              <a:r>
                <a:rPr lang="en-US" sz="2400" dirty="0"/>
                <a:t>"java"</a:t>
              </a:r>
            </a:p>
          </p:txBody>
        </p:sp>
        <p:sp>
          <p:nvSpPr>
            <p:cNvPr id="28" name="AutoShape 27"/>
            <p:cNvSpPr>
              <a:spLocks noChangeArrowheads="1"/>
            </p:cNvSpPr>
            <p:nvPr/>
          </p:nvSpPr>
          <p:spPr bwMode="auto">
            <a:xfrm>
              <a:off x="1500" y="2866"/>
              <a:ext cx="898" cy="247"/>
            </a:xfrm>
            <a:prstGeom prst="roundRect">
              <a:avLst>
                <a:gd name="adj" fmla="val 16667"/>
              </a:avLst>
            </a:prstGeom>
            <a:noFill/>
            <a:ln w="9525">
              <a:solidFill>
                <a:schemeClr val="tx1"/>
              </a:solidFill>
              <a:round/>
              <a:headEnd/>
              <a:tailEnd/>
            </a:ln>
            <a:effectLst/>
          </p:spPr>
          <p:txBody>
            <a:bodyPr wrap="none" anchor="ctr"/>
            <a:lstStyle/>
            <a:p>
              <a:endParaRPr lang="en-US"/>
            </a:p>
          </p:txBody>
        </p:sp>
      </p:grpSp>
      <p:grpSp>
        <p:nvGrpSpPr>
          <p:cNvPr id="29" name="Group 28"/>
          <p:cNvGrpSpPr>
            <a:grpSpLocks/>
          </p:cNvGrpSpPr>
          <p:nvPr/>
        </p:nvGrpSpPr>
        <p:grpSpPr bwMode="auto">
          <a:xfrm>
            <a:off x="8212975" y="5345113"/>
            <a:ext cx="1673225" cy="457200"/>
            <a:chOff x="1408" y="2838"/>
            <a:chExt cx="1054" cy="288"/>
          </a:xfrm>
        </p:grpSpPr>
        <p:sp>
          <p:nvSpPr>
            <p:cNvPr id="30" name="Text Box 29"/>
            <p:cNvSpPr txBox="1">
              <a:spLocks noChangeArrowheads="1"/>
            </p:cNvSpPr>
            <p:nvPr/>
          </p:nvSpPr>
          <p:spPr bwMode="auto">
            <a:xfrm>
              <a:off x="1408" y="2838"/>
              <a:ext cx="1054" cy="288"/>
            </a:xfrm>
            <a:prstGeom prst="rect">
              <a:avLst/>
            </a:prstGeom>
            <a:noFill/>
            <a:ln w="9525">
              <a:noFill/>
              <a:miter lim="800000"/>
              <a:headEnd/>
              <a:tailEnd/>
            </a:ln>
            <a:effectLst/>
          </p:spPr>
          <p:txBody>
            <a:bodyPr>
              <a:spAutoFit/>
            </a:bodyPr>
            <a:lstStyle/>
            <a:p>
              <a:pPr algn="ctr"/>
              <a:r>
                <a:rPr lang="en-US" sz="2400" dirty="0"/>
                <a:t>"Java"</a:t>
              </a:r>
            </a:p>
          </p:txBody>
        </p:sp>
        <p:sp>
          <p:nvSpPr>
            <p:cNvPr id="31" name="AutoShape 30"/>
            <p:cNvSpPr>
              <a:spLocks noChangeArrowheads="1"/>
            </p:cNvSpPr>
            <p:nvPr/>
          </p:nvSpPr>
          <p:spPr bwMode="auto">
            <a:xfrm>
              <a:off x="1500" y="2866"/>
              <a:ext cx="898" cy="247"/>
            </a:xfrm>
            <a:prstGeom prst="roundRect">
              <a:avLst>
                <a:gd name="adj" fmla="val 16667"/>
              </a:avLst>
            </a:prstGeom>
            <a:noFill/>
            <a:ln w="9525">
              <a:solidFill>
                <a:schemeClr val="tx1"/>
              </a:solidFill>
              <a:round/>
              <a:headEnd/>
              <a:tailEnd/>
            </a:ln>
            <a:effectLst/>
          </p:spPr>
          <p:txBody>
            <a:bodyPr wrap="none" anchor="ctr"/>
            <a:lstStyle/>
            <a:p>
              <a:endParaRPr lang="en-US"/>
            </a:p>
          </p:txBody>
        </p:sp>
      </p:grpSp>
      <p:sp>
        <p:nvSpPr>
          <p:cNvPr id="32" name="Content Placeholder 2"/>
          <p:cNvSpPr txBox="1">
            <a:spLocks/>
          </p:cNvSpPr>
          <p:nvPr/>
        </p:nvSpPr>
        <p:spPr>
          <a:xfrm>
            <a:off x="228600" y="1371600"/>
            <a:ext cx="5337694" cy="1600200"/>
          </a:xfrm>
          <a:prstGeom prst="rect">
            <a:avLst/>
          </a:prstGeom>
        </p:spPr>
        <p:txBody>
          <a:bodyPr vert="horz" lIns="91440" tIns="45720" rIns="91440" bIns="45720" rtlCol="0">
            <a:normAutofit/>
          </a:bodyPr>
          <a:lstStyle/>
          <a:p>
            <a:pPr marL="342900" lvl="0" indent="-342900" algn="just">
              <a:lnSpc>
                <a:spcPct val="90000"/>
              </a:lnSpc>
              <a:spcBef>
                <a:spcPct val="20000"/>
              </a:spcBef>
              <a:defRPr/>
            </a:pPr>
            <a:r>
              <a:rPr lang="en-US" sz="2400" b="1" dirty="0">
                <a:latin typeface="+mj-lt"/>
                <a:ea typeface="Times New Roman" panose="02020603050405020304" pitchFamily="18" charset="0"/>
                <a:cs typeface="Times New Roman" panose="02020603050405020304" pitchFamily="18" charset="0"/>
              </a:rPr>
              <a:t>Convenient </a:t>
            </a:r>
            <a:r>
              <a:rPr lang="en-US" sz="2400" dirty="0">
                <a:latin typeface="+mj-lt"/>
                <a:ea typeface="Times New Roman" panose="02020603050405020304" pitchFamily="18" charset="0"/>
                <a:cs typeface="Times New Roman" panose="02020603050405020304" pitchFamily="18" charset="0"/>
              </a:rPr>
              <a:t>— Immutable objects are convenient because several references can point to the same object safely.</a:t>
            </a: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p:txBody>
      </p:sp>
      <p:sp>
        <p:nvSpPr>
          <p:cNvPr id="33" name="TextBox 32"/>
          <p:cNvSpPr txBox="1"/>
          <p:nvPr/>
        </p:nvSpPr>
        <p:spPr>
          <a:xfrm>
            <a:off x="190499" y="2956679"/>
            <a:ext cx="5375795" cy="2862322"/>
          </a:xfrm>
          <a:prstGeom prst="rect">
            <a:avLst/>
          </a:prstGeom>
          <a:noFill/>
          <a:ln w="19050">
            <a:solidFill>
              <a:schemeClr val="accent1"/>
            </a:solidFill>
            <a:prstDash val="dash"/>
          </a:ln>
        </p:spPr>
        <p:txBody>
          <a:bodyPr wrap="square" rtlCol="0">
            <a:spAutoFit/>
          </a:bodyPr>
          <a:lstStyle/>
          <a:p>
            <a:r>
              <a:rPr lang="en-US" dirty="0">
                <a:solidFill>
                  <a:srgbClr val="000000"/>
                </a:solidFill>
                <a:latin typeface="Consolas"/>
              </a:rPr>
              <a:t>String </a:t>
            </a:r>
            <a:r>
              <a:rPr lang="en-US" dirty="0">
                <a:solidFill>
                  <a:srgbClr val="6A3E3E"/>
                </a:solidFill>
                <a:latin typeface="Consolas"/>
              </a:rPr>
              <a:t>name</a:t>
            </a:r>
            <a:r>
              <a:rPr lang="en-US" dirty="0">
                <a:solidFill>
                  <a:srgbClr val="000000"/>
                </a:solidFill>
                <a:latin typeface="Consolas"/>
              </a:rPr>
              <a:t>=</a:t>
            </a:r>
            <a:r>
              <a:rPr lang="en-US" dirty="0">
                <a:solidFill>
                  <a:srgbClr val="2A00FF"/>
                </a:solidFill>
                <a:latin typeface="Consolas"/>
              </a:rPr>
              <a:t>"DIET - Rajkot"</a:t>
            </a:r>
            <a:r>
              <a:rPr lang="en-US" dirty="0">
                <a:solidFill>
                  <a:srgbClr val="000000"/>
                </a:solidFill>
                <a:latin typeface="Consolas"/>
              </a:rPr>
              <a:t>;</a:t>
            </a:r>
          </a:p>
          <a:p>
            <a:r>
              <a:rPr lang="en-US" i="1" dirty="0" err="1">
                <a:solidFill>
                  <a:srgbClr val="000000"/>
                </a:solidFill>
                <a:latin typeface="Consolas"/>
              </a:rPr>
              <a:t>foo</a:t>
            </a:r>
            <a:r>
              <a:rPr lang="en-US" i="1" dirty="0">
                <a:solidFill>
                  <a:srgbClr val="000000"/>
                </a:solidFill>
                <a:latin typeface="Consolas"/>
              </a:rPr>
              <a:t>(</a:t>
            </a:r>
            <a:r>
              <a:rPr lang="en-US" i="1" dirty="0">
                <a:solidFill>
                  <a:srgbClr val="6A3E3E"/>
                </a:solidFill>
                <a:latin typeface="Consolas"/>
              </a:rPr>
              <a:t>name</a:t>
            </a:r>
            <a:r>
              <a:rPr lang="en-US" i="1" dirty="0">
                <a:solidFill>
                  <a:srgbClr val="000000"/>
                </a:solidFill>
                <a:latin typeface="Consolas"/>
              </a:rPr>
              <a:t>);</a:t>
            </a:r>
          </a:p>
          <a:p>
            <a:r>
              <a:rPr lang="en-IN" dirty="0">
                <a:solidFill>
                  <a:srgbClr val="3F7F5F"/>
                </a:solidFill>
                <a:latin typeface="Consolas"/>
              </a:rPr>
              <a:t>//Some operations on String </a:t>
            </a:r>
            <a:r>
              <a:rPr lang="en-IN" b="1" dirty="0">
                <a:solidFill>
                  <a:srgbClr val="3F7F5F"/>
                </a:solidFill>
                <a:latin typeface="Consolas"/>
              </a:rPr>
              <a:t>name</a:t>
            </a:r>
            <a:endParaRPr lang="en-IN" dirty="0">
              <a:solidFill>
                <a:srgbClr val="3F7F5F"/>
              </a:solidFill>
              <a:latin typeface="Consolas"/>
            </a:endParaRPr>
          </a:p>
          <a:p>
            <a:r>
              <a:rPr lang="en-US" dirty="0" err="1">
                <a:solidFill>
                  <a:srgbClr val="6A3E3E"/>
                </a:solidFill>
                <a:latin typeface="Consolas"/>
              </a:rPr>
              <a:t>name</a:t>
            </a:r>
            <a:r>
              <a:rPr lang="en-US" dirty="0" err="1">
                <a:latin typeface="Consolas"/>
              </a:rPr>
              <a:t>.substring</a:t>
            </a:r>
            <a:r>
              <a:rPr lang="en-US" dirty="0">
                <a:latin typeface="Consolas"/>
              </a:rPr>
              <a:t>(7,13);</a:t>
            </a:r>
            <a:endParaRPr lang="en-US" i="1" dirty="0">
              <a:latin typeface="Consolas"/>
            </a:endParaRPr>
          </a:p>
          <a:p>
            <a:r>
              <a:rPr lang="en-US" i="1" dirty="0">
                <a:solidFill>
                  <a:srgbClr val="000000"/>
                </a:solidFill>
                <a:latin typeface="Consolas"/>
              </a:rPr>
              <a:t>bar(</a:t>
            </a:r>
            <a:r>
              <a:rPr lang="en-US" i="1" dirty="0">
                <a:solidFill>
                  <a:srgbClr val="6A3E3E"/>
                </a:solidFill>
                <a:latin typeface="Consolas"/>
              </a:rPr>
              <a:t>name</a:t>
            </a:r>
            <a:r>
              <a:rPr lang="en-US" i="1" dirty="0">
                <a:solidFill>
                  <a:srgbClr val="000000"/>
                </a:solidFill>
                <a:latin typeface="Consolas"/>
              </a:rPr>
              <a:t>); </a:t>
            </a:r>
          </a:p>
          <a:p>
            <a:r>
              <a:rPr lang="en-US" dirty="0">
                <a:solidFill>
                  <a:srgbClr val="3F7F5F"/>
                </a:solidFill>
                <a:latin typeface="Consolas"/>
              </a:rPr>
              <a:t>/* we will be sure that the value of name will be same for </a:t>
            </a:r>
            <a:r>
              <a:rPr lang="en-US" dirty="0" err="1">
                <a:solidFill>
                  <a:srgbClr val="3F7F5F"/>
                </a:solidFill>
                <a:latin typeface="Consolas"/>
              </a:rPr>
              <a:t>foo</a:t>
            </a:r>
            <a:r>
              <a:rPr lang="en-US" dirty="0">
                <a:solidFill>
                  <a:srgbClr val="3F7F5F"/>
                </a:solidFill>
                <a:latin typeface="Consolas"/>
              </a:rPr>
              <a:t>() as well as bar() as String is </a:t>
            </a:r>
            <a:r>
              <a:rPr lang="en-US" b="1" dirty="0">
                <a:solidFill>
                  <a:srgbClr val="3F7F5F"/>
                </a:solidFill>
                <a:latin typeface="Consolas"/>
              </a:rPr>
              <a:t>immutable</a:t>
            </a:r>
            <a:r>
              <a:rPr lang="en-US" dirty="0">
                <a:solidFill>
                  <a:srgbClr val="3F7F5F"/>
                </a:solidFill>
                <a:latin typeface="Consolas"/>
              </a:rPr>
              <a:t> its value will be same for both the functions.</a:t>
            </a:r>
          </a:p>
          <a:p>
            <a:r>
              <a:rPr lang="en-US" dirty="0">
                <a:solidFill>
                  <a:srgbClr val="3F7F5F"/>
                </a:solidFill>
                <a:latin typeface="Consolas"/>
              </a:rPr>
              <a:t> */	</a:t>
            </a:r>
            <a:endParaRPr lang="en-US" dirty="0">
              <a:solidFill>
                <a:srgbClr val="000000"/>
              </a:solidFill>
              <a:latin typeface="Consolas"/>
            </a:endParaRPr>
          </a:p>
        </p:txBody>
      </p:sp>
      <p:cxnSp>
        <p:nvCxnSpPr>
          <p:cNvPr id="34" name="Straight Arrow Connector 33"/>
          <p:cNvCxnSpPr>
            <a:stCxn id="9" idx="3"/>
            <a:endCxn id="28" idx="1"/>
          </p:cNvCxnSpPr>
          <p:nvPr/>
        </p:nvCxnSpPr>
        <p:spPr>
          <a:xfrm flipV="1">
            <a:off x="7325563" y="4804570"/>
            <a:ext cx="1033462" cy="7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928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animBg="1"/>
      <p:bldP spid="9" grpId="0" animBg="1"/>
      <p:bldP spid="13" grpId="0" animBg="1"/>
      <p:bldP spid="14" grpId="0" animBg="1"/>
      <p:bldP spid="23" grpId="0" animBg="1"/>
      <p:bldP spid="24" grpId="0" animBg="1"/>
      <p:bldP spid="32" grpId="0" build="p"/>
      <p:bldP spid="3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String Methods — </a:t>
            </a:r>
            <a:r>
              <a:rPr lang="en-US" dirty="0">
                <a:solidFill>
                  <a:schemeClr val="tx1"/>
                </a:solidFill>
              </a:rPr>
              <a:t>length</a:t>
            </a:r>
            <a:r>
              <a:rPr lang="en-US" dirty="0"/>
              <a:t>, </a:t>
            </a:r>
            <a:r>
              <a:rPr lang="en-US" dirty="0" err="1">
                <a:solidFill>
                  <a:schemeClr val="tx1"/>
                </a:solidFill>
              </a:rPr>
              <a:t>charAt</a:t>
            </a:r>
            <a:endParaRPr lang="en-US" dirty="0"/>
          </a:p>
        </p:txBody>
      </p:sp>
      <p:sp>
        <p:nvSpPr>
          <p:cNvPr id="6" name="Rectangle 4"/>
          <p:cNvSpPr>
            <a:spLocks noGrp="1" noChangeArrowheads="1"/>
          </p:cNvSpPr>
          <p:nvPr>
            <p:ph idx="1"/>
          </p:nvPr>
        </p:nvSpPr>
        <p:spPr>
          <a:xfrm>
            <a:off x="304800" y="1266825"/>
            <a:ext cx="2178050" cy="552450"/>
          </a:xfrm>
          <a:noFill/>
          <a:ln/>
        </p:spPr>
        <p:txBody>
          <a:bodyPr>
            <a:normAutofit/>
          </a:bodyPr>
          <a:lstStyle/>
          <a:p>
            <a:pPr marL="342900" indent="-342900">
              <a:buFont typeface="Wingdings" pitchFamily="2" charset="2"/>
              <a:buNone/>
            </a:pPr>
            <a:r>
              <a:rPr lang="en-US" sz="2400" dirty="0" err="1">
                <a:ea typeface="Cambria" pitchFamily="18" charset="0"/>
              </a:rPr>
              <a:t>int</a:t>
            </a:r>
            <a:r>
              <a:rPr lang="en-US" sz="2400" dirty="0">
                <a:ea typeface="Cambria" pitchFamily="18" charset="0"/>
              </a:rPr>
              <a:t> </a:t>
            </a:r>
            <a:r>
              <a:rPr lang="en-US" sz="2400" b="1" dirty="0">
                <a:ea typeface="Cambria" pitchFamily="18" charset="0"/>
              </a:rPr>
              <a:t>length</a:t>
            </a:r>
            <a:r>
              <a:rPr lang="en-US" sz="2400" dirty="0">
                <a:ea typeface="Cambria" pitchFamily="18" charset="0"/>
              </a:rPr>
              <a:t>();</a:t>
            </a:r>
          </a:p>
        </p:txBody>
      </p:sp>
      <p:sp>
        <p:nvSpPr>
          <p:cNvPr id="7" name="Rectangle 5"/>
          <p:cNvSpPr>
            <a:spLocks noChangeArrowheads="1"/>
          </p:cNvSpPr>
          <p:nvPr/>
        </p:nvSpPr>
        <p:spPr bwMode="auto">
          <a:xfrm>
            <a:off x="2438400" y="1295400"/>
            <a:ext cx="6400801" cy="609600"/>
          </a:xfrm>
          <a:prstGeom prst="rect">
            <a:avLst/>
          </a:prstGeom>
          <a:noFill/>
          <a:ln w="9525">
            <a:noFill/>
            <a:miter lim="800000"/>
            <a:headEnd/>
            <a:tailEnd/>
          </a:ln>
        </p:spPr>
        <p:txBody>
          <a:bodyPr/>
          <a:lstStyle/>
          <a:p>
            <a:pPr marL="342900" indent="-342900" eaLnBrk="1" hangingPunct="1">
              <a:spcBef>
                <a:spcPct val="0"/>
              </a:spcBef>
              <a:buClr>
                <a:schemeClr val="accent1"/>
              </a:buClr>
              <a:buSzPct val="70000"/>
              <a:buFont typeface="Wingdings" pitchFamily="2" charset="2"/>
              <a:buChar char="n"/>
            </a:pPr>
            <a:r>
              <a:rPr lang="en-US" sz="2400" dirty="0"/>
              <a:t>Returns the number of characters in the string</a:t>
            </a:r>
          </a:p>
        </p:txBody>
      </p:sp>
      <p:sp>
        <p:nvSpPr>
          <p:cNvPr id="8" name="Text Box 6"/>
          <p:cNvSpPr txBox="1">
            <a:spLocks noChangeArrowheads="1"/>
          </p:cNvSpPr>
          <p:nvPr/>
        </p:nvSpPr>
        <p:spPr bwMode="auto">
          <a:xfrm>
            <a:off x="6369050" y="5219700"/>
            <a:ext cx="1111250" cy="461665"/>
          </a:xfrm>
          <a:prstGeom prst="rect">
            <a:avLst/>
          </a:prstGeom>
          <a:noFill/>
          <a:ln w="9525">
            <a:noFill/>
            <a:miter lim="800000"/>
            <a:headEnd/>
            <a:tailEnd/>
          </a:ln>
          <a:effectLst/>
        </p:spPr>
        <p:txBody>
          <a:bodyPr>
            <a:spAutoFit/>
          </a:bodyPr>
          <a:lstStyle/>
          <a:p>
            <a:r>
              <a:rPr lang="en-US" sz="2400" dirty="0"/>
              <a:t>'n'</a:t>
            </a:r>
          </a:p>
        </p:txBody>
      </p:sp>
      <p:sp>
        <p:nvSpPr>
          <p:cNvPr id="9" name="Text Box 8"/>
          <p:cNvSpPr txBox="1">
            <a:spLocks noChangeArrowheads="1"/>
          </p:cNvSpPr>
          <p:nvPr/>
        </p:nvSpPr>
        <p:spPr bwMode="auto">
          <a:xfrm>
            <a:off x="5940425" y="4724400"/>
            <a:ext cx="1447800" cy="457200"/>
          </a:xfrm>
          <a:prstGeom prst="rect">
            <a:avLst/>
          </a:prstGeom>
          <a:noFill/>
          <a:ln w="9525">
            <a:noFill/>
            <a:miter lim="800000"/>
            <a:headEnd/>
            <a:tailEnd/>
          </a:ln>
          <a:effectLst/>
        </p:spPr>
        <p:txBody>
          <a:bodyPr>
            <a:spAutoFit/>
          </a:bodyPr>
          <a:lstStyle/>
          <a:p>
            <a:pPr algn="ctr"/>
            <a:r>
              <a:rPr lang="en-US" sz="2400" dirty="0">
                <a:solidFill>
                  <a:schemeClr val="tx2"/>
                </a:solidFill>
              </a:rPr>
              <a:t>Returns:</a:t>
            </a:r>
          </a:p>
        </p:txBody>
      </p:sp>
      <p:sp>
        <p:nvSpPr>
          <p:cNvPr id="10" name="Line 10"/>
          <p:cNvSpPr>
            <a:spLocks noChangeShapeType="1"/>
          </p:cNvSpPr>
          <p:nvPr/>
        </p:nvSpPr>
        <p:spPr bwMode="auto">
          <a:xfrm>
            <a:off x="4191000" y="5480050"/>
            <a:ext cx="1927225" cy="0"/>
          </a:xfrm>
          <a:prstGeom prst="line">
            <a:avLst/>
          </a:prstGeom>
          <a:noFill/>
          <a:ln w="9525">
            <a:solidFill>
              <a:srgbClr val="FF0000"/>
            </a:solidFill>
            <a:round/>
            <a:headEnd/>
            <a:tailEnd type="triangle" w="med" len="med"/>
          </a:ln>
          <a:effectLst/>
        </p:spPr>
        <p:txBody>
          <a:bodyPr wrap="none" anchor="ctr"/>
          <a:lstStyle/>
          <a:p>
            <a:endParaRPr lang="en-US"/>
          </a:p>
        </p:txBody>
      </p:sp>
      <p:sp>
        <p:nvSpPr>
          <p:cNvPr id="11" name="Text Box 11"/>
          <p:cNvSpPr txBox="1">
            <a:spLocks noChangeArrowheads="1"/>
          </p:cNvSpPr>
          <p:nvPr/>
        </p:nvSpPr>
        <p:spPr bwMode="auto">
          <a:xfrm>
            <a:off x="914400" y="4164012"/>
            <a:ext cx="7696200" cy="461665"/>
          </a:xfrm>
          <a:prstGeom prst="rect">
            <a:avLst/>
          </a:prstGeom>
          <a:solidFill>
            <a:schemeClr val="accent6">
              <a:lumMod val="20000"/>
              <a:lumOff val="80000"/>
            </a:schemeClr>
          </a:solidFill>
          <a:ln w="9525">
            <a:noFill/>
            <a:miter lim="800000"/>
            <a:headEnd/>
            <a:tailEnd/>
          </a:ln>
          <a:effectLst/>
        </p:spPr>
        <p:txBody>
          <a:bodyPr wrap="square">
            <a:spAutoFit/>
          </a:bodyPr>
          <a:lstStyle/>
          <a:p>
            <a:r>
              <a:rPr lang="en-US" sz="2400" dirty="0"/>
              <a:t>Character positions in strings starts from</a:t>
            </a:r>
            <a:r>
              <a:rPr lang="en-US" sz="2400" b="1" dirty="0"/>
              <a:t> 0</a:t>
            </a:r>
            <a:r>
              <a:rPr lang="en-US" sz="2400" dirty="0"/>
              <a:t> – just like arrays.</a:t>
            </a:r>
          </a:p>
        </p:txBody>
      </p:sp>
      <p:sp>
        <p:nvSpPr>
          <p:cNvPr id="12" name="Line 12"/>
          <p:cNvSpPr>
            <a:spLocks noChangeShapeType="1"/>
          </p:cNvSpPr>
          <p:nvPr/>
        </p:nvSpPr>
        <p:spPr bwMode="auto">
          <a:xfrm flipV="1">
            <a:off x="1828800" y="3787775"/>
            <a:ext cx="0" cy="374650"/>
          </a:xfrm>
          <a:prstGeom prst="line">
            <a:avLst/>
          </a:prstGeom>
          <a:noFill/>
          <a:ln w="9525">
            <a:solidFill>
              <a:srgbClr val="FF0000"/>
            </a:solidFill>
            <a:round/>
            <a:headEnd/>
            <a:tailEnd type="stealth" w="med" len="med"/>
          </a:ln>
          <a:effectLst/>
        </p:spPr>
        <p:txBody>
          <a:bodyPr wrap="none" anchor="ctr"/>
          <a:lstStyle/>
          <a:p>
            <a:endParaRPr lang="en-US"/>
          </a:p>
        </p:txBody>
      </p:sp>
      <p:sp>
        <p:nvSpPr>
          <p:cNvPr id="13" name="TextBox 12"/>
          <p:cNvSpPr txBox="1"/>
          <p:nvPr/>
        </p:nvSpPr>
        <p:spPr>
          <a:xfrm>
            <a:off x="1317523" y="5264606"/>
            <a:ext cx="4343400" cy="430887"/>
          </a:xfrm>
          <a:prstGeom prst="rect">
            <a:avLst/>
          </a:prstGeom>
          <a:noFill/>
          <a:ln w="19050">
            <a:solidFill>
              <a:schemeClr val="accent1"/>
            </a:solidFill>
            <a:prstDash val="dash"/>
          </a:ln>
        </p:spPr>
        <p:txBody>
          <a:bodyPr wrap="square" rtlCol="0">
            <a:spAutoFit/>
          </a:bodyPr>
          <a:lstStyle/>
          <a:p>
            <a:r>
              <a:rPr lang="en-US" sz="2200" dirty="0">
                <a:solidFill>
                  <a:srgbClr val="2A00FF"/>
                </a:solidFill>
              </a:rPr>
              <a:t>"</a:t>
            </a:r>
            <a:r>
              <a:rPr lang="en-US" sz="2200" dirty="0" err="1">
                <a:solidFill>
                  <a:srgbClr val="2A00FF"/>
                </a:solidFill>
              </a:rPr>
              <a:t>Window"</a:t>
            </a:r>
            <a:r>
              <a:rPr lang="en-US" sz="2200" dirty="0" err="1">
                <a:solidFill>
                  <a:srgbClr val="000000"/>
                </a:solidFill>
              </a:rPr>
              <a:t>.charAt</a:t>
            </a:r>
            <a:r>
              <a:rPr lang="en-US" sz="2200" dirty="0">
                <a:solidFill>
                  <a:srgbClr val="000000"/>
                </a:solidFill>
              </a:rPr>
              <a:t> (2);</a:t>
            </a:r>
          </a:p>
        </p:txBody>
      </p:sp>
      <p:sp>
        <p:nvSpPr>
          <p:cNvPr id="14" name="Rectangle 4"/>
          <p:cNvSpPr txBox="1">
            <a:spLocks noChangeArrowheads="1"/>
          </p:cNvSpPr>
          <p:nvPr/>
        </p:nvSpPr>
        <p:spPr>
          <a:xfrm>
            <a:off x="304800" y="3200400"/>
            <a:ext cx="2178050" cy="552450"/>
          </a:xfrm>
          <a:prstGeom prst="rect">
            <a:avLst/>
          </a:prstGeom>
          <a:noFill/>
          <a:ln/>
        </p:spPr>
        <p:txBody>
          <a:bodyPr vert="horz" lIns="91440" tIns="45720" rIns="91440" bIns="45720" rtlCol="0">
            <a:normAutofit/>
          </a:bodyPr>
          <a:lstStyle/>
          <a:p>
            <a:pPr marL="342900" marR="0" lvl="0" indent="-342900" algn="l" defTabSz="914400" rtl="0" eaLnBrk="1" fontAlgn="auto" latinLnBrk="0" hangingPunct="1">
              <a:lnSpc>
                <a:spcPct val="114000"/>
              </a:lnSpc>
              <a:spcBef>
                <a:spcPct val="20000"/>
              </a:spcBef>
              <a:spcAft>
                <a:spcPts val="0"/>
              </a:spcAft>
              <a:buClrTx/>
              <a:buSzTx/>
              <a:buFont typeface="Wingdings" pitchFamily="2" charset="2"/>
              <a:buNone/>
              <a:tabLst/>
              <a:defRPr/>
            </a:pPr>
            <a:r>
              <a:rPr kumimoji="0" lang="en-US" sz="2400" b="0" i="0" u="none" strike="noStrike" kern="1200" cap="none" spc="0" normalizeH="0" baseline="0" noProof="0" dirty="0" err="1">
                <a:ln>
                  <a:noFill/>
                </a:ln>
                <a:solidFill>
                  <a:schemeClr val="tx1"/>
                </a:solidFill>
                <a:effectLst/>
                <a:uLnTx/>
                <a:uFillTx/>
                <a:ea typeface="Cambria" pitchFamily="18" charset="0"/>
                <a:cs typeface="Times New Roman" panose="02020603050405020304" pitchFamily="18" charset="0"/>
              </a:rPr>
              <a:t>int</a:t>
            </a:r>
            <a:r>
              <a:rPr kumimoji="0" lang="en-US" sz="2400" b="0" i="0" u="none" strike="noStrike" kern="1200" cap="none" spc="0" normalizeH="0" baseline="0" noProof="0" dirty="0">
                <a:ln>
                  <a:noFill/>
                </a:ln>
                <a:solidFill>
                  <a:schemeClr val="tx1"/>
                </a:solidFill>
                <a:effectLst/>
                <a:uLnTx/>
                <a:uFillTx/>
                <a:ea typeface="Cambria" pitchFamily="18" charset="0"/>
                <a:cs typeface="Times New Roman" panose="02020603050405020304" pitchFamily="18" charset="0"/>
              </a:rPr>
              <a:t> </a:t>
            </a:r>
            <a:r>
              <a:rPr kumimoji="0" lang="en-US" sz="2400" b="1" i="0" u="none" strike="noStrike" kern="1200" cap="none" spc="0" normalizeH="0" baseline="0" noProof="0" dirty="0" err="1">
                <a:ln>
                  <a:noFill/>
                </a:ln>
                <a:solidFill>
                  <a:schemeClr val="tx1"/>
                </a:solidFill>
                <a:effectLst/>
                <a:uLnTx/>
                <a:uFillTx/>
                <a:ea typeface="Cambria" pitchFamily="18" charset="0"/>
                <a:cs typeface="Times New Roman" panose="02020603050405020304" pitchFamily="18" charset="0"/>
              </a:rPr>
              <a:t>charAt</a:t>
            </a:r>
            <a:r>
              <a:rPr kumimoji="0" lang="en-US" sz="2400" i="0" u="none" strike="noStrike" kern="1200" cap="none" spc="0" normalizeH="0" baseline="0" noProof="0" dirty="0">
                <a:ln>
                  <a:noFill/>
                </a:ln>
                <a:solidFill>
                  <a:schemeClr val="tx1"/>
                </a:solidFill>
                <a:effectLst/>
                <a:uLnTx/>
                <a:uFillTx/>
                <a:ea typeface="Cambria" pitchFamily="18" charset="0"/>
                <a:cs typeface="Times New Roman" panose="02020603050405020304" pitchFamily="18" charset="0"/>
              </a:rPr>
              <a:t>(</a:t>
            </a:r>
            <a:r>
              <a:rPr kumimoji="0" lang="en-US" sz="2400" i="0" u="none" strike="noStrike" kern="1200" cap="none" spc="0" normalizeH="0" baseline="0" noProof="0" dirty="0" err="1">
                <a:ln>
                  <a:noFill/>
                </a:ln>
                <a:solidFill>
                  <a:schemeClr val="tx1"/>
                </a:solidFill>
                <a:effectLst/>
                <a:uLnTx/>
                <a:uFillTx/>
                <a:ea typeface="Cambria" pitchFamily="18" charset="0"/>
                <a:cs typeface="Times New Roman" panose="02020603050405020304" pitchFamily="18" charset="0"/>
              </a:rPr>
              <a:t>i</a:t>
            </a:r>
            <a:r>
              <a:rPr kumimoji="0" lang="en-US" sz="2400" b="0" i="0" u="none" strike="noStrike" kern="1200" cap="none" spc="0" normalizeH="0" baseline="0" noProof="0" dirty="0">
                <a:ln>
                  <a:noFill/>
                </a:ln>
                <a:solidFill>
                  <a:schemeClr val="tx1"/>
                </a:solidFill>
                <a:effectLst/>
                <a:uLnTx/>
                <a:uFillTx/>
                <a:ea typeface="Cambria" pitchFamily="18" charset="0"/>
                <a:cs typeface="Times New Roman" panose="02020603050405020304" pitchFamily="18" charset="0"/>
              </a:rPr>
              <a:t>);</a:t>
            </a:r>
          </a:p>
        </p:txBody>
      </p:sp>
      <p:sp>
        <p:nvSpPr>
          <p:cNvPr id="15" name="Rectangle 5"/>
          <p:cNvSpPr>
            <a:spLocks noChangeArrowheads="1"/>
          </p:cNvSpPr>
          <p:nvPr/>
        </p:nvSpPr>
        <p:spPr bwMode="auto">
          <a:xfrm>
            <a:off x="2438400" y="3228975"/>
            <a:ext cx="6400801" cy="609600"/>
          </a:xfrm>
          <a:prstGeom prst="rect">
            <a:avLst/>
          </a:prstGeom>
          <a:noFill/>
          <a:ln w="9525">
            <a:noFill/>
            <a:miter lim="800000"/>
            <a:headEnd/>
            <a:tailEnd/>
          </a:ln>
        </p:spPr>
        <p:txBody>
          <a:bodyPr/>
          <a:lstStyle/>
          <a:p>
            <a:pPr marL="342900" indent="-342900">
              <a:spcBef>
                <a:spcPct val="0"/>
              </a:spcBef>
              <a:buClr>
                <a:schemeClr val="accent1"/>
              </a:buClr>
              <a:buSzPct val="70000"/>
              <a:buFont typeface="Wingdings" pitchFamily="2" charset="2"/>
              <a:buChar char="n"/>
            </a:pPr>
            <a:r>
              <a:rPr lang="en-US" sz="2400" dirty="0"/>
              <a:t>Returns the char at position </a:t>
            </a:r>
            <a:r>
              <a:rPr lang="en-US" sz="2400" dirty="0" err="1"/>
              <a:t>i</a:t>
            </a:r>
            <a:r>
              <a:rPr lang="en-US" sz="2400" dirty="0"/>
              <a:t>.</a:t>
            </a:r>
          </a:p>
        </p:txBody>
      </p:sp>
      <p:sp>
        <p:nvSpPr>
          <p:cNvPr id="16" name="Text Box 6"/>
          <p:cNvSpPr txBox="1">
            <a:spLocks noChangeArrowheads="1"/>
          </p:cNvSpPr>
          <p:nvPr/>
        </p:nvSpPr>
        <p:spPr bwMode="auto">
          <a:xfrm>
            <a:off x="6369050" y="2197874"/>
            <a:ext cx="1111250" cy="461665"/>
          </a:xfrm>
          <a:prstGeom prst="rect">
            <a:avLst/>
          </a:prstGeom>
          <a:noFill/>
          <a:ln w="9525">
            <a:noFill/>
            <a:miter lim="800000"/>
            <a:headEnd/>
            <a:tailEnd/>
          </a:ln>
          <a:effectLst/>
        </p:spPr>
        <p:txBody>
          <a:bodyPr>
            <a:spAutoFit/>
          </a:bodyPr>
          <a:lstStyle/>
          <a:p>
            <a:r>
              <a:rPr lang="en-US" sz="1600" dirty="0"/>
              <a:t> </a:t>
            </a:r>
            <a:r>
              <a:rPr lang="en-US" sz="2400" dirty="0"/>
              <a:t>7</a:t>
            </a:r>
          </a:p>
        </p:txBody>
      </p:sp>
      <p:sp>
        <p:nvSpPr>
          <p:cNvPr id="17" name="Text Box 8"/>
          <p:cNvSpPr txBox="1">
            <a:spLocks noChangeArrowheads="1"/>
          </p:cNvSpPr>
          <p:nvPr/>
        </p:nvSpPr>
        <p:spPr bwMode="auto">
          <a:xfrm>
            <a:off x="5940425" y="1702574"/>
            <a:ext cx="1447800" cy="457200"/>
          </a:xfrm>
          <a:prstGeom prst="rect">
            <a:avLst/>
          </a:prstGeom>
          <a:noFill/>
          <a:ln w="9525">
            <a:noFill/>
            <a:miter lim="800000"/>
            <a:headEnd/>
            <a:tailEnd/>
          </a:ln>
          <a:effectLst/>
        </p:spPr>
        <p:txBody>
          <a:bodyPr>
            <a:spAutoFit/>
          </a:bodyPr>
          <a:lstStyle/>
          <a:p>
            <a:pPr algn="ctr"/>
            <a:r>
              <a:rPr lang="en-US" sz="2400" dirty="0">
                <a:solidFill>
                  <a:schemeClr val="tx2"/>
                </a:solidFill>
              </a:rPr>
              <a:t>Returns:</a:t>
            </a:r>
          </a:p>
        </p:txBody>
      </p:sp>
      <p:sp>
        <p:nvSpPr>
          <p:cNvPr id="18" name="Line 10"/>
          <p:cNvSpPr>
            <a:spLocks noChangeShapeType="1"/>
          </p:cNvSpPr>
          <p:nvPr/>
        </p:nvSpPr>
        <p:spPr bwMode="auto">
          <a:xfrm flipV="1">
            <a:off x="4191000" y="2405420"/>
            <a:ext cx="1927225" cy="131462"/>
          </a:xfrm>
          <a:prstGeom prst="line">
            <a:avLst/>
          </a:prstGeom>
          <a:noFill/>
          <a:ln w="9525">
            <a:solidFill>
              <a:srgbClr val="FF0000"/>
            </a:solidFill>
            <a:round/>
            <a:headEnd/>
            <a:tailEnd type="triangle" w="med" len="med"/>
          </a:ln>
          <a:effectLst/>
        </p:spPr>
        <p:txBody>
          <a:bodyPr wrap="none" anchor="ctr"/>
          <a:lstStyle/>
          <a:p>
            <a:endParaRPr lang="en-US"/>
          </a:p>
        </p:txBody>
      </p:sp>
      <p:sp>
        <p:nvSpPr>
          <p:cNvPr id="19" name="TextBox 18"/>
          <p:cNvSpPr txBox="1"/>
          <p:nvPr/>
        </p:nvSpPr>
        <p:spPr>
          <a:xfrm>
            <a:off x="1219200" y="2297668"/>
            <a:ext cx="4343400" cy="430887"/>
          </a:xfrm>
          <a:prstGeom prst="rect">
            <a:avLst/>
          </a:prstGeom>
          <a:noFill/>
          <a:ln w="19050">
            <a:solidFill>
              <a:schemeClr val="accent1"/>
            </a:solidFill>
            <a:prstDash val="dash"/>
          </a:ln>
        </p:spPr>
        <p:txBody>
          <a:bodyPr wrap="square" rtlCol="0">
            <a:spAutoFit/>
          </a:bodyPr>
          <a:lstStyle/>
          <a:p>
            <a:r>
              <a:rPr lang="en-US" sz="2200" dirty="0">
                <a:solidFill>
                  <a:srgbClr val="2A00FF"/>
                </a:solidFill>
              </a:rPr>
              <a:t>"</a:t>
            </a:r>
            <a:r>
              <a:rPr lang="en-US" sz="2200" dirty="0" err="1">
                <a:solidFill>
                  <a:srgbClr val="2A00FF"/>
                </a:solidFill>
              </a:rPr>
              <a:t>Problem"</a:t>
            </a:r>
            <a:r>
              <a:rPr lang="en-US" sz="2200" dirty="0" err="1">
                <a:solidFill>
                  <a:srgbClr val="000000"/>
                </a:solidFill>
              </a:rPr>
              <a:t>.length</a:t>
            </a:r>
            <a:r>
              <a:rPr lang="en-US" sz="2200" dirty="0">
                <a:solidFill>
                  <a:srgbClr val="000000"/>
                </a:solidFill>
              </a:rPr>
              <a:t>();</a:t>
            </a:r>
          </a:p>
        </p:txBody>
      </p:sp>
    </p:spTree>
    <p:extLst>
      <p:ext uri="{BB962C8B-B14F-4D97-AF65-F5344CB8AC3E}">
        <p14:creationId xmlns:p14="http://schemas.microsoft.com/office/powerpoint/2010/main" val="252803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animBg="1"/>
      <p:bldP spid="7" grpId="0"/>
      <p:bldP spid="8" grpId="0" autoUpdateAnimBg="0"/>
      <p:bldP spid="9" grpId="0"/>
      <p:bldP spid="10" grpId="0" animBg="1"/>
      <p:bldP spid="11" grpId="0" animBg="1"/>
      <p:bldP spid="12" grpId="0" animBg="1"/>
      <p:bldP spid="13" grpId="0" animBg="1"/>
      <p:bldP spid="14" grpId="0" animBg="1"/>
      <p:bldP spid="15" grpId="0"/>
      <p:bldP spid="16" grpId="0" autoUpdateAnimBg="0"/>
      <p:bldP spid="17" grpId="0"/>
      <p:bldP spid="18"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C5F2-662F-8D1A-76F9-808D082FF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1B5D8-900E-60FD-1317-29DB7170355F}"/>
              </a:ext>
            </a:extLst>
          </p:cNvPr>
          <p:cNvSpPr>
            <a:spLocks noGrp="1"/>
          </p:cNvSpPr>
          <p:nvPr>
            <p:ph type="title"/>
          </p:nvPr>
        </p:nvSpPr>
        <p:spPr/>
        <p:txBody>
          <a:bodyPr/>
          <a:lstStyle/>
          <a:p>
            <a:r>
              <a:rPr lang="en-US" dirty="0"/>
              <a:t>String Methods — </a:t>
            </a:r>
            <a:r>
              <a:rPr lang="en-US" dirty="0">
                <a:solidFill>
                  <a:schemeClr val="tx1"/>
                </a:solidFill>
              </a:rPr>
              <a:t>substring</a:t>
            </a:r>
            <a:endParaRPr lang="en-US" dirty="0"/>
          </a:p>
        </p:txBody>
      </p:sp>
      <p:sp>
        <p:nvSpPr>
          <p:cNvPr id="4" name="Rectangle 17">
            <a:extLst>
              <a:ext uri="{FF2B5EF4-FFF2-40B4-BE49-F238E27FC236}">
                <a16:creationId xmlns:a16="http://schemas.microsoft.com/office/drawing/2014/main" id="{6C43AADA-47A7-80E2-E7BF-6D307AEF8B5F}"/>
              </a:ext>
            </a:extLst>
          </p:cNvPr>
          <p:cNvSpPr>
            <a:spLocks noGrp="1" noChangeArrowheads="1"/>
          </p:cNvSpPr>
          <p:nvPr>
            <p:ph idx="1"/>
          </p:nvPr>
        </p:nvSpPr>
        <p:spPr>
          <a:xfrm>
            <a:off x="865188" y="1582737"/>
            <a:ext cx="5584825" cy="2574925"/>
          </a:xfrm>
          <a:noFill/>
          <a:ln/>
        </p:spPr>
        <p:txBody>
          <a:bodyPr>
            <a:normAutofit/>
          </a:bodyPr>
          <a:lstStyle/>
          <a:p>
            <a:pPr marL="457200" indent="-457200">
              <a:buFont typeface="+mj-lt"/>
              <a:buAutoNum type="arabicPeriod"/>
            </a:pPr>
            <a:r>
              <a:rPr lang="en-US" sz="2400" dirty="0">
                <a:ea typeface="Cambria" pitchFamily="18" charset="0"/>
              </a:rPr>
              <a:t>String subs = </a:t>
            </a:r>
            <a:r>
              <a:rPr lang="en-US" sz="2400" dirty="0" err="1">
                <a:ea typeface="Cambria" pitchFamily="18" charset="0"/>
              </a:rPr>
              <a:t>word.</a:t>
            </a:r>
            <a:r>
              <a:rPr lang="en-US" sz="2400" b="1" dirty="0" err="1">
                <a:ea typeface="Cambria" pitchFamily="18" charset="0"/>
              </a:rPr>
              <a:t>substring</a:t>
            </a:r>
            <a:r>
              <a:rPr lang="en-US" sz="2400" dirty="0">
                <a:ea typeface="Cambria" pitchFamily="18" charset="0"/>
              </a:rPr>
              <a:t> (</a:t>
            </a:r>
            <a:r>
              <a:rPr lang="en-US" sz="2400" dirty="0" err="1">
                <a:ea typeface="Cambria" pitchFamily="18" charset="0"/>
              </a:rPr>
              <a:t>i</a:t>
            </a:r>
            <a:r>
              <a:rPr lang="en-US" sz="2400" dirty="0">
                <a:ea typeface="Cambria" pitchFamily="18" charset="0"/>
              </a:rPr>
              <a:t>, k);</a:t>
            </a:r>
          </a:p>
          <a:p>
            <a:pPr marL="742950" lvl="1" indent="-285750"/>
            <a:r>
              <a:rPr lang="en-US" sz="2400" dirty="0"/>
              <a:t>returns the substring of chars in positions from </a:t>
            </a:r>
            <a:r>
              <a:rPr lang="en-US" sz="2400" b="1" dirty="0" err="1"/>
              <a:t>i</a:t>
            </a:r>
            <a:r>
              <a:rPr lang="en-US" sz="2400" dirty="0"/>
              <a:t> to </a:t>
            </a:r>
            <a:r>
              <a:rPr lang="en-US" sz="2400" b="1" dirty="0"/>
              <a:t>k</a:t>
            </a:r>
            <a:r>
              <a:rPr lang="en-US" sz="2400" b="1" i="1" dirty="0"/>
              <a:t>-</a:t>
            </a:r>
            <a:r>
              <a:rPr lang="en-US" sz="2400" b="1" dirty="0"/>
              <a:t>1</a:t>
            </a:r>
          </a:p>
          <a:p>
            <a:pPr marL="457200" indent="-457200">
              <a:buFont typeface="+mj-lt"/>
              <a:buAutoNum type="arabicPeriod"/>
            </a:pPr>
            <a:r>
              <a:rPr lang="en-US" sz="2400" dirty="0">
                <a:ea typeface="Cambria" pitchFamily="18" charset="0"/>
              </a:rPr>
              <a:t>String subs = </a:t>
            </a:r>
            <a:r>
              <a:rPr lang="en-US" sz="2400" dirty="0" err="1">
                <a:ea typeface="Cambria" pitchFamily="18" charset="0"/>
              </a:rPr>
              <a:t>word.</a:t>
            </a:r>
            <a:r>
              <a:rPr lang="en-US" sz="2400" b="1" dirty="0" err="1">
                <a:ea typeface="Cambria" pitchFamily="18" charset="0"/>
              </a:rPr>
              <a:t>substring</a:t>
            </a:r>
            <a:r>
              <a:rPr lang="en-US" sz="2400" b="1" dirty="0">
                <a:ea typeface="Cambria" pitchFamily="18" charset="0"/>
              </a:rPr>
              <a:t> </a:t>
            </a:r>
            <a:r>
              <a:rPr lang="en-US" sz="2400" dirty="0">
                <a:ea typeface="Cambria" pitchFamily="18" charset="0"/>
              </a:rPr>
              <a:t>(</a:t>
            </a:r>
            <a:r>
              <a:rPr lang="en-US" sz="2400" dirty="0" err="1">
                <a:ea typeface="Cambria" pitchFamily="18" charset="0"/>
              </a:rPr>
              <a:t>i</a:t>
            </a:r>
            <a:r>
              <a:rPr lang="en-US" sz="2400" dirty="0">
                <a:ea typeface="Cambria" pitchFamily="18" charset="0"/>
              </a:rPr>
              <a:t>);</a:t>
            </a:r>
          </a:p>
          <a:p>
            <a:pPr marL="742950" lvl="1" indent="-285750"/>
            <a:r>
              <a:rPr lang="en-US" sz="2400" dirty="0"/>
              <a:t>returns the substring from the </a:t>
            </a:r>
            <a:r>
              <a:rPr lang="en-US" sz="2400" b="1" dirty="0" err="1"/>
              <a:t>i</a:t>
            </a:r>
            <a:r>
              <a:rPr lang="en-US" sz="2400" dirty="0" err="1"/>
              <a:t>-th</a:t>
            </a:r>
            <a:r>
              <a:rPr lang="en-US" sz="2400" dirty="0"/>
              <a:t> char to the end</a:t>
            </a:r>
          </a:p>
        </p:txBody>
      </p:sp>
      <p:sp>
        <p:nvSpPr>
          <p:cNvPr id="5" name="Text Box 4">
            <a:extLst>
              <a:ext uri="{FF2B5EF4-FFF2-40B4-BE49-F238E27FC236}">
                <a16:creationId xmlns:a16="http://schemas.microsoft.com/office/drawing/2014/main" id="{A8D11EAD-0D62-59B1-0471-A9C4267A83B5}"/>
              </a:ext>
            </a:extLst>
          </p:cNvPr>
          <p:cNvSpPr txBox="1">
            <a:spLocks noChangeArrowheads="1"/>
          </p:cNvSpPr>
          <p:nvPr/>
        </p:nvSpPr>
        <p:spPr bwMode="auto">
          <a:xfrm>
            <a:off x="7519989" y="4398962"/>
            <a:ext cx="2486025" cy="1187450"/>
          </a:xfrm>
          <a:prstGeom prst="rect">
            <a:avLst/>
          </a:prstGeom>
          <a:noFill/>
          <a:ln w="9525">
            <a:noFill/>
            <a:miter lim="800000"/>
            <a:headEnd/>
            <a:tailEnd/>
          </a:ln>
          <a:effectLst/>
        </p:spPr>
        <p:txBody>
          <a:bodyPr>
            <a:spAutoFit/>
          </a:bodyPr>
          <a:lstStyle/>
          <a:p>
            <a:pPr>
              <a:spcBef>
                <a:spcPct val="0"/>
              </a:spcBef>
            </a:pPr>
            <a:r>
              <a:rPr lang="en-US" sz="2400" dirty="0"/>
              <a:t>“</a:t>
            </a:r>
            <a:r>
              <a:rPr lang="en-US" sz="2400" dirty="0" err="1"/>
              <a:t>lev</a:t>
            </a:r>
            <a:r>
              <a:rPr lang="en-US" sz="2400" dirty="0"/>
              <a:t>"</a:t>
            </a:r>
          </a:p>
          <a:p>
            <a:pPr>
              <a:spcBef>
                <a:spcPct val="0"/>
              </a:spcBef>
            </a:pPr>
            <a:r>
              <a:rPr lang="en-US" sz="2400" dirty="0"/>
              <a:t>“mutable"</a:t>
            </a:r>
          </a:p>
          <a:p>
            <a:pPr>
              <a:spcBef>
                <a:spcPct val="0"/>
              </a:spcBef>
            </a:pPr>
            <a:r>
              <a:rPr lang="en-US" sz="2400" dirty="0"/>
              <a:t>"" (empty string)</a:t>
            </a:r>
          </a:p>
        </p:txBody>
      </p:sp>
      <p:sp>
        <p:nvSpPr>
          <p:cNvPr id="6" name="Text Box 6">
            <a:extLst>
              <a:ext uri="{FF2B5EF4-FFF2-40B4-BE49-F238E27FC236}">
                <a16:creationId xmlns:a16="http://schemas.microsoft.com/office/drawing/2014/main" id="{2ECD6815-7C21-704E-F9E7-4CDFD44B3317}"/>
              </a:ext>
            </a:extLst>
          </p:cNvPr>
          <p:cNvSpPr txBox="1">
            <a:spLocks noChangeArrowheads="1"/>
          </p:cNvSpPr>
          <p:nvPr/>
        </p:nvSpPr>
        <p:spPr bwMode="auto">
          <a:xfrm>
            <a:off x="7375526" y="4092575"/>
            <a:ext cx="1447800" cy="457200"/>
          </a:xfrm>
          <a:prstGeom prst="rect">
            <a:avLst/>
          </a:prstGeom>
          <a:noFill/>
          <a:ln w="9525">
            <a:noFill/>
            <a:miter lim="800000"/>
            <a:headEnd/>
            <a:tailEnd/>
          </a:ln>
          <a:effectLst/>
        </p:spPr>
        <p:txBody>
          <a:bodyPr>
            <a:spAutoFit/>
          </a:bodyPr>
          <a:lstStyle/>
          <a:p>
            <a:pPr algn="ctr"/>
            <a:r>
              <a:rPr lang="en-US" sz="2400" dirty="0">
                <a:solidFill>
                  <a:schemeClr val="tx2"/>
                </a:solidFill>
              </a:rPr>
              <a:t>Returns:</a:t>
            </a:r>
          </a:p>
        </p:txBody>
      </p:sp>
      <p:sp>
        <p:nvSpPr>
          <p:cNvPr id="7" name="Line 7">
            <a:extLst>
              <a:ext uri="{FF2B5EF4-FFF2-40B4-BE49-F238E27FC236}">
                <a16:creationId xmlns:a16="http://schemas.microsoft.com/office/drawing/2014/main" id="{DD153383-13EA-2066-20A4-CB1C1DAC8876}"/>
              </a:ext>
            </a:extLst>
          </p:cNvPr>
          <p:cNvSpPr>
            <a:spLocks noChangeShapeType="1"/>
          </p:cNvSpPr>
          <p:nvPr/>
        </p:nvSpPr>
        <p:spPr bwMode="auto">
          <a:xfrm>
            <a:off x="4571999" y="4953001"/>
            <a:ext cx="2947989" cy="71436"/>
          </a:xfrm>
          <a:prstGeom prst="line">
            <a:avLst/>
          </a:prstGeom>
          <a:noFill/>
          <a:ln w="9525">
            <a:solidFill>
              <a:srgbClr val="FF0000"/>
            </a:solidFill>
            <a:round/>
            <a:headEnd/>
            <a:tailEnd type="triangle" w="med" len="med"/>
          </a:ln>
          <a:effectLst/>
        </p:spPr>
        <p:txBody>
          <a:bodyPr wrap="none" anchor="ctr"/>
          <a:lstStyle/>
          <a:p>
            <a:endParaRPr lang="en-US"/>
          </a:p>
        </p:txBody>
      </p:sp>
      <p:sp>
        <p:nvSpPr>
          <p:cNvPr id="8" name="Line 8">
            <a:extLst>
              <a:ext uri="{FF2B5EF4-FFF2-40B4-BE49-F238E27FC236}">
                <a16:creationId xmlns:a16="http://schemas.microsoft.com/office/drawing/2014/main" id="{D917AD51-F68A-C5D4-9A35-A75B955CC707}"/>
              </a:ext>
            </a:extLst>
          </p:cNvPr>
          <p:cNvSpPr>
            <a:spLocks noChangeShapeType="1"/>
          </p:cNvSpPr>
          <p:nvPr/>
        </p:nvSpPr>
        <p:spPr bwMode="auto">
          <a:xfrm>
            <a:off x="5176837" y="4632324"/>
            <a:ext cx="2343151" cy="87315"/>
          </a:xfrm>
          <a:prstGeom prst="line">
            <a:avLst/>
          </a:prstGeom>
          <a:noFill/>
          <a:ln w="9525">
            <a:solidFill>
              <a:srgbClr val="FF0000"/>
            </a:solidFill>
            <a:round/>
            <a:headEnd/>
            <a:tailEnd type="triangle" w="med" len="med"/>
          </a:ln>
          <a:effectLst/>
        </p:spPr>
        <p:txBody>
          <a:bodyPr wrap="none" anchor="ctr"/>
          <a:lstStyle/>
          <a:p>
            <a:endParaRPr lang="en-US"/>
          </a:p>
        </p:txBody>
      </p:sp>
      <p:sp>
        <p:nvSpPr>
          <p:cNvPr id="9" name="Line 9">
            <a:extLst>
              <a:ext uri="{FF2B5EF4-FFF2-40B4-BE49-F238E27FC236}">
                <a16:creationId xmlns:a16="http://schemas.microsoft.com/office/drawing/2014/main" id="{8185756E-C6BC-D1E2-0F34-FB6DEDBE85BB}"/>
              </a:ext>
            </a:extLst>
          </p:cNvPr>
          <p:cNvSpPr>
            <a:spLocks noChangeShapeType="1"/>
          </p:cNvSpPr>
          <p:nvPr/>
        </p:nvSpPr>
        <p:spPr bwMode="auto">
          <a:xfrm>
            <a:off x="4114799" y="5257799"/>
            <a:ext cx="3405189" cy="104776"/>
          </a:xfrm>
          <a:prstGeom prst="line">
            <a:avLst/>
          </a:prstGeom>
          <a:noFill/>
          <a:ln w="9525">
            <a:solidFill>
              <a:srgbClr val="FF0000"/>
            </a:solidFill>
            <a:round/>
            <a:headEnd/>
            <a:tailEnd type="triangle" w="med" len="med"/>
          </a:ln>
          <a:effectLst/>
        </p:spPr>
        <p:txBody>
          <a:bodyPr wrap="none" anchor="ctr"/>
          <a:lstStyle/>
          <a:p>
            <a:endParaRPr lang="en-US"/>
          </a:p>
        </p:txBody>
      </p:sp>
      <p:sp>
        <p:nvSpPr>
          <p:cNvPr id="10" name="Text Box 10">
            <a:extLst>
              <a:ext uri="{FF2B5EF4-FFF2-40B4-BE49-F238E27FC236}">
                <a16:creationId xmlns:a16="http://schemas.microsoft.com/office/drawing/2014/main" id="{1D386654-8286-663B-FB71-E1AB97F8C7C8}"/>
              </a:ext>
            </a:extLst>
          </p:cNvPr>
          <p:cNvSpPr txBox="1">
            <a:spLocks noChangeArrowheads="1"/>
          </p:cNvSpPr>
          <p:nvPr/>
        </p:nvSpPr>
        <p:spPr bwMode="auto">
          <a:xfrm>
            <a:off x="7373938" y="1569858"/>
            <a:ext cx="2216150" cy="1187450"/>
          </a:xfrm>
          <a:prstGeom prst="rect">
            <a:avLst/>
          </a:prstGeom>
          <a:noFill/>
          <a:ln w="9525">
            <a:noFill/>
            <a:miter lim="800000"/>
            <a:headEnd/>
            <a:tailEnd/>
          </a:ln>
          <a:effectLst/>
        </p:spPr>
        <p:txBody>
          <a:bodyPr>
            <a:spAutoFit/>
          </a:bodyPr>
          <a:lstStyle/>
          <a:p>
            <a:pPr>
              <a:spcBef>
                <a:spcPct val="0"/>
              </a:spcBef>
            </a:pPr>
            <a:r>
              <a:rPr lang="en-US" sz="2400" b="1" dirty="0">
                <a:latin typeface="Courier New" pitchFamily="49" charset="0"/>
              </a:rPr>
              <a:t> television</a:t>
            </a:r>
          </a:p>
          <a:p>
            <a:pPr>
              <a:spcBef>
                <a:spcPct val="0"/>
              </a:spcBef>
            </a:pPr>
            <a:endParaRPr lang="en-US" sz="2400" b="1" i="1" dirty="0">
              <a:latin typeface="Courier New" pitchFamily="49" charset="0"/>
            </a:endParaRPr>
          </a:p>
          <a:p>
            <a:pPr>
              <a:spcBef>
                <a:spcPct val="0"/>
              </a:spcBef>
            </a:pPr>
            <a:r>
              <a:rPr lang="en-US" sz="2400" b="1" i="1" dirty="0">
                <a:latin typeface="Courier New" pitchFamily="49" charset="0"/>
              </a:rPr>
              <a:t>   </a:t>
            </a:r>
            <a:r>
              <a:rPr lang="en-US" sz="2400" b="1" i="1" dirty="0" err="1">
                <a:latin typeface="Courier New" pitchFamily="49" charset="0"/>
              </a:rPr>
              <a:t>i</a:t>
            </a:r>
            <a:r>
              <a:rPr lang="en-US" sz="2400" b="1" i="1" dirty="0">
                <a:latin typeface="Courier New" pitchFamily="49" charset="0"/>
              </a:rPr>
              <a:t>  k</a:t>
            </a:r>
            <a:endParaRPr lang="en-US" sz="2400" dirty="0">
              <a:latin typeface="Courier New" pitchFamily="49" charset="0"/>
            </a:endParaRPr>
          </a:p>
        </p:txBody>
      </p:sp>
      <p:sp>
        <p:nvSpPr>
          <p:cNvPr id="11" name="Rectangle 11">
            <a:extLst>
              <a:ext uri="{FF2B5EF4-FFF2-40B4-BE49-F238E27FC236}">
                <a16:creationId xmlns:a16="http://schemas.microsoft.com/office/drawing/2014/main" id="{E8CC0429-C406-389E-0370-5015FA46F782}"/>
              </a:ext>
            </a:extLst>
          </p:cNvPr>
          <p:cNvSpPr>
            <a:spLocks noChangeArrowheads="1"/>
          </p:cNvSpPr>
          <p:nvPr/>
        </p:nvSpPr>
        <p:spPr bwMode="auto">
          <a:xfrm>
            <a:off x="8012113" y="1612721"/>
            <a:ext cx="542925" cy="352425"/>
          </a:xfrm>
          <a:prstGeom prst="rect">
            <a:avLst/>
          </a:prstGeom>
          <a:noFill/>
          <a:ln w="9525">
            <a:solidFill>
              <a:srgbClr val="FF3300"/>
            </a:solidFill>
            <a:miter lim="800000"/>
            <a:headEnd/>
            <a:tailEnd/>
          </a:ln>
          <a:effectLst/>
        </p:spPr>
        <p:txBody>
          <a:bodyPr wrap="none" anchor="ctr"/>
          <a:lstStyle/>
          <a:p>
            <a:endParaRPr lang="en-US"/>
          </a:p>
        </p:txBody>
      </p:sp>
      <p:sp>
        <p:nvSpPr>
          <p:cNvPr id="12" name="Line 12">
            <a:extLst>
              <a:ext uri="{FF2B5EF4-FFF2-40B4-BE49-F238E27FC236}">
                <a16:creationId xmlns:a16="http://schemas.microsoft.com/office/drawing/2014/main" id="{3B151C09-0F10-A75B-9DA0-370D83F2D9BB}"/>
              </a:ext>
            </a:extLst>
          </p:cNvPr>
          <p:cNvSpPr>
            <a:spLocks noChangeShapeType="1"/>
          </p:cNvSpPr>
          <p:nvPr/>
        </p:nvSpPr>
        <p:spPr bwMode="auto">
          <a:xfrm flipV="1">
            <a:off x="8102601" y="1990546"/>
            <a:ext cx="0" cy="315912"/>
          </a:xfrm>
          <a:prstGeom prst="line">
            <a:avLst/>
          </a:prstGeom>
          <a:noFill/>
          <a:ln w="9525">
            <a:solidFill>
              <a:srgbClr val="FF0000"/>
            </a:solidFill>
            <a:round/>
            <a:headEnd/>
            <a:tailEnd type="triangle" w="med" len="med"/>
          </a:ln>
          <a:effectLst/>
        </p:spPr>
        <p:txBody>
          <a:bodyPr/>
          <a:lstStyle/>
          <a:p>
            <a:endParaRPr lang="en-US"/>
          </a:p>
        </p:txBody>
      </p:sp>
      <p:sp>
        <p:nvSpPr>
          <p:cNvPr id="13" name="Line 13">
            <a:extLst>
              <a:ext uri="{FF2B5EF4-FFF2-40B4-BE49-F238E27FC236}">
                <a16:creationId xmlns:a16="http://schemas.microsoft.com/office/drawing/2014/main" id="{C63429BB-436D-888A-798F-5DA94B72419B}"/>
              </a:ext>
            </a:extLst>
          </p:cNvPr>
          <p:cNvSpPr>
            <a:spLocks noChangeShapeType="1"/>
          </p:cNvSpPr>
          <p:nvPr/>
        </p:nvSpPr>
        <p:spPr bwMode="auto">
          <a:xfrm flipV="1">
            <a:off x="8658226" y="1990546"/>
            <a:ext cx="0" cy="315912"/>
          </a:xfrm>
          <a:prstGeom prst="line">
            <a:avLst/>
          </a:prstGeom>
          <a:noFill/>
          <a:ln w="9525">
            <a:solidFill>
              <a:srgbClr val="FF0000"/>
            </a:solidFill>
            <a:round/>
            <a:headEnd/>
            <a:tailEnd type="triangle" w="med" len="med"/>
          </a:ln>
          <a:effectLst/>
        </p:spPr>
        <p:txBody>
          <a:bodyPr/>
          <a:lstStyle/>
          <a:p>
            <a:endParaRPr lang="en-US"/>
          </a:p>
        </p:txBody>
      </p:sp>
      <p:sp>
        <p:nvSpPr>
          <p:cNvPr id="14" name="Text Box 14">
            <a:extLst>
              <a:ext uri="{FF2B5EF4-FFF2-40B4-BE49-F238E27FC236}">
                <a16:creationId xmlns:a16="http://schemas.microsoft.com/office/drawing/2014/main" id="{2D19D7B7-C137-A7C2-7D80-D3CE36B231E8}"/>
              </a:ext>
            </a:extLst>
          </p:cNvPr>
          <p:cNvSpPr txBox="1">
            <a:spLocks noChangeArrowheads="1"/>
          </p:cNvSpPr>
          <p:nvPr/>
        </p:nvSpPr>
        <p:spPr bwMode="auto">
          <a:xfrm>
            <a:off x="7370763" y="2892246"/>
            <a:ext cx="2216150" cy="1200329"/>
          </a:xfrm>
          <a:prstGeom prst="rect">
            <a:avLst/>
          </a:prstGeom>
          <a:noFill/>
          <a:ln w="9525">
            <a:noFill/>
            <a:miter lim="800000"/>
            <a:headEnd/>
            <a:tailEnd/>
          </a:ln>
          <a:effectLst/>
        </p:spPr>
        <p:txBody>
          <a:bodyPr>
            <a:spAutoFit/>
          </a:bodyPr>
          <a:lstStyle/>
          <a:p>
            <a:pPr>
              <a:spcBef>
                <a:spcPct val="0"/>
              </a:spcBef>
            </a:pPr>
            <a:r>
              <a:rPr lang="en-US" sz="2400" b="1" dirty="0">
                <a:latin typeface="Courier New" pitchFamily="49" charset="0"/>
              </a:rPr>
              <a:t> immutable</a:t>
            </a:r>
          </a:p>
          <a:p>
            <a:pPr>
              <a:spcBef>
                <a:spcPct val="0"/>
              </a:spcBef>
            </a:pPr>
            <a:endParaRPr lang="en-US" sz="2400" b="1" i="1" dirty="0">
              <a:latin typeface="Courier New" pitchFamily="49" charset="0"/>
            </a:endParaRPr>
          </a:p>
          <a:p>
            <a:pPr>
              <a:spcBef>
                <a:spcPct val="0"/>
              </a:spcBef>
            </a:pPr>
            <a:r>
              <a:rPr lang="en-US" sz="2400" b="1" i="1" dirty="0">
                <a:latin typeface="Courier New" pitchFamily="49" charset="0"/>
              </a:rPr>
              <a:t>   </a:t>
            </a:r>
            <a:r>
              <a:rPr lang="en-US" sz="2400" b="1" i="1" dirty="0" err="1">
                <a:latin typeface="Courier New" pitchFamily="49" charset="0"/>
              </a:rPr>
              <a:t>i</a:t>
            </a:r>
            <a:endParaRPr lang="en-US" sz="2400" dirty="0">
              <a:latin typeface="Courier New" pitchFamily="49" charset="0"/>
            </a:endParaRPr>
          </a:p>
        </p:txBody>
      </p:sp>
      <p:sp>
        <p:nvSpPr>
          <p:cNvPr id="15" name="Rectangle 15">
            <a:extLst>
              <a:ext uri="{FF2B5EF4-FFF2-40B4-BE49-F238E27FC236}">
                <a16:creationId xmlns:a16="http://schemas.microsoft.com/office/drawing/2014/main" id="{19407A32-20DA-5AAD-8497-666221ACFBB4}"/>
              </a:ext>
            </a:extLst>
          </p:cNvPr>
          <p:cNvSpPr>
            <a:spLocks noChangeArrowheads="1"/>
          </p:cNvSpPr>
          <p:nvPr/>
        </p:nvSpPr>
        <p:spPr bwMode="auto">
          <a:xfrm>
            <a:off x="8008938" y="2935108"/>
            <a:ext cx="1349375" cy="352425"/>
          </a:xfrm>
          <a:prstGeom prst="rect">
            <a:avLst/>
          </a:prstGeom>
          <a:noFill/>
          <a:ln w="9525">
            <a:solidFill>
              <a:srgbClr val="FF3300"/>
            </a:solidFill>
            <a:miter lim="800000"/>
            <a:headEnd/>
            <a:tailEnd/>
          </a:ln>
          <a:effectLst/>
        </p:spPr>
        <p:txBody>
          <a:bodyPr wrap="none" anchor="ctr"/>
          <a:lstStyle/>
          <a:p>
            <a:endParaRPr lang="en-US"/>
          </a:p>
        </p:txBody>
      </p:sp>
      <p:sp>
        <p:nvSpPr>
          <p:cNvPr id="16" name="Line 16">
            <a:extLst>
              <a:ext uri="{FF2B5EF4-FFF2-40B4-BE49-F238E27FC236}">
                <a16:creationId xmlns:a16="http://schemas.microsoft.com/office/drawing/2014/main" id="{B96A955B-5640-545A-76F9-DC24F043D999}"/>
              </a:ext>
            </a:extLst>
          </p:cNvPr>
          <p:cNvSpPr>
            <a:spLocks noChangeShapeType="1"/>
          </p:cNvSpPr>
          <p:nvPr/>
        </p:nvSpPr>
        <p:spPr bwMode="auto">
          <a:xfrm flipV="1">
            <a:off x="8099426" y="3312933"/>
            <a:ext cx="0" cy="315913"/>
          </a:xfrm>
          <a:prstGeom prst="line">
            <a:avLst/>
          </a:prstGeom>
          <a:noFill/>
          <a:ln w="9525">
            <a:solidFill>
              <a:srgbClr val="FF0000"/>
            </a:solidFill>
            <a:round/>
            <a:headEnd/>
            <a:tailEnd type="triangle" w="med" len="med"/>
          </a:ln>
          <a:effectLst/>
        </p:spPr>
        <p:txBody>
          <a:bodyPr/>
          <a:lstStyle/>
          <a:p>
            <a:endParaRPr lang="en-US"/>
          </a:p>
        </p:txBody>
      </p:sp>
      <p:sp>
        <p:nvSpPr>
          <p:cNvPr id="17" name="Rectangle 18">
            <a:extLst>
              <a:ext uri="{FF2B5EF4-FFF2-40B4-BE49-F238E27FC236}">
                <a16:creationId xmlns:a16="http://schemas.microsoft.com/office/drawing/2014/main" id="{0476E3AC-CBBD-2F17-2330-E5F5A1186B72}"/>
              </a:ext>
            </a:extLst>
          </p:cNvPr>
          <p:cNvSpPr>
            <a:spLocks noChangeArrowheads="1"/>
          </p:cNvSpPr>
          <p:nvPr/>
        </p:nvSpPr>
        <p:spPr bwMode="auto">
          <a:xfrm>
            <a:off x="173038" y="770364"/>
            <a:ext cx="7835900" cy="830997"/>
          </a:xfrm>
          <a:prstGeom prst="rect">
            <a:avLst/>
          </a:prstGeom>
          <a:noFill/>
          <a:ln w="9525" algn="ctr">
            <a:noFill/>
            <a:miter lim="800000"/>
            <a:headEnd/>
            <a:tailEnd/>
          </a:ln>
          <a:effectLst/>
        </p:spPr>
        <p:txBody>
          <a:bodyPr>
            <a:spAutoFit/>
          </a:bodyPr>
          <a:lstStyle/>
          <a:p>
            <a:r>
              <a:rPr lang="en-IN" sz="2400" dirty="0"/>
              <a:t>We can obtain a portion of a string by use of substring(), It has two forms</a:t>
            </a:r>
            <a:endParaRPr lang="en-US" sz="2400" dirty="0"/>
          </a:p>
        </p:txBody>
      </p:sp>
      <p:sp>
        <p:nvSpPr>
          <p:cNvPr id="18" name="TextBox 17">
            <a:extLst>
              <a:ext uri="{FF2B5EF4-FFF2-40B4-BE49-F238E27FC236}">
                <a16:creationId xmlns:a16="http://schemas.microsoft.com/office/drawing/2014/main" id="{D690918B-E97C-750F-9574-4ABE9E8691FC}"/>
              </a:ext>
            </a:extLst>
          </p:cNvPr>
          <p:cNvSpPr txBox="1"/>
          <p:nvPr/>
        </p:nvSpPr>
        <p:spPr>
          <a:xfrm>
            <a:off x="1066800" y="4495800"/>
            <a:ext cx="4343400" cy="923330"/>
          </a:xfrm>
          <a:prstGeom prst="rect">
            <a:avLst/>
          </a:prstGeom>
          <a:noFill/>
          <a:ln w="19050">
            <a:solidFill>
              <a:schemeClr val="accent1"/>
            </a:solidFill>
            <a:prstDash val="dash"/>
          </a:ln>
        </p:spPr>
        <p:txBody>
          <a:bodyPr wrap="square" rtlCol="0">
            <a:spAutoFit/>
          </a:bodyPr>
          <a:lstStyle/>
          <a:p>
            <a:r>
              <a:rPr lang="en-US" dirty="0">
                <a:solidFill>
                  <a:srgbClr val="2A00FF"/>
                </a:solidFill>
                <a:latin typeface="Consolas"/>
              </a:rPr>
              <a:t>"</a:t>
            </a:r>
            <a:r>
              <a:rPr lang="en-US" dirty="0" err="1">
                <a:solidFill>
                  <a:srgbClr val="2A00FF"/>
                </a:solidFill>
                <a:latin typeface="Consolas"/>
              </a:rPr>
              <a:t>television"</a:t>
            </a:r>
            <a:r>
              <a:rPr lang="en-US" dirty="0" err="1">
                <a:solidFill>
                  <a:srgbClr val="000000"/>
                </a:solidFill>
                <a:latin typeface="Consolas"/>
              </a:rPr>
              <a:t>.substring</a:t>
            </a:r>
            <a:r>
              <a:rPr lang="en-US" dirty="0">
                <a:solidFill>
                  <a:srgbClr val="000000"/>
                </a:solidFill>
                <a:latin typeface="Consolas"/>
              </a:rPr>
              <a:t>(2,5); </a:t>
            </a:r>
          </a:p>
          <a:p>
            <a:r>
              <a:rPr lang="en-US" dirty="0">
                <a:solidFill>
                  <a:srgbClr val="2A00FF"/>
                </a:solidFill>
                <a:latin typeface="Consolas"/>
              </a:rPr>
              <a:t>"</a:t>
            </a:r>
            <a:r>
              <a:rPr lang="en-US" dirty="0" err="1">
                <a:solidFill>
                  <a:srgbClr val="2A00FF"/>
                </a:solidFill>
                <a:latin typeface="Consolas"/>
              </a:rPr>
              <a:t>immutable"</a:t>
            </a:r>
            <a:r>
              <a:rPr lang="en-US" dirty="0" err="1">
                <a:solidFill>
                  <a:srgbClr val="000000"/>
                </a:solidFill>
                <a:latin typeface="Consolas"/>
              </a:rPr>
              <a:t>.substring</a:t>
            </a:r>
            <a:r>
              <a:rPr lang="en-US" dirty="0">
                <a:solidFill>
                  <a:srgbClr val="000000"/>
                </a:solidFill>
                <a:latin typeface="Consolas"/>
              </a:rPr>
              <a:t>(2);</a:t>
            </a:r>
          </a:p>
          <a:p>
            <a:r>
              <a:rPr lang="en-US" dirty="0">
                <a:solidFill>
                  <a:srgbClr val="2A00FF"/>
                </a:solidFill>
                <a:latin typeface="Consolas"/>
              </a:rPr>
              <a:t>"</a:t>
            </a:r>
            <a:r>
              <a:rPr lang="en-US" dirty="0" err="1">
                <a:solidFill>
                  <a:srgbClr val="2A00FF"/>
                </a:solidFill>
                <a:latin typeface="Consolas"/>
              </a:rPr>
              <a:t>rajkot</a:t>
            </a:r>
            <a:r>
              <a:rPr lang="en-US" dirty="0">
                <a:solidFill>
                  <a:srgbClr val="2A00FF"/>
                </a:solidFill>
                <a:latin typeface="Consolas"/>
              </a:rPr>
              <a:t>"</a:t>
            </a:r>
            <a:r>
              <a:rPr lang="en-US" dirty="0">
                <a:solidFill>
                  <a:srgbClr val="000000"/>
                </a:solidFill>
                <a:latin typeface="Consolas"/>
              </a:rPr>
              <a:t>.substring(9);</a:t>
            </a:r>
          </a:p>
        </p:txBody>
      </p:sp>
    </p:spTree>
    <p:extLst>
      <p:ext uri="{BB962C8B-B14F-4D97-AF65-F5344CB8AC3E}">
        <p14:creationId xmlns:p14="http://schemas.microsoft.com/office/powerpoint/2010/main" val="314805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p:bldP spid="11" grpId="0" animBg="1"/>
      <p:bldP spid="12" grpId="0" animBg="1"/>
      <p:bldP spid="13" grpId="0" animBg="1"/>
      <p:bldP spid="14" grpId="0"/>
      <p:bldP spid="15" grpId="0" animBg="1"/>
      <p:bldP spid="16" grpId="0" animBg="1"/>
      <p:bldP spid="18" grpId="0" uiExpand="1" build="p" bldLvl="5"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 Concatenation</a:t>
            </a:r>
          </a:p>
        </p:txBody>
      </p:sp>
      <p:sp>
        <p:nvSpPr>
          <p:cNvPr id="4" name="TextBox 3"/>
          <p:cNvSpPr txBox="1"/>
          <p:nvPr/>
        </p:nvSpPr>
        <p:spPr>
          <a:xfrm>
            <a:off x="228600" y="1045488"/>
            <a:ext cx="8763000" cy="5355312"/>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ConcatenationExample</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dirty="0">
                <a:solidFill>
                  <a:srgbClr val="000000"/>
                </a:solidFill>
                <a:latin typeface="Consolas"/>
              </a:rPr>
              <a:t>String </a:t>
            </a:r>
            <a:r>
              <a:rPr lang="en-US" dirty="0">
                <a:solidFill>
                  <a:srgbClr val="6A3E3E"/>
                </a:solidFill>
                <a:latin typeface="Consolas"/>
              </a:rPr>
              <a:t>word1</a:t>
            </a:r>
            <a:r>
              <a:rPr lang="en-US" dirty="0">
                <a:solidFill>
                  <a:srgbClr val="000000"/>
                </a:solidFill>
                <a:latin typeface="Consolas"/>
              </a:rPr>
              <a:t> = </a:t>
            </a:r>
            <a:r>
              <a:rPr lang="en-US" dirty="0">
                <a:solidFill>
                  <a:srgbClr val="2A00FF"/>
                </a:solidFill>
                <a:latin typeface="Consolas"/>
              </a:rPr>
              <a:t>"re"</a:t>
            </a:r>
            <a:r>
              <a:rPr lang="en-US" dirty="0">
                <a:solidFill>
                  <a:srgbClr val="000000"/>
                </a:solidFill>
                <a:latin typeface="Consolas"/>
              </a:rPr>
              <a:t>;</a:t>
            </a:r>
          </a:p>
          <a:p>
            <a:pPr lvl="2"/>
            <a:r>
              <a:rPr lang="en-US" dirty="0">
                <a:solidFill>
                  <a:srgbClr val="000000"/>
                </a:solidFill>
                <a:latin typeface="Consolas"/>
              </a:rPr>
              <a:t>String </a:t>
            </a:r>
            <a:r>
              <a:rPr lang="en-US" dirty="0">
                <a:solidFill>
                  <a:srgbClr val="6A3E3E"/>
                </a:solidFill>
                <a:latin typeface="Consolas"/>
              </a:rPr>
              <a:t>word2</a:t>
            </a:r>
            <a:r>
              <a:rPr lang="en-US" dirty="0">
                <a:solidFill>
                  <a:srgbClr val="000000"/>
                </a:solidFill>
                <a:latin typeface="Consolas"/>
              </a:rPr>
              <a:t> = </a:t>
            </a:r>
            <a:r>
              <a:rPr lang="en-US" dirty="0">
                <a:solidFill>
                  <a:srgbClr val="2A00FF"/>
                </a:solidFill>
                <a:latin typeface="Consolas"/>
              </a:rPr>
              <a:t>"think"</a:t>
            </a:r>
            <a:r>
              <a:rPr lang="en-US" dirty="0">
                <a:solidFill>
                  <a:srgbClr val="000000"/>
                </a:solidFill>
                <a:latin typeface="Consolas"/>
              </a:rPr>
              <a:t>;</a:t>
            </a:r>
          </a:p>
          <a:p>
            <a:pPr lvl="2"/>
            <a:r>
              <a:rPr lang="en-US" dirty="0">
                <a:solidFill>
                  <a:srgbClr val="000000"/>
                </a:solidFill>
                <a:latin typeface="Consolas"/>
              </a:rPr>
              <a:t>String </a:t>
            </a:r>
            <a:r>
              <a:rPr lang="en-US" dirty="0">
                <a:solidFill>
                  <a:srgbClr val="6A3E3E"/>
                </a:solidFill>
                <a:latin typeface="Consolas"/>
              </a:rPr>
              <a:t>word3</a:t>
            </a:r>
            <a:r>
              <a:rPr lang="en-US" dirty="0">
                <a:solidFill>
                  <a:srgbClr val="000000"/>
                </a:solidFill>
                <a:latin typeface="Consolas"/>
              </a:rPr>
              <a:t> = </a:t>
            </a:r>
            <a:r>
              <a:rPr lang="en-US" dirty="0">
                <a:solidFill>
                  <a:srgbClr val="2A00FF"/>
                </a:solidFill>
                <a:latin typeface="Consolas"/>
              </a:rPr>
              <a:t>"</a:t>
            </a:r>
            <a:r>
              <a:rPr lang="en-US" dirty="0" err="1">
                <a:solidFill>
                  <a:srgbClr val="2A00FF"/>
                </a:solidFill>
                <a:latin typeface="Consolas"/>
              </a:rPr>
              <a:t>ing</a:t>
            </a:r>
            <a:r>
              <a:rPr lang="en-US" dirty="0">
                <a:solidFill>
                  <a:srgbClr val="2A00FF"/>
                </a:solidFill>
                <a:latin typeface="Consolas"/>
              </a:rPr>
              <a:t>"</a:t>
            </a:r>
            <a:r>
              <a:rPr lang="en-US" dirty="0">
                <a:solidFill>
                  <a:srgbClr val="000000"/>
                </a:solidFill>
                <a:latin typeface="Consolas"/>
              </a:rPr>
              <a:t>;</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num</a:t>
            </a:r>
            <a:r>
              <a:rPr lang="en-US" b="1" dirty="0">
                <a:solidFill>
                  <a:srgbClr val="000000"/>
                </a:solidFill>
                <a:latin typeface="Consolas"/>
              </a:rPr>
              <a:t> = 2;</a:t>
            </a:r>
          </a:p>
          <a:p>
            <a:pPr lvl="2"/>
            <a:r>
              <a:rPr lang="en-US" dirty="0">
                <a:solidFill>
                  <a:srgbClr val="000000"/>
                </a:solidFill>
                <a:latin typeface="Consolas"/>
              </a:rPr>
              <a:t>String </a:t>
            </a:r>
            <a:r>
              <a:rPr lang="en-US" dirty="0">
                <a:solidFill>
                  <a:srgbClr val="6A3E3E"/>
                </a:solidFill>
                <a:latin typeface="Consolas"/>
              </a:rPr>
              <a:t>result</a:t>
            </a:r>
            <a:r>
              <a:rPr lang="en-US" dirty="0">
                <a:solidFill>
                  <a:srgbClr val="000000"/>
                </a:solidFill>
                <a:latin typeface="Consolas"/>
              </a:rPr>
              <a:t> = </a:t>
            </a:r>
            <a:r>
              <a:rPr lang="en-US" dirty="0">
                <a:solidFill>
                  <a:srgbClr val="6A3E3E"/>
                </a:solidFill>
                <a:latin typeface="Consolas"/>
              </a:rPr>
              <a:t>word1</a:t>
            </a:r>
            <a:r>
              <a:rPr lang="en-US" dirty="0">
                <a:solidFill>
                  <a:srgbClr val="000000"/>
                </a:solidFill>
                <a:latin typeface="Consolas"/>
              </a:rPr>
              <a:t> + </a:t>
            </a:r>
            <a:r>
              <a:rPr lang="en-US" dirty="0">
                <a:solidFill>
                  <a:srgbClr val="6A3E3E"/>
                </a:solidFill>
                <a:latin typeface="Consolas"/>
              </a:rPr>
              <a:t>word2</a:t>
            </a:r>
            <a:r>
              <a:rPr lang="en-US" dirty="0">
                <a:solidFill>
                  <a:srgbClr val="000000"/>
                </a:solidFill>
                <a:latin typeface="Consolas"/>
              </a:rPr>
              <a:t>;</a:t>
            </a:r>
          </a:p>
          <a:p>
            <a:pPr lvl="2"/>
            <a:r>
              <a:rPr lang="en-US" dirty="0">
                <a:solidFill>
                  <a:srgbClr val="3F7F5F"/>
                </a:solidFill>
                <a:latin typeface="Consolas"/>
              </a:rPr>
              <a:t>// concatenates word1 and word2 "</a:t>
            </a:r>
            <a:r>
              <a:rPr lang="en-US" b="1" dirty="0">
                <a:solidFill>
                  <a:srgbClr val="3F7F5F"/>
                </a:solidFill>
                <a:latin typeface="Consolas"/>
              </a:rPr>
              <a:t>rethink</a:t>
            </a:r>
            <a:r>
              <a:rPr lang="en-US" dirty="0">
                <a:solidFill>
                  <a:srgbClr val="3F7F5F"/>
                </a:solidFill>
                <a:latin typeface="Consolas"/>
              </a:rPr>
              <a:t>"</a:t>
            </a:r>
          </a:p>
          <a:p>
            <a:pPr lvl="2"/>
            <a:endParaRPr lang="en-US" dirty="0">
              <a:solidFill>
                <a:srgbClr val="3F7F5F"/>
              </a:solidFill>
              <a:latin typeface="Consolas"/>
            </a:endParaRPr>
          </a:p>
          <a:p>
            <a:pPr lvl="2"/>
            <a:r>
              <a:rPr lang="en-US" dirty="0">
                <a:solidFill>
                  <a:srgbClr val="6A3E3E"/>
                </a:solidFill>
                <a:latin typeface="Consolas"/>
              </a:rPr>
              <a:t>result</a:t>
            </a:r>
            <a:r>
              <a:rPr lang="en-US" dirty="0">
                <a:solidFill>
                  <a:srgbClr val="000000"/>
                </a:solidFill>
                <a:latin typeface="Consolas"/>
              </a:rPr>
              <a:t> = </a:t>
            </a:r>
            <a:r>
              <a:rPr lang="en-US" dirty="0">
                <a:solidFill>
                  <a:srgbClr val="6A3E3E"/>
                </a:solidFill>
                <a:latin typeface="Consolas"/>
              </a:rPr>
              <a:t>word1</a:t>
            </a:r>
            <a:r>
              <a:rPr lang="en-US" dirty="0">
                <a:solidFill>
                  <a:srgbClr val="000000"/>
                </a:solidFill>
                <a:latin typeface="Consolas"/>
              </a:rPr>
              <a:t>.concat(</a:t>
            </a:r>
            <a:r>
              <a:rPr lang="en-US" dirty="0">
                <a:solidFill>
                  <a:srgbClr val="6A3E3E"/>
                </a:solidFill>
                <a:latin typeface="Consolas"/>
              </a:rPr>
              <a:t>word2</a:t>
            </a:r>
            <a:r>
              <a:rPr lang="en-US" dirty="0">
                <a:solidFill>
                  <a:srgbClr val="000000"/>
                </a:solidFill>
                <a:latin typeface="Consolas"/>
              </a:rPr>
              <a:t>);</a:t>
            </a:r>
          </a:p>
          <a:p>
            <a:pPr lvl="2"/>
            <a:r>
              <a:rPr lang="en-US" dirty="0">
                <a:solidFill>
                  <a:srgbClr val="3F7F5F"/>
                </a:solidFill>
                <a:latin typeface="Consolas"/>
              </a:rPr>
              <a:t>// the same as word1 + word2 "</a:t>
            </a:r>
            <a:r>
              <a:rPr lang="en-US" b="1" dirty="0">
                <a:solidFill>
                  <a:srgbClr val="3F7F5F"/>
                </a:solidFill>
                <a:latin typeface="Consolas"/>
              </a:rPr>
              <a:t>rethink</a:t>
            </a:r>
            <a:r>
              <a:rPr lang="en-US" dirty="0">
                <a:solidFill>
                  <a:srgbClr val="3F7F5F"/>
                </a:solidFill>
                <a:latin typeface="Consolas"/>
              </a:rPr>
              <a:t>"</a:t>
            </a:r>
          </a:p>
          <a:p>
            <a:pPr lvl="2"/>
            <a:endParaRPr lang="en-US" dirty="0">
              <a:solidFill>
                <a:srgbClr val="6A3E3E"/>
              </a:solidFill>
              <a:latin typeface="Consolas"/>
            </a:endParaRPr>
          </a:p>
          <a:p>
            <a:pPr lvl="2"/>
            <a:r>
              <a:rPr lang="en-US" dirty="0">
                <a:solidFill>
                  <a:srgbClr val="6A3E3E"/>
                </a:solidFill>
                <a:latin typeface="Consolas"/>
              </a:rPr>
              <a:t>result</a:t>
            </a:r>
            <a:r>
              <a:rPr lang="en-US" dirty="0">
                <a:solidFill>
                  <a:srgbClr val="000000"/>
                </a:solidFill>
                <a:latin typeface="Consolas"/>
              </a:rPr>
              <a:t> += </a:t>
            </a:r>
            <a:r>
              <a:rPr lang="en-US" dirty="0">
                <a:solidFill>
                  <a:srgbClr val="6A3E3E"/>
                </a:solidFill>
                <a:latin typeface="Consolas"/>
              </a:rPr>
              <a:t>word3</a:t>
            </a:r>
            <a:r>
              <a:rPr lang="en-US" dirty="0">
                <a:solidFill>
                  <a:srgbClr val="000000"/>
                </a:solidFill>
                <a:latin typeface="Consolas"/>
              </a:rPr>
              <a:t>;</a:t>
            </a:r>
          </a:p>
          <a:p>
            <a:pPr lvl="2"/>
            <a:r>
              <a:rPr lang="en-US" dirty="0">
                <a:solidFill>
                  <a:srgbClr val="3F7F5F"/>
                </a:solidFill>
                <a:latin typeface="Consolas"/>
              </a:rPr>
              <a:t>// concatenates word3 to result "</a:t>
            </a:r>
            <a:r>
              <a:rPr lang="en-US" b="1" dirty="0">
                <a:solidFill>
                  <a:srgbClr val="3F7F5F"/>
                </a:solidFill>
                <a:latin typeface="Consolas"/>
              </a:rPr>
              <a:t>rethinking</a:t>
            </a:r>
            <a:r>
              <a:rPr lang="en-US" dirty="0">
                <a:solidFill>
                  <a:srgbClr val="3F7F5F"/>
                </a:solidFill>
                <a:latin typeface="Consolas"/>
              </a:rPr>
              <a:t>"</a:t>
            </a:r>
          </a:p>
          <a:p>
            <a:pPr lvl="2"/>
            <a:endParaRPr lang="en-US" dirty="0">
              <a:solidFill>
                <a:srgbClr val="6A3E3E"/>
              </a:solidFill>
              <a:latin typeface="Consolas"/>
            </a:endParaRPr>
          </a:p>
          <a:p>
            <a:pPr lvl="2"/>
            <a:r>
              <a:rPr lang="en-US" dirty="0">
                <a:solidFill>
                  <a:srgbClr val="6A3E3E"/>
                </a:solidFill>
                <a:latin typeface="Consolas"/>
              </a:rPr>
              <a:t>result</a:t>
            </a:r>
            <a:r>
              <a:rPr lang="en-US" dirty="0">
                <a:solidFill>
                  <a:srgbClr val="000000"/>
                </a:solidFill>
                <a:latin typeface="Consolas"/>
              </a:rPr>
              <a:t> += </a:t>
            </a:r>
            <a:r>
              <a:rPr lang="en-US" dirty="0">
                <a:solidFill>
                  <a:srgbClr val="6A3E3E"/>
                </a:solidFill>
                <a:latin typeface="Consolas"/>
              </a:rPr>
              <a:t>num</a:t>
            </a:r>
            <a:r>
              <a:rPr lang="en-US" dirty="0">
                <a:solidFill>
                  <a:srgbClr val="000000"/>
                </a:solidFill>
                <a:latin typeface="Consolas"/>
              </a:rPr>
              <a:t>; </a:t>
            </a:r>
          </a:p>
          <a:p>
            <a:pPr lvl="2"/>
            <a:r>
              <a:rPr lang="en-US" dirty="0">
                <a:solidFill>
                  <a:srgbClr val="3F7F5F"/>
                </a:solidFill>
                <a:latin typeface="Consolas"/>
              </a:rPr>
              <a:t>// converts num to String &amp; joins it to result "</a:t>
            </a:r>
            <a:r>
              <a:rPr lang="en-US" b="1" dirty="0">
                <a:solidFill>
                  <a:srgbClr val="3F7F5F"/>
                </a:solidFill>
                <a:latin typeface="Consolas"/>
              </a:rPr>
              <a:t>rethinking2</a:t>
            </a:r>
            <a:r>
              <a:rPr lang="en-US" dirty="0">
                <a:solidFill>
                  <a:srgbClr val="3F7F5F"/>
                </a:solidFill>
                <a:latin typeface="Consolas"/>
              </a:rPr>
              <a:t>"</a:t>
            </a: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381995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 Find (</a:t>
            </a:r>
            <a:r>
              <a:rPr lang="en-US" dirty="0" err="1">
                <a:solidFill>
                  <a:schemeClr val="tx1"/>
                </a:solidFill>
              </a:rPr>
              <a:t>indexOf</a:t>
            </a:r>
            <a:r>
              <a:rPr lang="en-US" dirty="0"/>
              <a:t>)</a:t>
            </a:r>
          </a:p>
        </p:txBody>
      </p:sp>
      <p:sp>
        <p:nvSpPr>
          <p:cNvPr id="4" name="Rectangle 3"/>
          <p:cNvSpPr>
            <a:spLocks noGrp="1" noChangeArrowheads="1"/>
          </p:cNvSpPr>
          <p:nvPr>
            <p:ph idx="1"/>
          </p:nvPr>
        </p:nvSpPr>
        <p:spPr>
          <a:xfrm>
            <a:off x="381000" y="1295399"/>
            <a:ext cx="8534400" cy="5486401"/>
          </a:xfrm>
        </p:spPr>
        <p:txBody>
          <a:bodyPr>
            <a:normAutofit/>
          </a:bodyPr>
          <a:lstStyle/>
          <a:p>
            <a:pPr>
              <a:buNone/>
            </a:pPr>
            <a:r>
              <a:rPr lang="en-US" sz="2400" dirty="0">
                <a:ea typeface="Cambria" pitchFamily="18" charset="0"/>
                <a:cs typeface="Courier New" pitchFamily="49" charset="0"/>
              </a:rPr>
              <a:t>String name</a:t>
            </a:r>
            <a:r>
              <a:rPr lang="en-US" sz="2400" dirty="0">
                <a:latin typeface="Cambria" pitchFamily="18" charset="0"/>
                <a:ea typeface="Cambria" pitchFamily="18" charset="0"/>
                <a:cs typeface="Courier New" pitchFamily="49" charset="0"/>
              </a:rPr>
              <a:t> = </a:t>
            </a:r>
            <a:r>
              <a:rPr lang="en-US" dirty="0">
                <a:latin typeface="Cambria" pitchFamily="18" charset="0"/>
                <a:ea typeface="Cambria" pitchFamily="18" charset="0"/>
              </a:rPr>
              <a:t>"                                                             "</a:t>
            </a:r>
            <a:r>
              <a:rPr lang="en-US" sz="2400" dirty="0">
                <a:latin typeface="Cambria" pitchFamily="18" charset="0"/>
                <a:ea typeface="Cambria" pitchFamily="18" charset="0"/>
                <a:cs typeface="Courier New" pitchFamily="49" charset="0"/>
              </a:rPr>
              <a:t>;</a:t>
            </a:r>
          </a:p>
          <a:p>
            <a:pPr>
              <a:buNone/>
            </a:pPr>
            <a:endParaRPr lang="en-US" sz="2400" dirty="0"/>
          </a:p>
          <a:p>
            <a:pPr>
              <a:buNone/>
            </a:pPr>
            <a:r>
              <a:rPr lang="en-US" sz="2400" dirty="0" err="1">
                <a:ea typeface="Cambria" pitchFamily="18" charset="0"/>
              </a:rPr>
              <a:t>name.</a:t>
            </a:r>
            <a:r>
              <a:rPr lang="en-US" sz="2400" b="1" dirty="0" err="1">
                <a:ea typeface="Cambria" pitchFamily="18" charset="0"/>
              </a:rPr>
              <a:t>indexOf</a:t>
            </a:r>
            <a:r>
              <a:rPr lang="en-US" dirty="0">
                <a:ea typeface="Cambria" pitchFamily="18" charset="0"/>
              </a:rPr>
              <a:t> ('P</a:t>
            </a:r>
            <a:r>
              <a:rPr lang="en-US" sz="2400" dirty="0">
                <a:ea typeface="Cambria" pitchFamily="18" charset="0"/>
              </a:rPr>
              <a:t>');</a:t>
            </a:r>
          </a:p>
          <a:p>
            <a:pPr>
              <a:buNone/>
            </a:pPr>
            <a:r>
              <a:rPr lang="en-US" dirty="0" err="1">
                <a:ea typeface="Cambria" pitchFamily="18" charset="0"/>
              </a:rPr>
              <a:t>name</a:t>
            </a:r>
            <a:r>
              <a:rPr lang="en-US" sz="2400" dirty="0" err="1">
                <a:ea typeface="Cambria" pitchFamily="18" charset="0"/>
              </a:rPr>
              <a:t>.</a:t>
            </a:r>
            <a:r>
              <a:rPr lang="en-US" sz="2400" b="1" dirty="0" err="1">
                <a:ea typeface="Cambria" pitchFamily="18" charset="0"/>
              </a:rPr>
              <a:t>indexOf</a:t>
            </a:r>
            <a:r>
              <a:rPr lang="en-US" dirty="0">
                <a:ea typeface="Cambria" pitchFamily="18" charset="0"/>
              </a:rPr>
              <a:t> ('e</a:t>
            </a:r>
            <a:r>
              <a:rPr lang="en-US" sz="2400" dirty="0">
                <a:ea typeface="Cambria" pitchFamily="18" charset="0"/>
              </a:rPr>
              <a:t>');		</a:t>
            </a:r>
          </a:p>
          <a:p>
            <a:pPr>
              <a:buNone/>
            </a:pPr>
            <a:r>
              <a:rPr lang="en-US" sz="2400" dirty="0" err="1">
                <a:ea typeface="Cambria" pitchFamily="18" charset="0"/>
              </a:rPr>
              <a:t>name.</a:t>
            </a:r>
            <a:r>
              <a:rPr lang="en-US" sz="2400" b="1" dirty="0" err="1">
                <a:ea typeface="Cambria" pitchFamily="18" charset="0"/>
              </a:rPr>
              <a:t>indexOf</a:t>
            </a:r>
            <a:r>
              <a:rPr lang="en-US" dirty="0">
                <a:ea typeface="Cambria" pitchFamily="18" charset="0"/>
              </a:rPr>
              <a:t> ("Minister</a:t>
            </a:r>
            <a:r>
              <a:rPr lang="en-US" sz="2400" dirty="0">
                <a:ea typeface="Cambria" pitchFamily="18" charset="0"/>
              </a:rPr>
              <a:t>");	</a:t>
            </a:r>
          </a:p>
          <a:p>
            <a:pPr>
              <a:buNone/>
            </a:pPr>
            <a:r>
              <a:rPr lang="en-US" sz="2400" dirty="0" err="1">
                <a:ea typeface="Cambria" pitchFamily="18" charset="0"/>
              </a:rPr>
              <a:t>name.</a:t>
            </a:r>
            <a:r>
              <a:rPr lang="en-US" sz="2400" b="1" dirty="0" err="1">
                <a:ea typeface="Cambria" pitchFamily="18" charset="0"/>
              </a:rPr>
              <a:t>indexOf</a:t>
            </a:r>
            <a:r>
              <a:rPr lang="en-US" dirty="0">
                <a:ea typeface="Cambria" pitchFamily="18" charset="0"/>
              </a:rPr>
              <a:t> ('e</a:t>
            </a:r>
            <a:r>
              <a:rPr lang="en-US" sz="2400" dirty="0">
                <a:ea typeface="Cambria" pitchFamily="18" charset="0"/>
              </a:rPr>
              <a:t>', 8);		</a:t>
            </a:r>
          </a:p>
          <a:p>
            <a:pPr marL="342900" indent="-342900">
              <a:buFont typeface="Wingdings" pitchFamily="2" charset="2"/>
              <a:buNone/>
            </a:pPr>
            <a:endParaRPr lang="en-US" sz="2400" dirty="0">
              <a:ea typeface="Cambria" pitchFamily="18" charset="0"/>
            </a:endParaRPr>
          </a:p>
          <a:p>
            <a:pPr>
              <a:buNone/>
            </a:pPr>
            <a:r>
              <a:rPr lang="en-US" sz="2400" dirty="0" err="1">
                <a:ea typeface="Cambria" pitchFamily="18" charset="0"/>
              </a:rPr>
              <a:t>name.</a:t>
            </a:r>
            <a:r>
              <a:rPr lang="en-US" sz="2400" b="1" dirty="0" err="1">
                <a:ea typeface="Cambria" pitchFamily="18" charset="0"/>
              </a:rPr>
              <a:t>indexOf</a:t>
            </a:r>
            <a:r>
              <a:rPr lang="en-US" b="1" dirty="0">
                <a:ea typeface="Cambria" pitchFamily="18" charset="0"/>
              </a:rPr>
              <a:t> </a:t>
            </a:r>
            <a:r>
              <a:rPr lang="en-US" dirty="0">
                <a:ea typeface="Cambria" pitchFamily="18" charset="0"/>
              </a:rPr>
              <a:t>(“xyz</a:t>
            </a:r>
            <a:r>
              <a:rPr lang="en-US" sz="2400" dirty="0">
                <a:ea typeface="Cambria" pitchFamily="18" charset="0"/>
              </a:rPr>
              <a:t>");	</a:t>
            </a:r>
          </a:p>
          <a:p>
            <a:pPr>
              <a:buNone/>
            </a:pPr>
            <a:r>
              <a:rPr lang="en-US" sz="2400" dirty="0" err="1">
                <a:ea typeface="Cambria" pitchFamily="18" charset="0"/>
              </a:rPr>
              <a:t>name.</a:t>
            </a:r>
            <a:r>
              <a:rPr lang="en-US" sz="2400" b="1" dirty="0" err="1">
                <a:ea typeface="Cambria" pitchFamily="18" charset="0"/>
              </a:rPr>
              <a:t>lastIndexOf</a:t>
            </a:r>
            <a:r>
              <a:rPr lang="en-US" dirty="0">
                <a:ea typeface="Cambria" pitchFamily="18" charset="0"/>
              </a:rPr>
              <a:t> ('e</a:t>
            </a:r>
            <a:r>
              <a:rPr lang="en-US" sz="2400" dirty="0">
                <a:ea typeface="Cambria" pitchFamily="18" charset="0"/>
              </a:rPr>
              <a:t>');	</a:t>
            </a:r>
            <a:endParaRPr lang="en-US" dirty="0">
              <a:ea typeface="Cambria" pitchFamily="18" charset="0"/>
            </a:endParaRPr>
          </a:p>
        </p:txBody>
      </p:sp>
      <p:sp>
        <p:nvSpPr>
          <p:cNvPr id="5" name="Text Box 9"/>
          <p:cNvSpPr txBox="1">
            <a:spLocks noChangeArrowheads="1"/>
          </p:cNvSpPr>
          <p:nvPr/>
        </p:nvSpPr>
        <p:spPr bwMode="auto">
          <a:xfrm>
            <a:off x="5536702" y="4557045"/>
            <a:ext cx="2466975" cy="457200"/>
          </a:xfrm>
          <a:prstGeom prst="rect">
            <a:avLst/>
          </a:prstGeom>
          <a:solidFill>
            <a:schemeClr val="accent6">
              <a:lumMod val="20000"/>
              <a:lumOff val="80000"/>
            </a:schemeClr>
          </a:solidFill>
          <a:ln w="9525">
            <a:noFill/>
            <a:miter lim="800000"/>
            <a:headEnd/>
            <a:tailEnd/>
          </a:ln>
          <a:effectLst/>
        </p:spPr>
        <p:txBody>
          <a:bodyPr>
            <a:spAutoFit/>
          </a:bodyPr>
          <a:lstStyle/>
          <a:p>
            <a:r>
              <a:rPr lang="en-US" sz="2400" dirty="0"/>
              <a:t>   (not found)</a:t>
            </a:r>
          </a:p>
        </p:txBody>
      </p:sp>
      <p:sp>
        <p:nvSpPr>
          <p:cNvPr id="6" name="Text Box 10"/>
          <p:cNvSpPr txBox="1">
            <a:spLocks noChangeArrowheads="1"/>
          </p:cNvSpPr>
          <p:nvPr/>
        </p:nvSpPr>
        <p:spPr bwMode="auto">
          <a:xfrm>
            <a:off x="4972050" y="4038600"/>
            <a:ext cx="3962400" cy="461665"/>
          </a:xfrm>
          <a:prstGeom prst="rect">
            <a:avLst/>
          </a:prstGeom>
          <a:solidFill>
            <a:schemeClr val="accent6">
              <a:lumMod val="20000"/>
              <a:lumOff val="80000"/>
            </a:schemeClr>
          </a:solidFill>
          <a:ln w="9525">
            <a:noFill/>
            <a:miter lim="800000"/>
            <a:headEnd/>
            <a:tailEnd/>
          </a:ln>
          <a:effectLst/>
        </p:spPr>
        <p:txBody>
          <a:bodyPr wrap="square">
            <a:spAutoFit/>
          </a:bodyPr>
          <a:lstStyle/>
          <a:p>
            <a:r>
              <a:rPr lang="en-US" sz="2400" dirty="0"/>
              <a:t>(starts searching at position 8)</a:t>
            </a:r>
          </a:p>
        </p:txBody>
      </p:sp>
      <p:sp>
        <p:nvSpPr>
          <p:cNvPr id="7" name="Line 11"/>
          <p:cNvSpPr>
            <a:spLocks noChangeShapeType="1"/>
          </p:cNvSpPr>
          <p:nvPr/>
        </p:nvSpPr>
        <p:spPr bwMode="auto">
          <a:xfrm>
            <a:off x="4562677" y="4737914"/>
            <a:ext cx="974026" cy="0"/>
          </a:xfrm>
          <a:prstGeom prst="line">
            <a:avLst/>
          </a:prstGeom>
          <a:noFill/>
          <a:ln w="9525">
            <a:solidFill>
              <a:srgbClr val="FF0000"/>
            </a:solidFill>
            <a:round/>
            <a:headEnd/>
            <a:tailEnd/>
          </a:ln>
          <a:effectLst/>
        </p:spPr>
        <p:txBody>
          <a:bodyPr wrap="none" anchor="ctr"/>
          <a:lstStyle/>
          <a:p>
            <a:endParaRPr lang="en-US"/>
          </a:p>
        </p:txBody>
      </p:sp>
      <p:grpSp>
        <p:nvGrpSpPr>
          <p:cNvPr id="8" name="Group 12"/>
          <p:cNvGrpSpPr>
            <a:grpSpLocks/>
          </p:cNvGrpSpPr>
          <p:nvPr/>
        </p:nvGrpSpPr>
        <p:grpSpPr bwMode="auto">
          <a:xfrm>
            <a:off x="2914650" y="4191000"/>
            <a:ext cx="2057400" cy="152400"/>
            <a:chOff x="2343" y="3049"/>
            <a:chExt cx="1469" cy="94"/>
          </a:xfrm>
        </p:grpSpPr>
        <p:sp>
          <p:nvSpPr>
            <p:cNvPr id="9" name="Line 13"/>
            <p:cNvSpPr>
              <a:spLocks noChangeShapeType="1"/>
            </p:cNvSpPr>
            <p:nvPr/>
          </p:nvSpPr>
          <p:spPr bwMode="auto">
            <a:xfrm>
              <a:off x="2343" y="3143"/>
              <a:ext cx="1469" cy="0"/>
            </a:xfrm>
            <a:prstGeom prst="line">
              <a:avLst/>
            </a:prstGeom>
            <a:noFill/>
            <a:ln w="9525">
              <a:solidFill>
                <a:srgbClr val="FF0000"/>
              </a:solidFill>
              <a:round/>
              <a:headEnd/>
              <a:tailEnd/>
            </a:ln>
            <a:effectLst/>
          </p:spPr>
          <p:txBody>
            <a:bodyPr wrap="none" anchor="ctr"/>
            <a:lstStyle/>
            <a:p>
              <a:endParaRPr lang="en-US"/>
            </a:p>
          </p:txBody>
        </p:sp>
        <p:sp>
          <p:nvSpPr>
            <p:cNvPr id="10" name="Line 14"/>
            <p:cNvSpPr>
              <a:spLocks noChangeShapeType="1"/>
            </p:cNvSpPr>
            <p:nvPr/>
          </p:nvSpPr>
          <p:spPr bwMode="auto">
            <a:xfrm flipV="1">
              <a:off x="2343" y="3049"/>
              <a:ext cx="0" cy="94"/>
            </a:xfrm>
            <a:prstGeom prst="line">
              <a:avLst/>
            </a:prstGeom>
            <a:noFill/>
            <a:ln w="9525">
              <a:solidFill>
                <a:srgbClr val="FF0000"/>
              </a:solidFill>
              <a:round/>
              <a:headEnd/>
              <a:tailEnd/>
            </a:ln>
            <a:effectLst/>
          </p:spPr>
          <p:txBody>
            <a:bodyPr wrap="none" anchor="ctr"/>
            <a:lstStyle/>
            <a:p>
              <a:endParaRPr lang="en-US"/>
            </a:p>
          </p:txBody>
        </p:sp>
      </p:grpSp>
      <p:cxnSp>
        <p:nvCxnSpPr>
          <p:cNvPr id="11" name="Straight Arrow Connector 10"/>
          <p:cNvCxnSpPr/>
          <p:nvPr/>
        </p:nvCxnSpPr>
        <p:spPr>
          <a:xfrm>
            <a:off x="2600325" y="1066800"/>
            <a:ext cx="0" cy="3048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705225" y="1066800"/>
            <a:ext cx="0" cy="3048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200176" y="2183160"/>
            <a:ext cx="340158" cy="461665"/>
          </a:xfrm>
          <a:prstGeom prst="rect">
            <a:avLst/>
          </a:prstGeom>
          <a:noFill/>
        </p:spPr>
        <p:txBody>
          <a:bodyPr wrap="none" rtlCol="0">
            <a:spAutoFit/>
          </a:bodyPr>
          <a:lstStyle/>
          <a:p>
            <a:r>
              <a:rPr lang="en-IN" sz="2400" dirty="0"/>
              <a:t>0</a:t>
            </a:r>
            <a:endParaRPr lang="en-US" sz="2400" dirty="0"/>
          </a:p>
        </p:txBody>
      </p:sp>
      <p:sp>
        <p:nvSpPr>
          <p:cNvPr id="14" name="TextBox 13"/>
          <p:cNvSpPr txBox="1"/>
          <p:nvPr/>
        </p:nvSpPr>
        <p:spPr>
          <a:xfrm>
            <a:off x="4200176" y="2655713"/>
            <a:ext cx="340158" cy="461665"/>
          </a:xfrm>
          <a:prstGeom prst="rect">
            <a:avLst/>
          </a:prstGeom>
          <a:noFill/>
        </p:spPr>
        <p:txBody>
          <a:bodyPr wrap="none" rtlCol="0">
            <a:spAutoFit/>
          </a:bodyPr>
          <a:lstStyle/>
          <a:p>
            <a:r>
              <a:rPr lang="en-IN" sz="2400" dirty="0"/>
              <a:t>4</a:t>
            </a:r>
            <a:endParaRPr lang="en-US" sz="2400" dirty="0"/>
          </a:p>
        </p:txBody>
      </p:sp>
      <p:sp>
        <p:nvSpPr>
          <p:cNvPr id="15" name="TextBox 14"/>
          <p:cNvSpPr txBox="1"/>
          <p:nvPr/>
        </p:nvSpPr>
        <p:spPr>
          <a:xfrm>
            <a:off x="4200176" y="3156455"/>
            <a:ext cx="340158" cy="461665"/>
          </a:xfrm>
          <a:prstGeom prst="rect">
            <a:avLst/>
          </a:prstGeom>
          <a:noFill/>
        </p:spPr>
        <p:txBody>
          <a:bodyPr wrap="none" rtlCol="0">
            <a:spAutoFit/>
          </a:bodyPr>
          <a:lstStyle/>
          <a:p>
            <a:r>
              <a:rPr lang="en-IN" sz="2400" dirty="0"/>
              <a:t>6</a:t>
            </a:r>
            <a:endParaRPr lang="en-US" sz="2400" dirty="0"/>
          </a:p>
        </p:txBody>
      </p:sp>
      <p:sp>
        <p:nvSpPr>
          <p:cNvPr id="16" name="TextBox 15"/>
          <p:cNvSpPr txBox="1"/>
          <p:nvPr/>
        </p:nvSpPr>
        <p:spPr>
          <a:xfrm>
            <a:off x="4200176" y="3635427"/>
            <a:ext cx="495649" cy="461665"/>
          </a:xfrm>
          <a:prstGeom prst="rect">
            <a:avLst/>
          </a:prstGeom>
          <a:noFill/>
        </p:spPr>
        <p:txBody>
          <a:bodyPr wrap="none" rtlCol="0">
            <a:spAutoFit/>
          </a:bodyPr>
          <a:lstStyle/>
          <a:p>
            <a:r>
              <a:rPr lang="en-IN" sz="2400" dirty="0"/>
              <a:t>12</a:t>
            </a:r>
            <a:endParaRPr lang="en-US" sz="2400" dirty="0"/>
          </a:p>
        </p:txBody>
      </p:sp>
      <p:sp>
        <p:nvSpPr>
          <p:cNvPr id="17" name="TextBox 16"/>
          <p:cNvSpPr txBox="1"/>
          <p:nvPr/>
        </p:nvSpPr>
        <p:spPr>
          <a:xfrm>
            <a:off x="4200176" y="4507082"/>
            <a:ext cx="434734" cy="461665"/>
          </a:xfrm>
          <a:prstGeom prst="rect">
            <a:avLst/>
          </a:prstGeom>
          <a:noFill/>
        </p:spPr>
        <p:txBody>
          <a:bodyPr wrap="none" rtlCol="0">
            <a:spAutoFit/>
          </a:bodyPr>
          <a:lstStyle/>
          <a:p>
            <a:r>
              <a:rPr lang="en-IN" sz="2400" dirty="0"/>
              <a:t>-1</a:t>
            </a:r>
            <a:endParaRPr lang="en-US" sz="2400" dirty="0"/>
          </a:p>
        </p:txBody>
      </p:sp>
      <p:sp>
        <p:nvSpPr>
          <p:cNvPr id="18" name="TextBox 17"/>
          <p:cNvSpPr txBox="1"/>
          <p:nvPr/>
        </p:nvSpPr>
        <p:spPr>
          <a:xfrm>
            <a:off x="4200174" y="5014245"/>
            <a:ext cx="489236" cy="461665"/>
          </a:xfrm>
          <a:prstGeom prst="rect">
            <a:avLst/>
          </a:prstGeom>
          <a:noFill/>
        </p:spPr>
        <p:txBody>
          <a:bodyPr wrap="none" rtlCol="0">
            <a:spAutoFit/>
          </a:bodyPr>
          <a:lstStyle/>
          <a:p>
            <a:r>
              <a:rPr lang="en-IN" sz="2400"/>
              <a:t>12</a:t>
            </a:r>
            <a:endParaRPr lang="en-US" sz="2400" dirty="0"/>
          </a:p>
        </p:txBody>
      </p:sp>
      <p:graphicFrame>
        <p:nvGraphicFramePr>
          <p:cNvPr id="19" name="Table 18"/>
          <p:cNvGraphicFramePr>
            <a:graphicFrameLocks noGrp="1"/>
          </p:cNvGraphicFramePr>
          <p:nvPr/>
        </p:nvGraphicFramePr>
        <p:xfrm>
          <a:off x="2469835" y="1447800"/>
          <a:ext cx="4083365" cy="521780"/>
        </p:xfrm>
        <a:graphic>
          <a:graphicData uri="http://schemas.openxmlformats.org/drawingml/2006/table">
            <a:tbl>
              <a:tblPr>
                <a:tableStyleId>{2D5ABB26-0587-4C30-8999-92F81FD0307C}</a:tableStyleId>
              </a:tblPr>
              <a:tblGrid>
                <a:gridCol w="267948">
                  <a:extLst>
                    <a:ext uri="{9D8B030D-6E8A-4147-A177-3AD203B41FA5}">
                      <a16:colId xmlns:a16="http://schemas.microsoft.com/office/drawing/2014/main" val="20000"/>
                    </a:ext>
                  </a:extLst>
                </a:gridCol>
                <a:gridCol w="267003">
                  <a:extLst>
                    <a:ext uri="{9D8B030D-6E8A-4147-A177-3AD203B41FA5}">
                      <a16:colId xmlns:a16="http://schemas.microsoft.com/office/drawing/2014/main" val="20001"/>
                    </a:ext>
                  </a:extLst>
                </a:gridCol>
                <a:gridCol w="267003">
                  <a:extLst>
                    <a:ext uri="{9D8B030D-6E8A-4147-A177-3AD203B41FA5}">
                      <a16:colId xmlns:a16="http://schemas.microsoft.com/office/drawing/2014/main" val="20002"/>
                    </a:ext>
                  </a:extLst>
                </a:gridCol>
                <a:gridCol w="303800">
                  <a:extLst>
                    <a:ext uri="{9D8B030D-6E8A-4147-A177-3AD203B41FA5}">
                      <a16:colId xmlns:a16="http://schemas.microsoft.com/office/drawing/2014/main" val="20003"/>
                    </a:ext>
                  </a:extLst>
                </a:gridCol>
                <a:gridCol w="267948">
                  <a:extLst>
                    <a:ext uri="{9D8B030D-6E8A-4147-A177-3AD203B41FA5}">
                      <a16:colId xmlns:a16="http://schemas.microsoft.com/office/drawing/2014/main" val="20004"/>
                    </a:ext>
                  </a:extLst>
                </a:gridCol>
                <a:gridCol w="267948">
                  <a:extLst>
                    <a:ext uri="{9D8B030D-6E8A-4147-A177-3AD203B41FA5}">
                      <a16:colId xmlns:a16="http://schemas.microsoft.com/office/drawing/2014/main" val="20005"/>
                    </a:ext>
                  </a:extLst>
                </a:gridCol>
                <a:gridCol w="311346">
                  <a:extLst>
                    <a:ext uri="{9D8B030D-6E8A-4147-A177-3AD203B41FA5}">
                      <a16:colId xmlns:a16="http://schemas.microsoft.com/office/drawing/2014/main" val="20006"/>
                    </a:ext>
                  </a:extLst>
                </a:gridCol>
                <a:gridCol w="267948">
                  <a:extLst>
                    <a:ext uri="{9D8B030D-6E8A-4147-A177-3AD203B41FA5}">
                      <a16:colId xmlns:a16="http://schemas.microsoft.com/office/drawing/2014/main" val="20007"/>
                    </a:ext>
                  </a:extLst>
                </a:gridCol>
                <a:gridCol w="269833">
                  <a:extLst>
                    <a:ext uri="{9D8B030D-6E8A-4147-A177-3AD203B41FA5}">
                      <a16:colId xmlns:a16="http://schemas.microsoft.com/office/drawing/2014/main" val="20008"/>
                    </a:ext>
                  </a:extLst>
                </a:gridCol>
                <a:gridCol w="267948">
                  <a:extLst>
                    <a:ext uri="{9D8B030D-6E8A-4147-A177-3AD203B41FA5}">
                      <a16:colId xmlns:a16="http://schemas.microsoft.com/office/drawing/2014/main" val="20009"/>
                    </a:ext>
                  </a:extLst>
                </a:gridCol>
                <a:gridCol w="331160">
                  <a:extLst>
                    <a:ext uri="{9D8B030D-6E8A-4147-A177-3AD203B41FA5}">
                      <a16:colId xmlns:a16="http://schemas.microsoft.com/office/drawing/2014/main" val="20010"/>
                    </a:ext>
                  </a:extLst>
                </a:gridCol>
                <a:gridCol w="331160">
                  <a:extLst>
                    <a:ext uri="{9D8B030D-6E8A-4147-A177-3AD203B41FA5}">
                      <a16:colId xmlns:a16="http://schemas.microsoft.com/office/drawing/2014/main" val="20011"/>
                    </a:ext>
                  </a:extLst>
                </a:gridCol>
                <a:gridCol w="331160">
                  <a:extLst>
                    <a:ext uri="{9D8B030D-6E8A-4147-A177-3AD203B41FA5}">
                      <a16:colId xmlns:a16="http://schemas.microsoft.com/office/drawing/2014/main" val="20012"/>
                    </a:ext>
                  </a:extLst>
                </a:gridCol>
                <a:gridCol w="331160">
                  <a:extLst>
                    <a:ext uri="{9D8B030D-6E8A-4147-A177-3AD203B41FA5}">
                      <a16:colId xmlns:a16="http://schemas.microsoft.com/office/drawing/2014/main" val="20013"/>
                    </a:ext>
                  </a:extLst>
                </a:gridCol>
              </a:tblGrid>
              <a:tr h="0">
                <a:tc>
                  <a:txBody>
                    <a:bodyPr/>
                    <a:lstStyle/>
                    <a:p>
                      <a:pPr algn="ctr">
                        <a:lnSpc>
                          <a:spcPct val="107000"/>
                        </a:lnSpc>
                        <a:spcAft>
                          <a:spcPts val="0"/>
                        </a:spcAft>
                      </a:pPr>
                      <a:r>
                        <a:rPr lang="en-IN" sz="1800" dirty="0"/>
                        <a:t>P</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a:t>r</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err="1"/>
                        <a:t>i</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a:t>m</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a:t>e</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endParaRPr lang="en-IN"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a:t>M</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err="1"/>
                        <a:t>i</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a:t>n</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err="1"/>
                        <a:t>i</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dirty="0"/>
                        <a:t>s</a:t>
                      </a:r>
                      <a:endParaRPr lang="en-US" sz="1800" dirty="0">
                        <a:latin typeface="Calibri"/>
                        <a:ea typeface="Calibri"/>
                        <a:cs typeface="Shruti"/>
                      </a:endParaRPr>
                    </a:p>
                  </a:txBody>
                  <a:tcPr marL="68580" marR="68580" marT="0" marB="0"/>
                </a:tc>
                <a:tc>
                  <a:txBody>
                    <a:bodyPr/>
                    <a:lstStyle/>
                    <a:p>
                      <a:pPr algn="ctr">
                        <a:lnSpc>
                          <a:spcPct val="107000"/>
                        </a:lnSpc>
                        <a:spcAft>
                          <a:spcPts val="0"/>
                        </a:spcAft>
                      </a:pPr>
                      <a:r>
                        <a:rPr lang="en-IN" sz="1800"/>
                        <a:t>t</a:t>
                      </a:r>
                      <a:endParaRPr lang="en-US" sz="1800">
                        <a:latin typeface="Calibri"/>
                        <a:ea typeface="Calibri"/>
                        <a:cs typeface="Shruti"/>
                      </a:endParaRPr>
                    </a:p>
                  </a:txBody>
                  <a:tcPr marL="68580" marR="68580" marT="0" marB="0"/>
                </a:tc>
                <a:tc>
                  <a:txBody>
                    <a:bodyPr/>
                    <a:lstStyle/>
                    <a:p>
                      <a:pPr algn="ctr">
                        <a:lnSpc>
                          <a:spcPct val="107000"/>
                        </a:lnSpc>
                        <a:spcAft>
                          <a:spcPts val="0"/>
                        </a:spcAft>
                      </a:pPr>
                      <a:r>
                        <a:rPr lang="en-IN" sz="1800"/>
                        <a:t>e</a:t>
                      </a:r>
                      <a:endParaRPr lang="en-US" sz="1800">
                        <a:latin typeface="Calibri"/>
                        <a:ea typeface="Calibri"/>
                        <a:cs typeface="Shruti"/>
                      </a:endParaRPr>
                    </a:p>
                  </a:txBody>
                  <a:tcPr marL="68580" marR="68580" marT="0" marB="0"/>
                </a:tc>
                <a:tc>
                  <a:txBody>
                    <a:bodyPr/>
                    <a:lstStyle/>
                    <a:p>
                      <a:pPr algn="ctr">
                        <a:lnSpc>
                          <a:spcPct val="107000"/>
                        </a:lnSpc>
                        <a:spcAft>
                          <a:spcPts val="0"/>
                        </a:spcAft>
                      </a:pPr>
                      <a:r>
                        <a:rPr lang="en-IN" sz="1800" dirty="0"/>
                        <a:t>r</a:t>
                      </a:r>
                      <a:endParaRPr lang="en-US" sz="1800" dirty="0">
                        <a:latin typeface="Calibri"/>
                        <a:ea typeface="Calibri"/>
                        <a:cs typeface="Shruti"/>
                      </a:endParaRPr>
                    </a:p>
                  </a:txBody>
                  <a:tcPr marL="68580" marR="68580" marT="0" marB="0"/>
                </a:tc>
                <a:extLst>
                  <a:ext uri="{0D108BD9-81ED-4DB2-BD59-A6C34878D82A}">
                    <a16:rowId xmlns:a16="http://schemas.microsoft.com/office/drawing/2014/main" val="10000"/>
                  </a:ext>
                </a:extLst>
              </a:tr>
              <a:tr h="0">
                <a:tc>
                  <a:txBody>
                    <a:bodyPr/>
                    <a:lstStyle/>
                    <a:p>
                      <a:pPr algn="ctr">
                        <a:lnSpc>
                          <a:spcPct val="107000"/>
                        </a:lnSpc>
                        <a:spcAft>
                          <a:spcPts val="0"/>
                        </a:spcAft>
                      </a:pPr>
                      <a:r>
                        <a:rPr lang="en-IN" sz="1400" dirty="0">
                          <a:solidFill>
                            <a:schemeClr val="accent6">
                              <a:lumMod val="75000"/>
                            </a:schemeClr>
                          </a:solidFill>
                        </a:rPr>
                        <a:t>0</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1</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2</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3</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4</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5</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6</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7</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8</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9</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10</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11</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12</a:t>
                      </a:r>
                      <a:endParaRPr lang="en-US" sz="1400" dirty="0">
                        <a:solidFill>
                          <a:schemeClr val="accent6">
                            <a:lumMod val="75000"/>
                          </a:schemeClr>
                        </a:solidFill>
                        <a:latin typeface="Calibri"/>
                        <a:ea typeface="Calibri"/>
                        <a:cs typeface="Shruti"/>
                      </a:endParaRPr>
                    </a:p>
                  </a:txBody>
                  <a:tcPr marL="68580" marR="68580" marT="0" marB="0"/>
                </a:tc>
                <a:tc>
                  <a:txBody>
                    <a:bodyPr/>
                    <a:lstStyle/>
                    <a:p>
                      <a:pPr algn="ctr">
                        <a:lnSpc>
                          <a:spcPct val="107000"/>
                        </a:lnSpc>
                        <a:spcAft>
                          <a:spcPts val="0"/>
                        </a:spcAft>
                      </a:pPr>
                      <a:r>
                        <a:rPr lang="en-IN" sz="1400" dirty="0">
                          <a:solidFill>
                            <a:schemeClr val="accent6">
                              <a:lumMod val="75000"/>
                            </a:schemeClr>
                          </a:solidFill>
                        </a:rPr>
                        <a:t>13</a:t>
                      </a:r>
                      <a:endParaRPr lang="en-US" sz="1400" dirty="0">
                        <a:solidFill>
                          <a:schemeClr val="accent6">
                            <a:lumMod val="75000"/>
                          </a:schemeClr>
                        </a:solidFill>
                        <a:latin typeface="Calibri"/>
                        <a:ea typeface="Calibri"/>
                        <a:cs typeface="Shruti"/>
                      </a:endParaRPr>
                    </a:p>
                  </a:txBody>
                  <a:tcPr marL="68580" marR="68580" marT="0" marB="0"/>
                </a:tc>
                <a:extLst>
                  <a:ext uri="{0D108BD9-81ED-4DB2-BD59-A6C34878D82A}">
                    <a16:rowId xmlns:a16="http://schemas.microsoft.com/office/drawing/2014/main" val="10001"/>
                  </a:ext>
                </a:extLst>
              </a:tr>
            </a:tbl>
          </a:graphicData>
        </a:graphic>
      </p:graphicFrame>
      <p:cxnSp>
        <p:nvCxnSpPr>
          <p:cNvPr id="20" name="Straight Arrow Connector 19"/>
          <p:cNvCxnSpPr/>
          <p:nvPr/>
        </p:nvCxnSpPr>
        <p:spPr>
          <a:xfrm>
            <a:off x="481965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10540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5400675"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724525"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6057900" y="1066800"/>
            <a:ext cx="0" cy="304800"/>
          </a:xfrm>
          <a:prstGeom prst="straightConnector1">
            <a:avLst/>
          </a:prstGeom>
          <a:ln w="28575">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59080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89560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312420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42900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73380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640080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962400" y="1066800"/>
            <a:ext cx="0" cy="30480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067425" y="1066800"/>
            <a:ext cx="0" cy="304800"/>
          </a:xfrm>
          <a:prstGeom prst="straightConnector1">
            <a:avLst/>
          </a:prstGeom>
          <a:ln w="28575">
            <a:solidFill>
              <a:schemeClr val="tx2">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33" name="Right Arrow Callout 32"/>
          <p:cNvSpPr/>
          <p:nvPr/>
        </p:nvSpPr>
        <p:spPr>
          <a:xfrm>
            <a:off x="4191000" y="1143000"/>
            <a:ext cx="2209800" cy="228600"/>
          </a:xfrm>
          <a:prstGeom prst="rightArrowCallout">
            <a:avLst>
              <a:gd name="adj1" fmla="val 25000"/>
              <a:gd name="adj2" fmla="val 25000"/>
              <a:gd name="adj3" fmla="val 25000"/>
              <a:gd name="adj4" fmla="val 149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522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26"/>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7"/>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28"/>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25"/>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nodeType="clickEffect">
                                  <p:stCondLst>
                                    <p:cond delay="0"/>
                                  </p:stCondLst>
                                  <p:childTnLst>
                                    <p:set>
                                      <p:cBhvr>
                                        <p:cTn id="76" dur="1" fill="hold">
                                          <p:stCondLst>
                                            <p:cond delay="0"/>
                                          </p:stCondLst>
                                        </p:cTn>
                                        <p:tgtEl>
                                          <p:spTgt spid="26"/>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27"/>
                                        </p:tgtEl>
                                        <p:attrNameLst>
                                          <p:attrName>style.visibility</p:attrName>
                                        </p:attrNameLst>
                                      </p:cBhvr>
                                      <p:to>
                                        <p:strVal val="hidden"/>
                                      </p:to>
                                    </p:set>
                                  </p:childTnLst>
                                </p:cTn>
                              </p:par>
                              <p:par>
                                <p:cTn id="83" presetID="1" presetClass="entr" presetSubtype="0" fill="hold" nodeType="withEffect">
                                  <p:stCondLst>
                                    <p:cond delay="0"/>
                                  </p:stCondLst>
                                  <p:childTnLst>
                                    <p:set>
                                      <p:cBhvr>
                                        <p:cTn id="84" dur="1" fill="hold">
                                          <p:stCondLst>
                                            <p:cond delay="0"/>
                                          </p:stCondLst>
                                        </p:cTn>
                                        <p:tgtEl>
                                          <p:spTgt spid="2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28"/>
                                        </p:tgtEl>
                                        <p:attrNameLst>
                                          <p:attrName>style.visibility</p:attrName>
                                        </p:attrNameLst>
                                      </p:cBhvr>
                                      <p:to>
                                        <p:strVal val="hidden"/>
                                      </p:to>
                                    </p:set>
                                  </p:childTnLst>
                                </p:cTn>
                              </p:par>
                              <p:par>
                                <p:cTn id="89" presetID="1" presetClass="entr" presetSubtype="0" fill="hold" nodeType="with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29"/>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3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31"/>
                                        </p:tgtEl>
                                        <p:attrNameLst>
                                          <p:attrName>style.visibility</p:attrName>
                                        </p:attrNameLst>
                                      </p:cBhvr>
                                      <p:to>
                                        <p:strVal val="hidden"/>
                                      </p:to>
                                    </p:set>
                                  </p:childTnLst>
                                </p:cTn>
                              </p:par>
                              <p:par>
                                <p:cTn id="101" presetID="1" presetClass="entr" presetSubtype="0" fill="hold" grpId="0" nodeType="withEffect">
                                  <p:stCondLst>
                                    <p:cond delay="0"/>
                                  </p:stCondLst>
                                  <p:childTnLst>
                                    <p:set>
                                      <p:cBhvr>
                                        <p:cTn id="102" dur="1" fill="hold">
                                          <p:stCondLst>
                                            <p:cond delay="0"/>
                                          </p:stCondLst>
                                        </p:cTn>
                                        <p:tgtEl>
                                          <p:spTgt spid="3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33"/>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5"/>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6"/>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8"/>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nodeType="clickEffect">
                                  <p:stCondLst>
                                    <p:cond delay="0"/>
                                  </p:stCondLst>
                                  <p:childTnLst>
                                    <p:set>
                                      <p:cBhvr>
                                        <p:cTn id="124" dur="1" fill="hold">
                                          <p:stCondLst>
                                            <p:cond delay="0"/>
                                          </p:stCondLst>
                                        </p:cTn>
                                        <p:tgtEl>
                                          <p:spTgt spid="2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nodeType="clickEffect">
                                  <p:stCondLst>
                                    <p:cond delay="0"/>
                                  </p:stCondLst>
                                  <p:childTnLst>
                                    <p:set>
                                      <p:cBhvr>
                                        <p:cTn id="128" dur="1" fill="hold">
                                          <p:stCondLst>
                                            <p:cond delay="0"/>
                                          </p:stCondLst>
                                        </p:cTn>
                                        <p:tgtEl>
                                          <p:spTgt spid="20"/>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2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nodeType="clickEffect">
                                  <p:stCondLst>
                                    <p:cond delay="0"/>
                                  </p:stCondLst>
                                  <p:childTnLst>
                                    <p:set>
                                      <p:cBhvr>
                                        <p:cTn id="134" dur="1" fill="hold">
                                          <p:stCondLst>
                                            <p:cond delay="0"/>
                                          </p:stCondLst>
                                        </p:cTn>
                                        <p:tgtEl>
                                          <p:spTgt spid="21"/>
                                        </p:tgtEl>
                                        <p:attrNameLst>
                                          <p:attrName>style.visibility</p:attrName>
                                        </p:attrNameLst>
                                      </p:cBhvr>
                                      <p:to>
                                        <p:strVal val="hidden"/>
                                      </p:to>
                                    </p:set>
                                  </p:childTnLst>
                                </p:cTn>
                              </p:par>
                              <p:par>
                                <p:cTn id="135" presetID="1" presetClass="entr" presetSubtype="0" fill="hold" nodeType="withEffect">
                                  <p:stCondLst>
                                    <p:cond delay="0"/>
                                  </p:stCondLst>
                                  <p:childTnLst>
                                    <p:set>
                                      <p:cBhvr>
                                        <p:cTn id="136" dur="1" fill="hold">
                                          <p:stCondLst>
                                            <p:cond delay="0"/>
                                          </p:stCondLst>
                                        </p:cTn>
                                        <p:tgtEl>
                                          <p:spTgt spid="22"/>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xit" presetSubtype="0" fill="hold" nodeType="clickEffect">
                                  <p:stCondLst>
                                    <p:cond delay="0"/>
                                  </p:stCondLst>
                                  <p:childTnLst>
                                    <p:set>
                                      <p:cBhvr>
                                        <p:cTn id="140" dur="1" fill="hold">
                                          <p:stCondLst>
                                            <p:cond delay="0"/>
                                          </p:stCondLst>
                                        </p:cTn>
                                        <p:tgtEl>
                                          <p:spTgt spid="22"/>
                                        </p:tgtEl>
                                        <p:attrNameLst>
                                          <p:attrName>style.visibility</p:attrName>
                                        </p:attrNameLst>
                                      </p:cBhvr>
                                      <p:to>
                                        <p:strVal val="hidden"/>
                                      </p:to>
                                    </p:set>
                                  </p:childTnLst>
                                </p:cTn>
                              </p:par>
                              <p:par>
                                <p:cTn id="141" presetID="1" presetClass="entr" presetSubtype="0" fill="hold" nodeType="withEffect">
                                  <p:stCondLst>
                                    <p:cond delay="0"/>
                                  </p:stCondLst>
                                  <p:childTnLst>
                                    <p:set>
                                      <p:cBhvr>
                                        <p:cTn id="142" dur="1" fill="hold">
                                          <p:stCondLst>
                                            <p:cond delay="0"/>
                                          </p:stCondLst>
                                        </p:cTn>
                                        <p:tgtEl>
                                          <p:spTgt spid="23"/>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nodeType="clickEffect">
                                  <p:stCondLst>
                                    <p:cond delay="0"/>
                                  </p:stCondLst>
                                  <p:childTnLst>
                                    <p:set>
                                      <p:cBhvr>
                                        <p:cTn id="146" dur="1" fill="hold">
                                          <p:stCondLst>
                                            <p:cond delay="0"/>
                                          </p:stCondLst>
                                        </p:cTn>
                                        <p:tgtEl>
                                          <p:spTgt spid="23"/>
                                        </p:tgtEl>
                                        <p:attrNameLst>
                                          <p:attrName>style.visibility</p:attrName>
                                        </p:attrNameLst>
                                      </p:cBhvr>
                                      <p:to>
                                        <p:strVal val="hidden"/>
                                      </p:to>
                                    </p:set>
                                  </p:childTnLst>
                                </p:cTn>
                              </p:par>
                              <p:par>
                                <p:cTn id="147" presetID="1" presetClass="entr" presetSubtype="0" fill="hold" nodeType="withEffect">
                                  <p:stCondLst>
                                    <p:cond delay="0"/>
                                  </p:stCondLst>
                                  <p:childTnLst>
                                    <p:set>
                                      <p:cBhvr>
                                        <p:cTn id="148" dur="1" fill="hold">
                                          <p:stCondLst>
                                            <p:cond delay="0"/>
                                          </p:stCondLst>
                                        </p:cTn>
                                        <p:tgtEl>
                                          <p:spTgt spid="24"/>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xit" presetSubtype="0" fill="hold" nodeType="clickEffect">
                                  <p:stCondLst>
                                    <p:cond delay="0"/>
                                  </p:stCondLst>
                                  <p:childTnLst>
                                    <p:set>
                                      <p:cBhvr>
                                        <p:cTn id="152" dur="1" fill="hold">
                                          <p:stCondLst>
                                            <p:cond delay="0"/>
                                          </p:stCondLst>
                                        </p:cTn>
                                        <p:tgtEl>
                                          <p:spTgt spid="24"/>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16"/>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1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7"/>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3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xit" presetSubtype="0" fill="hold" nodeType="clickEffect">
                                  <p:stCondLst>
                                    <p:cond delay="0"/>
                                  </p:stCondLst>
                                  <p:childTnLst>
                                    <p:set>
                                      <p:cBhvr>
                                        <p:cTn id="182" dur="1" fill="hold">
                                          <p:stCondLst>
                                            <p:cond delay="0"/>
                                          </p:stCondLst>
                                        </p:cTn>
                                        <p:tgtEl>
                                          <p:spTgt spid="30"/>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32"/>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xit" presetSubtype="0" fill="hold" nodeType="clickEffect">
                                  <p:stCondLst>
                                    <p:cond delay="0"/>
                                  </p:stCondLst>
                                  <p:childTnLst>
                                    <p:set>
                                      <p:cBhvr>
                                        <p:cTn id="190" dur="1" fill="hold">
                                          <p:stCondLst>
                                            <p:cond delay="0"/>
                                          </p:stCondLst>
                                        </p:cTn>
                                        <p:tgtEl>
                                          <p:spTgt spid="32"/>
                                        </p:tgtEl>
                                        <p:attrNameLst>
                                          <p:attrName>style.visibility</p:attrName>
                                        </p:attrNameLst>
                                      </p:cBhvr>
                                      <p:to>
                                        <p:strVal val="hidden"/>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3" grpId="0"/>
      <p:bldP spid="14" grpId="0"/>
      <p:bldP spid="15" grpId="0"/>
      <p:bldP spid="16" grpId="0"/>
      <p:bldP spid="17" grpId="0"/>
      <p:bldP spid="18" grpId="0"/>
      <p:bldP spid="33" grpId="0" animBg="1"/>
      <p:bldP spid="33"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 Equality</a:t>
            </a:r>
          </a:p>
        </p:txBody>
      </p:sp>
      <p:sp>
        <p:nvSpPr>
          <p:cNvPr id="4" name="Rectangle 3"/>
          <p:cNvSpPr>
            <a:spLocks noGrp="1" noChangeArrowheads="1"/>
          </p:cNvSpPr>
          <p:nvPr>
            <p:ph idx="1"/>
          </p:nvPr>
        </p:nvSpPr>
        <p:spPr>
          <a:xfrm>
            <a:off x="206432" y="861754"/>
            <a:ext cx="11730644" cy="5331228"/>
          </a:xfrm>
        </p:spPr>
        <p:txBody>
          <a:bodyPr/>
          <a:lstStyle/>
          <a:p>
            <a:pPr marL="342900" indent="-342900">
              <a:spcBef>
                <a:spcPct val="0"/>
              </a:spcBef>
              <a:buFont typeface="Wingdings" pitchFamily="2" charset="2"/>
              <a:buNone/>
            </a:pPr>
            <a:r>
              <a:rPr lang="en-US" sz="2400" dirty="0" err="1">
                <a:ea typeface="Cambria" pitchFamily="18" charset="0"/>
              </a:rPr>
              <a:t>boolean</a:t>
            </a:r>
            <a:r>
              <a:rPr lang="en-US" sz="2400" dirty="0">
                <a:ea typeface="Cambria" pitchFamily="18" charset="0"/>
              </a:rPr>
              <a:t> b = word1.</a:t>
            </a:r>
            <a:r>
              <a:rPr lang="en-US" sz="2400" b="1" dirty="0">
                <a:ea typeface="Cambria" pitchFamily="18" charset="0"/>
              </a:rPr>
              <a:t>equals</a:t>
            </a:r>
            <a:r>
              <a:rPr lang="en-US" sz="2400" dirty="0">
                <a:ea typeface="Cambria" pitchFamily="18" charset="0"/>
              </a:rPr>
              <a:t>(word2);</a:t>
            </a:r>
          </a:p>
          <a:p>
            <a:pPr marL="742950" lvl="1" indent="-285750">
              <a:spcBef>
                <a:spcPct val="0"/>
              </a:spcBef>
              <a:buFont typeface="Wingdings" pitchFamily="2" charset="2"/>
              <a:buNone/>
            </a:pPr>
            <a:r>
              <a:rPr lang="en-US" sz="2400" dirty="0"/>
              <a:t>	returns </a:t>
            </a:r>
            <a:r>
              <a:rPr lang="en-US" sz="2400" b="1" dirty="0"/>
              <a:t>true</a:t>
            </a:r>
            <a:r>
              <a:rPr lang="en-US" sz="2400" dirty="0"/>
              <a:t> if the string </a:t>
            </a:r>
            <a:r>
              <a:rPr lang="en-US" sz="2400" b="1" dirty="0"/>
              <a:t>word1</a:t>
            </a:r>
            <a:r>
              <a:rPr lang="en-US" sz="2400" dirty="0"/>
              <a:t> is equal to </a:t>
            </a:r>
            <a:r>
              <a:rPr lang="en-US" sz="2400" b="1" dirty="0"/>
              <a:t>word2</a:t>
            </a:r>
          </a:p>
          <a:p>
            <a:pPr marL="742950" lvl="1" indent="-285750">
              <a:spcBef>
                <a:spcPct val="0"/>
              </a:spcBef>
              <a:buFont typeface="Wingdings" pitchFamily="2" charset="2"/>
              <a:buNone/>
            </a:pPr>
            <a:endParaRPr lang="en-US" sz="2400" b="1" dirty="0"/>
          </a:p>
          <a:p>
            <a:pPr marL="742950" lvl="1" indent="-285750">
              <a:spcBef>
                <a:spcPct val="0"/>
              </a:spcBef>
              <a:buFont typeface="Wingdings" pitchFamily="2" charset="2"/>
              <a:buNone/>
            </a:pPr>
            <a:endParaRPr lang="en-US" sz="2400" b="1" dirty="0"/>
          </a:p>
          <a:p>
            <a:pPr marL="742950" lvl="1" indent="-285750">
              <a:spcBef>
                <a:spcPct val="0"/>
              </a:spcBef>
              <a:buFont typeface="Wingdings" pitchFamily="2" charset="2"/>
              <a:buNone/>
            </a:pPr>
            <a:endParaRPr lang="en-US" sz="2400" b="1" dirty="0"/>
          </a:p>
          <a:p>
            <a:pPr marL="342900" indent="-342900">
              <a:spcBef>
                <a:spcPct val="50000"/>
              </a:spcBef>
              <a:buFont typeface="Wingdings" pitchFamily="2" charset="2"/>
              <a:buNone/>
            </a:pPr>
            <a:r>
              <a:rPr lang="en-US" sz="2400" dirty="0" err="1">
                <a:ea typeface="Cambria" pitchFamily="18" charset="0"/>
              </a:rPr>
              <a:t>boolean</a:t>
            </a:r>
            <a:r>
              <a:rPr lang="en-US" sz="2400" dirty="0">
                <a:ea typeface="Cambria" pitchFamily="18" charset="0"/>
              </a:rPr>
              <a:t> b = word1.</a:t>
            </a:r>
            <a:r>
              <a:rPr lang="en-US" sz="2400" b="1" dirty="0">
                <a:ea typeface="Cambria" pitchFamily="18" charset="0"/>
              </a:rPr>
              <a:t>equalsIgnoreCase</a:t>
            </a:r>
            <a:r>
              <a:rPr lang="en-US" sz="2400" dirty="0">
                <a:ea typeface="Cambria" pitchFamily="18" charset="0"/>
              </a:rPr>
              <a:t>(word2);</a:t>
            </a:r>
          </a:p>
          <a:p>
            <a:pPr marL="742950" lvl="1" indent="-285750">
              <a:spcBef>
                <a:spcPct val="0"/>
              </a:spcBef>
              <a:buFont typeface="Wingdings" pitchFamily="2" charset="2"/>
              <a:buNone/>
            </a:pPr>
            <a:r>
              <a:rPr lang="en-US" sz="2400" dirty="0"/>
              <a:t>	returns </a:t>
            </a:r>
            <a:r>
              <a:rPr lang="en-US" sz="2400" b="1" dirty="0"/>
              <a:t>true</a:t>
            </a:r>
            <a:r>
              <a:rPr lang="en-US" sz="2400" dirty="0"/>
              <a:t> if the string </a:t>
            </a:r>
            <a:r>
              <a:rPr lang="en-US" sz="2400" b="1" dirty="0"/>
              <a:t>word1</a:t>
            </a:r>
            <a:r>
              <a:rPr lang="en-US" sz="2400" dirty="0"/>
              <a:t> matches </a:t>
            </a:r>
            <a:r>
              <a:rPr lang="en-US" sz="2400" b="1" dirty="0"/>
              <a:t>word2</a:t>
            </a:r>
            <a:r>
              <a:rPr lang="en-US" sz="2400" dirty="0"/>
              <a:t>, ignoring the case of the string.</a:t>
            </a:r>
          </a:p>
        </p:txBody>
      </p:sp>
      <p:sp>
        <p:nvSpPr>
          <p:cNvPr id="5" name="TextBox 4"/>
          <p:cNvSpPr txBox="1"/>
          <p:nvPr/>
        </p:nvSpPr>
        <p:spPr>
          <a:xfrm>
            <a:off x="356060" y="1687485"/>
            <a:ext cx="8153400" cy="769441"/>
          </a:xfrm>
          <a:prstGeom prst="rect">
            <a:avLst/>
          </a:prstGeom>
          <a:noFill/>
          <a:ln w="19050">
            <a:solidFill>
              <a:schemeClr val="accent1"/>
            </a:solidFill>
            <a:prstDash val="dash"/>
          </a:ln>
        </p:spPr>
        <p:txBody>
          <a:bodyPr wrap="square" rtlCol="0">
            <a:spAutoFit/>
          </a:bodyPr>
          <a:lstStyle/>
          <a:p>
            <a:r>
              <a:rPr lang="en-US" sz="2200" dirty="0">
                <a:solidFill>
                  <a:srgbClr val="6A3E3E"/>
                </a:solidFill>
              </a:rPr>
              <a:t>b</a:t>
            </a:r>
            <a:r>
              <a:rPr lang="en-US" sz="2200" dirty="0">
                <a:solidFill>
                  <a:srgbClr val="000000"/>
                </a:solidFill>
              </a:rPr>
              <a:t> = </a:t>
            </a:r>
            <a:r>
              <a:rPr lang="en-US" sz="2200" dirty="0">
                <a:solidFill>
                  <a:srgbClr val="2A00FF"/>
                </a:solidFill>
              </a:rPr>
              <a:t>"</a:t>
            </a:r>
            <a:r>
              <a:rPr lang="en-US" sz="2200" dirty="0" err="1">
                <a:solidFill>
                  <a:srgbClr val="2A00FF"/>
                </a:solidFill>
              </a:rPr>
              <a:t>Darshan</a:t>
            </a:r>
            <a:r>
              <a:rPr lang="en-US" sz="2200" dirty="0">
                <a:solidFill>
                  <a:srgbClr val="2A00FF"/>
                </a:solidFill>
              </a:rPr>
              <a:t>"</a:t>
            </a:r>
            <a:r>
              <a:rPr lang="en-US" sz="2200" dirty="0">
                <a:solidFill>
                  <a:srgbClr val="000000"/>
                </a:solidFill>
              </a:rPr>
              <a:t>.equals(</a:t>
            </a:r>
            <a:r>
              <a:rPr lang="en-US" sz="2200" dirty="0">
                <a:solidFill>
                  <a:srgbClr val="2A00FF"/>
                </a:solidFill>
              </a:rPr>
              <a:t>"</a:t>
            </a:r>
            <a:r>
              <a:rPr lang="en-US" sz="2200" dirty="0" err="1">
                <a:solidFill>
                  <a:srgbClr val="2A00FF"/>
                </a:solidFill>
              </a:rPr>
              <a:t>Darshan</a:t>
            </a:r>
            <a:r>
              <a:rPr lang="en-US" sz="2200" dirty="0">
                <a:solidFill>
                  <a:srgbClr val="2A00FF"/>
                </a:solidFill>
              </a:rPr>
              <a:t>"</a:t>
            </a:r>
            <a:r>
              <a:rPr lang="en-US" sz="2200" dirty="0">
                <a:solidFill>
                  <a:srgbClr val="000000"/>
                </a:solidFill>
              </a:rPr>
              <a:t>); </a:t>
            </a:r>
            <a:r>
              <a:rPr lang="en-US" sz="2200" dirty="0">
                <a:solidFill>
                  <a:srgbClr val="3F7F5F"/>
                </a:solidFill>
              </a:rPr>
              <a:t>// will return true</a:t>
            </a:r>
          </a:p>
          <a:p>
            <a:r>
              <a:rPr lang="en-US" sz="2200" dirty="0">
                <a:solidFill>
                  <a:srgbClr val="6A3E3E"/>
                </a:solidFill>
              </a:rPr>
              <a:t>b</a:t>
            </a:r>
            <a:r>
              <a:rPr lang="en-US" sz="2200" dirty="0">
                <a:solidFill>
                  <a:srgbClr val="000000"/>
                </a:solidFill>
              </a:rPr>
              <a:t> = </a:t>
            </a:r>
            <a:r>
              <a:rPr lang="en-US" sz="2200" dirty="0">
                <a:solidFill>
                  <a:srgbClr val="2A00FF"/>
                </a:solidFill>
              </a:rPr>
              <a:t>"</a:t>
            </a:r>
            <a:r>
              <a:rPr lang="en-US" sz="2200" dirty="0" err="1">
                <a:solidFill>
                  <a:srgbClr val="2A00FF"/>
                </a:solidFill>
              </a:rPr>
              <a:t>Darshan</a:t>
            </a:r>
            <a:r>
              <a:rPr lang="en-US" sz="2200" dirty="0">
                <a:solidFill>
                  <a:srgbClr val="2A00FF"/>
                </a:solidFill>
              </a:rPr>
              <a:t>"</a:t>
            </a:r>
            <a:r>
              <a:rPr lang="en-US" sz="2200" dirty="0">
                <a:solidFill>
                  <a:srgbClr val="000000"/>
                </a:solidFill>
              </a:rPr>
              <a:t>.equals(</a:t>
            </a:r>
            <a:r>
              <a:rPr lang="en-US" sz="2200" dirty="0">
                <a:solidFill>
                  <a:srgbClr val="2A00FF"/>
                </a:solidFill>
              </a:rPr>
              <a:t>"</a:t>
            </a:r>
            <a:r>
              <a:rPr lang="en-US" sz="2200" dirty="0" err="1">
                <a:solidFill>
                  <a:srgbClr val="2A00FF"/>
                </a:solidFill>
              </a:rPr>
              <a:t>darshan</a:t>
            </a:r>
            <a:r>
              <a:rPr lang="en-US" sz="2200" dirty="0">
                <a:solidFill>
                  <a:srgbClr val="2A00FF"/>
                </a:solidFill>
              </a:rPr>
              <a:t>"</a:t>
            </a:r>
            <a:r>
              <a:rPr lang="en-US" sz="2200" dirty="0">
                <a:solidFill>
                  <a:srgbClr val="000000"/>
                </a:solidFill>
              </a:rPr>
              <a:t>); </a:t>
            </a:r>
            <a:r>
              <a:rPr lang="en-US" sz="2200" dirty="0">
                <a:solidFill>
                  <a:srgbClr val="3F7F5F"/>
                </a:solidFill>
              </a:rPr>
              <a:t>// will return false</a:t>
            </a:r>
            <a:endParaRPr lang="en-US" sz="2200" dirty="0">
              <a:solidFill>
                <a:srgbClr val="000000"/>
              </a:solidFill>
            </a:endParaRPr>
          </a:p>
        </p:txBody>
      </p:sp>
      <p:sp>
        <p:nvSpPr>
          <p:cNvPr id="6" name="TextBox 5"/>
          <p:cNvSpPr txBox="1"/>
          <p:nvPr/>
        </p:nvSpPr>
        <p:spPr>
          <a:xfrm>
            <a:off x="356060" y="3647075"/>
            <a:ext cx="8153400" cy="430887"/>
          </a:xfrm>
          <a:prstGeom prst="rect">
            <a:avLst/>
          </a:prstGeom>
          <a:noFill/>
          <a:ln w="19050">
            <a:solidFill>
              <a:schemeClr val="accent1"/>
            </a:solidFill>
            <a:prstDash val="dash"/>
          </a:ln>
        </p:spPr>
        <p:txBody>
          <a:bodyPr wrap="square" rtlCol="0">
            <a:spAutoFit/>
          </a:bodyPr>
          <a:lstStyle/>
          <a:p>
            <a:r>
              <a:rPr lang="en-US" sz="2200" dirty="0">
                <a:solidFill>
                  <a:srgbClr val="6A3E3E"/>
                </a:solidFill>
              </a:rPr>
              <a:t>b</a:t>
            </a:r>
            <a:r>
              <a:rPr lang="en-US" sz="2200" dirty="0">
                <a:solidFill>
                  <a:srgbClr val="000000"/>
                </a:solidFill>
              </a:rPr>
              <a:t> = </a:t>
            </a:r>
            <a:r>
              <a:rPr lang="en-US" sz="2200" dirty="0">
                <a:solidFill>
                  <a:srgbClr val="2A00FF"/>
                </a:solidFill>
              </a:rPr>
              <a:t>"</a:t>
            </a:r>
            <a:r>
              <a:rPr lang="en-US" sz="2200" dirty="0" err="1">
                <a:solidFill>
                  <a:srgbClr val="2A00FF"/>
                </a:solidFill>
              </a:rPr>
              <a:t>Darshan</a:t>
            </a:r>
            <a:r>
              <a:rPr lang="en-US" sz="2200" dirty="0">
                <a:solidFill>
                  <a:srgbClr val="2A00FF"/>
                </a:solidFill>
              </a:rPr>
              <a:t>"</a:t>
            </a:r>
            <a:r>
              <a:rPr lang="en-US" sz="2200" dirty="0">
                <a:solidFill>
                  <a:srgbClr val="000000"/>
                </a:solidFill>
              </a:rPr>
              <a:t>.</a:t>
            </a:r>
            <a:r>
              <a:rPr lang="en-US" sz="2200" dirty="0" err="1">
                <a:solidFill>
                  <a:srgbClr val="000000"/>
                </a:solidFill>
              </a:rPr>
              <a:t>equalsIgnoreCase</a:t>
            </a:r>
            <a:r>
              <a:rPr lang="en-US" sz="2200" dirty="0">
                <a:solidFill>
                  <a:srgbClr val="000000"/>
                </a:solidFill>
              </a:rPr>
              <a:t>(</a:t>
            </a:r>
            <a:r>
              <a:rPr lang="en-US" sz="2200" dirty="0">
                <a:solidFill>
                  <a:srgbClr val="2A00FF"/>
                </a:solidFill>
              </a:rPr>
              <a:t>"</a:t>
            </a:r>
            <a:r>
              <a:rPr lang="en-US" sz="2200" dirty="0" err="1">
                <a:solidFill>
                  <a:srgbClr val="2A00FF"/>
                </a:solidFill>
              </a:rPr>
              <a:t>darshan</a:t>
            </a:r>
            <a:r>
              <a:rPr lang="en-US" sz="2200" dirty="0">
                <a:solidFill>
                  <a:srgbClr val="2A00FF"/>
                </a:solidFill>
              </a:rPr>
              <a:t>"</a:t>
            </a:r>
            <a:r>
              <a:rPr lang="en-US" sz="2200" dirty="0">
                <a:solidFill>
                  <a:srgbClr val="000000"/>
                </a:solidFill>
              </a:rPr>
              <a:t>); </a:t>
            </a:r>
            <a:r>
              <a:rPr lang="en-US" sz="2200" dirty="0">
                <a:solidFill>
                  <a:srgbClr val="3F7F5F"/>
                </a:solidFill>
              </a:rPr>
              <a:t>// will return true</a:t>
            </a:r>
            <a:endParaRPr lang="en-US" sz="2200" dirty="0">
              <a:solidFill>
                <a:srgbClr val="000000"/>
              </a:solidFill>
            </a:endParaRPr>
          </a:p>
        </p:txBody>
      </p:sp>
    </p:spTree>
    <p:extLst>
      <p:ext uri="{BB962C8B-B14F-4D97-AF65-F5344CB8AC3E}">
        <p14:creationId xmlns:p14="http://schemas.microsoft.com/office/powerpoint/2010/main" val="191851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 Comparisons</a:t>
            </a:r>
          </a:p>
        </p:txBody>
      </p:sp>
      <p:sp>
        <p:nvSpPr>
          <p:cNvPr id="4" name="Rectangle 3"/>
          <p:cNvSpPr>
            <a:spLocks noGrp="1" noChangeArrowheads="1"/>
          </p:cNvSpPr>
          <p:nvPr>
            <p:ph idx="1"/>
          </p:nvPr>
        </p:nvSpPr>
        <p:spPr>
          <a:xfrm>
            <a:off x="873125" y="914400"/>
            <a:ext cx="7661275" cy="2298700"/>
          </a:xfrm>
        </p:spPr>
        <p:txBody>
          <a:bodyPr>
            <a:normAutofit/>
          </a:bodyPr>
          <a:lstStyle/>
          <a:p>
            <a:pPr marL="342900" indent="-342900">
              <a:spcBef>
                <a:spcPct val="50000"/>
              </a:spcBef>
              <a:buFont typeface="Wingdings" pitchFamily="2" charset="2"/>
              <a:buNone/>
            </a:pPr>
            <a:r>
              <a:rPr lang="en-US" sz="2400" dirty="0" err="1">
                <a:ea typeface="Cambria" pitchFamily="18" charset="0"/>
              </a:rPr>
              <a:t>int</a:t>
            </a:r>
            <a:r>
              <a:rPr lang="en-US" sz="2400" dirty="0">
                <a:ea typeface="Cambria" pitchFamily="18" charset="0"/>
              </a:rPr>
              <a:t> diff = word1.</a:t>
            </a:r>
            <a:r>
              <a:rPr lang="en-US" sz="2400" b="1" dirty="0">
                <a:ea typeface="Cambria" pitchFamily="18" charset="0"/>
              </a:rPr>
              <a:t>compareTo</a:t>
            </a:r>
            <a:r>
              <a:rPr lang="en-US" sz="2400" dirty="0">
                <a:ea typeface="Cambria" pitchFamily="18" charset="0"/>
              </a:rPr>
              <a:t>(word2);</a:t>
            </a:r>
          </a:p>
          <a:p>
            <a:pPr marL="742950" lvl="1" indent="-285750">
              <a:spcBef>
                <a:spcPct val="0"/>
              </a:spcBef>
              <a:buFont typeface="Wingdings" pitchFamily="2" charset="2"/>
              <a:buNone/>
            </a:pPr>
            <a:r>
              <a:rPr lang="en-US" sz="2400" dirty="0"/>
              <a:t>	returns the “difference” </a:t>
            </a:r>
            <a:r>
              <a:rPr lang="en-US" sz="2400" b="1" dirty="0"/>
              <a:t>word1</a:t>
            </a:r>
            <a:r>
              <a:rPr lang="en-US" sz="2400" dirty="0"/>
              <a:t> </a:t>
            </a:r>
            <a:r>
              <a:rPr lang="en-US" sz="2400" b="1" dirty="0"/>
              <a:t>-</a:t>
            </a:r>
            <a:r>
              <a:rPr lang="en-US" sz="2400" dirty="0"/>
              <a:t> </a:t>
            </a:r>
            <a:r>
              <a:rPr lang="en-US" sz="2400" b="1" dirty="0"/>
              <a:t>word2</a:t>
            </a:r>
          </a:p>
          <a:p>
            <a:pPr marL="342900" indent="-342900">
              <a:spcBef>
                <a:spcPct val="50000"/>
              </a:spcBef>
              <a:buFont typeface="Wingdings" pitchFamily="2" charset="2"/>
              <a:buNone/>
            </a:pPr>
            <a:r>
              <a:rPr lang="en-US" sz="2400" dirty="0" err="1">
                <a:ea typeface="Cambria" pitchFamily="18" charset="0"/>
              </a:rPr>
              <a:t>int</a:t>
            </a:r>
            <a:r>
              <a:rPr lang="en-US" sz="2400" dirty="0">
                <a:ea typeface="Cambria" pitchFamily="18" charset="0"/>
              </a:rPr>
              <a:t> diff = word1.</a:t>
            </a:r>
            <a:r>
              <a:rPr lang="en-US" sz="2400" b="1" dirty="0">
                <a:ea typeface="Cambria" pitchFamily="18" charset="0"/>
              </a:rPr>
              <a:t>compareToIgnoreCase</a:t>
            </a:r>
            <a:r>
              <a:rPr lang="en-US" sz="2400" dirty="0">
                <a:ea typeface="Cambria" pitchFamily="18" charset="0"/>
              </a:rPr>
              <a:t>(word2);</a:t>
            </a:r>
          </a:p>
          <a:p>
            <a:pPr lvl="1">
              <a:spcBef>
                <a:spcPct val="0"/>
              </a:spcBef>
              <a:buNone/>
            </a:pPr>
            <a:r>
              <a:rPr lang="en-US" sz="2400" dirty="0"/>
              <a:t>	returns the “difference” </a:t>
            </a:r>
            <a:r>
              <a:rPr lang="en-US" sz="2400" b="1" dirty="0"/>
              <a:t>word1 - word2</a:t>
            </a:r>
            <a:r>
              <a:rPr lang="en-US" sz="2400" dirty="0"/>
              <a:t>, </a:t>
            </a:r>
            <a:br>
              <a:rPr lang="en-US" sz="2400" dirty="0"/>
            </a:br>
            <a:r>
              <a:rPr lang="en-US" sz="2400" dirty="0"/>
              <a:t> ignoring the case of the strings</a:t>
            </a:r>
            <a:endParaRPr lang="en-US" sz="2400" b="1" dirty="0"/>
          </a:p>
        </p:txBody>
      </p:sp>
      <p:sp>
        <p:nvSpPr>
          <p:cNvPr id="5" name="Content Placeholder 2"/>
          <p:cNvSpPr txBox="1">
            <a:spLocks/>
          </p:cNvSpPr>
          <p:nvPr/>
        </p:nvSpPr>
        <p:spPr>
          <a:xfrm>
            <a:off x="190500" y="3124200"/>
            <a:ext cx="10491355" cy="3048000"/>
          </a:xfrm>
          <a:prstGeom prst="rect">
            <a:avLst/>
          </a:prstGeom>
        </p:spPr>
        <p:txBody>
          <a:bodyPr vert="horz" lIns="91440" tIns="45720" rIns="91440" bIns="45720" rtlCol="0">
            <a:normAutofit fontScale="92500" lnSpcReduction="20000"/>
          </a:bodyPr>
          <a:lstStyle/>
          <a:p>
            <a:pPr marL="342900" lvl="0" indent="-342900" algn="just">
              <a:lnSpc>
                <a:spcPct val="150000"/>
              </a:lnSpc>
              <a:spcBef>
                <a:spcPct val="20000"/>
              </a:spcBef>
              <a:buClr>
                <a:srgbClr val="C00000"/>
              </a:buClr>
              <a:buFont typeface="Wingdings" panose="05000000000000000000" pitchFamily="2" charset="2"/>
              <a:buChar char="§"/>
            </a:pPr>
            <a:r>
              <a:rPr lang="en-US" sz="2400" dirty="0">
                <a:ea typeface="Times New Roman" panose="02020603050405020304" pitchFamily="18" charset="0"/>
                <a:cs typeface="Times New Roman" panose="02020603050405020304" pitchFamily="18" charset="0"/>
              </a:rPr>
              <a:t>Usually programmers don’t care what the numerical “difference” of </a:t>
            </a:r>
            <a:r>
              <a:rPr lang="en-US" sz="2400" dirty="0">
                <a:ea typeface="Cambria" pitchFamily="18" charset="0"/>
                <a:cs typeface="Times New Roman" panose="02020603050405020304" pitchFamily="18" charset="0"/>
              </a:rPr>
              <a:t>word1 - word2</a:t>
            </a:r>
            <a:r>
              <a:rPr lang="en-US" sz="2400" dirty="0">
                <a:ea typeface="Times New Roman" panose="02020603050405020304" pitchFamily="18" charset="0"/>
                <a:cs typeface="Times New Roman" panose="02020603050405020304" pitchFamily="18" charset="0"/>
              </a:rPr>
              <a:t> is, what matters is if</a:t>
            </a:r>
          </a:p>
          <a:p>
            <a:pPr marL="800100" lvl="1" indent="-342900" algn="just">
              <a:lnSpc>
                <a:spcPct val="150000"/>
              </a:lnSpc>
              <a:spcBef>
                <a:spcPct val="20000"/>
              </a:spcBef>
              <a:buClr>
                <a:srgbClr val="C00000"/>
              </a:buClr>
              <a:buFont typeface="Wingdings" panose="05000000000000000000" pitchFamily="2" charset="2"/>
              <a:buChar char="§"/>
            </a:pPr>
            <a:r>
              <a:rPr lang="en-US" sz="2400" dirty="0">
                <a:ea typeface="Times New Roman" panose="02020603050405020304" pitchFamily="18" charset="0"/>
                <a:cs typeface="Times New Roman" panose="02020603050405020304" pitchFamily="18" charset="0"/>
              </a:rPr>
              <a:t>the difference is negative (word1 less than word2), </a:t>
            </a:r>
          </a:p>
          <a:p>
            <a:pPr marL="800100" lvl="1" indent="-342900" algn="just">
              <a:lnSpc>
                <a:spcPct val="150000"/>
              </a:lnSpc>
              <a:spcBef>
                <a:spcPct val="20000"/>
              </a:spcBef>
              <a:buClr>
                <a:srgbClr val="C00000"/>
              </a:buClr>
              <a:buFont typeface="Wingdings" panose="05000000000000000000" pitchFamily="2" charset="2"/>
              <a:buChar char="§"/>
            </a:pPr>
            <a:r>
              <a:rPr lang="en-US" sz="2400" dirty="0">
                <a:ea typeface="Times New Roman" panose="02020603050405020304" pitchFamily="18" charset="0"/>
                <a:cs typeface="Times New Roman" panose="02020603050405020304" pitchFamily="18" charset="0"/>
              </a:rPr>
              <a:t>zero (word1 and word2 are equal) </a:t>
            </a:r>
          </a:p>
          <a:p>
            <a:pPr marL="800100" lvl="1" indent="-342900" algn="just">
              <a:lnSpc>
                <a:spcPct val="150000"/>
              </a:lnSpc>
              <a:spcBef>
                <a:spcPct val="20000"/>
              </a:spcBef>
              <a:buClr>
                <a:srgbClr val="C00000"/>
              </a:buClr>
              <a:buFont typeface="Wingdings" panose="05000000000000000000" pitchFamily="2" charset="2"/>
              <a:buChar char="§"/>
            </a:pPr>
            <a:r>
              <a:rPr lang="en-US" sz="2400" dirty="0">
                <a:ea typeface="Times New Roman" panose="02020603050405020304" pitchFamily="18" charset="0"/>
                <a:cs typeface="Times New Roman" panose="02020603050405020304" pitchFamily="18" charset="0"/>
              </a:rPr>
              <a:t>or positive (word1 grater than word2).  </a:t>
            </a:r>
          </a:p>
          <a:p>
            <a:pPr marL="342900" indent="-342900" algn="just">
              <a:lnSpc>
                <a:spcPct val="150000"/>
              </a:lnSpc>
              <a:spcBef>
                <a:spcPct val="20000"/>
              </a:spcBef>
              <a:buClr>
                <a:srgbClr val="C00000"/>
              </a:buClr>
              <a:buFont typeface="Wingdings" panose="05000000000000000000" pitchFamily="2" charset="2"/>
              <a:buChar char="§"/>
            </a:pPr>
            <a:r>
              <a:rPr lang="en-US" sz="2400" dirty="0">
                <a:ea typeface="Times New Roman" panose="02020603050405020304" pitchFamily="18" charset="0"/>
                <a:cs typeface="Times New Roman" panose="02020603050405020304" pitchFamily="18" charset="0"/>
              </a:rPr>
              <a:t>Often used in conditional statements.</a:t>
            </a:r>
          </a:p>
        </p:txBody>
      </p:sp>
      <p:sp>
        <p:nvSpPr>
          <p:cNvPr id="6" name="TextBox 5"/>
          <p:cNvSpPr txBox="1"/>
          <p:nvPr/>
        </p:nvSpPr>
        <p:spPr>
          <a:xfrm>
            <a:off x="6660572" y="4781203"/>
            <a:ext cx="4914900" cy="1107996"/>
          </a:xfrm>
          <a:prstGeom prst="rect">
            <a:avLst/>
          </a:prstGeom>
          <a:noFill/>
          <a:ln w="19050">
            <a:solidFill>
              <a:schemeClr val="accent1"/>
            </a:solidFill>
            <a:prstDash val="dash"/>
          </a:ln>
        </p:spPr>
        <p:txBody>
          <a:bodyPr wrap="square" rtlCol="0">
            <a:spAutoFit/>
          </a:bodyPr>
          <a:lstStyle/>
          <a:p>
            <a:r>
              <a:rPr lang="en-US" sz="2200" b="1" dirty="0">
                <a:solidFill>
                  <a:srgbClr val="7F0055"/>
                </a:solidFill>
              </a:rPr>
              <a:t>if</a:t>
            </a:r>
            <a:r>
              <a:rPr lang="en-US" sz="2200" b="1" dirty="0">
                <a:solidFill>
                  <a:srgbClr val="000000"/>
                </a:solidFill>
              </a:rPr>
              <a:t>(</a:t>
            </a:r>
            <a:r>
              <a:rPr lang="en-US" sz="2200" b="1" dirty="0">
                <a:solidFill>
                  <a:srgbClr val="6A3E3E"/>
                </a:solidFill>
              </a:rPr>
              <a:t>word1</a:t>
            </a:r>
            <a:r>
              <a:rPr lang="en-US" sz="2200" b="1" dirty="0">
                <a:solidFill>
                  <a:srgbClr val="000000"/>
                </a:solidFill>
              </a:rPr>
              <a:t>.compareTo(</a:t>
            </a:r>
            <a:r>
              <a:rPr lang="en-US" sz="2200" b="1" dirty="0">
                <a:solidFill>
                  <a:srgbClr val="6A3E3E"/>
                </a:solidFill>
              </a:rPr>
              <a:t>word2</a:t>
            </a:r>
            <a:r>
              <a:rPr lang="en-US" sz="2200" b="1" dirty="0">
                <a:solidFill>
                  <a:srgbClr val="000000"/>
                </a:solidFill>
              </a:rPr>
              <a:t>) &gt; 0){</a:t>
            </a:r>
          </a:p>
          <a:p>
            <a:r>
              <a:rPr lang="en-US" sz="2200" dirty="0">
                <a:solidFill>
                  <a:srgbClr val="3F7F5F"/>
                </a:solidFill>
              </a:rPr>
              <a:t>	//word1 grater than word2…</a:t>
            </a:r>
          </a:p>
          <a:p>
            <a:r>
              <a:rPr lang="en-US" sz="2200" dirty="0">
                <a:solidFill>
                  <a:srgbClr val="000000"/>
                </a:solidFill>
              </a:rPr>
              <a:t>}</a:t>
            </a:r>
            <a:endParaRPr lang="en-US" sz="2200" dirty="0"/>
          </a:p>
        </p:txBody>
      </p:sp>
    </p:spTree>
    <p:extLst>
      <p:ext uri="{BB962C8B-B14F-4D97-AF65-F5344CB8AC3E}">
        <p14:creationId xmlns:p14="http://schemas.microsoft.com/office/powerpoint/2010/main" val="367217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uiExpand="1" build="p"/>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Examples</a:t>
            </a:r>
          </a:p>
        </p:txBody>
      </p:sp>
      <p:sp>
        <p:nvSpPr>
          <p:cNvPr id="4" name="TextBox 3"/>
          <p:cNvSpPr txBox="1"/>
          <p:nvPr/>
        </p:nvSpPr>
        <p:spPr>
          <a:xfrm>
            <a:off x="533400" y="1066800"/>
            <a:ext cx="8153400" cy="1785104"/>
          </a:xfrm>
          <a:prstGeom prst="rect">
            <a:avLst/>
          </a:prstGeom>
          <a:noFill/>
          <a:ln w="19050">
            <a:solidFill>
              <a:schemeClr val="accent1"/>
            </a:solidFill>
            <a:prstDash val="dash"/>
          </a:ln>
        </p:spPr>
        <p:txBody>
          <a:bodyPr wrap="square" rtlCol="0">
            <a:spAutoFit/>
          </a:bodyPr>
          <a:lstStyle/>
          <a:p>
            <a:r>
              <a:rPr lang="en-US" sz="2200" dirty="0">
                <a:solidFill>
                  <a:srgbClr val="3F7F5F"/>
                </a:solidFill>
              </a:rPr>
              <a:t>//negative differences</a:t>
            </a:r>
          </a:p>
          <a:p>
            <a:r>
              <a:rPr lang="en-US" sz="2200" dirty="0">
                <a:solidFill>
                  <a:srgbClr val="6A3E3E"/>
                </a:solidFill>
              </a:rPr>
              <a:t>diff</a:t>
            </a:r>
            <a:r>
              <a:rPr lang="en-US" sz="2200" dirty="0">
                <a:solidFill>
                  <a:srgbClr val="000000"/>
                </a:solidFill>
              </a:rPr>
              <a:t> = </a:t>
            </a:r>
            <a:r>
              <a:rPr lang="en-US" sz="2200" dirty="0">
                <a:solidFill>
                  <a:srgbClr val="2A00FF"/>
                </a:solidFill>
              </a:rPr>
              <a:t>"</a:t>
            </a:r>
            <a:r>
              <a:rPr lang="en-US" sz="2200" dirty="0" err="1">
                <a:solidFill>
                  <a:srgbClr val="2A00FF"/>
                </a:solidFill>
              </a:rPr>
              <a:t>apple"</a:t>
            </a:r>
            <a:r>
              <a:rPr lang="en-US" sz="2200" dirty="0" err="1">
                <a:solidFill>
                  <a:srgbClr val="000000"/>
                </a:solidFill>
              </a:rPr>
              <a:t>.compareTo</a:t>
            </a:r>
            <a:r>
              <a:rPr lang="en-US" sz="2200" dirty="0">
                <a:solidFill>
                  <a:srgbClr val="000000"/>
                </a:solidFill>
              </a:rPr>
              <a:t>(</a:t>
            </a:r>
            <a:r>
              <a:rPr lang="en-US" sz="2200" dirty="0">
                <a:solidFill>
                  <a:srgbClr val="2A00FF"/>
                </a:solidFill>
              </a:rPr>
              <a:t>"berry"</a:t>
            </a:r>
            <a:r>
              <a:rPr lang="en-US" sz="2200" dirty="0">
                <a:solidFill>
                  <a:srgbClr val="000000"/>
                </a:solidFill>
              </a:rPr>
              <a:t>); </a:t>
            </a:r>
            <a:r>
              <a:rPr lang="en-US" sz="2200" dirty="0">
                <a:solidFill>
                  <a:srgbClr val="3F7F5F"/>
                </a:solidFill>
              </a:rPr>
              <a:t>// a less than b</a:t>
            </a:r>
          </a:p>
          <a:p>
            <a:r>
              <a:rPr lang="it-IT" sz="2200" dirty="0">
                <a:solidFill>
                  <a:srgbClr val="6A3E3E"/>
                </a:solidFill>
              </a:rPr>
              <a:t>diff</a:t>
            </a:r>
            <a:r>
              <a:rPr lang="it-IT" sz="2200" dirty="0">
                <a:solidFill>
                  <a:srgbClr val="000000"/>
                </a:solidFill>
              </a:rPr>
              <a:t> = </a:t>
            </a:r>
            <a:r>
              <a:rPr lang="it-IT" sz="2200" dirty="0">
                <a:solidFill>
                  <a:srgbClr val="2A00FF"/>
                </a:solidFill>
              </a:rPr>
              <a:t>"Zebra"</a:t>
            </a:r>
            <a:r>
              <a:rPr lang="it-IT" sz="2200" dirty="0">
                <a:solidFill>
                  <a:srgbClr val="000000"/>
                </a:solidFill>
              </a:rPr>
              <a:t>.compareTo(</a:t>
            </a:r>
            <a:r>
              <a:rPr lang="it-IT" sz="2200" dirty="0">
                <a:solidFill>
                  <a:srgbClr val="2A00FF"/>
                </a:solidFill>
              </a:rPr>
              <a:t>"apple"</a:t>
            </a:r>
            <a:r>
              <a:rPr lang="it-IT" sz="2200" dirty="0">
                <a:solidFill>
                  <a:srgbClr val="000000"/>
                </a:solidFill>
              </a:rPr>
              <a:t>); </a:t>
            </a:r>
            <a:r>
              <a:rPr lang="it-IT" sz="2200" dirty="0">
                <a:solidFill>
                  <a:srgbClr val="3F7F5F"/>
                </a:solidFill>
              </a:rPr>
              <a:t>// Z </a:t>
            </a:r>
            <a:r>
              <a:rPr lang="en-US" sz="2200" dirty="0">
                <a:solidFill>
                  <a:srgbClr val="3F7F5F"/>
                </a:solidFill>
              </a:rPr>
              <a:t>less than </a:t>
            </a:r>
            <a:r>
              <a:rPr lang="it-IT" sz="2200" dirty="0">
                <a:solidFill>
                  <a:srgbClr val="3F7F5F"/>
                </a:solidFill>
              </a:rPr>
              <a:t>a</a:t>
            </a:r>
          </a:p>
          <a:p>
            <a:r>
              <a:rPr lang="en-US" sz="2200" dirty="0">
                <a:solidFill>
                  <a:srgbClr val="6A3E3E"/>
                </a:solidFill>
              </a:rPr>
              <a:t>diff</a:t>
            </a:r>
            <a:r>
              <a:rPr lang="en-US" sz="2200" dirty="0">
                <a:solidFill>
                  <a:srgbClr val="000000"/>
                </a:solidFill>
              </a:rPr>
              <a:t> = </a:t>
            </a:r>
            <a:r>
              <a:rPr lang="en-US" sz="2200" dirty="0">
                <a:solidFill>
                  <a:srgbClr val="2A00FF"/>
                </a:solidFill>
              </a:rPr>
              <a:t>"</a:t>
            </a:r>
            <a:r>
              <a:rPr lang="en-US" sz="2200" dirty="0" err="1">
                <a:solidFill>
                  <a:srgbClr val="2A00FF"/>
                </a:solidFill>
              </a:rPr>
              <a:t>dig"</a:t>
            </a:r>
            <a:r>
              <a:rPr lang="en-US" sz="2200" dirty="0" err="1">
                <a:solidFill>
                  <a:srgbClr val="000000"/>
                </a:solidFill>
              </a:rPr>
              <a:t>.compareTo</a:t>
            </a:r>
            <a:r>
              <a:rPr lang="en-US" sz="2200" dirty="0">
                <a:solidFill>
                  <a:srgbClr val="000000"/>
                </a:solidFill>
              </a:rPr>
              <a:t>(</a:t>
            </a:r>
            <a:r>
              <a:rPr lang="en-US" sz="2200" dirty="0">
                <a:solidFill>
                  <a:srgbClr val="2A00FF"/>
                </a:solidFill>
              </a:rPr>
              <a:t>"dug"</a:t>
            </a:r>
            <a:r>
              <a:rPr lang="en-US" sz="2200" dirty="0">
                <a:solidFill>
                  <a:srgbClr val="000000"/>
                </a:solidFill>
              </a:rPr>
              <a:t>); </a:t>
            </a:r>
            <a:r>
              <a:rPr lang="en-US" sz="2200" dirty="0">
                <a:solidFill>
                  <a:srgbClr val="3F7F5F"/>
                </a:solidFill>
              </a:rPr>
              <a:t>// </a:t>
            </a:r>
            <a:r>
              <a:rPr lang="en-US" sz="2200" dirty="0" err="1">
                <a:solidFill>
                  <a:srgbClr val="3F7F5F"/>
                </a:solidFill>
              </a:rPr>
              <a:t>i</a:t>
            </a:r>
            <a:r>
              <a:rPr lang="en-US" sz="2200" dirty="0">
                <a:solidFill>
                  <a:srgbClr val="3F7F5F"/>
                </a:solidFill>
              </a:rPr>
              <a:t> less than u</a:t>
            </a:r>
          </a:p>
          <a:p>
            <a:r>
              <a:rPr lang="en-US" sz="2200" dirty="0">
                <a:solidFill>
                  <a:srgbClr val="6A3E3E"/>
                </a:solidFill>
              </a:rPr>
              <a:t>diff</a:t>
            </a:r>
            <a:r>
              <a:rPr lang="en-US" sz="2200" dirty="0">
                <a:solidFill>
                  <a:srgbClr val="000000"/>
                </a:solidFill>
              </a:rPr>
              <a:t> = </a:t>
            </a:r>
            <a:r>
              <a:rPr lang="en-US" sz="2200" dirty="0">
                <a:solidFill>
                  <a:srgbClr val="2A00FF"/>
                </a:solidFill>
              </a:rPr>
              <a:t>"</a:t>
            </a:r>
            <a:r>
              <a:rPr lang="en-US" sz="2200" dirty="0" err="1">
                <a:solidFill>
                  <a:srgbClr val="2A00FF"/>
                </a:solidFill>
              </a:rPr>
              <a:t>dig"</a:t>
            </a:r>
            <a:r>
              <a:rPr lang="en-US" sz="2200" dirty="0" err="1">
                <a:solidFill>
                  <a:srgbClr val="000000"/>
                </a:solidFill>
              </a:rPr>
              <a:t>.compareTo</a:t>
            </a:r>
            <a:r>
              <a:rPr lang="en-US" sz="2200" dirty="0">
                <a:solidFill>
                  <a:srgbClr val="000000"/>
                </a:solidFill>
              </a:rPr>
              <a:t>(</a:t>
            </a:r>
            <a:r>
              <a:rPr lang="en-US" sz="2200" dirty="0">
                <a:solidFill>
                  <a:srgbClr val="2A00FF"/>
                </a:solidFill>
              </a:rPr>
              <a:t>"digs"</a:t>
            </a:r>
            <a:r>
              <a:rPr lang="en-US" sz="2200" dirty="0">
                <a:solidFill>
                  <a:srgbClr val="000000"/>
                </a:solidFill>
              </a:rPr>
              <a:t>); </a:t>
            </a:r>
            <a:r>
              <a:rPr lang="en-US" sz="2200" dirty="0">
                <a:solidFill>
                  <a:srgbClr val="3F7F5F"/>
                </a:solidFill>
              </a:rPr>
              <a:t>// dig is shorter</a:t>
            </a:r>
            <a:endParaRPr lang="en-US" sz="2200" dirty="0">
              <a:solidFill>
                <a:srgbClr val="000000"/>
              </a:solidFill>
            </a:endParaRPr>
          </a:p>
        </p:txBody>
      </p:sp>
      <p:sp>
        <p:nvSpPr>
          <p:cNvPr id="5" name="TextBox 4"/>
          <p:cNvSpPr txBox="1"/>
          <p:nvPr/>
        </p:nvSpPr>
        <p:spPr>
          <a:xfrm>
            <a:off x="533400" y="2851904"/>
            <a:ext cx="8153400" cy="1107996"/>
          </a:xfrm>
          <a:prstGeom prst="rect">
            <a:avLst/>
          </a:prstGeom>
          <a:noFill/>
          <a:ln w="19050">
            <a:solidFill>
              <a:schemeClr val="accent1"/>
            </a:solidFill>
            <a:prstDash val="dash"/>
          </a:ln>
        </p:spPr>
        <p:txBody>
          <a:bodyPr wrap="square" rtlCol="0">
            <a:spAutoFit/>
          </a:bodyPr>
          <a:lstStyle/>
          <a:p>
            <a:r>
              <a:rPr lang="en-US" sz="2200" dirty="0">
                <a:solidFill>
                  <a:srgbClr val="3F7F5F"/>
                </a:solidFill>
              </a:rPr>
              <a:t>//zero differences</a:t>
            </a:r>
          </a:p>
          <a:p>
            <a:r>
              <a:rPr lang="en-US" sz="2200" dirty="0">
                <a:solidFill>
                  <a:srgbClr val="6A3E3E"/>
                </a:solidFill>
              </a:rPr>
              <a:t>diff</a:t>
            </a:r>
            <a:r>
              <a:rPr lang="en-US" sz="2200" dirty="0">
                <a:solidFill>
                  <a:srgbClr val="000000"/>
                </a:solidFill>
              </a:rPr>
              <a:t> = </a:t>
            </a:r>
            <a:r>
              <a:rPr lang="en-US" sz="2200" dirty="0">
                <a:solidFill>
                  <a:srgbClr val="2A00FF"/>
                </a:solidFill>
              </a:rPr>
              <a:t>"</a:t>
            </a:r>
            <a:r>
              <a:rPr lang="en-US" sz="2200" dirty="0" err="1">
                <a:solidFill>
                  <a:srgbClr val="2A00FF"/>
                </a:solidFill>
              </a:rPr>
              <a:t>apple"</a:t>
            </a:r>
            <a:r>
              <a:rPr lang="en-US" sz="2200" dirty="0" err="1">
                <a:solidFill>
                  <a:srgbClr val="000000"/>
                </a:solidFill>
              </a:rPr>
              <a:t>.compareTo</a:t>
            </a:r>
            <a:r>
              <a:rPr lang="en-US" sz="2200" dirty="0">
                <a:solidFill>
                  <a:srgbClr val="000000"/>
                </a:solidFill>
              </a:rPr>
              <a:t>(</a:t>
            </a:r>
            <a:r>
              <a:rPr lang="en-US" sz="2200" dirty="0">
                <a:solidFill>
                  <a:srgbClr val="2A00FF"/>
                </a:solidFill>
              </a:rPr>
              <a:t>"apple"</a:t>
            </a:r>
            <a:r>
              <a:rPr lang="en-US" sz="2200" dirty="0">
                <a:solidFill>
                  <a:srgbClr val="000000"/>
                </a:solidFill>
              </a:rPr>
              <a:t>); </a:t>
            </a:r>
            <a:r>
              <a:rPr lang="en-US" sz="2200" dirty="0">
                <a:solidFill>
                  <a:srgbClr val="3F7F5F"/>
                </a:solidFill>
              </a:rPr>
              <a:t>// equal</a:t>
            </a:r>
          </a:p>
          <a:p>
            <a:r>
              <a:rPr lang="en-US" sz="2200" dirty="0">
                <a:solidFill>
                  <a:srgbClr val="6A3E3E"/>
                </a:solidFill>
              </a:rPr>
              <a:t>diff</a:t>
            </a:r>
            <a:r>
              <a:rPr lang="en-US" sz="2200" dirty="0">
                <a:solidFill>
                  <a:srgbClr val="000000"/>
                </a:solidFill>
              </a:rPr>
              <a:t> = </a:t>
            </a:r>
            <a:r>
              <a:rPr lang="en-US" sz="2200" dirty="0">
                <a:solidFill>
                  <a:srgbClr val="2A00FF"/>
                </a:solidFill>
              </a:rPr>
              <a:t>"</a:t>
            </a:r>
            <a:r>
              <a:rPr lang="en-US" sz="2200" dirty="0" err="1">
                <a:solidFill>
                  <a:srgbClr val="2A00FF"/>
                </a:solidFill>
              </a:rPr>
              <a:t>dig"</a:t>
            </a:r>
            <a:r>
              <a:rPr lang="en-US" sz="2200" dirty="0" err="1">
                <a:solidFill>
                  <a:srgbClr val="000000"/>
                </a:solidFill>
              </a:rPr>
              <a:t>.compareToIgnoreCase</a:t>
            </a:r>
            <a:r>
              <a:rPr lang="en-US" sz="2200" dirty="0">
                <a:solidFill>
                  <a:srgbClr val="000000"/>
                </a:solidFill>
              </a:rPr>
              <a:t>(</a:t>
            </a:r>
            <a:r>
              <a:rPr lang="en-US" sz="2200" dirty="0">
                <a:solidFill>
                  <a:srgbClr val="2A00FF"/>
                </a:solidFill>
              </a:rPr>
              <a:t>"DIG"</a:t>
            </a:r>
            <a:r>
              <a:rPr lang="en-US" sz="2200" dirty="0">
                <a:solidFill>
                  <a:srgbClr val="000000"/>
                </a:solidFill>
              </a:rPr>
              <a:t>); </a:t>
            </a:r>
            <a:r>
              <a:rPr lang="en-US" sz="2200" dirty="0">
                <a:solidFill>
                  <a:srgbClr val="3F7F5F"/>
                </a:solidFill>
              </a:rPr>
              <a:t>// equal</a:t>
            </a:r>
            <a:endParaRPr lang="en-US" sz="2200" dirty="0">
              <a:solidFill>
                <a:srgbClr val="000000"/>
              </a:solidFill>
            </a:endParaRPr>
          </a:p>
        </p:txBody>
      </p:sp>
      <p:sp>
        <p:nvSpPr>
          <p:cNvPr id="6" name="TextBox 5"/>
          <p:cNvSpPr txBox="1"/>
          <p:nvPr/>
        </p:nvSpPr>
        <p:spPr>
          <a:xfrm>
            <a:off x="533400" y="3959900"/>
            <a:ext cx="8153400" cy="1785104"/>
          </a:xfrm>
          <a:prstGeom prst="rect">
            <a:avLst/>
          </a:prstGeom>
          <a:noFill/>
          <a:ln w="19050">
            <a:solidFill>
              <a:schemeClr val="accent1"/>
            </a:solidFill>
            <a:prstDash val="dash"/>
          </a:ln>
        </p:spPr>
        <p:txBody>
          <a:bodyPr wrap="square" rtlCol="0">
            <a:spAutoFit/>
          </a:bodyPr>
          <a:lstStyle/>
          <a:p>
            <a:r>
              <a:rPr lang="en-US" sz="2200" dirty="0">
                <a:solidFill>
                  <a:srgbClr val="3F7F5F"/>
                </a:solidFill>
              </a:rPr>
              <a:t>//positive differences</a:t>
            </a:r>
          </a:p>
          <a:p>
            <a:r>
              <a:rPr lang="en-US" sz="2200" dirty="0">
                <a:solidFill>
                  <a:srgbClr val="6A3E3E"/>
                </a:solidFill>
              </a:rPr>
              <a:t>diff</a:t>
            </a:r>
            <a:r>
              <a:rPr lang="en-US" sz="2200" dirty="0">
                <a:solidFill>
                  <a:srgbClr val="000000"/>
                </a:solidFill>
              </a:rPr>
              <a:t> = </a:t>
            </a:r>
            <a:r>
              <a:rPr lang="en-US" sz="2200" dirty="0">
                <a:solidFill>
                  <a:srgbClr val="2A00FF"/>
                </a:solidFill>
              </a:rPr>
              <a:t>"</a:t>
            </a:r>
            <a:r>
              <a:rPr lang="en-US" sz="2200" dirty="0" err="1">
                <a:solidFill>
                  <a:srgbClr val="2A00FF"/>
                </a:solidFill>
              </a:rPr>
              <a:t>berry"</a:t>
            </a:r>
            <a:r>
              <a:rPr lang="en-US" sz="2200" dirty="0" err="1">
                <a:solidFill>
                  <a:srgbClr val="000000"/>
                </a:solidFill>
              </a:rPr>
              <a:t>.compareTo</a:t>
            </a:r>
            <a:r>
              <a:rPr lang="en-US" sz="2200" dirty="0">
                <a:solidFill>
                  <a:srgbClr val="000000"/>
                </a:solidFill>
              </a:rPr>
              <a:t>(</a:t>
            </a:r>
            <a:r>
              <a:rPr lang="en-US" sz="2200" dirty="0">
                <a:solidFill>
                  <a:srgbClr val="2A00FF"/>
                </a:solidFill>
              </a:rPr>
              <a:t>"apple"</a:t>
            </a:r>
            <a:r>
              <a:rPr lang="en-US" sz="2200" dirty="0">
                <a:solidFill>
                  <a:srgbClr val="000000"/>
                </a:solidFill>
              </a:rPr>
              <a:t>); </a:t>
            </a:r>
            <a:r>
              <a:rPr lang="en-US" sz="2200" dirty="0">
                <a:solidFill>
                  <a:srgbClr val="3F7F5F"/>
                </a:solidFill>
              </a:rPr>
              <a:t>// b grater than a</a:t>
            </a:r>
          </a:p>
          <a:p>
            <a:r>
              <a:rPr lang="en-US" sz="2200" dirty="0">
                <a:solidFill>
                  <a:srgbClr val="6A3E3E"/>
                </a:solidFill>
              </a:rPr>
              <a:t>diff</a:t>
            </a:r>
            <a:r>
              <a:rPr lang="en-US" sz="2200" dirty="0">
                <a:solidFill>
                  <a:srgbClr val="000000"/>
                </a:solidFill>
              </a:rPr>
              <a:t> = </a:t>
            </a:r>
            <a:r>
              <a:rPr lang="en-US" sz="2200" dirty="0">
                <a:solidFill>
                  <a:srgbClr val="2A00FF"/>
                </a:solidFill>
              </a:rPr>
              <a:t>"</a:t>
            </a:r>
            <a:r>
              <a:rPr lang="en-US" sz="2200" dirty="0" err="1">
                <a:solidFill>
                  <a:srgbClr val="2A00FF"/>
                </a:solidFill>
              </a:rPr>
              <a:t>apple"</a:t>
            </a:r>
            <a:r>
              <a:rPr lang="en-US" sz="2200" dirty="0" err="1">
                <a:solidFill>
                  <a:srgbClr val="000000"/>
                </a:solidFill>
              </a:rPr>
              <a:t>.compareTo</a:t>
            </a:r>
            <a:r>
              <a:rPr lang="en-US" sz="2200" dirty="0">
                <a:solidFill>
                  <a:srgbClr val="000000"/>
                </a:solidFill>
              </a:rPr>
              <a:t>(</a:t>
            </a:r>
            <a:r>
              <a:rPr lang="en-US" sz="2200" dirty="0">
                <a:solidFill>
                  <a:srgbClr val="2A00FF"/>
                </a:solidFill>
              </a:rPr>
              <a:t>"Apple"</a:t>
            </a:r>
            <a:r>
              <a:rPr lang="en-US" sz="2200" dirty="0">
                <a:solidFill>
                  <a:srgbClr val="000000"/>
                </a:solidFill>
              </a:rPr>
              <a:t>); </a:t>
            </a:r>
            <a:r>
              <a:rPr lang="en-US" sz="2200" dirty="0">
                <a:solidFill>
                  <a:srgbClr val="3F7F5F"/>
                </a:solidFill>
              </a:rPr>
              <a:t>// a grater than A</a:t>
            </a:r>
          </a:p>
          <a:p>
            <a:r>
              <a:rPr lang="en-US" sz="2200" dirty="0">
                <a:solidFill>
                  <a:srgbClr val="6A3E3E"/>
                </a:solidFill>
              </a:rPr>
              <a:t>diff</a:t>
            </a:r>
            <a:r>
              <a:rPr lang="en-US" sz="2200" dirty="0">
                <a:solidFill>
                  <a:srgbClr val="000000"/>
                </a:solidFill>
              </a:rPr>
              <a:t> = </a:t>
            </a:r>
            <a:r>
              <a:rPr lang="en-US" sz="2200" dirty="0">
                <a:solidFill>
                  <a:srgbClr val="2A00FF"/>
                </a:solidFill>
              </a:rPr>
              <a:t>"BIT"</a:t>
            </a:r>
            <a:r>
              <a:rPr lang="en-US" sz="2200" dirty="0">
                <a:solidFill>
                  <a:srgbClr val="000000"/>
                </a:solidFill>
              </a:rPr>
              <a:t>.</a:t>
            </a:r>
            <a:r>
              <a:rPr lang="en-US" sz="2200" dirty="0" err="1">
                <a:solidFill>
                  <a:srgbClr val="000000"/>
                </a:solidFill>
              </a:rPr>
              <a:t>compareTo</a:t>
            </a:r>
            <a:r>
              <a:rPr lang="en-US" sz="2200" dirty="0">
                <a:solidFill>
                  <a:srgbClr val="000000"/>
                </a:solidFill>
              </a:rPr>
              <a:t>(</a:t>
            </a:r>
            <a:r>
              <a:rPr lang="en-US" sz="2200" dirty="0">
                <a:solidFill>
                  <a:srgbClr val="2A00FF"/>
                </a:solidFill>
              </a:rPr>
              <a:t>"BIG"</a:t>
            </a:r>
            <a:r>
              <a:rPr lang="en-US" sz="2200" dirty="0">
                <a:solidFill>
                  <a:srgbClr val="000000"/>
                </a:solidFill>
              </a:rPr>
              <a:t>); </a:t>
            </a:r>
            <a:r>
              <a:rPr lang="en-US" sz="2200" dirty="0">
                <a:solidFill>
                  <a:srgbClr val="3F7F5F"/>
                </a:solidFill>
              </a:rPr>
              <a:t>// T grater than G</a:t>
            </a:r>
          </a:p>
          <a:p>
            <a:r>
              <a:rPr lang="en-US" sz="2200" dirty="0">
                <a:solidFill>
                  <a:srgbClr val="6A3E3E"/>
                </a:solidFill>
              </a:rPr>
              <a:t>diff</a:t>
            </a:r>
            <a:r>
              <a:rPr lang="en-US" sz="2200" dirty="0">
                <a:solidFill>
                  <a:srgbClr val="000000"/>
                </a:solidFill>
              </a:rPr>
              <a:t> = </a:t>
            </a:r>
            <a:r>
              <a:rPr lang="en-US" sz="2200" dirty="0">
                <a:solidFill>
                  <a:srgbClr val="2A00FF"/>
                </a:solidFill>
              </a:rPr>
              <a:t>"</a:t>
            </a:r>
            <a:r>
              <a:rPr lang="en-US" sz="2200" dirty="0" err="1">
                <a:solidFill>
                  <a:srgbClr val="2A00FF"/>
                </a:solidFill>
              </a:rPr>
              <a:t>application"</a:t>
            </a:r>
            <a:r>
              <a:rPr lang="en-US" sz="2200" dirty="0" err="1">
                <a:solidFill>
                  <a:srgbClr val="000000"/>
                </a:solidFill>
              </a:rPr>
              <a:t>.compareTo</a:t>
            </a:r>
            <a:r>
              <a:rPr lang="en-US" sz="2200" dirty="0">
                <a:solidFill>
                  <a:srgbClr val="000000"/>
                </a:solidFill>
              </a:rPr>
              <a:t>(</a:t>
            </a:r>
            <a:r>
              <a:rPr lang="en-US" sz="2200" dirty="0">
                <a:solidFill>
                  <a:srgbClr val="2A00FF"/>
                </a:solidFill>
              </a:rPr>
              <a:t>"app"</a:t>
            </a:r>
            <a:r>
              <a:rPr lang="en-US" sz="2200" dirty="0">
                <a:solidFill>
                  <a:srgbClr val="000000"/>
                </a:solidFill>
              </a:rPr>
              <a:t>); </a:t>
            </a:r>
            <a:r>
              <a:rPr lang="en-US" sz="2200" dirty="0">
                <a:solidFill>
                  <a:srgbClr val="3F7F5F"/>
                </a:solidFill>
              </a:rPr>
              <a:t>// application is longer</a:t>
            </a:r>
            <a:endParaRPr lang="en-US" sz="2200" dirty="0">
              <a:solidFill>
                <a:srgbClr val="000000"/>
              </a:solidFill>
            </a:endParaRPr>
          </a:p>
        </p:txBody>
      </p:sp>
    </p:spTree>
    <p:extLst>
      <p:ext uri="{BB962C8B-B14F-4D97-AF65-F5344CB8AC3E}">
        <p14:creationId xmlns:p14="http://schemas.microsoft.com/office/powerpoint/2010/main" val="38443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 trim &amp; replace</a:t>
            </a:r>
          </a:p>
        </p:txBody>
      </p:sp>
      <p:sp>
        <p:nvSpPr>
          <p:cNvPr id="4" name="Rectangle 3"/>
          <p:cNvSpPr>
            <a:spLocks noGrp="1" noChangeArrowheads="1"/>
          </p:cNvSpPr>
          <p:nvPr>
            <p:ph idx="1"/>
          </p:nvPr>
        </p:nvSpPr>
        <p:spPr>
          <a:xfrm>
            <a:off x="131181" y="1428712"/>
            <a:ext cx="5720980" cy="2145763"/>
          </a:xfrm>
        </p:spPr>
        <p:txBody>
          <a:bodyPr/>
          <a:lstStyle/>
          <a:p>
            <a:pPr marL="342900" indent="-342900" algn="just">
              <a:spcBef>
                <a:spcPct val="0"/>
              </a:spcBef>
              <a:buClr>
                <a:schemeClr val="tx1"/>
              </a:buClr>
              <a:buFont typeface="Wingdings" pitchFamily="2" charset="2"/>
              <a:buNone/>
            </a:pPr>
            <a:r>
              <a:rPr lang="en-US" sz="2400" dirty="0">
                <a:ea typeface="Cambria" pitchFamily="18" charset="0"/>
              </a:rPr>
              <a:t>String word2 = </a:t>
            </a:r>
            <a:r>
              <a:rPr lang="en-US" sz="2400" b="1" dirty="0">
                <a:ea typeface="Cambria" pitchFamily="18" charset="0"/>
              </a:rPr>
              <a:t>word1.trim()</a:t>
            </a:r>
            <a:r>
              <a:rPr lang="en-US" sz="2400" dirty="0">
                <a:ea typeface="Cambria" pitchFamily="18" charset="0"/>
              </a:rPr>
              <a:t>;</a:t>
            </a:r>
          </a:p>
          <a:p>
            <a:pPr lvl="1" algn="just">
              <a:spcBef>
                <a:spcPct val="0"/>
              </a:spcBef>
              <a:buClr>
                <a:srgbClr val="B71B1C"/>
              </a:buClr>
            </a:pPr>
            <a:r>
              <a:rPr lang="en-US" sz="2400" dirty="0"/>
              <a:t>returns a new string formed from </a:t>
            </a:r>
            <a:r>
              <a:rPr lang="en-US" sz="2400" b="1" dirty="0"/>
              <a:t>word1</a:t>
            </a:r>
            <a:r>
              <a:rPr lang="en-US" sz="2400" dirty="0"/>
              <a:t> by removing white space at both ends, </a:t>
            </a:r>
          </a:p>
          <a:p>
            <a:pPr lvl="1" algn="just">
              <a:spcBef>
                <a:spcPct val="0"/>
              </a:spcBef>
              <a:buClr>
                <a:srgbClr val="B71B1C"/>
              </a:buClr>
            </a:pPr>
            <a:r>
              <a:rPr lang="en-US" sz="2400" dirty="0"/>
              <a:t>it does not affect whites space in the middle.</a:t>
            </a:r>
          </a:p>
        </p:txBody>
      </p:sp>
      <p:sp>
        <p:nvSpPr>
          <p:cNvPr id="5" name="TextBox 4"/>
          <p:cNvSpPr txBox="1"/>
          <p:nvPr/>
        </p:nvSpPr>
        <p:spPr>
          <a:xfrm>
            <a:off x="272935" y="3686172"/>
            <a:ext cx="5579225" cy="1446550"/>
          </a:xfrm>
          <a:prstGeom prst="rect">
            <a:avLst/>
          </a:prstGeom>
          <a:noFill/>
          <a:ln w="19050">
            <a:solidFill>
              <a:schemeClr val="accent1"/>
            </a:solidFill>
            <a:prstDash val="dash"/>
          </a:ln>
        </p:spPr>
        <p:txBody>
          <a:bodyPr wrap="square" rtlCol="0">
            <a:spAutoFit/>
          </a:bodyPr>
          <a:lstStyle/>
          <a:p>
            <a:r>
              <a:rPr lang="en-US" sz="2200" dirty="0">
                <a:solidFill>
                  <a:srgbClr val="000000"/>
                </a:solidFill>
              </a:rPr>
              <a:t>String </a:t>
            </a:r>
            <a:r>
              <a:rPr lang="en-US" sz="2200" dirty="0">
                <a:solidFill>
                  <a:srgbClr val="6A3E3E"/>
                </a:solidFill>
              </a:rPr>
              <a:t>word1</a:t>
            </a:r>
            <a:r>
              <a:rPr lang="en-US" sz="2200" dirty="0">
                <a:solidFill>
                  <a:srgbClr val="000000"/>
                </a:solidFill>
              </a:rPr>
              <a:t> = </a:t>
            </a:r>
            <a:r>
              <a:rPr lang="en-US" sz="2200" dirty="0">
                <a:solidFill>
                  <a:srgbClr val="2A00FF"/>
                </a:solidFill>
              </a:rPr>
              <a:t>"     Hello From </a:t>
            </a:r>
            <a:r>
              <a:rPr lang="en-US" sz="2200" dirty="0" err="1">
                <a:solidFill>
                  <a:srgbClr val="2A00FF"/>
                </a:solidFill>
              </a:rPr>
              <a:t>Darshan</a:t>
            </a:r>
            <a:r>
              <a:rPr lang="en-US" sz="2200" dirty="0">
                <a:solidFill>
                  <a:srgbClr val="2A00FF"/>
                </a:solidFill>
              </a:rPr>
              <a:t> "</a:t>
            </a:r>
            <a:r>
              <a:rPr lang="en-US" sz="2200" dirty="0">
                <a:solidFill>
                  <a:srgbClr val="000000"/>
                </a:solidFill>
              </a:rPr>
              <a:t>;</a:t>
            </a:r>
          </a:p>
          <a:p>
            <a:r>
              <a:rPr lang="en-US" sz="2200" dirty="0">
                <a:solidFill>
                  <a:srgbClr val="000000"/>
                </a:solidFill>
              </a:rPr>
              <a:t>String </a:t>
            </a:r>
            <a:r>
              <a:rPr lang="en-US" sz="2200" dirty="0">
                <a:solidFill>
                  <a:srgbClr val="6A3E3E"/>
                </a:solidFill>
              </a:rPr>
              <a:t>word2</a:t>
            </a:r>
            <a:r>
              <a:rPr lang="en-US" sz="2200" dirty="0">
                <a:solidFill>
                  <a:srgbClr val="000000"/>
                </a:solidFill>
              </a:rPr>
              <a:t> = </a:t>
            </a:r>
            <a:r>
              <a:rPr lang="en-US" sz="2200" dirty="0">
                <a:solidFill>
                  <a:srgbClr val="6A3E3E"/>
                </a:solidFill>
              </a:rPr>
              <a:t>word1</a:t>
            </a:r>
            <a:r>
              <a:rPr lang="en-US" sz="2200" dirty="0">
                <a:solidFill>
                  <a:srgbClr val="000000"/>
                </a:solidFill>
              </a:rPr>
              <a:t>.trim();</a:t>
            </a:r>
          </a:p>
          <a:p>
            <a:r>
              <a:rPr lang="en-US" sz="2200" dirty="0">
                <a:solidFill>
                  <a:srgbClr val="3F7F5F"/>
                </a:solidFill>
              </a:rPr>
              <a:t>// word2 is "</a:t>
            </a:r>
            <a:r>
              <a:rPr lang="en-US" sz="2200" b="1" dirty="0">
                <a:solidFill>
                  <a:srgbClr val="3F7F5F"/>
                </a:solidFill>
              </a:rPr>
              <a:t>Hello From </a:t>
            </a:r>
            <a:r>
              <a:rPr lang="en-US" sz="2200" b="1" dirty="0" err="1">
                <a:solidFill>
                  <a:srgbClr val="3F7F5F"/>
                </a:solidFill>
              </a:rPr>
              <a:t>Darshan</a:t>
            </a:r>
            <a:r>
              <a:rPr lang="en-US" sz="2200" dirty="0">
                <a:solidFill>
                  <a:srgbClr val="3F7F5F"/>
                </a:solidFill>
              </a:rPr>
              <a:t>"</a:t>
            </a:r>
          </a:p>
          <a:p>
            <a:r>
              <a:rPr lang="en-US" sz="2200" dirty="0">
                <a:solidFill>
                  <a:srgbClr val="3F7F5F"/>
                </a:solidFill>
              </a:rPr>
              <a:t>// </a:t>
            </a:r>
            <a:r>
              <a:rPr lang="en-US" sz="2200" dirty="0">
                <a:solidFill>
                  <a:srgbClr val="C00000"/>
                </a:solidFill>
              </a:rPr>
              <a:t>no spaces on either end</a:t>
            </a:r>
          </a:p>
        </p:txBody>
      </p:sp>
      <p:sp>
        <p:nvSpPr>
          <p:cNvPr id="6" name="Rectangle 3"/>
          <p:cNvSpPr txBox="1">
            <a:spLocks noChangeArrowheads="1"/>
          </p:cNvSpPr>
          <p:nvPr/>
        </p:nvSpPr>
        <p:spPr>
          <a:xfrm>
            <a:off x="6096000" y="1427635"/>
            <a:ext cx="5777345" cy="146581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50000"/>
              </a:spcBef>
              <a:buClr>
                <a:schemeClr val="tx1"/>
              </a:buClr>
              <a:buFont typeface="Wingdings 3" panose="05040102010807070707" pitchFamily="18" charset="2"/>
              <a:buNone/>
            </a:pPr>
            <a:r>
              <a:rPr lang="en-US" dirty="0"/>
              <a:t>String word2 = word1.</a:t>
            </a:r>
            <a:r>
              <a:rPr lang="en-US" b="1" dirty="0"/>
              <a:t>replace</a:t>
            </a:r>
            <a:r>
              <a:rPr lang="en-US" dirty="0"/>
              <a:t>(</a:t>
            </a:r>
            <a:r>
              <a:rPr lang="en-US" dirty="0" err="1"/>
              <a:t>oldCh</a:t>
            </a:r>
            <a:r>
              <a:rPr lang="en-US" dirty="0"/>
              <a:t>, </a:t>
            </a:r>
            <a:r>
              <a:rPr lang="en-US" dirty="0" err="1"/>
              <a:t>newCh</a:t>
            </a:r>
            <a:r>
              <a:rPr lang="en-US" dirty="0"/>
              <a:t>);</a:t>
            </a:r>
          </a:p>
          <a:p>
            <a:pPr lvl="1">
              <a:spcBef>
                <a:spcPct val="0"/>
              </a:spcBef>
              <a:buClr>
                <a:srgbClr val="B71B1C"/>
              </a:buClr>
            </a:pPr>
            <a:r>
              <a:rPr lang="en-US" sz="2400" dirty="0"/>
              <a:t>returns a new string formed from </a:t>
            </a:r>
            <a:r>
              <a:rPr lang="en-US" sz="2400" b="1" dirty="0"/>
              <a:t>word1</a:t>
            </a:r>
            <a:r>
              <a:rPr lang="en-US" sz="2400" dirty="0"/>
              <a:t> by replacing all occurrences of </a:t>
            </a:r>
            <a:r>
              <a:rPr lang="en-US" sz="2400" b="1" dirty="0" err="1"/>
              <a:t>oldCh</a:t>
            </a:r>
            <a:r>
              <a:rPr lang="en-US" sz="2400" dirty="0"/>
              <a:t> with </a:t>
            </a:r>
            <a:r>
              <a:rPr lang="en-US" sz="2400" b="1" dirty="0" err="1"/>
              <a:t>newCh</a:t>
            </a:r>
            <a:endParaRPr lang="en-US" sz="2400" b="1" dirty="0"/>
          </a:p>
        </p:txBody>
      </p:sp>
      <p:cxnSp>
        <p:nvCxnSpPr>
          <p:cNvPr id="7" name="Straight Connector 6"/>
          <p:cNvCxnSpPr/>
          <p:nvPr/>
        </p:nvCxnSpPr>
        <p:spPr>
          <a:xfrm>
            <a:off x="6026728" y="812905"/>
            <a:ext cx="0" cy="569596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201296" y="3017578"/>
            <a:ext cx="5914503" cy="3139321"/>
          </a:xfrm>
          <a:prstGeom prst="rect">
            <a:avLst/>
          </a:prstGeom>
          <a:noFill/>
          <a:ln w="19050">
            <a:solidFill>
              <a:schemeClr val="accent1"/>
            </a:solidFill>
            <a:prstDash val="dash"/>
          </a:ln>
        </p:spPr>
        <p:txBody>
          <a:bodyPr wrap="square" rtlCol="0">
            <a:spAutoFit/>
          </a:bodyPr>
          <a:lstStyle/>
          <a:p>
            <a:r>
              <a:rPr lang="en-US" sz="2200" dirty="0">
                <a:solidFill>
                  <a:srgbClr val="000000"/>
                </a:solidFill>
              </a:rPr>
              <a:t>String </a:t>
            </a:r>
            <a:r>
              <a:rPr lang="en-US" sz="2200" dirty="0">
                <a:solidFill>
                  <a:srgbClr val="6A3E3E"/>
                </a:solidFill>
              </a:rPr>
              <a:t>word1</a:t>
            </a:r>
            <a:r>
              <a:rPr lang="en-US" sz="2200" dirty="0">
                <a:solidFill>
                  <a:srgbClr val="000000"/>
                </a:solidFill>
              </a:rPr>
              <a:t> = </a:t>
            </a:r>
            <a:r>
              <a:rPr lang="en-US" sz="2200" dirty="0">
                <a:solidFill>
                  <a:srgbClr val="2A00FF"/>
                </a:solidFill>
              </a:rPr>
              <a:t>"late"</a:t>
            </a:r>
            <a:r>
              <a:rPr lang="en-US" sz="2200" dirty="0">
                <a:solidFill>
                  <a:srgbClr val="000000"/>
                </a:solidFill>
              </a:rPr>
              <a:t>;</a:t>
            </a:r>
          </a:p>
          <a:p>
            <a:r>
              <a:rPr lang="en-US" sz="2200" dirty="0">
                <a:solidFill>
                  <a:srgbClr val="000000"/>
                </a:solidFill>
              </a:rPr>
              <a:t>String </a:t>
            </a:r>
            <a:r>
              <a:rPr lang="en-US" sz="2200" dirty="0">
                <a:solidFill>
                  <a:srgbClr val="6A3E3E"/>
                </a:solidFill>
              </a:rPr>
              <a:t>word2</a:t>
            </a:r>
            <a:r>
              <a:rPr lang="en-US" sz="2200" dirty="0">
                <a:solidFill>
                  <a:srgbClr val="000000"/>
                </a:solidFill>
              </a:rPr>
              <a:t> = </a:t>
            </a:r>
            <a:r>
              <a:rPr lang="en-US" sz="2200" dirty="0">
                <a:solidFill>
                  <a:srgbClr val="6A3E3E"/>
                </a:solidFill>
              </a:rPr>
              <a:t>word1</a:t>
            </a:r>
            <a:r>
              <a:rPr lang="en-US" sz="2200" dirty="0">
                <a:solidFill>
                  <a:srgbClr val="000000"/>
                </a:solidFill>
              </a:rPr>
              <a:t>.replace(</a:t>
            </a:r>
            <a:r>
              <a:rPr lang="en-US" sz="2200" dirty="0">
                <a:solidFill>
                  <a:srgbClr val="2A00FF"/>
                </a:solidFill>
              </a:rPr>
              <a:t>'l'</a:t>
            </a:r>
            <a:r>
              <a:rPr lang="en-US" sz="2200" dirty="0">
                <a:solidFill>
                  <a:srgbClr val="000000"/>
                </a:solidFill>
              </a:rPr>
              <a:t>, </a:t>
            </a:r>
            <a:r>
              <a:rPr lang="en-US" sz="2200" dirty="0">
                <a:solidFill>
                  <a:srgbClr val="2A00FF"/>
                </a:solidFill>
              </a:rPr>
              <a:t>'h'</a:t>
            </a:r>
            <a:r>
              <a:rPr lang="en-US" sz="2200" dirty="0">
                <a:solidFill>
                  <a:srgbClr val="000000"/>
                </a:solidFill>
              </a:rPr>
              <a:t>); </a:t>
            </a:r>
          </a:p>
          <a:p>
            <a:r>
              <a:rPr lang="en-US" sz="2200" dirty="0" err="1">
                <a:solidFill>
                  <a:srgbClr val="000000"/>
                </a:solidFill>
              </a:rPr>
              <a:t>System.</a:t>
            </a:r>
            <a:r>
              <a:rPr lang="en-US" sz="2200" b="1" i="1" dirty="0" err="1">
                <a:solidFill>
                  <a:srgbClr val="0000C0"/>
                </a:solidFill>
              </a:rPr>
              <a:t>out</a:t>
            </a:r>
            <a:r>
              <a:rPr lang="en-US" sz="2200" b="1" i="1" dirty="0" err="1">
                <a:solidFill>
                  <a:srgbClr val="000000"/>
                </a:solidFill>
              </a:rPr>
              <a:t>.println</a:t>
            </a:r>
            <a:r>
              <a:rPr lang="en-US" sz="2200" b="1" i="1" dirty="0">
                <a:solidFill>
                  <a:srgbClr val="000000"/>
                </a:solidFill>
              </a:rPr>
              <a:t>(</a:t>
            </a:r>
            <a:r>
              <a:rPr lang="en-US" sz="2200" b="1" i="1" dirty="0">
                <a:solidFill>
                  <a:srgbClr val="6A3E3E"/>
                </a:solidFill>
              </a:rPr>
              <a:t>word2</a:t>
            </a:r>
            <a:r>
              <a:rPr lang="en-US" sz="2200" b="1" i="1" dirty="0">
                <a:solidFill>
                  <a:srgbClr val="000000"/>
                </a:solidFill>
              </a:rPr>
              <a:t>);</a:t>
            </a:r>
            <a:endParaRPr lang="en-US" sz="2200" dirty="0">
              <a:solidFill>
                <a:srgbClr val="000000"/>
              </a:solidFill>
            </a:endParaRPr>
          </a:p>
          <a:p>
            <a:r>
              <a:rPr lang="en-US" sz="2200" dirty="0">
                <a:solidFill>
                  <a:srgbClr val="3F7F5F"/>
                </a:solidFill>
              </a:rPr>
              <a:t>//Output : "</a:t>
            </a:r>
            <a:r>
              <a:rPr lang="en-US" sz="2200" b="1" dirty="0">
                <a:solidFill>
                  <a:srgbClr val="3F7F5F"/>
                </a:solidFill>
              </a:rPr>
              <a:t>hate</a:t>
            </a:r>
            <a:r>
              <a:rPr lang="en-US" sz="2200" dirty="0">
                <a:solidFill>
                  <a:srgbClr val="3F7F5F"/>
                </a:solidFill>
              </a:rPr>
              <a:t>"</a:t>
            </a:r>
          </a:p>
          <a:p>
            <a:endParaRPr lang="en-US" sz="2200" dirty="0"/>
          </a:p>
          <a:p>
            <a:r>
              <a:rPr lang="en-US" sz="2200" dirty="0">
                <a:solidFill>
                  <a:srgbClr val="000000"/>
                </a:solidFill>
              </a:rPr>
              <a:t>String </a:t>
            </a:r>
            <a:r>
              <a:rPr lang="en-US" sz="2200" dirty="0">
                <a:solidFill>
                  <a:srgbClr val="6A3E3E"/>
                </a:solidFill>
              </a:rPr>
              <a:t>str1</a:t>
            </a:r>
            <a:r>
              <a:rPr lang="en-US" sz="2200" dirty="0">
                <a:solidFill>
                  <a:srgbClr val="000000"/>
                </a:solidFill>
              </a:rPr>
              <a:t> = </a:t>
            </a:r>
            <a:r>
              <a:rPr lang="en-US" sz="2200" dirty="0">
                <a:solidFill>
                  <a:srgbClr val="2A00FF"/>
                </a:solidFill>
              </a:rPr>
              <a:t>"Hello World"</a:t>
            </a:r>
            <a:r>
              <a:rPr lang="en-US" sz="2200" dirty="0">
                <a:solidFill>
                  <a:srgbClr val="000000"/>
                </a:solidFill>
              </a:rPr>
              <a:t>;</a:t>
            </a:r>
          </a:p>
          <a:p>
            <a:r>
              <a:rPr lang="en-US" sz="2200" dirty="0">
                <a:solidFill>
                  <a:srgbClr val="000000"/>
                </a:solidFill>
              </a:rPr>
              <a:t>String </a:t>
            </a:r>
            <a:r>
              <a:rPr lang="en-US" sz="2200" dirty="0">
                <a:solidFill>
                  <a:srgbClr val="6A3E3E"/>
                </a:solidFill>
              </a:rPr>
              <a:t>str2</a:t>
            </a:r>
            <a:r>
              <a:rPr lang="en-US" sz="2200" dirty="0">
                <a:solidFill>
                  <a:srgbClr val="000000"/>
                </a:solidFill>
              </a:rPr>
              <a:t> = </a:t>
            </a:r>
            <a:r>
              <a:rPr lang="en-US" sz="2200" dirty="0">
                <a:solidFill>
                  <a:srgbClr val="6A3E3E"/>
                </a:solidFill>
              </a:rPr>
              <a:t>str1</a:t>
            </a:r>
            <a:r>
              <a:rPr lang="en-US" sz="2200" dirty="0">
                <a:solidFill>
                  <a:srgbClr val="000000"/>
                </a:solidFill>
              </a:rPr>
              <a:t>.replace(</a:t>
            </a:r>
            <a:r>
              <a:rPr lang="en-US" sz="2200" dirty="0">
                <a:solidFill>
                  <a:srgbClr val="2A00FF"/>
                </a:solidFill>
              </a:rPr>
              <a:t>"</a:t>
            </a:r>
            <a:r>
              <a:rPr lang="en-US" sz="2200" dirty="0" err="1">
                <a:solidFill>
                  <a:srgbClr val="2A00FF"/>
                </a:solidFill>
              </a:rPr>
              <a:t>World"</a:t>
            </a:r>
            <a:r>
              <a:rPr lang="en-US" sz="2200" dirty="0" err="1">
                <a:solidFill>
                  <a:srgbClr val="000000"/>
                </a:solidFill>
              </a:rPr>
              <a:t>,</a:t>
            </a:r>
            <a:r>
              <a:rPr lang="en-US" sz="2200" dirty="0" err="1">
                <a:solidFill>
                  <a:srgbClr val="2A00FF"/>
                </a:solidFill>
              </a:rPr>
              <a:t>"Everyone</a:t>
            </a:r>
            <a:r>
              <a:rPr lang="en-US" sz="2200" dirty="0">
                <a:solidFill>
                  <a:srgbClr val="2A00FF"/>
                </a:solidFill>
              </a:rPr>
              <a:t>"</a:t>
            </a:r>
            <a:r>
              <a:rPr lang="en-US" sz="2200" dirty="0">
                <a:solidFill>
                  <a:srgbClr val="000000"/>
                </a:solidFill>
              </a:rPr>
              <a:t>); </a:t>
            </a:r>
          </a:p>
          <a:p>
            <a:r>
              <a:rPr lang="en-US" sz="2200" dirty="0" err="1">
                <a:solidFill>
                  <a:srgbClr val="000000"/>
                </a:solidFill>
              </a:rPr>
              <a:t>System.</a:t>
            </a:r>
            <a:r>
              <a:rPr lang="en-US" sz="2200" b="1" i="1" dirty="0" err="1">
                <a:solidFill>
                  <a:srgbClr val="0000C0"/>
                </a:solidFill>
              </a:rPr>
              <a:t>out</a:t>
            </a:r>
            <a:r>
              <a:rPr lang="en-US" sz="2200" b="1" i="1" dirty="0" err="1">
                <a:solidFill>
                  <a:srgbClr val="000000"/>
                </a:solidFill>
              </a:rPr>
              <a:t>.println</a:t>
            </a:r>
            <a:r>
              <a:rPr lang="en-US" sz="2200" b="1" i="1" dirty="0">
                <a:solidFill>
                  <a:srgbClr val="000000"/>
                </a:solidFill>
              </a:rPr>
              <a:t>(</a:t>
            </a:r>
            <a:r>
              <a:rPr lang="en-US" sz="2200" b="1" i="1" dirty="0">
                <a:solidFill>
                  <a:srgbClr val="6A3E3E"/>
                </a:solidFill>
              </a:rPr>
              <a:t>str2</a:t>
            </a:r>
            <a:r>
              <a:rPr lang="en-US" sz="2200" b="1" i="1" dirty="0">
                <a:solidFill>
                  <a:srgbClr val="000000"/>
                </a:solidFill>
              </a:rPr>
              <a:t>);</a:t>
            </a:r>
          </a:p>
          <a:p>
            <a:r>
              <a:rPr lang="en-US" sz="2200" dirty="0">
                <a:solidFill>
                  <a:srgbClr val="3F7F5F"/>
                </a:solidFill>
              </a:rPr>
              <a:t>// Output : "</a:t>
            </a:r>
            <a:r>
              <a:rPr lang="en-US" sz="2200" b="1" dirty="0">
                <a:solidFill>
                  <a:srgbClr val="3F7F5F"/>
                </a:solidFill>
              </a:rPr>
              <a:t>Hello Everyone</a:t>
            </a:r>
            <a:r>
              <a:rPr lang="en-US" sz="2200" dirty="0">
                <a:solidFill>
                  <a:srgbClr val="3F7F5F"/>
                </a:solidFill>
              </a:rPr>
              <a:t>"</a:t>
            </a:r>
            <a:endParaRPr lang="en-US" sz="2200" dirty="0">
              <a:solidFill>
                <a:srgbClr val="C00000"/>
              </a:solidFill>
            </a:endParaRPr>
          </a:p>
        </p:txBody>
      </p:sp>
      <p:sp>
        <p:nvSpPr>
          <p:cNvPr id="10" name="Content Placeholder 2"/>
          <p:cNvSpPr txBox="1">
            <a:spLocks/>
          </p:cNvSpPr>
          <p:nvPr/>
        </p:nvSpPr>
        <p:spPr>
          <a:xfrm>
            <a:off x="2128406" y="905373"/>
            <a:ext cx="2590800" cy="5334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90000"/>
              </a:lnSpc>
              <a:spcBef>
                <a:spcPct val="20000"/>
              </a:spcBef>
              <a:spcAft>
                <a:spcPts val="0"/>
              </a:spcAft>
              <a:buClrTx/>
              <a:buSzTx/>
              <a:buFont typeface="Wingdings" panose="05000000000000000000" pitchFamily="2" charset="2"/>
              <a:buNone/>
              <a:tabLst/>
              <a:defRPr/>
            </a:pPr>
            <a:r>
              <a:rPr lang="en-IN" sz="2400" b="1" dirty="0">
                <a:latin typeface="+mj-lt"/>
                <a:ea typeface="Times New Roman" panose="02020603050405020304" pitchFamily="18" charset="0"/>
                <a:cs typeface="Times New Roman" panose="02020603050405020304" pitchFamily="18" charset="0"/>
              </a:rPr>
              <a:t>trim() method</a:t>
            </a:r>
            <a:endParaRPr kumimoji="0" lang="en-US" sz="2400" b="1" i="0" u="none" strike="noStrike" kern="1200" cap="none" spc="0" normalizeH="0" baseline="0" noProof="0" dirty="0">
              <a:ln>
                <a:noFill/>
              </a:ln>
              <a:effectLst/>
              <a:uLnTx/>
              <a:uFillTx/>
              <a:latin typeface="+mj-lt"/>
              <a:ea typeface="Times New Roman" panose="02020603050405020304" pitchFamily="18" charset="0"/>
              <a:cs typeface="Times New Roman" panose="02020603050405020304" pitchFamily="18" charset="0"/>
            </a:endParaRPr>
          </a:p>
        </p:txBody>
      </p:sp>
      <p:sp>
        <p:nvSpPr>
          <p:cNvPr id="11" name="Content Placeholder 2"/>
          <p:cNvSpPr txBox="1">
            <a:spLocks/>
          </p:cNvSpPr>
          <p:nvPr/>
        </p:nvSpPr>
        <p:spPr>
          <a:xfrm>
            <a:off x="7689272" y="905373"/>
            <a:ext cx="2590800" cy="5334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90000"/>
              </a:lnSpc>
              <a:spcBef>
                <a:spcPct val="20000"/>
              </a:spcBef>
              <a:spcAft>
                <a:spcPts val="0"/>
              </a:spcAft>
              <a:buClrTx/>
              <a:buSzTx/>
              <a:buFont typeface="Wingdings" panose="05000000000000000000" pitchFamily="2" charset="2"/>
              <a:buNone/>
              <a:tabLst/>
              <a:defRPr/>
            </a:pPr>
            <a:r>
              <a:rPr lang="en-IN" sz="2400" b="1" dirty="0">
                <a:latin typeface="+mj-lt"/>
                <a:ea typeface="Times New Roman" panose="02020603050405020304" pitchFamily="18" charset="0"/>
                <a:cs typeface="Times New Roman" panose="02020603050405020304" pitchFamily="18" charset="0"/>
              </a:rPr>
              <a:t>replace() method</a:t>
            </a:r>
            <a:endParaRPr kumimoji="0" lang="en-US" sz="2400" b="1" i="0" u="none" strike="noStrike" kern="1200" cap="none" spc="0" normalizeH="0" baseline="0" noProof="0" dirty="0">
              <a:ln>
                <a:noFill/>
              </a:ln>
              <a:effectLst/>
              <a:uLnTx/>
              <a:uFillTx/>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2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bg/>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bldLvl="5" animBg="1"/>
      <p:bldP spid="6" grpId="0" build="p"/>
      <p:bldP spid="9" grpId="0" build="p" bldLvl="5" animBg="1"/>
      <p:bldP spid="10" grpId="0" build="p"/>
      <p:bldP spid="1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 Changing Case</a:t>
            </a:r>
          </a:p>
        </p:txBody>
      </p:sp>
      <p:sp>
        <p:nvSpPr>
          <p:cNvPr id="4" name="Rectangle 3"/>
          <p:cNvSpPr/>
          <p:nvPr/>
        </p:nvSpPr>
        <p:spPr>
          <a:xfrm>
            <a:off x="246610" y="938275"/>
            <a:ext cx="11682153" cy="1569660"/>
          </a:xfrm>
          <a:prstGeom prst="rect">
            <a:avLst/>
          </a:prstGeom>
        </p:spPr>
        <p:txBody>
          <a:bodyPr wrap="square">
            <a:spAutoFit/>
          </a:bodyPr>
          <a:lstStyle/>
          <a:p>
            <a:pPr marL="342900" indent="-342900" algn="just">
              <a:spcBef>
                <a:spcPct val="0"/>
              </a:spcBef>
              <a:buClr>
                <a:schemeClr val="tx1"/>
              </a:buClr>
              <a:buFont typeface="Wingdings" pitchFamily="2" charset="2"/>
              <a:buNone/>
            </a:pPr>
            <a:r>
              <a:rPr lang="en-US" sz="2400" dirty="0">
                <a:ea typeface="Cambria" pitchFamily="18" charset="0"/>
              </a:rPr>
              <a:t>String word2 = word1.</a:t>
            </a:r>
            <a:r>
              <a:rPr lang="en-US" sz="2400" b="1" dirty="0">
                <a:ea typeface="Cambria" pitchFamily="18" charset="0"/>
              </a:rPr>
              <a:t>toUpperCase</a:t>
            </a:r>
            <a:r>
              <a:rPr lang="en-US" sz="2400" dirty="0">
                <a:ea typeface="Cambria" pitchFamily="18" charset="0"/>
              </a:rPr>
              <a:t>();</a:t>
            </a:r>
          </a:p>
          <a:p>
            <a:pPr marL="800100" lvl="1" indent="-342900" algn="just">
              <a:spcBef>
                <a:spcPct val="0"/>
              </a:spcBef>
              <a:buClr>
                <a:schemeClr val="tx1"/>
              </a:buClr>
              <a:buFont typeface="Wingdings" pitchFamily="2" charset="2"/>
              <a:buNone/>
            </a:pPr>
            <a:r>
              <a:rPr lang="en-US" sz="2400" dirty="0"/>
              <a:t>returns a new string formed from word1 by </a:t>
            </a:r>
            <a:r>
              <a:rPr lang="en-US" sz="2400" b="1" dirty="0"/>
              <a:t>converting</a:t>
            </a:r>
            <a:r>
              <a:rPr lang="en-US" sz="2400" dirty="0"/>
              <a:t> its characters to </a:t>
            </a:r>
            <a:r>
              <a:rPr lang="en-US" sz="2400" b="1" dirty="0"/>
              <a:t>upper</a:t>
            </a:r>
            <a:r>
              <a:rPr lang="en-US" sz="2400" dirty="0"/>
              <a:t> case</a:t>
            </a:r>
          </a:p>
          <a:p>
            <a:pPr marL="342900" indent="-342900" algn="just">
              <a:spcBef>
                <a:spcPct val="0"/>
              </a:spcBef>
              <a:buClr>
                <a:schemeClr val="tx1"/>
              </a:buClr>
              <a:buFont typeface="Wingdings" pitchFamily="2" charset="2"/>
              <a:buNone/>
            </a:pPr>
            <a:r>
              <a:rPr lang="en-US" sz="2400" dirty="0">
                <a:ea typeface="Cambria" pitchFamily="18" charset="0"/>
              </a:rPr>
              <a:t>String word3 = word1.</a:t>
            </a:r>
            <a:r>
              <a:rPr lang="en-US" sz="2400" b="1" dirty="0">
                <a:ea typeface="Cambria" pitchFamily="18" charset="0"/>
              </a:rPr>
              <a:t>toLowerCase</a:t>
            </a:r>
            <a:r>
              <a:rPr lang="en-US" sz="2400" dirty="0">
                <a:ea typeface="Cambria" pitchFamily="18" charset="0"/>
              </a:rPr>
              <a:t>();</a:t>
            </a:r>
          </a:p>
          <a:p>
            <a:pPr lvl="1" algn="just">
              <a:spcBef>
                <a:spcPct val="0"/>
              </a:spcBef>
            </a:pPr>
            <a:r>
              <a:rPr lang="en-US" sz="2400" dirty="0"/>
              <a:t>returns a new string formed from word1 by </a:t>
            </a:r>
            <a:r>
              <a:rPr lang="en-US" sz="2400" b="1" dirty="0"/>
              <a:t>converting</a:t>
            </a:r>
            <a:r>
              <a:rPr lang="en-US" sz="2400" dirty="0"/>
              <a:t> its characters to </a:t>
            </a:r>
            <a:r>
              <a:rPr lang="en-US" sz="2400" b="1" dirty="0"/>
              <a:t>lower</a:t>
            </a:r>
            <a:r>
              <a:rPr lang="en-US" sz="2400" dirty="0"/>
              <a:t> case</a:t>
            </a:r>
          </a:p>
        </p:txBody>
      </p:sp>
      <p:sp>
        <p:nvSpPr>
          <p:cNvPr id="5" name="TextBox 4"/>
          <p:cNvSpPr txBox="1"/>
          <p:nvPr/>
        </p:nvSpPr>
        <p:spPr>
          <a:xfrm>
            <a:off x="338050" y="3220221"/>
            <a:ext cx="7086600" cy="1107996"/>
          </a:xfrm>
          <a:prstGeom prst="rect">
            <a:avLst/>
          </a:prstGeom>
          <a:noFill/>
          <a:ln w="19050">
            <a:solidFill>
              <a:schemeClr val="accent1"/>
            </a:solidFill>
            <a:prstDash val="dash"/>
          </a:ln>
        </p:spPr>
        <p:txBody>
          <a:bodyPr wrap="square" rtlCol="0">
            <a:spAutoFit/>
          </a:bodyPr>
          <a:lstStyle/>
          <a:p>
            <a:r>
              <a:rPr lang="en-US" sz="2200" dirty="0">
                <a:solidFill>
                  <a:srgbClr val="000000"/>
                </a:solidFill>
              </a:rPr>
              <a:t>String </a:t>
            </a:r>
            <a:r>
              <a:rPr lang="en-US" sz="2200" dirty="0">
                <a:solidFill>
                  <a:srgbClr val="6A3E3E"/>
                </a:solidFill>
              </a:rPr>
              <a:t>word1</a:t>
            </a:r>
            <a:r>
              <a:rPr lang="en-US" sz="2200" dirty="0">
                <a:solidFill>
                  <a:srgbClr val="000000"/>
                </a:solidFill>
              </a:rPr>
              <a:t> = </a:t>
            </a:r>
            <a:r>
              <a:rPr lang="en-US" sz="2200" dirty="0">
                <a:solidFill>
                  <a:srgbClr val="2A00FF"/>
                </a:solidFill>
              </a:rPr>
              <a:t>"</a:t>
            </a:r>
            <a:r>
              <a:rPr lang="en-US" sz="2200" dirty="0" err="1">
                <a:solidFill>
                  <a:srgbClr val="2A00FF"/>
                </a:solidFill>
              </a:rPr>
              <a:t>HeLLo</a:t>
            </a:r>
            <a:r>
              <a:rPr lang="en-US" sz="2200" dirty="0">
                <a:solidFill>
                  <a:srgbClr val="2A00FF"/>
                </a:solidFill>
              </a:rPr>
              <a:t>"</a:t>
            </a:r>
            <a:r>
              <a:rPr lang="en-US" sz="2200" dirty="0">
                <a:solidFill>
                  <a:srgbClr val="000000"/>
                </a:solidFill>
              </a:rPr>
              <a:t>;</a:t>
            </a:r>
          </a:p>
          <a:p>
            <a:r>
              <a:rPr lang="en-US" sz="2200" dirty="0">
                <a:solidFill>
                  <a:srgbClr val="000000"/>
                </a:solidFill>
              </a:rPr>
              <a:t>String </a:t>
            </a:r>
            <a:r>
              <a:rPr lang="en-US" sz="2200" dirty="0">
                <a:solidFill>
                  <a:srgbClr val="6A3E3E"/>
                </a:solidFill>
              </a:rPr>
              <a:t>word2</a:t>
            </a:r>
            <a:r>
              <a:rPr lang="en-US" sz="2200" dirty="0">
                <a:solidFill>
                  <a:srgbClr val="000000"/>
                </a:solidFill>
              </a:rPr>
              <a:t> = </a:t>
            </a:r>
            <a:r>
              <a:rPr lang="en-US" sz="2200" dirty="0">
                <a:solidFill>
                  <a:srgbClr val="6A3E3E"/>
                </a:solidFill>
              </a:rPr>
              <a:t>word1</a:t>
            </a:r>
            <a:r>
              <a:rPr lang="en-US" sz="2200" dirty="0">
                <a:solidFill>
                  <a:srgbClr val="000000"/>
                </a:solidFill>
              </a:rPr>
              <a:t>.toUpperCase(); </a:t>
            </a:r>
            <a:r>
              <a:rPr lang="en-US" sz="2200" dirty="0">
                <a:solidFill>
                  <a:srgbClr val="3F7F5F"/>
                </a:solidFill>
              </a:rPr>
              <a:t>// "HELLO"</a:t>
            </a:r>
          </a:p>
          <a:p>
            <a:r>
              <a:rPr lang="en-US" sz="2200" dirty="0">
                <a:solidFill>
                  <a:srgbClr val="000000"/>
                </a:solidFill>
              </a:rPr>
              <a:t>String </a:t>
            </a:r>
            <a:r>
              <a:rPr lang="en-US" sz="2200" dirty="0">
                <a:solidFill>
                  <a:srgbClr val="6A3E3E"/>
                </a:solidFill>
              </a:rPr>
              <a:t>word3</a:t>
            </a:r>
            <a:r>
              <a:rPr lang="en-US" sz="2200" dirty="0">
                <a:solidFill>
                  <a:srgbClr val="000000"/>
                </a:solidFill>
              </a:rPr>
              <a:t> = </a:t>
            </a:r>
            <a:r>
              <a:rPr lang="en-US" sz="2200" dirty="0">
                <a:solidFill>
                  <a:srgbClr val="6A3E3E"/>
                </a:solidFill>
              </a:rPr>
              <a:t>word1</a:t>
            </a:r>
            <a:r>
              <a:rPr lang="en-US" sz="2200" dirty="0">
                <a:solidFill>
                  <a:srgbClr val="000000"/>
                </a:solidFill>
              </a:rPr>
              <a:t>.toLowerCase(); </a:t>
            </a:r>
            <a:r>
              <a:rPr lang="en-US" sz="2200" dirty="0">
                <a:solidFill>
                  <a:srgbClr val="3F7F5F"/>
                </a:solidFill>
              </a:rPr>
              <a:t>//</a:t>
            </a:r>
            <a:r>
              <a:rPr lang="en-US" sz="2200" dirty="0">
                <a:solidFill>
                  <a:srgbClr val="2A00FF"/>
                </a:solidFill>
              </a:rPr>
              <a:t> </a:t>
            </a:r>
            <a:r>
              <a:rPr lang="en-US" sz="2200" dirty="0">
                <a:solidFill>
                  <a:srgbClr val="3F7F5F"/>
                </a:solidFill>
              </a:rPr>
              <a:t>"hello"</a:t>
            </a:r>
          </a:p>
        </p:txBody>
      </p:sp>
    </p:spTree>
    <p:extLst>
      <p:ext uri="{BB962C8B-B14F-4D97-AF65-F5344CB8AC3E}">
        <p14:creationId xmlns:p14="http://schemas.microsoft.com/office/powerpoint/2010/main" val="408010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bldLvl="5"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StringBuffer</a:t>
            </a:r>
            <a:endParaRPr lang="en-US" dirty="0"/>
          </a:p>
        </p:txBody>
      </p:sp>
      <p:sp>
        <p:nvSpPr>
          <p:cNvPr id="3" name="Content Placeholder 2"/>
          <p:cNvSpPr>
            <a:spLocks noGrp="1"/>
          </p:cNvSpPr>
          <p:nvPr>
            <p:ph idx="1"/>
          </p:nvPr>
        </p:nvSpPr>
        <p:spPr/>
        <p:txBody>
          <a:bodyPr/>
          <a:lstStyle/>
          <a:p>
            <a:pPr>
              <a:buClr>
                <a:srgbClr val="B71B1C"/>
              </a:buClr>
            </a:pPr>
            <a:r>
              <a:rPr lang="en-US" dirty="0"/>
              <a:t>The </a:t>
            </a:r>
            <a:r>
              <a:rPr lang="en-US" b="1" dirty="0" err="1"/>
              <a:t>java.lang.StringBuffer</a:t>
            </a:r>
            <a:r>
              <a:rPr lang="en-US" dirty="0"/>
              <a:t> class is a thread-safe, mutable sequence of characters. </a:t>
            </a:r>
          </a:p>
          <a:p>
            <a:pPr>
              <a:buClr>
                <a:srgbClr val="B71B1C"/>
              </a:buClr>
            </a:pPr>
            <a:r>
              <a:rPr lang="en-US" dirty="0"/>
              <a:t>Following are the important points about </a:t>
            </a:r>
            <a:r>
              <a:rPr lang="en-US" dirty="0" err="1"/>
              <a:t>StringBuffer</a:t>
            </a:r>
            <a:r>
              <a:rPr lang="en-US" dirty="0"/>
              <a:t>:</a:t>
            </a:r>
          </a:p>
          <a:p>
            <a:pPr lvl="1">
              <a:buClr>
                <a:srgbClr val="B71B1C"/>
              </a:buClr>
            </a:pPr>
            <a:r>
              <a:rPr lang="en-US" sz="2200" dirty="0"/>
              <a:t>A string buffer is like a String, but can be </a:t>
            </a:r>
            <a:r>
              <a:rPr lang="en-US" sz="2200" b="1" dirty="0"/>
              <a:t>modified</a:t>
            </a:r>
            <a:r>
              <a:rPr lang="en-US" sz="2200" dirty="0"/>
              <a:t> (</a:t>
            </a:r>
            <a:r>
              <a:rPr lang="en-US" sz="2200" b="1" dirty="0"/>
              <a:t>mutable</a:t>
            </a:r>
            <a:r>
              <a:rPr lang="en-US" sz="2200" dirty="0"/>
              <a:t>).</a:t>
            </a:r>
          </a:p>
          <a:p>
            <a:pPr lvl="1">
              <a:buClr>
                <a:srgbClr val="B71B1C"/>
              </a:buClr>
            </a:pPr>
            <a:r>
              <a:rPr lang="en-US" sz="2200" dirty="0"/>
              <a:t>It contains some particular sequence of characters, but the length and content of the sequence can be changed through certain method calls.</a:t>
            </a:r>
          </a:p>
          <a:p>
            <a:pPr lvl="1">
              <a:buClr>
                <a:srgbClr val="B71B1C"/>
              </a:buClr>
            </a:pPr>
            <a:r>
              <a:rPr lang="en-US" sz="2200" dirty="0"/>
              <a:t>They are </a:t>
            </a:r>
            <a:r>
              <a:rPr lang="en-US" sz="2200" b="1" dirty="0"/>
              <a:t>safe</a:t>
            </a:r>
            <a:r>
              <a:rPr lang="en-US" sz="2200" dirty="0"/>
              <a:t> for use by multiple </a:t>
            </a:r>
            <a:r>
              <a:rPr lang="en-US" sz="2200" b="1" dirty="0"/>
              <a:t>threads</a:t>
            </a:r>
            <a:r>
              <a:rPr lang="en-US" sz="2200" dirty="0"/>
              <a:t>.</a:t>
            </a:r>
          </a:p>
          <a:p>
            <a:pPr>
              <a:buClr>
                <a:srgbClr val="B71B1C"/>
              </a:buClr>
            </a:pPr>
            <a:r>
              <a:rPr lang="en-US" dirty="0" err="1"/>
              <a:t>StringBuffer</a:t>
            </a:r>
            <a:r>
              <a:rPr lang="en-US" dirty="0"/>
              <a:t> Constructors:</a:t>
            </a:r>
          </a:p>
          <a:p>
            <a:endParaRPr lang="en-US" dirty="0"/>
          </a:p>
        </p:txBody>
      </p:sp>
      <p:sp>
        <p:nvSpPr>
          <p:cNvPr id="5" name="Rectangle 4"/>
          <p:cNvSpPr/>
          <p:nvPr/>
        </p:nvSpPr>
        <p:spPr>
          <a:xfrm>
            <a:off x="475209" y="3820585"/>
            <a:ext cx="11411989" cy="6423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75209" y="4472247"/>
            <a:ext cx="11411989" cy="6423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5209" y="5107939"/>
            <a:ext cx="11411989" cy="6423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75209" y="5743631"/>
            <a:ext cx="11411989" cy="6423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62226371"/>
              </p:ext>
            </p:extLst>
          </p:nvPr>
        </p:nvGraphicFramePr>
        <p:xfrm>
          <a:off x="484539" y="3734202"/>
          <a:ext cx="11393327" cy="2651760"/>
        </p:xfrm>
        <a:graphic>
          <a:graphicData uri="http://schemas.openxmlformats.org/drawingml/2006/table">
            <a:tbl>
              <a:tblPr/>
              <a:tblGrid>
                <a:gridCol w="2622554">
                  <a:extLst>
                    <a:ext uri="{9D8B030D-6E8A-4147-A177-3AD203B41FA5}">
                      <a16:colId xmlns:a16="http://schemas.microsoft.com/office/drawing/2014/main" val="20000"/>
                    </a:ext>
                  </a:extLst>
                </a:gridCol>
                <a:gridCol w="5159829">
                  <a:extLst>
                    <a:ext uri="{9D8B030D-6E8A-4147-A177-3AD203B41FA5}">
                      <a16:colId xmlns:a16="http://schemas.microsoft.com/office/drawing/2014/main" val="20001"/>
                    </a:ext>
                  </a:extLst>
                </a:gridCol>
                <a:gridCol w="3610944">
                  <a:extLst>
                    <a:ext uri="{9D8B030D-6E8A-4147-A177-3AD203B41FA5}">
                      <a16:colId xmlns:a16="http://schemas.microsoft.com/office/drawing/2014/main" val="20002"/>
                    </a:ext>
                  </a:extLst>
                </a:gridCol>
              </a:tblGrid>
              <a:tr h="0">
                <a:tc>
                  <a:txBody>
                    <a:bodyPr/>
                    <a:lstStyle/>
                    <a:p>
                      <a:pPr algn="ctr" rtl="0" fontAlgn="base"/>
                      <a:r>
                        <a:rPr lang="en-US" sz="1400" b="1" dirty="0">
                          <a:effectLst/>
                        </a:rPr>
                        <a:t>Constructor</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dirty="0">
                          <a:effectLst/>
                        </a:rPr>
                        <a:t>Description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dirty="0">
                          <a:effectLst/>
                        </a:rPr>
                        <a:t>Syntax</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0">
                <a:tc>
                  <a:txBody>
                    <a:bodyPr/>
                    <a:lstStyle/>
                    <a:p>
                      <a:pPr algn="l" rtl="0" fontAlgn="base"/>
                      <a:r>
                        <a:rPr lang="en-US" sz="1800" b="0" dirty="0" err="1">
                          <a:effectLst/>
                        </a:rPr>
                        <a:t>StringBuffer</a:t>
                      </a:r>
                      <a:r>
                        <a:rPr lang="en-US" sz="1800" b="0" dirty="0">
                          <a:effectLst/>
                        </a:rPr>
                        <a:t>()</a:t>
                      </a:r>
                    </a:p>
                  </a:txBody>
                  <a:tcPr marL="38100" marR="38100" marT="63246" marB="63246"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l" rtl="0" fontAlgn="base"/>
                      <a:r>
                        <a:rPr lang="en-US" sz="1800" b="0" dirty="0">
                          <a:effectLst/>
                        </a:rPr>
                        <a:t>It reserves room for 16 characters without reallocation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rtl="0" fontAlgn="base"/>
                      <a:r>
                        <a:rPr lang="en-US" sz="1800" b="0" dirty="0" err="1">
                          <a:effectLst/>
                        </a:rPr>
                        <a:t>StringBuffer</a:t>
                      </a:r>
                      <a:r>
                        <a:rPr lang="en-US" sz="1800" b="0" dirty="0">
                          <a:effectLst/>
                        </a:rPr>
                        <a:t> s = new </a:t>
                      </a:r>
                      <a:r>
                        <a:rPr lang="en-US" sz="1800" b="0" dirty="0" err="1">
                          <a:effectLst/>
                        </a:rPr>
                        <a:t>StringBuffer</a:t>
                      </a:r>
                      <a:r>
                        <a:rPr lang="en-US" sz="1800" b="0" dirty="0">
                          <a:effectLst/>
                        </a:rPr>
                        <a: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algn="l" rtl="0" fontAlgn="base"/>
                      <a:r>
                        <a:rPr lang="en-US" sz="1800" b="0" dirty="0" err="1">
                          <a:effectLst/>
                        </a:rPr>
                        <a:t>StringBuffer</a:t>
                      </a:r>
                      <a:r>
                        <a:rPr lang="en-US" sz="1800" b="0" dirty="0">
                          <a:effectLst/>
                        </a:rPr>
                        <a:t>(</a:t>
                      </a:r>
                      <a:r>
                        <a:rPr lang="en-US" sz="1800" b="0" dirty="0" err="1">
                          <a:effectLst/>
                        </a:rPr>
                        <a:t>int</a:t>
                      </a:r>
                      <a:r>
                        <a:rPr lang="en-US" sz="1800" b="0" dirty="0">
                          <a:effectLst/>
                        </a:rPr>
                        <a:t> size)</a:t>
                      </a:r>
                    </a:p>
                  </a:txBody>
                  <a:tcPr marL="38100" marR="38100" marT="63246" marB="63246"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l" rtl="0" fontAlgn="base"/>
                      <a:r>
                        <a:rPr lang="en-US" sz="1800" b="0" dirty="0">
                          <a:effectLst/>
                        </a:rPr>
                        <a:t>It accepts an integer argument that explicitly sets the size of the buffer.</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rtl="0" fontAlgn="base"/>
                      <a:r>
                        <a:rPr lang="en-US" sz="1800" b="0" dirty="0" err="1">
                          <a:effectLst/>
                        </a:rPr>
                        <a:t>StringBuffer</a:t>
                      </a:r>
                      <a:r>
                        <a:rPr lang="en-US" sz="1800" b="0" dirty="0">
                          <a:effectLst/>
                        </a:rPr>
                        <a:t> s = new </a:t>
                      </a:r>
                      <a:r>
                        <a:rPr lang="en-US" sz="1800" b="0" dirty="0" err="1">
                          <a:effectLst/>
                        </a:rPr>
                        <a:t>StringBuffer</a:t>
                      </a:r>
                      <a:r>
                        <a:rPr lang="en-US" sz="1800" b="0" dirty="0">
                          <a:effectLst/>
                        </a:rPr>
                        <a:t>(20);</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algn="l" rtl="0" fontAlgn="base"/>
                      <a:r>
                        <a:rPr lang="en-US" sz="1800" b="0" dirty="0" err="1">
                          <a:effectLst/>
                        </a:rPr>
                        <a:t>StringBuffer</a:t>
                      </a:r>
                      <a:r>
                        <a:rPr lang="en-US" sz="1800" b="0" dirty="0">
                          <a:effectLst/>
                        </a:rPr>
                        <a:t>(String </a:t>
                      </a:r>
                      <a:r>
                        <a:rPr lang="en-US" sz="1800" b="0" dirty="0" err="1">
                          <a:effectLst/>
                        </a:rPr>
                        <a:t>str</a:t>
                      </a:r>
                      <a:r>
                        <a:rPr lang="en-US" sz="1800" b="0" dirty="0">
                          <a:effectLst/>
                        </a:rPr>
                        <a:t>)</a:t>
                      </a:r>
                    </a:p>
                  </a:txBody>
                  <a:tcPr marL="38100" marR="38100" marT="63246" marB="63246"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l" rtl="0" fontAlgn="base"/>
                      <a:r>
                        <a:rPr lang="en-US" sz="1800" b="0" dirty="0">
                          <a:effectLst/>
                        </a:rPr>
                        <a:t>It accepts a string argument that sets the initial contents of the </a:t>
                      </a:r>
                      <a:r>
                        <a:rPr lang="en-US" sz="1800" b="0" dirty="0" err="1">
                          <a:effectLst/>
                        </a:rPr>
                        <a:t>StringBuffer</a:t>
                      </a:r>
                      <a:r>
                        <a:rPr lang="en-US" sz="1800" b="0" dirty="0">
                          <a:effectLst/>
                        </a:rPr>
                        <a:t> object and reserves room for 16 more characters without reallocation.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l" rtl="0" fontAlgn="base"/>
                      <a:r>
                        <a:rPr lang="en-US" sz="1800" b="0" dirty="0" err="1">
                          <a:effectLst/>
                        </a:rPr>
                        <a:t>StringBuffer</a:t>
                      </a:r>
                      <a:r>
                        <a:rPr lang="en-US" sz="1800" b="0" dirty="0">
                          <a:effectLst/>
                        </a:rPr>
                        <a:t> s = new </a:t>
                      </a:r>
                      <a:r>
                        <a:rPr lang="en-US" sz="1800" b="0" dirty="0" err="1">
                          <a:effectLst/>
                        </a:rPr>
                        <a:t>StringBuffer</a:t>
                      </a:r>
                      <a:r>
                        <a:rPr lang="en-US" sz="1800" b="0" dirty="0">
                          <a:effectLst/>
                        </a:rPr>
                        <a:t>(“</a:t>
                      </a:r>
                      <a:r>
                        <a:rPr lang="en-US" sz="1800" b="0" dirty="0" err="1">
                          <a:effectLst/>
                        </a:rPr>
                        <a:t>DarshanUniversity</a:t>
                      </a:r>
                      <a:r>
                        <a:rPr lang="en-US" sz="1800" b="0" dirty="0">
                          <a:effectLst/>
                        </a:rPr>
                        <a: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8790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err="1"/>
              <a:t>StringBuffer</a:t>
            </a:r>
            <a:r>
              <a:rPr lang="en-IN" dirty="0"/>
              <a:t> Methods</a:t>
            </a:r>
            <a:endParaRPr lang="en-US" dirty="0"/>
          </a:p>
        </p:txBody>
      </p:sp>
      <p:graphicFrame>
        <p:nvGraphicFramePr>
          <p:cNvPr id="6" name="Table 5"/>
          <p:cNvGraphicFramePr>
            <a:graphicFrameLocks noGrp="1"/>
          </p:cNvGraphicFramePr>
          <p:nvPr/>
        </p:nvGraphicFramePr>
        <p:xfrm>
          <a:off x="483525" y="971510"/>
          <a:ext cx="11295610" cy="3235960"/>
        </p:xfrm>
        <a:graphic>
          <a:graphicData uri="http://schemas.openxmlformats.org/drawingml/2006/table">
            <a:tbl>
              <a:tblPr firstRow="1" bandRow="1">
                <a:tableStyleId>{00A15C55-8517-42AA-B614-E9B94910E393}</a:tableStyleId>
              </a:tblPr>
              <a:tblGrid>
                <a:gridCol w="4369057">
                  <a:extLst>
                    <a:ext uri="{9D8B030D-6E8A-4147-A177-3AD203B41FA5}">
                      <a16:colId xmlns:a16="http://schemas.microsoft.com/office/drawing/2014/main" val="20000"/>
                    </a:ext>
                  </a:extLst>
                </a:gridCol>
                <a:gridCol w="6926553">
                  <a:extLst>
                    <a:ext uri="{9D8B030D-6E8A-4147-A177-3AD203B41FA5}">
                      <a16:colId xmlns:a16="http://schemas.microsoft.com/office/drawing/2014/main" val="20001"/>
                    </a:ext>
                  </a:extLst>
                </a:gridCol>
              </a:tblGrid>
              <a:tr h="370840">
                <a:tc>
                  <a:txBody>
                    <a:bodyPr/>
                    <a:lstStyle/>
                    <a:p>
                      <a:r>
                        <a:rPr lang="en-US" dirty="0"/>
                        <a:t>Method</a:t>
                      </a:r>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append(String s)</a:t>
                      </a:r>
                      <a:endParaRPr lang="en-US" dirty="0">
                        <a:latin typeface="Cambria" pitchFamily="18" charset="0"/>
                        <a:ea typeface="Cambri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Used to add text at the end of the existing text.</a:t>
                      </a:r>
                      <a:endParaRPr lang="en-US" sz="18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Cambria" pitchFamily="18" charset="0"/>
                          <a:ea typeface="Cambria" pitchFamily="18" charset="0"/>
                        </a:rPr>
                        <a:t>length()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length of a </a:t>
                      </a:r>
                      <a:r>
                        <a:rPr lang="en-US" sz="1800" b="0" i="0" kern="1200" dirty="0" err="1">
                          <a:solidFill>
                            <a:schemeClr val="dk1"/>
                          </a:solidFill>
                          <a:effectLst/>
                          <a:latin typeface="+mn-lt"/>
                          <a:ea typeface="+mn-ea"/>
                          <a:cs typeface="+mn-cs"/>
                        </a:rPr>
                        <a:t>StringBuffer</a:t>
                      </a:r>
                      <a:r>
                        <a:rPr lang="en-US" sz="1800" b="0" i="0" kern="1200" dirty="0">
                          <a:solidFill>
                            <a:schemeClr val="dk1"/>
                          </a:solidFill>
                          <a:effectLst/>
                          <a:latin typeface="+mn-lt"/>
                          <a:ea typeface="+mn-ea"/>
                          <a:cs typeface="+mn-cs"/>
                        </a:rPr>
                        <a:t> can be found by the length( ) method.</a:t>
                      </a:r>
                      <a:endParaRPr lang="en-US" sz="1800" dirty="0"/>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latin typeface="Cambria" pitchFamily="18" charset="0"/>
                          <a:ea typeface="Cambria" pitchFamily="18" charset="0"/>
                        </a:rPr>
                        <a:t>charAt</a:t>
                      </a:r>
                      <a:r>
                        <a:rPr lang="en-US" dirty="0">
                          <a:latin typeface="Cambria" pitchFamily="18" charset="0"/>
                          <a:ea typeface="Cambri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This method returns the char value in this sequence at the specified index.</a:t>
                      </a:r>
                      <a:endParaRPr lang="en-US" sz="1800" dirty="0"/>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insert(</a:t>
                      </a:r>
                      <a:r>
                        <a:rPr lang="en-US" sz="1800" dirty="0" err="1"/>
                        <a:t>int</a:t>
                      </a:r>
                      <a:r>
                        <a:rPr lang="en-US" sz="1800" dirty="0"/>
                        <a:t> offset, String s)</a:t>
                      </a:r>
                      <a:endParaRPr lang="en-US" sz="1800" b="1" dirty="0">
                        <a:latin typeface="Cambria" pitchFamily="18" charset="0"/>
                        <a:ea typeface="Cambri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It</a:t>
                      </a:r>
                      <a:r>
                        <a:rPr lang="en-US" sz="1800" baseline="0" dirty="0"/>
                        <a:t> </a:t>
                      </a:r>
                      <a:r>
                        <a:rPr lang="en-US" sz="1800" dirty="0"/>
                        <a:t>is used to insert the specified string with this string at the specified position.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replace(</a:t>
                      </a:r>
                      <a:r>
                        <a:rPr lang="en-US" sz="1800" dirty="0" err="1"/>
                        <a:t>int</a:t>
                      </a:r>
                      <a:r>
                        <a:rPr lang="en-US" sz="1800" dirty="0"/>
                        <a:t> </a:t>
                      </a:r>
                      <a:r>
                        <a:rPr lang="en-US" sz="1800" dirty="0" err="1"/>
                        <a:t>startIndex</a:t>
                      </a:r>
                      <a:r>
                        <a:rPr lang="en-US" sz="1800" dirty="0"/>
                        <a:t>, </a:t>
                      </a:r>
                      <a:r>
                        <a:rPr lang="en-US" sz="1800" dirty="0" err="1"/>
                        <a:t>int</a:t>
                      </a:r>
                      <a:r>
                        <a:rPr lang="en-US" sz="1800" dirty="0"/>
                        <a:t> </a:t>
                      </a:r>
                      <a:r>
                        <a:rPr lang="en-US" sz="1800" dirty="0" err="1"/>
                        <a:t>endIndex</a:t>
                      </a:r>
                      <a:r>
                        <a:rPr lang="en-US" sz="1800" dirty="0"/>
                        <a:t>, String </a:t>
                      </a:r>
                      <a:r>
                        <a:rPr lang="en-US" sz="1800" dirty="0" err="1"/>
                        <a:t>str</a:t>
                      </a:r>
                      <a:r>
                        <a:rPr lang="en-US" sz="1800" dirty="0"/>
                        <a:t>)</a:t>
                      </a:r>
                      <a:endParaRPr lang="en-US" sz="1800" b="1" dirty="0">
                        <a:latin typeface="Cambria" pitchFamily="18" charset="0"/>
                        <a:ea typeface="Cambri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t>It</a:t>
                      </a:r>
                      <a:r>
                        <a:rPr lang="en-US" sz="1800" kern="1200" baseline="0" dirty="0"/>
                        <a:t> </a:t>
                      </a:r>
                      <a:r>
                        <a:rPr lang="en-US" sz="1800" kern="1200" dirty="0"/>
                        <a:t>is used to replace the string from specified </a:t>
                      </a:r>
                      <a:r>
                        <a:rPr lang="en-US" sz="1800" kern="1200" dirty="0" err="1"/>
                        <a:t>startIndex</a:t>
                      </a:r>
                      <a:r>
                        <a:rPr lang="en-US" sz="1800" kern="1200" dirty="0"/>
                        <a:t> and </a:t>
                      </a:r>
                      <a:r>
                        <a:rPr lang="en-US" sz="1800" kern="1200" dirty="0" err="1"/>
                        <a:t>endIndex</a:t>
                      </a:r>
                      <a:r>
                        <a:rPr lang="en-US" sz="1800" kern="1200" dirty="0"/>
                        <a:t>.</a:t>
                      </a:r>
                      <a:endParaRPr lang="en-US" sz="18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delete(</a:t>
                      </a:r>
                      <a:r>
                        <a:rPr lang="en-US" sz="1800" dirty="0" err="1"/>
                        <a:t>int</a:t>
                      </a:r>
                      <a:r>
                        <a:rPr lang="en-US" sz="1800" dirty="0"/>
                        <a:t> </a:t>
                      </a:r>
                      <a:r>
                        <a:rPr lang="en-US" sz="1800" dirty="0" err="1"/>
                        <a:t>startIndex</a:t>
                      </a:r>
                      <a:r>
                        <a:rPr lang="en-US" sz="1800" dirty="0"/>
                        <a:t>, </a:t>
                      </a:r>
                      <a:r>
                        <a:rPr lang="en-US" sz="1800" dirty="0" err="1"/>
                        <a:t>int</a:t>
                      </a:r>
                      <a:r>
                        <a:rPr lang="en-US" sz="1800" dirty="0"/>
                        <a:t> </a:t>
                      </a:r>
                      <a:r>
                        <a:rPr lang="en-US" sz="1800" dirty="0" err="1"/>
                        <a:t>endIndex</a:t>
                      </a:r>
                      <a:r>
                        <a:rPr lang="en-US" sz="1800" dirty="0"/>
                        <a:t>)</a:t>
                      </a:r>
                      <a:endParaRPr lang="en-US" dirty="0">
                        <a:latin typeface="Cambria" pitchFamily="18" charset="0"/>
                        <a:ea typeface="Cambri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It</a:t>
                      </a:r>
                      <a:r>
                        <a:rPr lang="en-US" sz="1800" baseline="0" dirty="0"/>
                        <a:t> </a:t>
                      </a:r>
                      <a:r>
                        <a:rPr lang="en-US" sz="1800" dirty="0"/>
                        <a:t>is used to delete the string from specified </a:t>
                      </a:r>
                      <a:r>
                        <a:rPr lang="en-US" sz="1800" dirty="0" err="1"/>
                        <a:t>startIndex</a:t>
                      </a:r>
                      <a:r>
                        <a:rPr lang="en-US" sz="1800" dirty="0"/>
                        <a:t> and </a:t>
                      </a:r>
                      <a:r>
                        <a:rPr lang="en-US" sz="1800" dirty="0" err="1"/>
                        <a:t>endIndex</a:t>
                      </a:r>
                      <a:r>
                        <a:rPr lang="en-US" sz="1800" dirty="0"/>
                        <a:t>.</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reverse()</a:t>
                      </a:r>
                      <a:endParaRPr lang="en-US" dirty="0">
                        <a:latin typeface="Cambria" pitchFamily="18" charset="0"/>
                        <a:ea typeface="Cambri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is used to reverse the string.</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564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err="1"/>
              <a:t>StringBuffer</a:t>
            </a:r>
            <a:r>
              <a:rPr lang="en-IN" dirty="0"/>
              <a:t> Methods</a:t>
            </a:r>
            <a:endParaRPr lang="en-US" dirty="0"/>
          </a:p>
        </p:txBody>
      </p:sp>
      <p:sp>
        <p:nvSpPr>
          <p:cNvPr id="5" name="Content Placeholder 4"/>
          <p:cNvSpPr>
            <a:spLocks noGrp="1"/>
          </p:cNvSpPr>
          <p:nvPr>
            <p:ph idx="1"/>
          </p:nvPr>
        </p:nvSpPr>
        <p:spPr/>
        <p:txBody>
          <a:bodyPr/>
          <a:lstStyle/>
          <a:p>
            <a:r>
              <a:rPr lang="en-US" dirty="0"/>
              <a:t>Remember : “</a:t>
            </a:r>
            <a:r>
              <a:rPr lang="en-US" dirty="0" err="1"/>
              <a:t>StringBuffer</a:t>
            </a:r>
            <a:r>
              <a:rPr lang="en-US" dirty="0"/>
              <a:t>” is mutable</a:t>
            </a:r>
          </a:p>
          <a:p>
            <a:pPr lvl="1"/>
            <a:r>
              <a:rPr lang="en-IN" sz="2200" dirty="0"/>
              <a:t>As </a:t>
            </a:r>
            <a:r>
              <a:rPr lang="en-IN" sz="2200" b="1" dirty="0" err="1">
                <a:ea typeface="Cambria" pitchFamily="18" charset="0"/>
                <a:cs typeface="Courier New" pitchFamily="49" charset="0"/>
              </a:rPr>
              <a:t>StringBuffer</a:t>
            </a:r>
            <a:r>
              <a:rPr lang="en-IN" sz="2200" dirty="0"/>
              <a:t> class is mutable we need not to</a:t>
            </a:r>
            <a:r>
              <a:rPr lang="en-US" sz="2200" dirty="0"/>
              <a:t> replace the reference with a new reference as we have to do it with </a:t>
            </a:r>
            <a:r>
              <a:rPr lang="en-US" sz="2200" dirty="0">
                <a:ea typeface="Cambria" pitchFamily="18" charset="0"/>
                <a:cs typeface="Courier New" pitchFamily="49" charset="0"/>
              </a:rPr>
              <a:t>String</a:t>
            </a:r>
            <a:r>
              <a:rPr lang="en-US" sz="2200" dirty="0"/>
              <a:t> class.</a:t>
            </a:r>
          </a:p>
          <a:p>
            <a:pPr lvl="1"/>
            <a:endParaRPr lang="en-US" dirty="0"/>
          </a:p>
          <a:p>
            <a:endParaRPr lang="en-US" dirty="0"/>
          </a:p>
        </p:txBody>
      </p:sp>
      <p:sp>
        <p:nvSpPr>
          <p:cNvPr id="7" name="TextBox 6"/>
          <p:cNvSpPr txBox="1"/>
          <p:nvPr/>
        </p:nvSpPr>
        <p:spPr>
          <a:xfrm>
            <a:off x="1234708" y="2118344"/>
            <a:ext cx="7349456" cy="2123658"/>
          </a:xfrm>
          <a:prstGeom prst="rect">
            <a:avLst/>
          </a:prstGeom>
          <a:noFill/>
          <a:ln w="19050">
            <a:solidFill>
              <a:schemeClr val="accent1"/>
            </a:solidFill>
            <a:prstDash val="dash"/>
          </a:ln>
        </p:spPr>
        <p:txBody>
          <a:bodyPr wrap="square" rtlCol="0">
            <a:spAutoFit/>
          </a:bodyPr>
          <a:lstStyle/>
          <a:p>
            <a:r>
              <a:rPr lang="en-US" sz="2200" dirty="0" err="1">
                <a:solidFill>
                  <a:srgbClr val="000000"/>
                </a:solidFill>
              </a:rPr>
              <a:t>StringBuffer</a:t>
            </a:r>
            <a:r>
              <a:rPr lang="en-US" sz="2200" dirty="0">
                <a:solidFill>
                  <a:srgbClr val="000000"/>
                </a:solidFill>
              </a:rPr>
              <a:t> </a:t>
            </a:r>
            <a:r>
              <a:rPr lang="en-US" sz="2200" dirty="0">
                <a:solidFill>
                  <a:srgbClr val="6A3E3E"/>
                </a:solidFill>
              </a:rPr>
              <a:t>str1</a:t>
            </a:r>
            <a:r>
              <a:rPr lang="en-US" sz="2200" dirty="0">
                <a:solidFill>
                  <a:srgbClr val="000000"/>
                </a:solidFill>
              </a:rPr>
              <a:t> = </a:t>
            </a:r>
            <a:r>
              <a:rPr lang="en-US" sz="2200" b="1" dirty="0">
                <a:solidFill>
                  <a:srgbClr val="7F0055"/>
                </a:solidFill>
              </a:rPr>
              <a:t>new</a:t>
            </a:r>
            <a:r>
              <a:rPr lang="en-US" sz="2200" b="1" dirty="0">
                <a:solidFill>
                  <a:srgbClr val="000000"/>
                </a:solidFill>
              </a:rPr>
              <a:t> </a:t>
            </a:r>
            <a:r>
              <a:rPr lang="en-US" sz="2200" b="1" dirty="0" err="1">
                <a:solidFill>
                  <a:srgbClr val="000000"/>
                </a:solidFill>
              </a:rPr>
              <a:t>StringBuffer</a:t>
            </a:r>
            <a:r>
              <a:rPr lang="en-US" sz="2200" b="1" dirty="0">
                <a:solidFill>
                  <a:srgbClr val="000000"/>
                </a:solidFill>
              </a:rPr>
              <a:t>(</a:t>
            </a:r>
            <a:r>
              <a:rPr lang="en-US" sz="2200" b="1" dirty="0">
                <a:solidFill>
                  <a:srgbClr val="2A00FF"/>
                </a:solidFill>
              </a:rPr>
              <a:t>"Hello Everyone"</a:t>
            </a:r>
            <a:r>
              <a:rPr lang="en-US" sz="2200" b="1" dirty="0">
                <a:solidFill>
                  <a:srgbClr val="000000"/>
                </a:solidFill>
              </a:rPr>
              <a:t>);</a:t>
            </a:r>
          </a:p>
          <a:p>
            <a:r>
              <a:rPr lang="en-US" sz="2200" dirty="0">
                <a:solidFill>
                  <a:srgbClr val="6A3E3E"/>
                </a:solidFill>
              </a:rPr>
              <a:t>str1</a:t>
            </a:r>
            <a:r>
              <a:rPr lang="en-US" sz="2200" dirty="0">
                <a:solidFill>
                  <a:srgbClr val="000000"/>
                </a:solidFill>
              </a:rPr>
              <a:t>.reverse(); </a:t>
            </a:r>
          </a:p>
          <a:p>
            <a:r>
              <a:rPr lang="en-IN" sz="2200" dirty="0">
                <a:solidFill>
                  <a:srgbClr val="3F7F5F"/>
                </a:solidFill>
              </a:rPr>
              <a:t>// as it is mutable can not write str1 = str1.reverse();</a:t>
            </a:r>
          </a:p>
          <a:p>
            <a:r>
              <a:rPr lang="en-IN" sz="2200" dirty="0">
                <a:solidFill>
                  <a:srgbClr val="3F7F5F"/>
                </a:solidFill>
              </a:rPr>
              <a:t>// it will change to value of the string itself</a:t>
            </a:r>
            <a:endParaRPr lang="en-US" sz="2200" dirty="0">
              <a:solidFill>
                <a:srgbClr val="000000"/>
              </a:solidFill>
            </a:endParaRPr>
          </a:p>
          <a:p>
            <a:r>
              <a:rPr lang="en-US" sz="2200" dirty="0" err="1">
                <a:solidFill>
                  <a:srgbClr val="000000"/>
                </a:solidFill>
              </a:rPr>
              <a:t>System.</a:t>
            </a:r>
            <a:r>
              <a:rPr lang="en-US" sz="2200" b="1" i="1" dirty="0" err="1">
                <a:solidFill>
                  <a:srgbClr val="0000C0"/>
                </a:solidFill>
              </a:rPr>
              <a:t>out</a:t>
            </a:r>
            <a:r>
              <a:rPr lang="en-US" sz="2200" b="1" i="1" dirty="0" err="1">
                <a:solidFill>
                  <a:srgbClr val="000000"/>
                </a:solidFill>
              </a:rPr>
              <a:t>.println</a:t>
            </a:r>
            <a:r>
              <a:rPr lang="en-US" sz="2200" b="1" i="1" dirty="0">
                <a:solidFill>
                  <a:srgbClr val="000000"/>
                </a:solidFill>
              </a:rPr>
              <a:t>(</a:t>
            </a:r>
            <a:r>
              <a:rPr lang="en-US" sz="2200" b="1" i="1" dirty="0">
                <a:solidFill>
                  <a:srgbClr val="6A3E3E"/>
                </a:solidFill>
              </a:rPr>
              <a:t>str1</a:t>
            </a:r>
            <a:r>
              <a:rPr lang="en-US" sz="2200" b="1" i="1" dirty="0">
                <a:solidFill>
                  <a:srgbClr val="000000"/>
                </a:solidFill>
              </a:rPr>
              <a:t>);</a:t>
            </a:r>
          </a:p>
          <a:p>
            <a:r>
              <a:rPr lang="en-US" sz="2200" dirty="0">
                <a:solidFill>
                  <a:srgbClr val="3F7F5F"/>
                </a:solidFill>
              </a:rPr>
              <a:t>// Output will be “</a:t>
            </a:r>
            <a:r>
              <a:rPr lang="en-US" sz="2200" b="1" dirty="0" err="1">
                <a:solidFill>
                  <a:srgbClr val="3F7F5F"/>
                </a:solidFill>
              </a:rPr>
              <a:t>enoyrevE</a:t>
            </a:r>
            <a:r>
              <a:rPr lang="en-US" sz="2200" b="1" dirty="0">
                <a:solidFill>
                  <a:srgbClr val="3F7F5F"/>
                </a:solidFill>
              </a:rPr>
              <a:t> </a:t>
            </a:r>
            <a:r>
              <a:rPr lang="en-US" sz="2200" b="1" dirty="0" err="1">
                <a:solidFill>
                  <a:srgbClr val="3F7F5F"/>
                </a:solidFill>
              </a:rPr>
              <a:t>olleH</a:t>
            </a:r>
            <a:r>
              <a:rPr lang="en-US" sz="2200" dirty="0">
                <a:solidFill>
                  <a:srgbClr val="3F7F5F"/>
                </a:solidFill>
              </a:rPr>
              <a:t>”</a:t>
            </a:r>
          </a:p>
        </p:txBody>
      </p:sp>
    </p:spTree>
    <p:extLst>
      <p:ext uri="{BB962C8B-B14F-4D97-AF65-F5344CB8AC3E}">
        <p14:creationId xmlns:p14="http://schemas.microsoft.com/office/powerpoint/2010/main" val="173068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bldLvl="5"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Math class</a:t>
            </a:r>
          </a:p>
        </p:txBody>
      </p:sp>
      <p:sp>
        <p:nvSpPr>
          <p:cNvPr id="3" name="Content Placeholder 2"/>
          <p:cNvSpPr>
            <a:spLocks noGrp="1"/>
          </p:cNvSpPr>
          <p:nvPr>
            <p:ph idx="1"/>
          </p:nvPr>
        </p:nvSpPr>
        <p:spPr/>
        <p:txBody>
          <a:bodyPr/>
          <a:lstStyle/>
          <a:p>
            <a:r>
              <a:rPr lang="en-US" dirty="0"/>
              <a:t>The Java Math class provides more </a:t>
            </a:r>
            <a:r>
              <a:rPr lang="en-US" dirty="0">
                <a:solidFill>
                  <a:srgbClr val="B71B1C"/>
                </a:solidFill>
              </a:rPr>
              <a:t>advanced mathematical calculations </a:t>
            </a:r>
            <a:r>
              <a:rPr lang="en-US" dirty="0"/>
              <a:t>other than arithmetic operator.</a:t>
            </a:r>
          </a:p>
          <a:p>
            <a:r>
              <a:rPr lang="en-US" dirty="0"/>
              <a:t>The</a:t>
            </a:r>
            <a:r>
              <a:rPr lang="en-US" dirty="0">
                <a:solidFill>
                  <a:srgbClr val="B71B1C"/>
                </a:solidFill>
              </a:rPr>
              <a:t> </a:t>
            </a:r>
            <a:r>
              <a:rPr lang="en-US" dirty="0" err="1">
                <a:solidFill>
                  <a:srgbClr val="B71B1C"/>
                </a:solidFill>
              </a:rPr>
              <a:t>java.lang.Math</a:t>
            </a:r>
            <a:r>
              <a:rPr lang="en-US" dirty="0">
                <a:solidFill>
                  <a:srgbClr val="B71B1C"/>
                </a:solidFill>
              </a:rPr>
              <a:t> </a:t>
            </a:r>
            <a:r>
              <a:rPr lang="en-US" dirty="0"/>
              <a:t>class contains methods which performs basic numeric operations such as the </a:t>
            </a:r>
            <a:r>
              <a:rPr lang="en-US" dirty="0">
                <a:solidFill>
                  <a:srgbClr val="B71B1C"/>
                </a:solidFill>
              </a:rPr>
              <a:t>elementary exponential, logarithm, square root,</a:t>
            </a:r>
            <a:r>
              <a:rPr lang="en-US" dirty="0"/>
              <a:t> and </a:t>
            </a:r>
            <a:r>
              <a:rPr lang="en-US" dirty="0">
                <a:solidFill>
                  <a:srgbClr val="B71B1C"/>
                </a:solidFill>
              </a:rPr>
              <a:t>trigonometric</a:t>
            </a:r>
            <a:r>
              <a:rPr lang="en-US" dirty="0"/>
              <a:t> functions.</a:t>
            </a:r>
          </a:p>
          <a:p>
            <a:r>
              <a:rPr lang="en-US" dirty="0"/>
              <a:t>All the </a:t>
            </a:r>
            <a:r>
              <a:rPr lang="en-US" dirty="0">
                <a:solidFill>
                  <a:srgbClr val="B71B1C"/>
                </a:solidFill>
              </a:rPr>
              <a:t>methods</a:t>
            </a:r>
            <a:r>
              <a:rPr lang="en-US" dirty="0"/>
              <a:t> of class Math are </a:t>
            </a:r>
            <a:r>
              <a:rPr lang="en-US" dirty="0">
                <a:solidFill>
                  <a:srgbClr val="B71B1C"/>
                </a:solidFill>
              </a:rPr>
              <a:t>static</a:t>
            </a:r>
            <a:r>
              <a:rPr lang="en-US" dirty="0"/>
              <a:t>.</a:t>
            </a:r>
          </a:p>
          <a:p>
            <a:r>
              <a:rPr lang="en-IN" dirty="0"/>
              <a:t>Fields :</a:t>
            </a:r>
          </a:p>
          <a:p>
            <a:pPr lvl="1"/>
            <a:r>
              <a:rPr lang="en-IN" sz="2200" dirty="0"/>
              <a:t>Math class comes with two important </a:t>
            </a:r>
            <a:r>
              <a:rPr lang="en-IN" sz="2200" dirty="0">
                <a:solidFill>
                  <a:srgbClr val="B71B1C"/>
                </a:solidFill>
              </a:rPr>
              <a:t>static</a:t>
            </a:r>
            <a:r>
              <a:rPr lang="en-IN" sz="2200" dirty="0"/>
              <a:t> fields</a:t>
            </a:r>
          </a:p>
          <a:p>
            <a:pPr lvl="2"/>
            <a:r>
              <a:rPr lang="en-IN" sz="2000" dirty="0"/>
              <a:t>E : returns </a:t>
            </a:r>
            <a:r>
              <a:rPr lang="en-US" sz="2000" dirty="0"/>
              <a:t>double value of </a:t>
            </a:r>
            <a:r>
              <a:rPr lang="en-US" sz="2000" dirty="0">
                <a:solidFill>
                  <a:srgbClr val="B71B1C"/>
                </a:solidFill>
              </a:rPr>
              <a:t>Euler's number </a:t>
            </a:r>
            <a:r>
              <a:rPr lang="en-US" sz="2000" dirty="0"/>
              <a:t>(</a:t>
            </a:r>
            <a:r>
              <a:rPr lang="en-US" sz="2000" dirty="0" err="1"/>
              <a:t>i.e</a:t>
            </a:r>
            <a:r>
              <a:rPr lang="en-US" sz="2000" dirty="0"/>
              <a:t> 2.718281828459045). </a:t>
            </a:r>
          </a:p>
          <a:p>
            <a:pPr lvl="2"/>
            <a:r>
              <a:rPr lang="en-US" sz="2000" dirty="0"/>
              <a:t>PI : returns double value of </a:t>
            </a:r>
            <a:r>
              <a:rPr lang="en-US" sz="2000" dirty="0">
                <a:solidFill>
                  <a:srgbClr val="B71B1C"/>
                </a:solidFill>
              </a:rPr>
              <a:t>PI</a:t>
            </a:r>
            <a:r>
              <a:rPr lang="en-US" sz="2000" dirty="0"/>
              <a:t> (i.e. 3.141592653589793).</a:t>
            </a:r>
          </a:p>
          <a:p>
            <a:endParaRPr lang="en-US" dirty="0"/>
          </a:p>
        </p:txBody>
      </p:sp>
    </p:spTree>
    <p:extLst>
      <p:ext uri="{BB962C8B-B14F-4D97-AF65-F5344CB8AC3E}">
        <p14:creationId xmlns:p14="http://schemas.microsoft.com/office/powerpoint/2010/main" val="8006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class Math (Basic)</a:t>
            </a:r>
          </a:p>
        </p:txBody>
      </p:sp>
      <p:sp>
        <p:nvSpPr>
          <p:cNvPr id="5" name="Rectangle 4"/>
          <p:cNvSpPr/>
          <p:nvPr/>
        </p:nvSpPr>
        <p:spPr>
          <a:xfrm>
            <a:off x="193963" y="1199803"/>
            <a:ext cx="9144000" cy="1447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ectangle 5"/>
          <p:cNvSpPr/>
          <p:nvPr/>
        </p:nvSpPr>
        <p:spPr>
          <a:xfrm>
            <a:off x="193963" y="2647603"/>
            <a:ext cx="91440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Rectangle 6"/>
          <p:cNvSpPr/>
          <p:nvPr/>
        </p:nvSpPr>
        <p:spPr>
          <a:xfrm>
            <a:off x="193963" y="3866803"/>
            <a:ext cx="91440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271124442"/>
              </p:ext>
            </p:extLst>
          </p:nvPr>
        </p:nvGraphicFramePr>
        <p:xfrm>
          <a:off x="237860" y="1221248"/>
          <a:ext cx="11042850" cy="4250046"/>
        </p:xfrm>
        <a:graphic>
          <a:graphicData uri="http://schemas.openxmlformats.org/drawingml/2006/table">
            <a:tbl>
              <a:tblPr>
                <a:tableStyleId>{00A15C55-8517-42AA-B614-E9B94910E393}</a:tableStyleId>
              </a:tblPr>
              <a:tblGrid>
                <a:gridCol w="1589459">
                  <a:extLst>
                    <a:ext uri="{9D8B030D-6E8A-4147-A177-3AD203B41FA5}">
                      <a16:colId xmlns:a16="http://schemas.microsoft.com/office/drawing/2014/main" val="20000"/>
                    </a:ext>
                  </a:extLst>
                </a:gridCol>
                <a:gridCol w="9453391">
                  <a:extLst>
                    <a:ext uri="{9D8B030D-6E8A-4147-A177-3AD203B41FA5}">
                      <a16:colId xmlns:a16="http://schemas.microsoft.com/office/drawing/2014/main" val="20001"/>
                    </a:ext>
                  </a:extLst>
                </a:gridCol>
              </a:tblGrid>
              <a:tr h="347177">
                <a:tc>
                  <a:txBody>
                    <a:bodyPr/>
                    <a:lstStyle/>
                    <a:p>
                      <a:pPr algn="ctr" rtl="0" fontAlgn="t"/>
                      <a:r>
                        <a:rPr lang="en-US" sz="1800" u="none" strike="noStrike" dirty="0" err="1">
                          <a:solidFill>
                            <a:schemeClr val="tx1"/>
                          </a:solidFill>
                          <a:effectLst/>
                          <a:hlinkClick r:id="rId2">
                            <a:extLst>
                              <a:ext uri="{A12FA001-AC4F-418D-AE19-62706E023703}">
                                <ahyp:hlinkClr xmlns:ahyp="http://schemas.microsoft.com/office/drawing/2018/hyperlinkcolor" xmlns="" val="tx"/>
                              </a:ext>
                            </a:extLst>
                          </a:hlinkClick>
                        </a:rPr>
                        <a:t>Math.abs</a:t>
                      </a:r>
                      <a:r>
                        <a:rPr lang="en-US" sz="1800" u="none" strike="noStrike" dirty="0">
                          <a:solidFill>
                            <a:schemeClr val="tx1"/>
                          </a:solidFill>
                          <a:effectLst/>
                          <a:hlinkClick r:id="rId2">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will return the Absolute value of the given value.</a:t>
                      </a:r>
                      <a:endParaRPr lang="en-US" sz="1800" dirty="0">
                        <a:effectLst/>
                        <a:latin typeface="+mj-lt"/>
                      </a:endParaRPr>
                    </a:p>
                  </a:txBody>
                  <a:tcPr marL="44767" marR="44767" marT="44767" marB="44767"/>
                </a:tc>
                <a:extLst>
                  <a:ext uri="{0D108BD9-81ED-4DB2-BD59-A6C34878D82A}">
                    <a16:rowId xmlns:a16="http://schemas.microsoft.com/office/drawing/2014/main" val="10000"/>
                  </a:ext>
                </a:extLst>
              </a:tr>
              <a:tr h="347177">
                <a:tc>
                  <a:txBody>
                    <a:bodyPr/>
                    <a:lstStyle/>
                    <a:p>
                      <a:pPr algn="ctr" rtl="0" fontAlgn="t"/>
                      <a:r>
                        <a:rPr lang="en-US" sz="1800" u="none" strike="noStrike" dirty="0" err="1">
                          <a:solidFill>
                            <a:schemeClr val="tx1"/>
                          </a:solidFill>
                          <a:effectLst/>
                          <a:hlinkClick r:id="rId3">
                            <a:extLst>
                              <a:ext uri="{A12FA001-AC4F-418D-AE19-62706E023703}">
                                <ahyp:hlinkClr xmlns:ahyp="http://schemas.microsoft.com/office/drawing/2018/hyperlinkcolor" xmlns="" val="tx"/>
                              </a:ext>
                            </a:extLst>
                          </a:hlinkClick>
                        </a:rPr>
                        <a:t>Math.max</a:t>
                      </a:r>
                      <a:r>
                        <a:rPr lang="en-US" sz="1800" u="none" strike="noStrike" dirty="0">
                          <a:solidFill>
                            <a:schemeClr val="tx1"/>
                          </a:solidFill>
                          <a:effectLst/>
                          <a:hlinkClick r:id="rId3">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returns the Largest of two values.</a:t>
                      </a:r>
                      <a:endParaRPr lang="en-US" sz="1800" dirty="0">
                        <a:effectLst/>
                        <a:latin typeface="+mj-lt"/>
                      </a:endParaRPr>
                    </a:p>
                  </a:txBody>
                  <a:tcPr marL="44767" marR="44767" marT="44767" marB="44767"/>
                </a:tc>
                <a:extLst>
                  <a:ext uri="{0D108BD9-81ED-4DB2-BD59-A6C34878D82A}">
                    <a16:rowId xmlns:a16="http://schemas.microsoft.com/office/drawing/2014/main" val="10001"/>
                  </a:ext>
                </a:extLst>
              </a:tr>
              <a:tr h="347177">
                <a:tc>
                  <a:txBody>
                    <a:bodyPr/>
                    <a:lstStyle/>
                    <a:p>
                      <a:pPr algn="ctr" rtl="0" fontAlgn="t"/>
                      <a:r>
                        <a:rPr lang="en-US" sz="1800" u="none" strike="noStrike" dirty="0" err="1">
                          <a:solidFill>
                            <a:schemeClr val="tx1"/>
                          </a:solidFill>
                          <a:effectLst/>
                          <a:hlinkClick r:id="rId4">
                            <a:extLst>
                              <a:ext uri="{A12FA001-AC4F-418D-AE19-62706E023703}">
                                <ahyp:hlinkClr xmlns:ahyp="http://schemas.microsoft.com/office/drawing/2018/hyperlinkcolor" xmlns="" val="tx"/>
                              </a:ext>
                            </a:extLst>
                          </a:hlinkClick>
                        </a:rPr>
                        <a:t>Math.min</a:t>
                      </a:r>
                      <a:r>
                        <a:rPr lang="en-US" sz="1800" u="none" strike="noStrike" dirty="0">
                          <a:solidFill>
                            <a:schemeClr val="tx1"/>
                          </a:solidFill>
                          <a:effectLst/>
                          <a:hlinkClick r:id="rId4">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is used to return the Smallest of two values.</a:t>
                      </a:r>
                      <a:endParaRPr lang="en-US" sz="1800" dirty="0">
                        <a:effectLst/>
                        <a:latin typeface="+mj-lt"/>
                      </a:endParaRPr>
                    </a:p>
                  </a:txBody>
                  <a:tcPr marL="44767" marR="44767" marT="44767" marB="44767"/>
                </a:tc>
                <a:extLst>
                  <a:ext uri="{0D108BD9-81ED-4DB2-BD59-A6C34878D82A}">
                    <a16:rowId xmlns:a16="http://schemas.microsoft.com/office/drawing/2014/main" val="10002"/>
                  </a:ext>
                </a:extLst>
              </a:tr>
              <a:tr h="347177">
                <a:tc>
                  <a:txBody>
                    <a:bodyPr/>
                    <a:lstStyle/>
                    <a:p>
                      <a:pPr algn="ctr" rtl="0" fontAlgn="t"/>
                      <a:r>
                        <a:rPr lang="en-US" sz="1800" u="none" strike="noStrike" dirty="0" err="1">
                          <a:solidFill>
                            <a:schemeClr val="tx1"/>
                          </a:solidFill>
                          <a:effectLst/>
                          <a:hlinkClick r:id="rId5">
                            <a:extLst>
                              <a:ext uri="{A12FA001-AC4F-418D-AE19-62706E023703}">
                                <ahyp:hlinkClr xmlns:ahyp="http://schemas.microsoft.com/office/drawing/2018/hyperlinkcolor" xmlns="" val="tx"/>
                              </a:ext>
                            </a:extLst>
                          </a:hlinkClick>
                        </a:rPr>
                        <a:t>Math.round</a:t>
                      </a:r>
                      <a:r>
                        <a:rPr lang="en-US" sz="1800" u="none" strike="noStrike" dirty="0">
                          <a:solidFill>
                            <a:schemeClr val="tx1"/>
                          </a:solidFill>
                          <a:effectLst/>
                          <a:hlinkClick r:id="rId5">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is used to round of the decimal numbers to the nearest value.</a:t>
                      </a:r>
                      <a:endParaRPr lang="en-US" sz="1800" dirty="0">
                        <a:effectLst/>
                        <a:latin typeface="+mj-lt"/>
                      </a:endParaRPr>
                    </a:p>
                  </a:txBody>
                  <a:tcPr marL="44767" marR="44767" marT="44767" marB="44767"/>
                </a:tc>
                <a:extLst>
                  <a:ext uri="{0D108BD9-81ED-4DB2-BD59-A6C34878D82A}">
                    <a16:rowId xmlns:a16="http://schemas.microsoft.com/office/drawing/2014/main" val="10003"/>
                  </a:ext>
                </a:extLst>
              </a:tr>
              <a:tr h="347177">
                <a:tc>
                  <a:txBody>
                    <a:bodyPr/>
                    <a:lstStyle/>
                    <a:p>
                      <a:pPr algn="ctr" rtl="0" fontAlgn="t"/>
                      <a:r>
                        <a:rPr lang="en-US" sz="1800" u="none" strike="noStrike" dirty="0" err="1">
                          <a:solidFill>
                            <a:schemeClr val="tx1"/>
                          </a:solidFill>
                          <a:effectLst/>
                          <a:hlinkClick r:id="rId6">
                            <a:extLst>
                              <a:ext uri="{A12FA001-AC4F-418D-AE19-62706E023703}">
                                <ahyp:hlinkClr xmlns:ahyp="http://schemas.microsoft.com/office/drawing/2018/hyperlinkcolor" xmlns="" val="tx"/>
                              </a:ext>
                            </a:extLst>
                          </a:hlinkClick>
                        </a:rPr>
                        <a:t>Math.sqrt</a:t>
                      </a:r>
                      <a:r>
                        <a:rPr lang="en-US" sz="1800" u="none" strike="noStrike" dirty="0">
                          <a:solidFill>
                            <a:schemeClr val="tx1"/>
                          </a:solidFill>
                          <a:effectLst/>
                          <a:hlinkClick r:id="rId6">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is used to return the square root of a number.</a:t>
                      </a:r>
                      <a:endParaRPr lang="en-US" sz="1800" dirty="0">
                        <a:effectLst/>
                        <a:latin typeface="+mj-lt"/>
                      </a:endParaRPr>
                    </a:p>
                  </a:txBody>
                  <a:tcPr marL="44767" marR="44767" marT="44767" marB="44767"/>
                </a:tc>
                <a:extLst>
                  <a:ext uri="{0D108BD9-81ED-4DB2-BD59-A6C34878D82A}">
                    <a16:rowId xmlns:a16="http://schemas.microsoft.com/office/drawing/2014/main" val="10004"/>
                  </a:ext>
                </a:extLst>
              </a:tr>
              <a:tr h="347177">
                <a:tc>
                  <a:txBody>
                    <a:bodyPr/>
                    <a:lstStyle/>
                    <a:p>
                      <a:pPr algn="ctr" rtl="0" fontAlgn="t"/>
                      <a:r>
                        <a:rPr lang="en-US" sz="1800" u="none" strike="noStrike" dirty="0" err="1">
                          <a:solidFill>
                            <a:schemeClr val="tx1"/>
                          </a:solidFill>
                          <a:effectLst/>
                          <a:hlinkClick r:id="rId7">
                            <a:extLst>
                              <a:ext uri="{A12FA001-AC4F-418D-AE19-62706E023703}">
                                <ahyp:hlinkClr xmlns:ahyp="http://schemas.microsoft.com/office/drawing/2018/hyperlinkcolor" xmlns="" val="tx"/>
                              </a:ext>
                            </a:extLst>
                          </a:hlinkClick>
                        </a:rPr>
                        <a:t>Math.cbrt</a:t>
                      </a:r>
                      <a:r>
                        <a:rPr lang="en-US" sz="1800" u="none" strike="noStrike" dirty="0">
                          <a:solidFill>
                            <a:schemeClr val="tx1"/>
                          </a:solidFill>
                          <a:effectLst/>
                          <a:hlinkClick r:id="rId7">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is used to return the cube root of a number.</a:t>
                      </a:r>
                      <a:endParaRPr lang="en-US" sz="1800" dirty="0">
                        <a:effectLst/>
                        <a:latin typeface="+mj-lt"/>
                      </a:endParaRPr>
                    </a:p>
                  </a:txBody>
                  <a:tcPr marL="44767" marR="44767" marT="44767" marB="44767"/>
                </a:tc>
                <a:extLst>
                  <a:ext uri="{0D108BD9-81ED-4DB2-BD59-A6C34878D82A}">
                    <a16:rowId xmlns:a16="http://schemas.microsoft.com/office/drawing/2014/main" val="10005"/>
                  </a:ext>
                </a:extLst>
              </a:tr>
              <a:tr h="347177">
                <a:tc>
                  <a:txBody>
                    <a:bodyPr/>
                    <a:lstStyle/>
                    <a:p>
                      <a:pPr algn="ctr" rtl="0" fontAlgn="t"/>
                      <a:r>
                        <a:rPr lang="en-US" sz="1800" u="none" strike="noStrike" dirty="0" err="1">
                          <a:solidFill>
                            <a:schemeClr val="tx1"/>
                          </a:solidFill>
                          <a:effectLst/>
                          <a:hlinkClick r:id="rId8">
                            <a:extLst>
                              <a:ext uri="{A12FA001-AC4F-418D-AE19-62706E023703}">
                                <ahyp:hlinkClr xmlns:ahyp="http://schemas.microsoft.com/office/drawing/2018/hyperlinkcolor" xmlns="" val="tx"/>
                              </a:ext>
                            </a:extLst>
                          </a:hlinkClick>
                        </a:rPr>
                        <a:t>Math.pow</a:t>
                      </a:r>
                      <a:r>
                        <a:rPr lang="en-US" sz="1800" u="none" strike="noStrike" dirty="0">
                          <a:solidFill>
                            <a:schemeClr val="tx1"/>
                          </a:solidFill>
                          <a:effectLst/>
                          <a:hlinkClick r:id="rId8">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returns the value of first argument raised to the power to second argument.</a:t>
                      </a:r>
                      <a:endParaRPr lang="en-US" sz="1800" dirty="0">
                        <a:effectLst/>
                        <a:latin typeface="+mj-lt"/>
                      </a:endParaRPr>
                    </a:p>
                  </a:txBody>
                  <a:tcPr marL="44767" marR="44767" marT="44767" marB="44767"/>
                </a:tc>
                <a:extLst>
                  <a:ext uri="{0D108BD9-81ED-4DB2-BD59-A6C34878D82A}">
                    <a16:rowId xmlns:a16="http://schemas.microsoft.com/office/drawing/2014/main" val="10006"/>
                  </a:ext>
                </a:extLst>
              </a:tr>
              <a:tr h="347177">
                <a:tc>
                  <a:txBody>
                    <a:bodyPr/>
                    <a:lstStyle/>
                    <a:p>
                      <a:pPr algn="ctr" rtl="0" fontAlgn="t"/>
                      <a:r>
                        <a:rPr lang="en-US" sz="1800" u="none" strike="noStrike" dirty="0" err="1">
                          <a:solidFill>
                            <a:schemeClr val="tx1"/>
                          </a:solidFill>
                          <a:effectLst/>
                          <a:hlinkClick r:id="rId9">
                            <a:extLst>
                              <a:ext uri="{A12FA001-AC4F-418D-AE19-62706E023703}">
                                <ahyp:hlinkClr xmlns:ahyp="http://schemas.microsoft.com/office/drawing/2018/hyperlinkcolor" xmlns="" val="tx"/>
                              </a:ext>
                            </a:extLst>
                          </a:hlinkClick>
                        </a:rPr>
                        <a:t>Math.signum</a:t>
                      </a:r>
                      <a:r>
                        <a:rPr lang="en-US" sz="1800" u="none" strike="noStrike" dirty="0">
                          <a:solidFill>
                            <a:schemeClr val="tx1"/>
                          </a:solidFill>
                          <a:effectLst/>
                          <a:hlinkClick r:id="rId9">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is used to find the sign of a given value.</a:t>
                      </a:r>
                      <a:endParaRPr lang="en-US" sz="1800" dirty="0">
                        <a:effectLst/>
                        <a:latin typeface="+mj-lt"/>
                      </a:endParaRPr>
                    </a:p>
                  </a:txBody>
                  <a:tcPr marL="44767" marR="44767" marT="44767" marB="44767"/>
                </a:tc>
                <a:extLst>
                  <a:ext uri="{0D108BD9-81ED-4DB2-BD59-A6C34878D82A}">
                    <a16:rowId xmlns:a16="http://schemas.microsoft.com/office/drawing/2014/main" val="10007"/>
                  </a:ext>
                </a:extLst>
              </a:tr>
              <a:tr h="608924">
                <a:tc>
                  <a:txBody>
                    <a:bodyPr/>
                    <a:lstStyle/>
                    <a:p>
                      <a:pPr algn="ctr" rtl="0" fontAlgn="t"/>
                      <a:r>
                        <a:rPr lang="en-US" sz="1800" u="none" strike="noStrike" dirty="0" err="1">
                          <a:solidFill>
                            <a:schemeClr val="tx1"/>
                          </a:solidFill>
                          <a:effectLst/>
                          <a:hlinkClick r:id="rId10">
                            <a:extLst>
                              <a:ext uri="{A12FA001-AC4F-418D-AE19-62706E023703}">
                                <ahyp:hlinkClr xmlns:ahyp="http://schemas.microsoft.com/office/drawing/2018/hyperlinkcolor" xmlns="" val="tx"/>
                              </a:ext>
                            </a:extLst>
                          </a:hlinkClick>
                        </a:rPr>
                        <a:t>Math.ceil</a:t>
                      </a:r>
                      <a:r>
                        <a:rPr lang="en-US" sz="1800" u="none" strike="noStrike" dirty="0">
                          <a:solidFill>
                            <a:schemeClr val="tx1"/>
                          </a:solidFill>
                          <a:effectLst/>
                          <a:hlinkClick r:id="rId10">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4767" marR="44767" marT="44767" marB="44767"/>
                </a:tc>
                <a:tc>
                  <a:txBody>
                    <a:bodyPr/>
                    <a:lstStyle/>
                    <a:p>
                      <a:pPr algn="l" fontAlgn="t"/>
                      <a:r>
                        <a:rPr lang="en-US" sz="1800" dirty="0">
                          <a:effectLst/>
                        </a:rPr>
                        <a:t>It is used to find the smallest integer value that is greater than or equal to the argument or mathematical integer.</a:t>
                      </a:r>
                      <a:endParaRPr lang="en-US" sz="1800" dirty="0">
                        <a:effectLst/>
                        <a:latin typeface="+mj-lt"/>
                      </a:endParaRPr>
                    </a:p>
                  </a:txBody>
                  <a:tcPr marL="44767" marR="44767" marT="44767" marB="44767"/>
                </a:tc>
                <a:extLst>
                  <a:ext uri="{0D108BD9-81ED-4DB2-BD59-A6C34878D82A}">
                    <a16:rowId xmlns:a16="http://schemas.microsoft.com/office/drawing/2014/main" val="10008"/>
                  </a:ext>
                </a:extLst>
              </a:tr>
              <a:tr h="668908">
                <a:tc>
                  <a:txBody>
                    <a:bodyPr/>
                    <a:lstStyle/>
                    <a:p>
                      <a:pPr algn="ctr" rtl="0" fontAlgn="t"/>
                      <a:r>
                        <a:rPr lang="en-US" sz="1800" u="none" strike="noStrike" dirty="0" err="1">
                          <a:solidFill>
                            <a:schemeClr val="tx1"/>
                          </a:solidFill>
                          <a:effectLst/>
                          <a:hlinkClick r:id="rId11">
                            <a:extLst>
                              <a:ext uri="{A12FA001-AC4F-418D-AE19-62706E023703}">
                                <ahyp:hlinkClr xmlns:ahyp="http://schemas.microsoft.com/office/drawing/2018/hyperlinkcolor" xmlns="" val="tx"/>
                              </a:ext>
                            </a:extLst>
                          </a:hlinkClick>
                        </a:rPr>
                        <a:t>Math.floor</a:t>
                      </a:r>
                      <a:r>
                        <a:rPr lang="en-US" sz="1800" u="none" strike="noStrike" dirty="0">
                          <a:solidFill>
                            <a:schemeClr val="tx1"/>
                          </a:solidFill>
                          <a:effectLst/>
                          <a:hlinkClick r:id="rId11">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76200" marR="76200" marT="76200" marB="76200"/>
                </a:tc>
                <a:tc>
                  <a:txBody>
                    <a:bodyPr/>
                    <a:lstStyle/>
                    <a:p>
                      <a:pPr algn="l" fontAlgn="t"/>
                      <a:r>
                        <a:rPr lang="en-US" sz="1800" dirty="0">
                          <a:effectLst/>
                        </a:rPr>
                        <a:t>It is used to find the largest integer value which is less than or equal to the argument and is equal to the mathematical integer of a double value.</a:t>
                      </a:r>
                      <a:endParaRPr lang="en-US" sz="1800" dirty="0">
                        <a:effectLst/>
                        <a:latin typeface="+mj-lt"/>
                      </a:endParaRPr>
                    </a:p>
                  </a:txBody>
                  <a:tcPr marL="76200" marR="76200" marT="76200" marB="76200"/>
                </a:tc>
                <a:extLst>
                  <a:ext uri="{0D108BD9-81ED-4DB2-BD59-A6C34878D82A}">
                    <a16:rowId xmlns:a16="http://schemas.microsoft.com/office/drawing/2014/main" val="10009"/>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244734495"/>
              </p:ext>
            </p:extLst>
          </p:nvPr>
        </p:nvGraphicFramePr>
        <p:xfrm>
          <a:off x="237860" y="754421"/>
          <a:ext cx="11042850" cy="426720"/>
        </p:xfrm>
        <a:graphic>
          <a:graphicData uri="http://schemas.openxmlformats.org/drawingml/2006/table">
            <a:tbl>
              <a:tblPr>
                <a:tableStyleId>{E269D01E-BC32-4049-B463-5C60D7B0CCD2}</a:tableStyleId>
              </a:tblPr>
              <a:tblGrid>
                <a:gridCol w="1581108">
                  <a:extLst>
                    <a:ext uri="{9D8B030D-6E8A-4147-A177-3AD203B41FA5}">
                      <a16:colId xmlns:a16="http://schemas.microsoft.com/office/drawing/2014/main" val="20000"/>
                    </a:ext>
                  </a:extLst>
                </a:gridCol>
                <a:gridCol w="9461742">
                  <a:extLst>
                    <a:ext uri="{9D8B030D-6E8A-4147-A177-3AD203B41FA5}">
                      <a16:colId xmlns:a16="http://schemas.microsoft.com/office/drawing/2014/main" val="20001"/>
                    </a:ext>
                  </a:extLst>
                </a:gridCol>
              </a:tblGrid>
              <a:tr h="0">
                <a:tc>
                  <a:txBody>
                    <a:bodyPr/>
                    <a:lstStyle/>
                    <a:p>
                      <a:pPr algn="ctr" fontAlgn="t"/>
                      <a:r>
                        <a:rPr lang="en-US" b="1" dirty="0">
                          <a:solidFill>
                            <a:schemeClr val="bg1"/>
                          </a:solidFill>
                          <a:effectLst/>
                        </a:rPr>
                        <a:t>Method</a:t>
                      </a:r>
                    </a:p>
                  </a:txBody>
                  <a:tcPr marL="76200" marR="76200" marT="76200" marB="76200"/>
                </a:tc>
                <a:tc>
                  <a:txBody>
                    <a:bodyPr/>
                    <a:lstStyle/>
                    <a:p>
                      <a:pPr algn="ctr" fontAlgn="t"/>
                      <a:r>
                        <a:rPr lang="en-US" b="1" dirty="0">
                          <a:solidFill>
                            <a:schemeClr val="bg1"/>
                          </a:solidFill>
                          <a:effectLst/>
                        </a:rPr>
                        <a:t>Description</a:t>
                      </a:r>
                    </a:p>
                  </a:txBody>
                  <a:tcPr marL="76200" marR="76200" marT="76200" marB="76200"/>
                </a:tc>
                <a:extLst>
                  <a:ext uri="{0D108BD9-81ED-4DB2-BD59-A6C34878D82A}">
                    <a16:rowId xmlns:a16="http://schemas.microsoft.com/office/drawing/2014/main" val="10000"/>
                  </a:ext>
                </a:extLst>
              </a:tr>
            </a:tbl>
          </a:graphicData>
        </a:graphic>
      </p:graphicFrame>
      <p:sp>
        <p:nvSpPr>
          <p:cNvPr id="10" name="Content Placeholder 2"/>
          <p:cNvSpPr>
            <a:spLocks noGrp="1"/>
          </p:cNvSpPr>
          <p:nvPr>
            <p:ph idx="1"/>
          </p:nvPr>
        </p:nvSpPr>
        <p:spPr>
          <a:xfrm>
            <a:off x="223520" y="5471294"/>
            <a:ext cx="11887200" cy="1062510"/>
          </a:xfrm>
        </p:spPr>
        <p:txBody>
          <a:bodyPr/>
          <a:lstStyle/>
          <a:p>
            <a:pPr marL="0" indent="0">
              <a:buNone/>
            </a:pPr>
            <a:r>
              <a:rPr lang="en-US" sz="1800" dirty="0"/>
              <a:t>Other Methods: </a:t>
            </a:r>
            <a:r>
              <a:rPr lang="en-US" sz="1800" dirty="0" err="1"/>
              <a:t>Math.copySign</a:t>
            </a:r>
            <a:r>
              <a:rPr lang="en-US" sz="1800" dirty="0"/>
              <a:t>(), </a:t>
            </a:r>
            <a:r>
              <a:rPr lang="en-US" sz="1800" dirty="0" err="1"/>
              <a:t>Math.nextAfter</a:t>
            </a:r>
            <a:r>
              <a:rPr lang="en-US" sz="1800" dirty="0"/>
              <a:t>(), </a:t>
            </a:r>
            <a:r>
              <a:rPr lang="en-US" sz="1800" dirty="0" err="1"/>
              <a:t>Math.nextUp</a:t>
            </a:r>
            <a:r>
              <a:rPr lang="en-US" sz="1800" dirty="0"/>
              <a:t>(), </a:t>
            </a:r>
            <a:r>
              <a:rPr lang="en-US" sz="1800" dirty="0" err="1"/>
              <a:t>Math.nextDown</a:t>
            </a:r>
            <a:r>
              <a:rPr lang="en-US" sz="1800" dirty="0"/>
              <a:t>(), </a:t>
            </a:r>
            <a:r>
              <a:rPr lang="en-US" sz="1800" dirty="0" err="1"/>
              <a:t>Math.floorDiv</a:t>
            </a:r>
            <a:r>
              <a:rPr lang="en-US" sz="1800" dirty="0"/>
              <a:t>(), </a:t>
            </a:r>
            <a:r>
              <a:rPr lang="en-US" sz="1800" dirty="0" err="1"/>
              <a:t>Math.random</a:t>
            </a:r>
            <a:r>
              <a:rPr lang="en-US" sz="1800" dirty="0"/>
              <a:t>(), </a:t>
            </a:r>
            <a:r>
              <a:rPr lang="en-US" sz="1800" dirty="0" err="1"/>
              <a:t>Math.rint</a:t>
            </a:r>
            <a:r>
              <a:rPr lang="en-US" sz="1800" dirty="0"/>
              <a:t>(), </a:t>
            </a:r>
            <a:r>
              <a:rPr lang="en-US" sz="1800" dirty="0" err="1"/>
              <a:t>Math.hypot</a:t>
            </a:r>
            <a:r>
              <a:rPr lang="en-US" sz="1800" dirty="0"/>
              <a:t>(), </a:t>
            </a:r>
            <a:r>
              <a:rPr lang="en-US" sz="1800" dirty="0" err="1"/>
              <a:t>Math.ulp</a:t>
            </a:r>
            <a:r>
              <a:rPr lang="en-US" sz="1800" dirty="0"/>
              <a:t>(), </a:t>
            </a:r>
            <a:r>
              <a:rPr lang="en-US" sz="1800" dirty="0" err="1"/>
              <a:t>Math.getExponent</a:t>
            </a:r>
            <a:r>
              <a:rPr lang="en-US" sz="1800" dirty="0"/>
              <a:t>(), </a:t>
            </a:r>
            <a:r>
              <a:rPr lang="en-US" sz="1800" dirty="0" err="1"/>
              <a:t>Math.IEEEremainder</a:t>
            </a:r>
            <a:r>
              <a:rPr lang="en-US" sz="1800" dirty="0"/>
              <a:t>(), </a:t>
            </a:r>
            <a:r>
              <a:rPr lang="en-US" sz="1800" dirty="0" err="1"/>
              <a:t>Math.addExact</a:t>
            </a:r>
            <a:r>
              <a:rPr lang="en-US" sz="1800" dirty="0"/>
              <a:t>(), </a:t>
            </a:r>
            <a:r>
              <a:rPr lang="en-US" sz="1800" dirty="0" err="1"/>
              <a:t>Math.subtractExact</a:t>
            </a:r>
            <a:r>
              <a:rPr lang="en-US" sz="1800" dirty="0"/>
              <a:t>(), </a:t>
            </a:r>
            <a:r>
              <a:rPr lang="en-US" sz="1800" dirty="0" err="1"/>
              <a:t>Math.multiplyExact</a:t>
            </a:r>
            <a:r>
              <a:rPr lang="en-US" sz="1800" dirty="0"/>
              <a:t>(), </a:t>
            </a:r>
            <a:r>
              <a:rPr lang="en-US" sz="1800" dirty="0" err="1"/>
              <a:t>Math.incrementExact</a:t>
            </a:r>
            <a:r>
              <a:rPr lang="en-US" sz="1800" dirty="0"/>
              <a:t>(), </a:t>
            </a:r>
            <a:r>
              <a:rPr lang="en-US" sz="1800" dirty="0" err="1"/>
              <a:t>Math.decrementExact</a:t>
            </a:r>
            <a:r>
              <a:rPr lang="en-US" sz="1800" dirty="0"/>
              <a:t>()</a:t>
            </a:r>
          </a:p>
        </p:txBody>
      </p:sp>
    </p:spTree>
    <p:extLst>
      <p:ext uri="{BB962C8B-B14F-4D97-AF65-F5344CB8AC3E}">
        <p14:creationId xmlns:p14="http://schemas.microsoft.com/office/powerpoint/2010/main" val="223893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5C60F-F095-43F5-7A7C-553B5FF8D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12D87-CF69-4D1F-DDEC-D3BB5C82DD3F}"/>
              </a:ext>
            </a:extLst>
          </p:cNvPr>
          <p:cNvSpPr>
            <a:spLocks noGrp="1"/>
          </p:cNvSpPr>
          <p:nvPr>
            <p:ph type="title"/>
          </p:nvPr>
        </p:nvSpPr>
        <p:spPr/>
        <p:txBody>
          <a:bodyPr/>
          <a:lstStyle/>
          <a:p>
            <a:r>
              <a:rPr lang="en-US" dirty="0"/>
              <a:t>Methods of class Math (Logarithmic, Angular)</a:t>
            </a:r>
          </a:p>
        </p:txBody>
      </p:sp>
      <p:sp>
        <p:nvSpPr>
          <p:cNvPr id="5" name="Rectangle 4">
            <a:extLst>
              <a:ext uri="{FF2B5EF4-FFF2-40B4-BE49-F238E27FC236}">
                <a16:creationId xmlns:a16="http://schemas.microsoft.com/office/drawing/2014/main" id="{7BE70A1E-BFBC-258D-AB52-00310AB4FF81}"/>
              </a:ext>
            </a:extLst>
          </p:cNvPr>
          <p:cNvSpPr/>
          <p:nvPr/>
        </p:nvSpPr>
        <p:spPr>
          <a:xfrm>
            <a:off x="193963" y="1199803"/>
            <a:ext cx="9144000" cy="1447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ectangle 5">
            <a:extLst>
              <a:ext uri="{FF2B5EF4-FFF2-40B4-BE49-F238E27FC236}">
                <a16:creationId xmlns:a16="http://schemas.microsoft.com/office/drawing/2014/main" id="{2FF6B12E-C542-8EA4-F44A-4922CB38AE4F}"/>
              </a:ext>
            </a:extLst>
          </p:cNvPr>
          <p:cNvSpPr/>
          <p:nvPr/>
        </p:nvSpPr>
        <p:spPr>
          <a:xfrm>
            <a:off x="193963" y="2647603"/>
            <a:ext cx="91440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Rectangle 6">
            <a:extLst>
              <a:ext uri="{FF2B5EF4-FFF2-40B4-BE49-F238E27FC236}">
                <a16:creationId xmlns:a16="http://schemas.microsoft.com/office/drawing/2014/main" id="{ED93F09A-4B05-AD3F-64CA-1C3341A02A18}"/>
              </a:ext>
            </a:extLst>
          </p:cNvPr>
          <p:cNvSpPr/>
          <p:nvPr/>
        </p:nvSpPr>
        <p:spPr>
          <a:xfrm>
            <a:off x="193963" y="3866803"/>
            <a:ext cx="91440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3" name="Table 2">
            <a:extLst>
              <a:ext uri="{FF2B5EF4-FFF2-40B4-BE49-F238E27FC236}">
                <a16:creationId xmlns:a16="http://schemas.microsoft.com/office/drawing/2014/main" id="{953790B0-EB95-6A20-2CAA-F139274FC49C}"/>
              </a:ext>
            </a:extLst>
          </p:cNvPr>
          <p:cNvGraphicFramePr>
            <a:graphicFrameLocks noGrp="1"/>
          </p:cNvGraphicFramePr>
          <p:nvPr>
            <p:extLst>
              <p:ext uri="{D42A27DB-BD31-4B8C-83A1-F6EECF244321}">
                <p14:modId xmlns:p14="http://schemas.microsoft.com/office/powerpoint/2010/main" val="1292177272"/>
              </p:ext>
            </p:extLst>
          </p:nvPr>
        </p:nvGraphicFramePr>
        <p:xfrm>
          <a:off x="237860" y="1221248"/>
          <a:ext cx="11042850" cy="2240370"/>
        </p:xfrm>
        <a:graphic>
          <a:graphicData uri="http://schemas.openxmlformats.org/drawingml/2006/table">
            <a:tbl>
              <a:tblPr>
                <a:tableStyleId>{00A15C55-8517-42AA-B614-E9B94910E393}</a:tableStyleId>
              </a:tblPr>
              <a:tblGrid>
                <a:gridCol w="1589459">
                  <a:extLst>
                    <a:ext uri="{9D8B030D-6E8A-4147-A177-3AD203B41FA5}">
                      <a16:colId xmlns:a16="http://schemas.microsoft.com/office/drawing/2014/main" val="20000"/>
                    </a:ext>
                  </a:extLst>
                </a:gridCol>
                <a:gridCol w="9453391">
                  <a:extLst>
                    <a:ext uri="{9D8B030D-6E8A-4147-A177-3AD203B41FA5}">
                      <a16:colId xmlns:a16="http://schemas.microsoft.com/office/drawing/2014/main" val="20001"/>
                    </a:ext>
                  </a:extLst>
                </a:gridCol>
              </a:tblGrid>
              <a:tr h="347177">
                <a:tc>
                  <a:txBody>
                    <a:bodyPr/>
                    <a:lstStyle/>
                    <a:p>
                      <a:pPr algn="ctr" fontAlgn="t"/>
                      <a:r>
                        <a:rPr lang="en-US" sz="1800" u="none" strike="noStrike" dirty="0">
                          <a:solidFill>
                            <a:schemeClr val="tx1"/>
                          </a:solidFill>
                          <a:effectLst/>
                          <a:latin typeface="+mj-lt"/>
                          <a:hlinkClick r:id="rId2">
                            <a:extLst>
                              <a:ext uri="{A12FA001-AC4F-418D-AE19-62706E023703}">
                                <ahyp:hlinkClr xmlns:ahyp="http://schemas.microsoft.com/office/drawing/2018/hyperlinkcolor" xmlns="" val="tx"/>
                              </a:ext>
                            </a:extLst>
                          </a:hlinkClick>
                        </a:rPr>
                        <a:t>Math.log()</a:t>
                      </a:r>
                      <a:endParaRPr lang="en-US" sz="1800" dirty="0">
                        <a:solidFill>
                          <a:schemeClr val="tx1"/>
                        </a:solidFill>
                        <a:effectLst/>
                        <a:latin typeface="+mj-lt"/>
                      </a:endParaRPr>
                    </a:p>
                  </a:txBody>
                  <a:tcPr marL="59445" marR="59445" marT="59445" marB="59445"/>
                </a:tc>
                <a:tc>
                  <a:txBody>
                    <a:bodyPr/>
                    <a:lstStyle/>
                    <a:p>
                      <a:pPr algn="l" fontAlgn="t"/>
                      <a:r>
                        <a:rPr lang="en-US" sz="1800" dirty="0">
                          <a:effectLst/>
                          <a:latin typeface="+mj-lt"/>
                        </a:rPr>
                        <a:t>It returns the natural logarithm of a double value.</a:t>
                      </a:r>
                    </a:p>
                  </a:txBody>
                  <a:tcPr marL="59445" marR="59445" marT="59445" marB="59445"/>
                </a:tc>
                <a:extLst>
                  <a:ext uri="{0D108BD9-81ED-4DB2-BD59-A6C34878D82A}">
                    <a16:rowId xmlns:a16="http://schemas.microsoft.com/office/drawing/2014/main" val="10000"/>
                  </a:ext>
                </a:extLst>
              </a:tr>
              <a:tr h="347177">
                <a:tc>
                  <a:txBody>
                    <a:bodyPr/>
                    <a:lstStyle/>
                    <a:p>
                      <a:pPr algn="ctr" fontAlgn="t"/>
                      <a:r>
                        <a:rPr lang="en-US" sz="1800" u="none" strike="noStrike" dirty="0">
                          <a:solidFill>
                            <a:schemeClr val="tx1"/>
                          </a:solidFill>
                          <a:effectLst/>
                          <a:latin typeface="+mj-lt"/>
                          <a:hlinkClick r:id="rId3">
                            <a:extLst>
                              <a:ext uri="{A12FA001-AC4F-418D-AE19-62706E023703}">
                                <ahyp:hlinkClr xmlns:ahyp="http://schemas.microsoft.com/office/drawing/2018/hyperlinkcolor" xmlns="" val="tx"/>
                              </a:ext>
                            </a:extLst>
                          </a:hlinkClick>
                        </a:rPr>
                        <a:t>Math.log10()</a:t>
                      </a:r>
                      <a:endParaRPr lang="en-US" sz="1800" dirty="0">
                        <a:solidFill>
                          <a:schemeClr val="tx1"/>
                        </a:solidFill>
                        <a:effectLst/>
                        <a:latin typeface="+mj-lt"/>
                      </a:endParaRPr>
                    </a:p>
                  </a:txBody>
                  <a:tcPr marL="59445" marR="59445" marT="59445" marB="59445"/>
                </a:tc>
                <a:tc>
                  <a:txBody>
                    <a:bodyPr/>
                    <a:lstStyle/>
                    <a:p>
                      <a:pPr algn="l" fontAlgn="t"/>
                      <a:r>
                        <a:rPr lang="en-US" sz="1800" dirty="0">
                          <a:effectLst/>
                          <a:latin typeface="+mj-lt"/>
                        </a:rPr>
                        <a:t>It is used to return the base 10 logarithm of a double value.</a:t>
                      </a:r>
                    </a:p>
                  </a:txBody>
                  <a:tcPr marL="59445" marR="59445" marT="59445" marB="59445"/>
                </a:tc>
                <a:extLst>
                  <a:ext uri="{0D108BD9-81ED-4DB2-BD59-A6C34878D82A}">
                    <a16:rowId xmlns:a16="http://schemas.microsoft.com/office/drawing/2014/main" val="10001"/>
                  </a:ext>
                </a:extLst>
              </a:tr>
              <a:tr h="347177">
                <a:tc>
                  <a:txBody>
                    <a:bodyPr/>
                    <a:lstStyle/>
                    <a:p>
                      <a:pPr algn="ctr" fontAlgn="t"/>
                      <a:r>
                        <a:rPr lang="en-US" sz="1800" u="none" strike="noStrike" dirty="0">
                          <a:solidFill>
                            <a:schemeClr val="tx1"/>
                          </a:solidFill>
                          <a:effectLst/>
                          <a:latin typeface="+mj-lt"/>
                          <a:hlinkClick r:id="rId4">
                            <a:extLst>
                              <a:ext uri="{A12FA001-AC4F-418D-AE19-62706E023703}">
                                <ahyp:hlinkClr xmlns:ahyp="http://schemas.microsoft.com/office/drawing/2018/hyperlinkcolor" xmlns="" val="tx"/>
                              </a:ext>
                            </a:extLst>
                          </a:hlinkClick>
                        </a:rPr>
                        <a:t>Math.log1p()</a:t>
                      </a:r>
                      <a:endParaRPr lang="en-US" sz="1800" dirty="0">
                        <a:solidFill>
                          <a:schemeClr val="tx1"/>
                        </a:solidFill>
                        <a:effectLst/>
                        <a:latin typeface="+mj-lt"/>
                      </a:endParaRPr>
                    </a:p>
                  </a:txBody>
                  <a:tcPr marL="59445" marR="59445" marT="59445" marB="59445"/>
                </a:tc>
                <a:tc>
                  <a:txBody>
                    <a:bodyPr/>
                    <a:lstStyle/>
                    <a:p>
                      <a:pPr algn="l" fontAlgn="t"/>
                      <a:r>
                        <a:rPr lang="en-US" sz="1800" dirty="0">
                          <a:effectLst/>
                          <a:latin typeface="+mj-lt"/>
                        </a:rPr>
                        <a:t>It returns the natural logarithm of the sum of the argument and 1.</a:t>
                      </a:r>
                    </a:p>
                  </a:txBody>
                  <a:tcPr marL="59445" marR="59445" marT="59445" marB="59445"/>
                </a:tc>
                <a:extLst>
                  <a:ext uri="{0D108BD9-81ED-4DB2-BD59-A6C34878D82A}">
                    <a16:rowId xmlns:a16="http://schemas.microsoft.com/office/drawing/2014/main" val="10002"/>
                  </a:ext>
                </a:extLst>
              </a:tr>
              <a:tr h="347177">
                <a:tc>
                  <a:txBody>
                    <a:bodyPr/>
                    <a:lstStyle/>
                    <a:p>
                      <a:pPr algn="ctr" fontAlgn="t"/>
                      <a:r>
                        <a:rPr lang="en-US" sz="1800" u="none" strike="noStrike" dirty="0" err="1">
                          <a:solidFill>
                            <a:schemeClr val="tx1"/>
                          </a:solidFill>
                          <a:effectLst/>
                          <a:latin typeface="+mj-lt"/>
                          <a:hlinkClick r:id="rId5">
                            <a:extLst>
                              <a:ext uri="{A12FA001-AC4F-418D-AE19-62706E023703}">
                                <ahyp:hlinkClr xmlns:ahyp="http://schemas.microsoft.com/office/drawing/2018/hyperlinkcolor" xmlns="" val="tx"/>
                              </a:ext>
                            </a:extLst>
                          </a:hlinkClick>
                        </a:rPr>
                        <a:t>Math.exp</a:t>
                      </a:r>
                      <a:r>
                        <a:rPr lang="en-US" sz="1800" u="none" strike="noStrike" dirty="0">
                          <a:solidFill>
                            <a:schemeClr val="tx1"/>
                          </a:solidFill>
                          <a:effectLst/>
                          <a:latin typeface="+mj-lt"/>
                          <a:hlinkClick r:id="rId5">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59445" marR="59445" marT="59445" marB="59445"/>
                </a:tc>
                <a:tc>
                  <a:txBody>
                    <a:bodyPr/>
                    <a:lstStyle/>
                    <a:p>
                      <a:pPr algn="l" fontAlgn="t"/>
                      <a:r>
                        <a:rPr lang="en-US" sz="1800" dirty="0">
                          <a:effectLst/>
                          <a:latin typeface="+mj-lt"/>
                        </a:rPr>
                        <a:t>It returns E raised to the power of a double value, where E is Euler's number and it is approximately equal to 2.71828.</a:t>
                      </a:r>
                    </a:p>
                  </a:txBody>
                  <a:tcPr marL="59445" marR="59445" marT="59445" marB="59445"/>
                </a:tc>
                <a:extLst>
                  <a:ext uri="{0D108BD9-81ED-4DB2-BD59-A6C34878D82A}">
                    <a16:rowId xmlns:a16="http://schemas.microsoft.com/office/drawing/2014/main" val="10003"/>
                  </a:ext>
                </a:extLst>
              </a:tr>
              <a:tr h="347177">
                <a:tc>
                  <a:txBody>
                    <a:bodyPr/>
                    <a:lstStyle/>
                    <a:p>
                      <a:pPr algn="ctr" fontAlgn="t"/>
                      <a:r>
                        <a:rPr lang="en-US" sz="1800" u="none" strike="noStrike" dirty="0">
                          <a:solidFill>
                            <a:schemeClr val="tx1"/>
                          </a:solidFill>
                          <a:effectLst/>
                          <a:latin typeface="+mj-lt"/>
                          <a:hlinkClick r:id="rId6">
                            <a:extLst>
                              <a:ext uri="{A12FA001-AC4F-418D-AE19-62706E023703}">
                                <ahyp:hlinkClr xmlns:ahyp="http://schemas.microsoft.com/office/drawing/2018/hyperlinkcolor" xmlns="" val="tx"/>
                              </a:ext>
                            </a:extLst>
                          </a:hlinkClick>
                        </a:rPr>
                        <a:t>Math.expm1()</a:t>
                      </a:r>
                      <a:endParaRPr lang="en-US" sz="1800" dirty="0">
                        <a:solidFill>
                          <a:schemeClr val="tx1"/>
                        </a:solidFill>
                        <a:effectLst/>
                        <a:latin typeface="+mj-lt"/>
                      </a:endParaRPr>
                    </a:p>
                  </a:txBody>
                  <a:tcPr marL="59445" marR="59445" marT="59445" marB="59445"/>
                </a:tc>
                <a:tc>
                  <a:txBody>
                    <a:bodyPr/>
                    <a:lstStyle/>
                    <a:p>
                      <a:pPr algn="l" fontAlgn="t"/>
                      <a:r>
                        <a:rPr lang="en-US" sz="1800" dirty="0">
                          <a:effectLst/>
                          <a:latin typeface="+mj-lt"/>
                        </a:rPr>
                        <a:t>It is used to calculate the power of E and subtract one from it.</a:t>
                      </a:r>
                    </a:p>
                  </a:txBody>
                  <a:tcPr marL="59445" marR="59445" marT="59445" marB="59445"/>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6C4FE1D7-1CEF-BB4A-DECF-595C6C095CFE}"/>
              </a:ext>
            </a:extLst>
          </p:cNvPr>
          <p:cNvGraphicFramePr>
            <a:graphicFrameLocks noGrp="1"/>
          </p:cNvGraphicFramePr>
          <p:nvPr/>
        </p:nvGraphicFramePr>
        <p:xfrm>
          <a:off x="237860" y="754421"/>
          <a:ext cx="11042850" cy="426720"/>
        </p:xfrm>
        <a:graphic>
          <a:graphicData uri="http://schemas.openxmlformats.org/drawingml/2006/table">
            <a:tbl>
              <a:tblPr>
                <a:tableStyleId>{E269D01E-BC32-4049-B463-5C60D7B0CCD2}</a:tableStyleId>
              </a:tblPr>
              <a:tblGrid>
                <a:gridCol w="1581108">
                  <a:extLst>
                    <a:ext uri="{9D8B030D-6E8A-4147-A177-3AD203B41FA5}">
                      <a16:colId xmlns:a16="http://schemas.microsoft.com/office/drawing/2014/main" val="20000"/>
                    </a:ext>
                  </a:extLst>
                </a:gridCol>
                <a:gridCol w="9461742">
                  <a:extLst>
                    <a:ext uri="{9D8B030D-6E8A-4147-A177-3AD203B41FA5}">
                      <a16:colId xmlns:a16="http://schemas.microsoft.com/office/drawing/2014/main" val="20001"/>
                    </a:ext>
                  </a:extLst>
                </a:gridCol>
              </a:tblGrid>
              <a:tr h="0">
                <a:tc>
                  <a:txBody>
                    <a:bodyPr/>
                    <a:lstStyle/>
                    <a:p>
                      <a:pPr algn="ctr" fontAlgn="t"/>
                      <a:r>
                        <a:rPr lang="en-US" b="1" dirty="0">
                          <a:solidFill>
                            <a:schemeClr val="bg1"/>
                          </a:solidFill>
                          <a:effectLst/>
                        </a:rPr>
                        <a:t>Method</a:t>
                      </a:r>
                    </a:p>
                  </a:txBody>
                  <a:tcPr marL="76200" marR="76200" marT="76200" marB="76200"/>
                </a:tc>
                <a:tc>
                  <a:txBody>
                    <a:bodyPr/>
                    <a:lstStyle/>
                    <a:p>
                      <a:pPr algn="ctr" fontAlgn="t"/>
                      <a:r>
                        <a:rPr lang="en-US" b="1" dirty="0">
                          <a:solidFill>
                            <a:schemeClr val="bg1"/>
                          </a:solidFill>
                          <a:effectLst/>
                        </a:rPr>
                        <a:t>Description</a:t>
                      </a:r>
                    </a:p>
                  </a:txBody>
                  <a:tcPr marL="76200" marR="76200" marT="76200" marB="76200"/>
                </a:tc>
                <a:extLst>
                  <a:ext uri="{0D108BD9-81ED-4DB2-BD59-A6C34878D82A}">
                    <a16:rowId xmlns:a16="http://schemas.microsoft.com/office/drawing/2014/main" val="10000"/>
                  </a:ext>
                </a:extLst>
              </a:tr>
            </a:tbl>
          </a:graphicData>
        </a:graphic>
      </p:graphicFrame>
      <p:graphicFrame>
        <p:nvGraphicFramePr>
          <p:cNvPr id="11" name="Table 10">
            <a:extLst>
              <a:ext uri="{FF2B5EF4-FFF2-40B4-BE49-F238E27FC236}">
                <a16:creationId xmlns:a16="http://schemas.microsoft.com/office/drawing/2014/main" id="{AA968988-137F-5540-5CA8-15406F64C1E7}"/>
              </a:ext>
            </a:extLst>
          </p:cNvPr>
          <p:cNvGraphicFramePr>
            <a:graphicFrameLocks noGrp="1"/>
          </p:cNvGraphicFramePr>
          <p:nvPr>
            <p:extLst>
              <p:ext uri="{D42A27DB-BD31-4B8C-83A1-F6EECF244321}">
                <p14:modId xmlns:p14="http://schemas.microsoft.com/office/powerpoint/2010/main" val="2322784766"/>
              </p:ext>
            </p:extLst>
          </p:nvPr>
        </p:nvGraphicFramePr>
        <p:xfrm>
          <a:off x="237860" y="4135510"/>
          <a:ext cx="11042850" cy="853440"/>
        </p:xfrm>
        <a:graphic>
          <a:graphicData uri="http://schemas.openxmlformats.org/drawingml/2006/table">
            <a:tbl>
              <a:tblPr>
                <a:tableStyleId>{00A15C55-8517-42AA-B614-E9B94910E393}</a:tableStyleId>
              </a:tblPr>
              <a:tblGrid>
                <a:gridCol w="1721127">
                  <a:extLst>
                    <a:ext uri="{9D8B030D-6E8A-4147-A177-3AD203B41FA5}">
                      <a16:colId xmlns:a16="http://schemas.microsoft.com/office/drawing/2014/main" val="20000"/>
                    </a:ext>
                  </a:extLst>
                </a:gridCol>
                <a:gridCol w="9321723">
                  <a:extLst>
                    <a:ext uri="{9D8B030D-6E8A-4147-A177-3AD203B41FA5}">
                      <a16:colId xmlns:a16="http://schemas.microsoft.com/office/drawing/2014/main" val="20001"/>
                    </a:ext>
                  </a:extLst>
                </a:gridCol>
              </a:tblGrid>
              <a:tr h="347177">
                <a:tc>
                  <a:txBody>
                    <a:bodyPr/>
                    <a:lstStyle/>
                    <a:p>
                      <a:pPr algn="ctr" fontAlgn="t"/>
                      <a:r>
                        <a:rPr lang="en-US" u="none" strike="noStrike" dirty="0" err="1">
                          <a:solidFill>
                            <a:schemeClr val="tx1"/>
                          </a:solidFill>
                          <a:effectLst/>
                          <a:latin typeface="+mj-lt"/>
                          <a:hlinkClick r:id="rId7">
                            <a:extLst>
                              <a:ext uri="{A12FA001-AC4F-418D-AE19-62706E023703}">
                                <ahyp:hlinkClr xmlns:ahyp="http://schemas.microsoft.com/office/drawing/2018/hyperlinkcolor" xmlns="" val="tx"/>
                              </a:ext>
                            </a:extLst>
                          </a:hlinkClick>
                        </a:rPr>
                        <a:t>Math.toDegrees</a:t>
                      </a:r>
                      <a:endParaRPr lang="en-US" dirty="0">
                        <a:solidFill>
                          <a:schemeClr val="tx1"/>
                        </a:solidFill>
                        <a:effectLst/>
                        <a:latin typeface="+mj-lt"/>
                      </a:endParaRPr>
                    </a:p>
                  </a:txBody>
                  <a:tcPr marL="76200" marR="76200" marT="76200" marB="76200"/>
                </a:tc>
                <a:tc>
                  <a:txBody>
                    <a:bodyPr/>
                    <a:lstStyle/>
                    <a:p>
                      <a:pPr algn="l" fontAlgn="t"/>
                      <a:r>
                        <a:rPr lang="en-US" dirty="0">
                          <a:effectLst/>
                          <a:latin typeface="+mj-lt"/>
                        </a:rPr>
                        <a:t>It is used to convert the specified Radians angle to equivalent angle measured in Degrees.</a:t>
                      </a:r>
                    </a:p>
                  </a:txBody>
                  <a:tcPr marL="76200" marR="76200" marT="76200" marB="76200"/>
                </a:tc>
                <a:extLst>
                  <a:ext uri="{0D108BD9-81ED-4DB2-BD59-A6C34878D82A}">
                    <a16:rowId xmlns:a16="http://schemas.microsoft.com/office/drawing/2014/main" val="10000"/>
                  </a:ext>
                </a:extLst>
              </a:tr>
              <a:tr h="347177">
                <a:tc>
                  <a:txBody>
                    <a:bodyPr/>
                    <a:lstStyle/>
                    <a:p>
                      <a:pPr algn="ctr" fontAlgn="t"/>
                      <a:r>
                        <a:rPr lang="en-US" u="none" strike="noStrike" dirty="0" err="1">
                          <a:solidFill>
                            <a:schemeClr val="tx1"/>
                          </a:solidFill>
                          <a:effectLst/>
                          <a:latin typeface="+mj-lt"/>
                          <a:hlinkClick r:id="rId8">
                            <a:extLst>
                              <a:ext uri="{A12FA001-AC4F-418D-AE19-62706E023703}">
                                <ahyp:hlinkClr xmlns:ahyp="http://schemas.microsoft.com/office/drawing/2018/hyperlinkcolor" xmlns="" val="tx"/>
                              </a:ext>
                            </a:extLst>
                          </a:hlinkClick>
                        </a:rPr>
                        <a:t>Math.toRadians</a:t>
                      </a:r>
                      <a:endParaRPr lang="en-US" dirty="0">
                        <a:solidFill>
                          <a:schemeClr val="tx1"/>
                        </a:solidFill>
                        <a:effectLst/>
                        <a:latin typeface="+mj-lt"/>
                      </a:endParaRPr>
                    </a:p>
                  </a:txBody>
                  <a:tcPr marL="76200" marR="76200" marT="76200" marB="76200"/>
                </a:tc>
                <a:tc>
                  <a:txBody>
                    <a:bodyPr/>
                    <a:lstStyle/>
                    <a:p>
                      <a:pPr algn="l" fontAlgn="t"/>
                      <a:r>
                        <a:rPr lang="en-US" dirty="0">
                          <a:effectLst/>
                          <a:latin typeface="+mj-lt"/>
                        </a:rPr>
                        <a:t>It is used to convert the specified Degrees angle to equivalent angle measured in Radians.</a:t>
                      </a:r>
                    </a:p>
                  </a:txBody>
                  <a:tcPr marL="76200" marR="76200" marT="76200" marB="76200"/>
                </a:tc>
                <a:extLst>
                  <a:ext uri="{0D108BD9-81ED-4DB2-BD59-A6C34878D82A}">
                    <a16:rowId xmlns:a16="http://schemas.microsoft.com/office/drawing/2014/main" val="10001"/>
                  </a:ext>
                </a:extLst>
              </a:tr>
            </a:tbl>
          </a:graphicData>
        </a:graphic>
      </p:graphicFrame>
      <p:graphicFrame>
        <p:nvGraphicFramePr>
          <p:cNvPr id="12" name="Table 11">
            <a:extLst>
              <a:ext uri="{FF2B5EF4-FFF2-40B4-BE49-F238E27FC236}">
                <a16:creationId xmlns:a16="http://schemas.microsoft.com/office/drawing/2014/main" id="{D616C14C-3CB5-EE6C-55DF-8BBCED8ECEDE}"/>
              </a:ext>
            </a:extLst>
          </p:cNvPr>
          <p:cNvGraphicFramePr>
            <a:graphicFrameLocks noGrp="1"/>
          </p:cNvGraphicFramePr>
          <p:nvPr>
            <p:extLst>
              <p:ext uri="{D42A27DB-BD31-4B8C-83A1-F6EECF244321}">
                <p14:modId xmlns:p14="http://schemas.microsoft.com/office/powerpoint/2010/main" val="469083803"/>
              </p:ext>
            </p:extLst>
          </p:nvPr>
        </p:nvGraphicFramePr>
        <p:xfrm>
          <a:off x="237860" y="3668683"/>
          <a:ext cx="11042850" cy="426720"/>
        </p:xfrm>
        <a:graphic>
          <a:graphicData uri="http://schemas.openxmlformats.org/drawingml/2006/table">
            <a:tbl>
              <a:tblPr>
                <a:tableStyleId>{E269D01E-BC32-4049-B463-5C60D7B0CCD2}</a:tableStyleId>
              </a:tblPr>
              <a:tblGrid>
                <a:gridCol w="1581108">
                  <a:extLst>
                    <a:ext uri="{9D8B030D-6E8A-4147-A177-3AD203B41FA5}">
                      <a16:colId xmlns:a16="http://schemas.microsoft.com/office/drawing/2014/main" val="20000"/>
                    </a:ext>
                  </a:extLst>
                </a:gridCol>
                <a:gridCol w="9461742">
                  <a:extLst>
                    <a:ext uri="{9D8B030D-6E8A-4147-A177-3AD203B41FA5}">
                      <a16:colId xmlns:a16="http://schemas.microsoft.com/office/drawing/2014/main" val="20001"/>
                    </a:ext>
                  </a:extLst>
                </a:gridCol>
              </a:tblGrid>
              <a:tr h="0">
                <a:tc>
                  <a:txBody>
                    <a:bodyPr/>
                    <a:lstStyle/>
                    <a:p>
                      <a:pPr algn="ctr" fontAlgn="t"/>
                      <a:r>
                        <a:rPr lang="en-US" b="1" dirty="0">
                          <a:solidFill>
                            <a:schemeClr val="bg1"/>
                          </a:solidFill>
                          <a:effectLst/>
                        </a:rPr>
                        <a:t>Method</a:t>
                      </a:r>
                    </a:p>
                  </a:txBody>
                  <a:tcPr marL="76200" marR="76200" marT="76200" marB="76200"/>
                </a:tc>
                <a:tc>
                  <a:txBody>
                    <a:bodyPr/>
                    <a:lstStyle/>
                    <a:p>
                      <a:pPr algn="ctr" fontAlgn="t"/>
                      <a:r>
                        <a:rPr lang="en-US" b="1" dirty="0">
                          <a:solidFill>
                            <a:schemeClr val="bg1"/>
                          </a:solidFill>
                          <a:effectLst/>
                        </a:rPr>
                        <a:t>Description</a:t>
                      </a:r>
                    </a:p>
                  </a:txBody>
                  <a:tcPr marL="76200" marR="76200" marT="76200" marB="762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08006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3032F-28ED-CBF4-1DB2-BBE20669A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77C77-B3D5-FB01-FCA8-7CDFCE6C1AC8}"/>
              </a:ext>
            </a:extLst>
          </p:cNvPr>
          <p:cNvSpPr>
            <a:spLocks noGrp="1"/>
          </p:cNvSpPr>
          <p:nvPr>
            <p:ph type="title"/>
          </p:nvPr>
        </p:nvSpPr>
        <p:spPr/>
        <p:txBody>
          <a:bodyPr/>
          <a:lstStyle/>
          <a:p>
            <a:r>
              <a:rPr lang="en-US" dirty="0"/>
              <a:t>Methods of class Math (Trigonometric, Hyperbolic)</a:t>
            </a:r>
          </a:p>
        </p:txBody>
      </p:sp>
      <p:sp>
        <p:nvSpPr>
          <p:cNvPr id="5" name="Rectangle 4">
            <a:extLst>
              <a:ext uri="{FF2B5EF4-FFF2-40B4-BE49-F238E27FC236}">
                <a16:creationId xmlns:a16="http://schemas.microsoft.com/office/drawing/2014/main" id="{DBE294C3-5010-5E32-EB0F-8C033D3D6FE7}"/>
              </a:ext>
            </a:extLst>
          </p:cNvPr>
          <p:cNvSpPr/>
          <p:nvPr/>
        </p:nvSpPr>
        <p:spPr>
          <a:xfrm>
            <a:off x="193963" y="1199803"/>
            <a:ext cx="9144000" cy="1447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ectangle 5">
            <a:extLst>
              <a:ext uri="{FF2B5EF4-FFF2-40B4-BE49-F238E27FC236}">
                <a16:creationId xmlns:a16="http://schemas.microsoft.com/office/drawing/2014/main" id="{FB076589-6B99-6430-BBBD-5D9A06182737}"/>
              </a:ext>
            </a:extLst>
          </p:cNvPr>
          <p:cNvSpPr/>
          <p:nvPr/>
        </p:nvSpPr>
        <p:spPr>
          <a:xfrm>
            <a:off x="193963" y="2647603"/>
            <a:ext cx="91440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3" name="Table 2">
            <a:extLst>
              <a:ext uri="{FF2B5EF4-FFF2-40B4-BE49-F238E27FC236}">
                <a16:creationId xmlns:a16="http://schemas.microsoft.com/office/drawing/2014/main" id="{F57FAF0D-E2BD-1755-D69D-0ED9FECFE2B0}"/>
              </a:ext>
            </a:extLst>
          </p:cNvPr>
          <p:cNvGraphicFramePr>
            <a:graphicFrameLocks noGrp="1"/>
          </p:cNvGraphicFramePr>
          <p:nvPr>
            <p:extLst>
              <p:ext uri="{D42A27DB-BD31-4B8C-83A1-F6EECF244321}">
                <p14:modId xmlns:p14="http://schemas.microsoft.com/office/powerpoint/2010/main" val="1361512298"/>
              </p:ext>
            </p:extLst>
          </p:nvPr>
        </p:nvGraphicFramePr>
        <p:xfrm>
          <a:off x="237860" y="1221248"/>
          <a:ext cx="11042850" cy="2228688"/>
        </p:xfrm>
        <a:graphic>
          <a:graphicData uri="http://schemas.openxmlformats.org/drawingml/2006/table">
            <a:tbl>
              <a:tblPr>
                <a:tableStyleId>{00A15C55-8517-42AA-B614-E9B94910E393}</a:tableStyleId>
              </a:tblPr>
              <a:tblGrid>
                <a:gridCol w="1589459">
                  <a:extLst>
                    <a:ext uri="{9D8B030D-6E8A-4147-A177-3AD203B41FA5}">
                      <a16:colId xmlns:a16="http://schemas.microsoft.com/office/drawing/2014/main" val="20000"/>
                    </a:ext>
                  </a:extLst>
                </a:gridCol>
                <a:gridCol w="9453391">
                  <a:extLst>
                    <a:ext uri="{9D8B030D-6E8A-4147-A177-3AD203B41FA5}">
                      <a16:colId xmlns:a16="http://schemas.microsoft.com/office/drawing/2014/main" val="20001"/>
                    </a:ext>
                  </a:extLst>
                </a:gridCol>
              </a:tblGrid>
              <a:tr h="347177">
                <a:tc>
                  <a:txBody>
                    <a:bodyPr/>
                    <a:lstStyle/>
                    <a:p>
                      <a:pPr algn="ctr" fontAlgn="t"/>
                      <a:r>
                        <a:rPr lang="en-US" sz="1800" u="none" strike="noStrike" dirty="0" err="1">
                          <a:solidFill>
                            <a:schemeClr val="tx1"/>
                          </a:solidFill>
                          <a:effectLst/>
                          <a:latin typeface="+mj-lt"/>
                          <a:hlinkClick r:id="rId2">
                            <a:extLst>
                              <a:ext uri="{A12FA001-AC4F-418D-AE19-62706E023703}">
                                <ahyp:hlinkClr xmlns:ahyp="http://schemas.microsoft.com/office/drawing/2018/hyperlinkcolor" xmlns="" val="tx"/>
                              </a:ext>
                            </a:extLst>
                          </a:hlinkClick>
                        </a:rPr>
                        <a:t>Math.sin</a:t>
                      </a:r>
                      <a:r>
                        <a:rPr lang="en-US" sz="1800" u="none" strike="noStrike" dirty="0">
                          <a:solidFill>
                            <a:schemeClr val="tx1"/>
                          </a:solidFill>
                          <a:effectLst/>
                          <a:latin typeface="+mj-lt"/>
                          <a:hlinkClick r:id="rId2">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8564" marR="48564" marT="48564" marB="48564"/>
                </a:tc>
                <a:tc>
                  <a:txBody>
                    <a:bodyPr/>
                    <a:lstStyle/>
                    <a:p>
                      <a:pPr algn="l" fontAlgn="t"/>
                      <a:r>
                        <a:rPr lang="en-US" sz="1800" dirty="0">
                          <a:effectLst/>
                          <a:latin typeface="+mj-lt"/>
                        </a:rPr>
                        <a:t>It is used to return the trigonometric Sine value of a Given double value.</a:t>
                      </a:r>
                    </a:p>
                  </a:txBody>
                  <a:tcPr marL="48564" marR="48564" marT="48564" marB="48564"/>
                </a:tc>
                <a:extLst>
                  <a:ext uri="{0D108BD9-81ED-4DB2-BD59-A6C34878D82A}">
                    <a16:rowId xmlns:a16="http://schemas.microsoft.com/office/drawing/2014/main" val="10000"/>
                  </a:ext>
                </a:extLst>
              </a:tr>
              <a:tr h="347177">
                <a:tc>
                  <a:txBody>
                    <a:bodyPr/>
                    <a:lstStyle/>
                    <a:p>
                      <a:pPr algn="ctr" fontAlgn="t"/>
                      <a:r>
                        <a:rPr lang="en-US" sz="1800" u="none" strike="noStrike" dirty="0" err="1">
                          <a:solidFill>
                            <a:schemeClr val="tx1"/>
                          </a:solidFill>
                          <a:effectLst/>
                          <a:latin typeface="+mj-lt"/>
                          <a:hlinkClick r:id="rId3">
                            <a:extLst>
                              <a:ext uri="{A12FA001-AC4F-418D-AE19-62706E023703}">
                                <ahyp:hlinkClr xmlns:ahyp="http://schemas.microsoft.com/office/drawing/2018/hyperlinkcolor" xmlns="" val="tx"/>
                              </a:ext>
                            </a:extLst>
                          </a:hlinkClick>
                        </a:rPr>
                        <a:t>Math.cos</a:t>
                      </a:r>
                      <a:r>
                        <a:rPr lang="en-US" sz="1800" u="none" strike="noStrike" dirty="0">
                          <a:solidFill>
                            <a:schemeClr val="tx1"/>
                          </a:solidFill>
                          <a:effectLst/>
                          <a:latin typeface="+mj-lt"/>
                          <a:hlinkClick r:id="rId3">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8564" marR="48564" marT="48564" marB="48564"/>
                </a:tc>
                <a:tc>
                  <a:txBody>
                    <a:bodyPr/>
                    <a:lstStyle/>
                    <a:p>
                      <a:pPr algn="l" fontAlgn="t"/>
                      <a:r>
                        <a:rPr lang="en-US" sz="1800" dirty="0">
                          <a:effectLst/>
                          <a:latin typeface="+mj-lt"/>
                        </a:rPr>
                        <a:t>It is used to return the trigonometric Cosine value of a Given double value.</a:t>
                      </a:r>
                    </a:p>
                  </a:txBody>
                  <a:tcPr marL="48564" marR="48564" marT="48564" marB="48564"/>
                </a:tc>
                <a:extLst>
                  <a:ext uri="{0D108BD9-81ED-4DB2-BD59-A6C34878D82A}">
                    <a16:rowId xmlns:a16="http://schemas.microsoft.com/office/drawing/2014/main" val="10001"/>
                  </a:ext>
                </a:extLst>
              </a:tr>
              <a:tr h="347177">
                <a:tc>
                  <a:txBody>
                    <a:bodyPr/>
                    <a:lstStyle/>
                    <a:p>
                      <a:pPr algn="ctr" fontAlgn="t"/>
                      <a:r>
                        <a:rPr lang="en-US" sz="1800" u="none" strike="noStrike" dirty="0" err="1">
                          <a:solidFill>
                            <a:schemeClr val="tx1"/>
                          </a:solidFill>
                          <a:effectLst/>
                          <a:latin typeface="+mj-lt"/>
                          <a:hlinkClick r:id="rId4">
                            <a:extLst>
                              <a:ext uri="{A12FA001-AC4F-418D-AE19-62706E023703}">
                                <ahyp:hlinkClr xmlns:ahyp="http://schemas.microsoft.com/office/drawing/2018/hyperlinkcolor" xmlns="" val="tx"/>
                              </a:ext>
                            </a:extLst>
                          </a:hlinkClick>
                        </a:rPr>
                        <a:t>Math.tan</a:t>
                      </a:r>
                      <a:r>
                        <a:rPr lang="en-US" sz="1800" u="none" strike="noStrike" dirty="0">
                          <a:solidFill>
                            <a:schemeClr val="tx1"/>
                          </a:solidFill>
                          <a:effectLst/>
                          <a:latin typeface="+mj-lt"/>
                          <a:hlinkClick r:id="rId4">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8564" marR="48564" marT="48564" marB="48564"/>
                </a:tc>
                <a:tc>
                  <a:txBody>
                    <a:bodyPr/>
                    <a:lstStyle/>
                    <a:p>
                      <a:pPr algn="l" fontAlgn="t"/>
                      <a:r>
                        <a:rPr lang="en-US" sz="1800" dirty="0">
                          <a:effectLst/>
                          <a:latin typeface="+mj-lt"/>
                        </a:rPr>
                        <a:t>It is used to return the trigonometric Tangent value of a Given double value.</a:t>
                      </a:r>
                    </a:p>
                  </a:txBody>
                  <a:tcPr marL="48564" marR="48564" marT="48564" marB="48564"/>
                </a:tc>
                <a:extLst>
                  <a:ext uri="{0D108BD9-81ED-4DB2-BD59-A6C34878D82A}">
                    <a16:rowId xmlns:a16="http://schemas.microsoft.com/office/drawing/2014/main" val="10002"/>
                  </a:ext>
                </a:extLst>
              </a:tr>
              <a:tr h="347177">
                <a:tc>
                  <a:txBody>
                    <a:bodyPr/>
                    <a:lstStyle/>
                    <a:p>
                      <a:pPr algn="ctr" fontAlgn="t"/>
                      <a:r>
                        <a:rPr lang="en-US" sz="1800" u="none" strike="noStrike">
                          <a:solidFill>
                            <a:schemeClr val="tx1"/>
                          </a:solidFill>
                          <a:effectLst/>
                          <a:latin typeface="+mj-lt"/>
                          <a:hlinkClick r:id="rId5">
                            <a:extLst>
                              <a:ext uri="{A12FA001-AC4F-418D-AE19-62706E023703}">
                                <ahyp:hlinkClr xmlns:ahyp="http://schemas.microsoft.com/office/drawing/2018/hyperlinkcolor" xmlns="" val="tx"/>
                              </a:ext>
                            </a:extLst>
                          </a:hlinkClick>
                        </a:rPr>
                        <a:t>Math.asin()</a:t>
                      </a:r>
                      <a:endParaRPr lang="en-US" sz="1800">
                        <a:solidFill>
                          <a:schemeClr val="tx1"/>
                        </a:solidFill>
                        <a:effectLst/>
                        <a:latin typeface="+mj-lt"/>
                      </a:endParaRPr>
                    </a:p>
                  </a:txBody>
                  <a:tcPr marL="48564" marR="48564" marT="48564" marB="48564"/>
                </a:tc>
                <a:tc>
                  <a:txBody>
                    <a:bodyPr/>
                    <a:lstStyle/>
                    <a:p>
                      <a:pPr algn="l" fontAlgn="t"/>
                      <a:r>
                        <a:rPr lang="en-US" sz="1800" dirty="0">
                          <a:effectLst/>
                          <a:latin typeface="+mj-lt"/>
                        </a:rPr>
                        <a:t>It is used to return the trigonometric Arc Sine value of a Given double value</a:t>
                      </a:r>
                    </a:p>
                  </a:txBody>
                  <a:tcPr marL="48564" marR="48564" marT="48564" marB="48564"/>
                </a:tc>
                <a:extLst>
                  <a:ext uri="{0D108BD9-81ED-4DB2-BD59-A6C34878D82A}">
                    <a16:rowId xmlns:a16="http://schemas.microsoft.com/office/drawing/2014/main" val="10003"/>
                  </a:ext>
                </a:extLst>
              </a:tr>
              <a:tr h="347177">
                <a:tc>
                  <a:txBody>
                    <a:bodyPr/>
                    <a:lstStyle/>
                    <a:p>
                      <a:pPr algn="ctr" fontAlgn="t"/>
                      <a:r>
                        <a:rPr lang="en-US" sz="1800" u="none" strike="noStrike">
                          <a:solidFill>
                            <a:schemeClr val="tx1"/>
                          </a:solidFill>
                          <a:effectLst/>
                          <a:latin typeface="+mj-lt"/>
                          <a:hlinkClick r:id="rId6">
                            <a:extLst>
                              <a:ext uri="{A12FA001-AC4F-418D-AE19-62706E023703}">
                                <ahyp:hlinkClr xmlns:ahyp="http://schemas.microsoft.com/office/drawing/2018/hyperlinkcolor" xmlns="" val="tx"/>
                              </a:ext>
                            </a:extLst>
                          </a:hlinkClick>
                        </a:rPr>
                        <a:t>Math.acos()</a:t>
                      </a:r>
                      <a:endParaRPr lang="en-US" sz="1800">
                        <a:solidFill>
                          <a:schemeClr val="tx1"/>
                        </a:solidFill>
                        <a:effectLst/>
                        <a:latin typeface="+mj-lt"/>
                      </a:endParaRPr>
                    </a:p>
                  </a:txBody>
                  <a:tcPr marL="48564" marR="48564" marT="48564" marB="48564"/>
                </a:tc>
                <a:tc>
                  <a:txBody>
                    <a:bodyPr/>
                    <a:lstStyle/>
                    <a:p>
                      <a:pPr algn="l" fontAlgn="t"/>
                      <a:r>
                        <a:rPr lang="en-US" sz="1800" dirty="0">
                          <a:effectLst/>
                          <a:latin typeface="+mj-lt"/>
                        </a:rPr>
                        <a:t>It is used to return the trigonometric Arc Cosine value of a Given double value.</a:t>
                      </a:r>
                    </a:p>
                  </a:txBody>
                  <a:tcPr marL="48564" marR="48564" marT="48564" marB="48564"/>
                </a:tc>
                <a:extLst>
                  <a:ext uri="{0D108BD9-81ED-4DB2-BD59-A6C34878D82A}">
                    <a16:rowId xmlns:a16="http://schemas.microsoft.com/office/drawing/2014/main" val="10004"/>
                  </a:ext>
                </a:extLst>
              </a:tr>
              <a:tr h="347177">
                <a:tc>
                  <a:txBody>
                    <a:bodyPr/>
                    <a:lstStyle/>
                    <a:p>
                      <a:pPr algn="ctr" fontAlgn="t"/>
                      <a:r>
                        <a:rPr lang="en-US" sz="1800" u="none" strike="noStrike" dirty="0" err="1">
                          <a:solidFill>
                            <a:schemeClr val="tx1"/>
                          </a:solidFill>
                          <a:effectLst/>
                          <a:latin typeface="+mj-lt"/>
                          <a:hlinkClick r:id="rId7">
                            <a:extLst>
                              <a:ext uri="{A12FA001-AC4F-418D-AE19-62706E023703}">
                                <ahyp:hlinkClr xmlns:ahyp="http://schemas.microsoft.com/office/drawing/2018/hyperlinkcolor" xmlns="" val="tx"/>
                              </a:ext>
                            </a:extLst>
                          </a:hlinkClick>
                        </a:rPr>
                        <a:t>Math.atan</a:t>
                      </a:r>
                      <a:r>
                        <a:rPr lang="en-US" sz="1800" u="none" strike="noStrike" dirty="0">
                          <a:solidFill>
                            <a:schemeClr val="tx1"/>
                          </a:solidFill>
                          <a:effectLst/>
                          <a:latin typeface="+mj-lt"/>
                          <a:hlinkClick r:id="rId7">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48564" marR="48564" marT="48564" marB="48564"/>
                </a:tc>
                <a:tc>
                  <a:txBody>
                    <a:bodyPr/>
                    <a:lstStyle/>
                    <a:p>
                      <a:pPr algn="l" fontAlgn="t"/>
                      <a:r>
                        <a:rPr lang="en-US" sz="1800" dirty="0">
                          <a:effectLst/>
                          <a:latin typeface="+mj-lt"/>
                        </a:rPr>
                        <a:t>It is used to return the trigonometric Arc Tangent value of a Given double value.</a:t>
                      </a:r>
                    </a:p>
                  </a:txBody>
                  <a:tcPr marL="48564" marR="48564" marT="48564" marB="48564"/>
                </a:tc>
                <a:extLst>
                  <a:ext uri="{0D108BD9-81ED-4DB2-BD59-A6C34878D82A}">
                    <a16:rowId xmlns:a16="http://schemas.microsoft.com/office/drawing/2014/main" val="10005"/>
                  </a:ext>
                </a:extLst>
              </a:tr>
            </a:tbl>
          </a:graphicData>
        </a:graphic>
      </p:graphicFrame>
      <p:graphicFrame>
        <p:nvGraphicFramePr>
          <p:cNvPr id="9" name="Table 8">
            <a:extLst>
              <a:ext uri="{FF2B5EF4-FFF2-40B4-BE49-F238E27FC236}">
                <a16:creationId xmlns:a16="http://schemas.microsoft.com/office/drawing/2014/main" id="{DB96F25A-C6A9-B944-87D9-8FD49591D36A}"/>
              </a:ext>
            </a:extLst>
          </p:cNvPr>
          <p:cNvGraphicFramePr>
            <a:graphicFrameLocks noGrp="1"/>
          </p:cNvGraphicFramePr>
          <p:nvPr/>
        </p:nvGraphicFramePr>
        <p:xfrm>
          <a:off x="237860" y="754421"/>
          <a:ext cx="11042850" cy="426720"/>
        </p:xfrm>
        <a:graphic>
          <a:graphicData uri="http://schemas.openxmlformats.org/drawingml/2006/table">
            <a:tbl>
              <a:tblPr>
                <a:tableStyleId>{E269D01E-BC32-4049-B463-5C60D7B0CCD2}</a:tableStyleId>
              </a:tblPr>
              <a:tblGrid>
                <a:gridCol w="1581108">
                  <a:extLst>
                    <a:ext uri="{9D8B030D-6E8A-4147-A177-3AD203B41FA5}">
                      <a16:colId xmlns:a16="http://schemas.microsoft.com/office/drawing/2014/main" val="20000"/>
                    </a:ext>
                  </a:extLst>
                </a:gridCol>
                <a:gridCol w="9461742">
                  <a:extLst>
                    <a:ext uri="{9D8B030D-6E8A-4147-A177-3AD203B41FA5}">
                      <a16:colId xmlns:a16="http://schemas.microsoft.com/office/drawing/2014/main" val="20001"/>
                    </a:ext>
                  </a:extLst>
                </a:gridCol>
              </a:tblGrid>
              <a:tr h="0">
                <a:tc>
                  <a:txBody>
                    <a:bodyPr/>
                    <a:lstStyle/>
                    <a:p>
                      <a:pPr algn="ctr" fontAlgn="t"/>
                      <a:r>
                        <a:rPr lang="en-US" b="1" dirty="0">
                          <a:solidFill>
                            <a:schemeClr val="bg1"/>
                          </a:solidFill>
                          <a:effectLst/>
                        </a:rPr>
                        <a:t>Method</a:t>
                      </a:r>
                    </a:p>
                  </a:txBody>
                  <a:tcPr marL="76200" marR="76200" marT="76200" marB="76200"/>
                </a:tc>
                <a:tc>
                  <a:txBody>
                    <a:bodyPr/>
                    <a:lstStyle/>
                    <a:p>
                      <a:pPr algn="ctr" fontAlgn="t"/>
                      <a:r>
                        <a:rPr lang="en-US" b="1" dirty="0">
                          <a:solidFill>
                            <a:schemeClr val="bg1"/>
                          </a:solidFill>
                          <a:effectLst/>
                        </a:rPr>
                        <a:t>Description</a:t>
                      </a:r>
                    </a:p>
                  </a:txBody>
                  <a:tcPr marL="76200" marR="76200" marT="76200" marB="76200"/>
                </a:tc>
                <a:extLst>
                  <a:ext uri="{0D108BD9-81ED-4DB2-BD59-A6C34878D82A}">
                    <a16:rowId xmlns:a16="http://schemas.microsoft.com/office/drawing/2014/main" val="10000"/>
                  </a:ext>
                </a:extLst>
              </a:tr>
            </a:tbl>
          </a:graphicData>
        </a:graphic>
      </p:graphicFrame>
      <p:graphicFrame>
        <p:nvGraphicFramePr>
          <p:cNvPr id="11" name="Table 10">
            <a:extLst>
              <a:ext uri="{FF2B5EF4-FFF2-40B4-BE49-F238E27FC236}">
                <a16:creationId xmlns:a16="http://schemas.microsoft.com/office/drawing/2014/main" id="{3704A5A7-CAC8-F4EF-82D4-980CD8DD0802}"/>
              </a:ext>
            </a:extLst>
          </p:cNvPr>
          <p:cNvGraphicFramePr>
            <a:graphicFrameLocks noGrp="1"/>
          </p:cNvGraphicFramePr>
          <p:nvPr>
            <p:extLst>
              <p:ext uri="{D42A27DB-BD31-4B8C-83A1-F6EECF244321}">
                <p14:modId xmlns:p14="http://schemas.microsoft.com/office/powerpoint/2010/main" val="2865073892"/>
              </p:ext>
            </p:extLst>
          </p:nvPr>
        </p:nvGraphicFramePr>
        <p:xfrm>
          <a:off x="237860" y="4135510"/>
          <a:ext cx="11042850" cy="1280160"/>
        </p:xfrm>
        <a:graphic>
          <a:graphicData uri="http://schemas.openxmlformats.org/drawingml/2006/table">
            <a:tbl>
              <a:tblPr>
                <a:tableStyleId>{00A15C55-8517-42AA-B614-E9B94910E393}</a:tableStyleId>
              </a:tblPr>
              <a:tblGrid>
                <a:gridCol w="1589459">
                  <a:extLst>
                    <a:ext uri="{9D8B030D-6E8A-4147-A177-3AD203B41FA5}">
                      <a16:colId xmlns:a16="http://schemas.microsoft.com/office/drawing/2014/main" val="20000"/>
                    </a:ext>
                  </a:extLst>
                </a:gridCol>
                <a:gridCol w="9453391">
                  <a:extLst>
                    <a:ext uri="{9D8B030D-6E8A-4147-A177-3AD203B41FA5}">
                      <a16:colId xmlns:a16="http://schemas.microsoft.com/office/drawing/2014/main" val="20001"/>
                    </a:ext>
                  </a:extLst>
                </a:gridCol>
              </a:tblGrid>
              <a:tr h="347177">
                <a:tc>
                  <a:txBody>
                    <a:bodyPr/>
                    <a:lstStyle/>
                    <a:p>
                      <a:pPr algn="ctr" fontAlgn="t"/>
                      <a:r>
                        <a:rPr lang="en-US" sz="1800" u="none" strike="noStrike" dirty="0" err="1">
                          <a:solidFill>
                            <a:schemeClr val="tx1"/>
                          </a:solidFill>
                          <a:effectLst/>
                          <a:latin typeface="+mj-lt"/>
                          <a:hlinkClick r:id="rId8">
                            <a:extLst>
                              <a:ext uri="{A12FA001-AC4F-418D-AE19-62706E023703}">
                                <ahyp:hlinkClr xmlns:ahyp="http://schemas.microsoft.com/office/drawing/2018/hyperlinkcolor" xmlns="" val="tx"/>
                              </a:ext>
                            </a:extLst>
                          </a:hlinkClick>
                        </a:rPr>
                        <a:t>Math.sinh</a:t>
                      </a:r>
                      <a:r>
                        <a:rPr lang="en-US" sz="1800" u="none" strike="noStrike" dirty="0">
                          <a:solidFill>
                            <a:schemeClr val="tx1"/>
                          </a:solidFill>
                          <a:effectLst/>
                          <a:latin typeface="+mj-lt"/>
                          <a:hlinkClick r:id="rId8">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76200" marR="76200" marT="76200" marB="76200"/>
                </a:tc>
                <a:tc>
                  <a:txBody>
                    <a:bodyPr/>
                    <a:lstStyle/>
                    <a:p>
                      <a:pPr algn="l" fontAlgn="t"/>
                      <a:r>
                        <a:rPr lang="en-US" sz="1800" dirty="0">
                          <a:effectLst/>
                          <a:latin typeface="+mj-lt"/>
                        </a:rPr>
                        <a:t>It is used to return the trigonometric Hyperbolic Cosine value of a Given double value.</a:t>
                      </a:r>
                    </a:p>
                  </a:txBody>
                  <a:tcPr marL="76200" marR="76200" marT="76200" marB="76200"/>
                </a:tc>
                <a:extLst>
                  <a:ext uri="{0D108BD9-81ED-4DB2-BD59-A6C34878D82A}">
                    <a16:rowId xmlns:a16="http://schemas.microsoft.com/office/drawing/2014/main" val="10000"/>
                  </a:ext>
                </a:extLst>
              </a:tr>
              <a:tr h="347177">
                <a:tc>
                  <a:txBody>
                    <a:bodyPr/>
                    <a:lstStyle/>
                    <a:p>
                      <a:pPr algn="ctr" fontAlgn="t"/>
                      <a:r>
                        <a:rPr lang="en-US" sz="1800" u="none" strike="noStrike" dirty="0" err="1">
                          <a:solidFill>
                            <a:schemeClr val="tx1"/>
                          </a:solidFill>
                          <a:effectLst/>
                          <a:latin typeface="+mj-lt"/>
                          <a:hlinkClick r:id="rId9">
                            <a:extLst>
                              <a:ext uri="{A12FA001-AC4F-418D-AE19-62706E023703}">
                                <ahyp:hlinkClr xmlns:ahyp="http://schemas.microsoft.com/office/drawing/2018/hyperlinkcolor" xmlns="" val="tx"/>
                              </a:ext>
                            </a:extLst>
                          </a:hlinkClick>
                        </a:rPr>
                        <a:t>Math.cosh</a:t>
                      </a:r>
                      <a:r>
                        <a:rPr lang="en-US" sz="1800" u="none" strike="noStrike" dirty="0">
                          <a:solidFill>
                            <a:schemeClr val="tx1"/>
                          </a:solidFill>
                          <a:effectLst/>
                          <a:latin typeface="+mj-lt"/>
                          <a:hlinkClick r:id="rId9">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76200" marR="76200" marT="76200" marB="76200"/>
                </a:tc>
                <a:tc>
                  <a:txBody>
                    <a:bodyPr/>
                    <a:lstStyle/>
                    <a:p>
                      <a:pPr algn="l" fontAlgn="t"/>
                      <a:r>
                        <a:rPr lang="en-US" sz="1800" dirty="0">
                          <a:effectLst/>
                          <a:latin typeface="+mj-lt"/>
                        </a:rPr>
                        <a:t>It is used to return the trigonometric Hyperbolic Sine value of a Given double value.</a:t>
                      </a:r>
                    </a:p>
                  </a:txBody>
                  <a:tcPr marL="76200" marR="76200" marT="76200" marB="76200"/>
                </a:tc>
                <a:extLst>
                  <a:ext uri="{0D108BD9-81ED-4DB2-BD59-A6C34878D82A}">
                    <a16:rowId xmlns:a16="http://schemas.microsoft.com/office/drawing/2014/main" val="10001"/>
                  </a:ext>
                </a:extLst>
              </a:tr>
              <a:tr h="347177">
                <a:tc>
                  <a:txBody>
                    <a:bodyPr/>
                    <a:lstStyle/>
                    <a:p>
                      <a:pPr algn="ctr" fontAlgn="t"/>
                      <a:r>
                        <a:rPr lang="en-US" sz="1800" u="none" strike="noStrike" dirty="0" err="1">
                          <a:solidFill>
                            <a:schemeClr val="tx1"/>
                          </a:solidFill>
                          <a:effectLst/>
                          <a:latin typeface="+mj-lt"/>
                          <a:hlinkClick r:id="rId10">
                            <a:extLst>
                              <a:ext uri="{A12FA001-AC4F-418D-AE19-62706E023703}">
                                <ahyp:hlinkClr xmlns:ahyp="http://schemas.microsoft.com/office/drawing/2018/hyperlinkcolor" xmlns="" val="tx"/>
                              </a:ext>
                            </a:extLst>
                          </a:hlinkClick>
                        </a:rPr>
                        <a:t>Math.tanh</a:t>
                      </a:r>
                      <a:r>
                        <a:rPr lang="en-US" sz="1800" u="none" strike="noStrike" dirty="0">
                          <a:solidFill>
                            <a:schemeClr val="tx1"/>
                          </a:solidFill>
                          <a:effectLst/>
                          <a:latin typeface="+mj-lt"/>
                          <a:hlinkClick r:id="rId10">
                            <a:extLst>
                              <a:ext uri="{A12FA001-AC4F-418D-AE19-62706E023703}">
                                <ahyp:hlinkClr xmlns:ahyp="http://schemas.microsoft.com/office/drawing/2018/hyperlinkcolor" xmlns="" val="tx"/>
                              </a:ext>
                            </a:extLst>
                          </a:hlinkClick>
                        </a:rPr>
                        <a:t>()</a:t>
                      </a:r>
                      <a:endParaRPr lang="en-US" sz="1800" dirty="0">
                        <a:solidFill>
                          <a:schemeClr val="tx1"/>
                        </a:solidFill>
                        <a:effectLst/>
                        <a:latin typeface="+mj-lt"/>
                      </a:endParaRPr>
                    </a:p>
                  </a:txBody>
                  <a:tcPr marL="76200" marR="76200" marT="76200" marB="76200"/>
                </a:tc>
                <a:tc>
                  <a:txBody>
                    <a:bodyPr/>
                    <a:lstStyle/>
                    <a:p>
                      <a:pPr algn="l" fontAlgn="t"/>
                      <a:r>
                        <a:rPr lang="en-US" sz="1800" dirty="0">
                          <a:effectLst/>
                          <a:latin typeface="+mj-lt"/>
                        </a:rPr>
                        <a:t>It is used to return the trigonometric Hyperbolic Tangent value of a Given double value.</a:t>
                      </a:r>
                    </a:p>
                  </a:txBody>
                  <a:tcPr marL="76200" marR="76200" marT="76200" marB="76200"/>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F7A4CD2F-6F20-E8E2-395F-F79CC3C7A9F6}"/>
              </a:ext>
            </a:extLst>
          </p:cNvPr>
          <p:cNvGraphicFramePr>
            <a:graphicFrameLocks noGrp="1"/>
          </p:cNvGraphicFramePr>
          <p:nvPr>
            <p:extLst>
              <p:ext uri="{D42A27DB-BD31-4B8C-83A1-F6EECF244321}">
                <p14:modId xmlns:p14="http://schemas.microsoft.com/office/powerpoint/2010/main" val="3952159811"/>
              </p:ext>
            </p:extLst>
          </p:nvPr>
        </p:nvGraphicFramePr>
        <p:xfrm>
          <a:off x="237860" y="3668683"/>
          <a:ext cx="11042850" cy="426720"/>
        </p:xfrm>
        <a:graphic>
          <a:graphicData uri="http://schemas.openxmlformats.org/drawingml/2006/table">
            <a:tbl>
              <a:tblPr>
                <a:tableStyleId>{E269D01E-BC32-4049-B463-5C60D7B0CCD2}</a:tableStyleId>
              </a:tblPr>
              <a:tblGrid>
                <a:gridCol w="1581108">
                  <a:extLst>
                    <a:ext uri="{9D8B030D-6E8A-4147-A177-3AD203B41FA5}">
                      <a16:colId xmlns:a16="http://schemas.microsoft.com/office/drawing/2014/main" val="20000"/>
                    </a:ext>
                  </a:extLst>
                </a:gridCol>
                <a:gridCol w="9461742">
                  <a:extLst>
                    <a:ext uri="{9D8B030D-6E8A-4147-A177-3AD203B41FA5}">
                      <a16:colId xmlns:a16="http://schemas.microsoft.com/office/drawing/2014/main" val="20001"/>
                    </a:ext>
                  </a:extLst>
                </a:gridCol>
              </a:tblGrid>
              <a:tr h="0">
                <a:tc>
                  <a:txBody>
                    <a:bodyPr/>
                    <a:lstStyle/>
                    <a:p>
                      <a:pPr algn="ctr" fontAlgn="t"/>
                      <a:r>
                        <a:rPr lang="en-US" b="1" dirty="0">
                          <a:solidFill>
                            <a:schemeClr val="bg1"/>
                          </a:solidFill>
                          <a:effectLst/>
                        </a:rPr>
                        <a:t>Method</a:t>
                      </a:r>
                    </a:p>
                  </a:txBody>
                  <a:tcPr marL="76200" marR="76200" marT="76200" marB="76200"/>
                </a:tc>
                <a:tc>
                  <a:txBody>
                    <a:bodyPr/>
                    <a:lstStyle/>
                    <a:p>
                      <a:pPr algn="ctr" fontAlgn="t"/>
                      <a:r>
                        <a:rPr lang="en-US" b="1" dirty="0">
                          <a:solidFill>
                            <a:schemeClr val="bg1"/>
                          </a:solidFill>
                          <a:effectLst/>
                        </a:rPr>
                        <a:t>Description</a:t>
                      </a:r>
                    </a:p>
                  </a:txBody>
                  <a:tcPr marL="76200" marR="76200" marT="76200" marB="7620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36619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Math Example</a:t>
            </a:r>
            <a:endParaRPr lang="en-US" dirty="0"/>
          </a:p>
        </p:txBody>
      </p:sp>
      <p:sp>
        <p:nvSpPr>
          <p:cNvPr id="4" name="TextBox 4"/>
          <p:cNvSpPr txBox="1"/>
          <p:nvPr/>
        </p:nvSpPr>
        <p:spPr>
          <a:xfrm>
            <a:off x="331365" y="1112818"/>
            <a:ext cx="6728196" cy="4154984"/>
          </a:xfrm>
          <a:prstGeom prst="rect">
            <a:avLst/>
          </a:prstGeom>
          <a:noFill/>
          <a:ln w="19050">
            <a:solidFill>
              <a:schemeClr val="accent1"/>
            </a:solidFill>
            <a:prstDash val="dash"/>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solidFill>
                  <a:srgbClr val="7F0055"/>
                </a:solidFill>
              </a:rPr>
              <a:t>public</a:t>
            </a:r>
            <a:r>
              <a:rPr lang="en-US" sz="2200" b="1" dirty="0">
                <a:solidFill>
                  <a:srgbClr val="000000"/>
                </a:solidFill>
              </a:rPr>
              <a:t> </a:t>
            </a:r>
            <a:r>
              <a:rPr lang="en-US" sz="2200" b="1" dirty="0">
                <a:solidFill>
                  <a:srgbClr val="7F0055"/>
                </a:solidFill>
              </a:rPr>
              <a:t>class</a:t>
            </a:r>
            <a:r>
              <a:rPr lang="en-US" sz="2200" b="1" dirty="0">
                <a:solidFill>
                  <a:srgbClr val="000000"/>
                </a:solidFill>
              </a:rPr>
              <a:t> </a:t>
            </a:r>
            <a:r>
              <a:rPr lang="en-US" sz="2200" b="1" dirty="0" err="1">
                <a:solidFill>
                  <a:srgbClr val="000000"/>
                </a:solidFill>
              </a:rPr>
              <a:t>MathDemo</a:t>
            </a:r>
            <a:r>
              <a:rPr lang="en-US" sz="2200" b="1" dirty="0">
                <a:solidFill>
                  <a:srgbClr val="000000"/>
                </a:solidFill>
              </a:rPr>
              <a:t> {</a:t>
            </a:r>
          </a:p>
          <a:p>
            <a:pPr lvl="1"/>
            <a:r>
              <a:rPr lang="en-US" sz="2200" b="1" dirty="0">
                <a:solidFill>
                  <a:srgbClr val="7F0055"/>
                </a:solidFill>
              </a:rPr>
              <a:t>public</a:t>
            </a:r>
            <a:r>
              <a:rPr lang="en-US" sz="2200" b="1" dirty="0">
                <a:solidFill>
                  <a:srgbClr val="000000"/>
                </a:solidFill>
              </a:rPr>
              <a:t> </a:t>
            </a:r>
            <a:r>
              <a:rPr lang="en-US" sz="2200" b="1" dirty="0">
                <a:solidFill>
                  <a:srgbClr val="7F0055"/>
                </a:solidFill>
              </a:rPr>
              <a:t>static</a:t>
            </a:r>
            <a:r>
              <a:rPr lang="en-US" sz="2200" b="1" dirty="0">
                <a:solidFill>
                  <a:srgbClr val="000000"/>
                </a:solidFill>
              </a:rPr>
              <a:t> </a:t>
            </a:r>
            <a:r>
              <a:rPr lang="en-US" sz="2200" b="1" dirty="0">
                <a:solidFill>
                  <a:srgbClr val="7F0055"/>
                </a:solidFill>
              </a:rPr>
              <a:t>void</a:t>
            </a:r>
            <a:r>
              <a:rPr lang="en-US" sz="2200" b="1" dirty="0">
                <a:solidFill>
                  <a:srgbClr val="000000"/>
                </a:solidFill>
              </a:rPr>
              <a:t> main(String[] </a:t>
            </a:r>
            <a:r>
              <a:rPr lang="en-US" sz="2200" b="1" dirty="0" err="1">
                <a:solidFill>
                  <a:srgbClr val="6A3E3E"/>
                </a:solidFill>
              </a:rPr>
              <a:t>args</a:t>
            </a:r>
            <a:r>
              <a:rPr lang="en-US" sz="2200" b="1" dirty="0">
                <a:solidFill>
                  <a:srgbClr val="000000"/>
                </a:solidFill>
              </a:rPr>
              <a:t>) {</a:t>
            </a:r>
          </a:p>
          <a:p>
            <a:pPr lvl="2"/>
            <a:r>
              <a:rPr lang="en-US" sz="2200" b="1" dirty="0">
                <a:solidFill>
                  <a:srgbClr val="7F0055"/>
                </a:solidFill>
              </a:rPr>
              <a:t>double</a:t>
            </a:r>
            <a:r>
              <a:rPr lang="en-US" sz="2200" b="1" dirty="0">
                <a:solidFill>
                  <a:srgbClr val="000000"/>
                </a:solidFill>
              </a:rPr>
              <a:t> </a:t>
            </a:r>
            <a:r>
              <a:rPr lang="en-US" sz="2200" b="1" dirty="0" err="1">
                <a:solidFill>
                  <a:srgbClr val="6A3E3E"/>
                </a:solidFill>
              </a:rPr>
              <a:t>sinValue</a:t>
            </a:r>
            <a:r>
              <a:rPr lang="en-US" sz="2200" b="1" dirty="0">
                <a:solidFill>
                  <a:srgbClr val="000000"/>
                </a:solidFill>
              </a:rPr>
              <a:t> = Math.</a:t>
            </a:r>
            <a:r>
              <a:rPr lang="en-US" sz="2200" b="1" i="1" dirty="0">
                <a:solidFill>
                  <a:srgbClr val="000000"/>
                </a:solidFill>
              </a:rPr>
              <a:t>sin(</a:t>
            </a:r>
            <a:r>
              <a:rPr lang="en-US" sz="2200" b="1" i="1" dirty="0" err="1">
                <a:solidFill>
                  <a:srgbClr val="000000"/>
                </a:solidFill>
              </a:rPr>
              <a:t>Math.</a:t>
            </a:r>
            <a:r>
              <a:rPr lang="en-US" sz="2200" b="1" i="1" dirty="0" err="1">
                <a:solidFill>
                  <a:srgbClr val="0000C0"/>
                </a:solidFill>
              </a:rPr>
              <a:t>PI</a:t>
            </a:r>
            <a:r>
              <a:rPr lang="en-US" sz="2200" b="1" i="1" dirty="0">
                <a:solidFill>
                  <a:srgbClr val="000000"/>
                </a:solidFill>
              </a:rPr>
              <a:t> / 2);</a:t>
            </a:r>
          </a:p>
          <a:p>
            <a:pPr lvl="2"/>
            <a:r>
              <a:rPr lang="en-US" sz="2200" b="1" dirty="0">
                <a:solidFill>
                  <a:srgbClr val="7F0055"/>
                </a:solidFill>
              </a:rPr>
              <a:t>double</a:t>
            </a:r>
            <a:r>
              <a:rPr lang="en-US" sz="2200" b="1" dirty="0">
                <a:solidFill>
                  <a:srgbClr val="000000"/>
                </a:solidFill>
              </a:rPr>
              <a:t> </a:t>
            </a:r>
            <a:r>
              <a:rPr lang="en-US" sz="2200" b="1" dirty="0" err="1">
                <a:solidFill>
                  <a:srgbClr val="6A3E3E"/>
                </a:solidFill>
              </a:rPr>
              <a:t>cosValue</a:t>
            </a:r>
            <a:r>
              <a:rPr lang="en-US" sz="2200" b="1" dirty="0">
                <a:solidFill>
                  <a:srgbClr val="000000"/>
                </a:solidFill>
              </a:rPr>
              <a:t> = Math.</a:t>
            </a:r>
            <a:r>
              <a:rPr lang="en-US" sz="2200" b="1" i="1" dirty="0">
                <a:solidFill>
                  <a:srgbClr val="000000"/>
                </a:solidFill>
              </a:rPr>
              <a:t>cos(</a:t>
            </a:r>
            <a:r>
              <a:rPr lang="en-US" sz="2200" b="1" i="1" dirty="0" err="1">
                <a:solidFill>
                  <a:srgbClr val="000000"/>
                </a:solidFill>
              </a:rPr>
              <a:t>Math.toRadians</a:t>
            </a:r>
            <a:r>
              <a:rPr lang="en-US" sz="2200" b="1" i="1" dirty="0">
                <a:solidFill>
                  <a:srgbClr val="000000"/>
                </a:solidFill>
              </a:rPr>
              <a:t>(80));</a:t>
            </a:r>
          </a:p>
          <a:p>
            <a:pPr lvl="2"/>
            <a:r>
              <a:rPr lang="en-US" sz="2200" b="1" dirty="0" err="1">
                <a:solidFill>
                  <a:srgbClr val="7F0055"/>
                </a:solidFill>
              </a:rPr>
              <a:t>int</a:t>
            </a:r>
            <a:r>
              <a:rPr lang="en-US" sz="2200" b="1" dirty="0">
                <a:solidFill>
                  <a:srgbClr val="000000"/>
                </a:solidFill>
              </a:rPr>
              <a:t> </a:t>
            </a:r>
            <a:r>
              <a:rPr lang="en-US" sz="2200" b="1" dirty="0" err="1">
                <a:solidFill>
                  <a:srgbClr val="6A3E3E"/>
                </a:solidFill>
              </a:rPr>
              <a:t>randomNumber</a:t>
            </a:r>
            <a:r>
              <a:rPr lang="en-US" sz="2200" b="1" dirty="0">
                <a:solidFill>
                  <a:srgbClr val="000000"/>
                </a:solidFill>
              </a:rPr>
              <a:t> = (</a:t>
            </a:r>
            <a:r>
              <a:rPr lang="en-US" sz="2200" b="1" dirty="0" err="1">
                <a:solidFill>
                  <a:srgbClr val="7F0055"/>
                </a:solidFill>
              </a:rPr>
              <a:t>int</a:t>
            </a:r>
            <a:r>
              <a:rPr lang="en-US" sz="2200" b="1" dirty="0">
                <a:solidFill>
                  <a:srgbClr val="000000"/>
                </a:solidFill>
              </a:rPr>
              <a:t>)(</a:t>
            </a:r>
            <a:r>
              <a:rPr lang="en-US" sz="2200" b="1" dirty="0" err="1">
                <a:solidFill>
                  <a:srgbClr val="000000"/>
                </a:solidFill>
              </a:rPr>
              <a:t>Math.</a:t>
            </a:r>
            <a:r>
              <a:rPr lang="en-US" sz="2200" b="1" i="1" dirty="0" err="1">
                <a:solidFill>
                  <a:srgbClr val="000000"/>
                </a:solidFill>
              </a:rPr>
              <a:t>random</a:t>
            </a:r>
            <a:r>
              <a:rPr lang="en-US" sz="2200" b="1" i="1" dirty="0">
                <a:solidFill>
                  <a:srgbClr val="000000"/>
                </a:solidFill>
              </a:rPr>
              <a:t>() * 100);</a:t>
            </a:r>
          </a:p>
          <a:p>
            <a:pPr lvl="2"/>
            <a:r>
              <a:rPr lang="en-US" sz="2200" dirty="0">
                <a:solidFill>
                  <a:srgbClr val="3F7F5F"/>
                </a:solidFill>
              </a:rPr>
              <a:t>// values in Math class must be given in Radians</a:t>
            </a:r>
          </a:p>
          <a:p>
            <a:pPr lvl="2"/>
            <a:r>
              <a:rPr lang="en-US" sz="2200" dirty="0">
                <a:solidFill>
                  <a:srgbClr val="3F7F5F"/>
                </a:solidFill>
              </a:rPr>
              <a:t>// (not in degree)</a:t>
            </a:r>
          </a:p>
          <a:p>
            <a:pPr lvl="2"/>
            <a:r>
              <a:rPr lang="en-US" sz="2200" dirty="0" err="1">
                <a:solidFill>
                  <a:srgbClr val="000000"/>
                </a:solidFill>
              </a:rPr>
              <a:t>System.</a:t>
            </a:r>
            <a:r>
              <a:rPr lang="en-US" sz="2200" b="1" i="1" dirty="0" err="1">
                <a:solidFill>
                  <a:srgbClr val="0000C0"/>
                </a:solidFill>
              </a:rPr>
              <a:t>out</a:t>
            </a:r>
            <a:r>
              <a:rPr lang="en-US" sz="2200" b="1" i="1" dirty="0" err="1">
                <a:solidFill>
                  <a:srgbClr val="000000"/>
                </a:solidFill>
              </a:rPr>
              <a:t>.println</a:t>
            </a:r>
            <a:r>
              <a:rPr lang="en-US" sz="2200" b="1" i="1" dirty="0">
                <a:solidFill>
                  <a:srgbClr val="000000"/>
                </a:solidFill>
              </a:rPr>
              <a:t>(</a:t>
            </a:r>
            <a:r>
              <a:rPr lang="en-US" sz="2200" b="1" i="1" dirty="0">
                <a:solidFill>
                  <a:srgbClr val="2A00FF"/>
                </a:solidFill>
              </a:rPr>
              <a:t>"sin(90) = "</a:t>
            </a:r>
            <a:r>
              <a:rPr lang="en-US" sz="2200" b="1" i="1" dirty="0">
                <a:solidFill>
                  <a:srgbClr val="000000"/>
                </a:solidFill>
              </a:rPr>
              <a:t> + </a:t>
            </a:r>
            <a:r>
              <a:rPr lang="en-US" sz="2200" b="1" i="1" dirty="0" err="1">
                <a:solidFill>
                  <a:srgbClr val="6A3E3E"/>
                </a:solidFill>
              </a:rPr>
              <a:t>sinValue</a:t>
            </a:r>
            <a:r>
              <a:rPr lang="en-US" sz="2200" b="1" i="1" dirty="0">
                <a:solidFill>
                  <a:srgbClr val="000000"/>
                </a:solidFill>
              </a:rPr>
              <a:t>);</a:t>
            </a:r>
          </a:p>
          <a:p>
            <a:pPr lvl="2"/>
            <a:r>
              <a:rPr lang="en-US" sz="2200" dirty="0" err="1">
                <a:solidFill>
                  <a:srgbClr val="000000"/>
                </a:solidFill>
              </a:rPr>
              <a:t>System.</a:t>
            </a:r>
            <a:r>
              <a:rPr lang="en-US" sz="2200" b="1" i="1" dirty="0" err="1">
                <a:solidFill>
                  <a:srgbClr val="0000C0"/>
                </a:solidFill>
              </a:rPr>
              <a:t>out</a:t>
            </a:r>
            <a:r>
              <a:rPr lang="en-US" sz="2200" b="1" i="1" dirty="0" err="1">
                <a:solidFill>
                  <a:srgbClr val="000000"/>
                </a:solidFill>
              </a:rPr>
              <a:t>.println</a:t>
            </a:r>
            <a:r>
              <a:rPr lang="en-US" sz="2200" b="1" i="1" dirty="0">
                <a:solidFill>
                  <a:srgbClr val="000000"/>
                </a:solidFill>
              </a:rPr>
              <a:t>(</a:t>
            </a:r>
            <a:r>
              <a:rPr lang="en-US" sz="2200" b="1" i="1" dirty="0">
                <a:solidFill>
                  <a:srgbClr val="2A00FF"/>
                </a:solidFill>
              </a:rPr>
              <a:t>"cos(80) = "</a:t>
            </a:r>
            <a:r>
              <a:rPr lang="en-US" sz="2200" b="1" i="1" dirty="0">
                <a:solidFill>
                  <a:srgbClr val="000000"/>
                </a:solidFill>
              </a:rPr>
              <a:t> + </a:t>
            </a:r>
            <a:r>
              <a:rPr lang="en-US" sz="2200" b="1" i="1" dirty="0" err="1">
                <a:solidFill>
                  <a:srgbClr val="6A3E3E"/>
                </a:solidFill>
              </a:rPr>
              <a:t>cosValue</a:t>
            </a:r>
            <a:r>
              <a:rPr lang="en-US" sz="2200" b="1" i="1" dirty="0">
                <a:solidFill>
                  <a:srgbClr val="000000"/>
                </a:solidFill>
              </a:rPr>
              <a:t>);</a:t>
            </a:r>
          </a:p>
          <a:p>
            <a:pPr lvl="2"/>
            <a:r>
              <a:rPr lang="en-US" sz="2200" dirty="0" err="1">
                <a:solidFill>
                  <a:srgbClr val="000000"/>
                </a:solidFill>
              </a:rPr>
              <a:t>System.</a:t>
            </a:r>
            <a:r>
              <a:rPr lang="en-US" sz="2200" b="1" i="1" dirty="0" err="1">
                <a:solidFill>
                  <a:srgbClr val="0000C0"/>
                </a:solidFill>
              </a:rPr>
              <a:t>out</a:t>
            </a:r>
            <a:r>
              <a:rPr lang="en-US" sz="2200" b="1" i="1" dirty="0" err="1">
                <a:solidFill>
                  <a:srgbClr val="000000"/>
                </a:solidFill>
              </a:rPr>
              <a:t>.println</a:t>
            </a:r>
            <a:r>
              <a:rPr lang="en-US" sz="2200" b="1" i="1" dirty="0">
                <a:solidFill>
                  <a:srgbClr val="000000"/>
                </a:solidFill>
              </a:rPr>
              <a:t>(</a:t>
            </a:r>
            <a:r>
              <a:rPr lang="en-US" sz="2200" b="1" i="1" dirty="0">
                <a:solidFill>
                  <a:srgbClr val="2A00FF"/>
                </a:solidFill>
              </a:rPr>
              <a:t>"Random = "</a:t>
            </a:r>
            <a:r>
              <a:rPr lang="en-US" sz="2200" b="1" i="1" dirty="0">
                <a:solidFill>
                  <a:srgbClr val="000000"/>
                </a:solidFill>
              </a:rPr>
              <a:t> + </a:t>
            </a:r>
            <a:r>
              <a:rPr lang="en-US" sz="2200" b="1" i="1" dirty="0" err="1">
                <a:solidFill>
                  <a:srgbClr val="6A3E3E"/>
                </a:solidFill>
              </a:rPr>
              <a:t>randomNumber</a:t>
            </a:r>
            <a:r>
              <a:rPr lang="en-US" sz="2200" b="1" i="1" dirty="0">
                <a:solidFill>
                  <a:srgbClr val="000000"/>
                </a:solidFill>
              </a:rPr>
              <a:t>);</a:t>
            </a:r>
          </a:p>
          <a:p>
            <a:pPr lvl="1"/>
            <a:r>
              <a:rPr lang="en-US" sz="2200" dirty="0">
                <a:solidFill>
                  <a:srgbClr val="000000"/>
                </a:solidFill>
              </a:rPr>
              <a:t>}</a:t>
            </a:r>
          </a:p>
          <a:p>
            <a:r>
              <a:rPr lang="en-US" sz="2200" dirty="0">
                <a:solidFill>
                  <a:srgbClr val="000000"/>
                </a:solidFill>
              </a:rPr>
              <a:t>}</a:t>
            </a:r>
          </a:p>
        </p:txBody>
      </p:sp>
      <p:pic>
        <p:nvPicPr>
          <p:cNvPr id="3" name="Picture 2"/>
          <p:cNvPicPr>
            <a:picLocks noChangeAspect="1"/>
          </p:cNvPicPr>
          <p:nvPr/>
        </p:nvPicPr>
        <p:blipFill>
          <a:blip r:embed="rId2"/>
          <a:stretch>
            <a:fillRect/>
          </a:stretch>
        </p:blipFill>
        <p:spPr>
          <a:xfrm>
            <a:off x="7305452" y="2762865"/>
            <a:ext cx="4662410" cy="1493566"/>
          </a:xfrm>
          <a:prstGeom prst="rect">
            <a:avLst/>
          </a:prstGeom>
        </p:spPr>
      </p:pic>
    </p:spTree>
    <p:extLst>
      <p:ext uri="{BB962C8B-B14F-4D97-AF65-F5344CB8AC3E}">
        <p14:creationId xmlns:p14="http://schemas.microsoft.com/office/powerpoint/2010/main" val="629063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Wrapper classes</a:t>
            </a:r>
          </a:p>
        </p:txBody>
      </p:sp>
      <p:sp>
        <p:nvSpPr>
          <p:cNvPr id="3" name="Content Placeholder 2"/>
          <p:cNvSpPr>
            <a:spLocks noGrp="1"/>
          </p:cNvSpPr>
          <p:nvPr>
            <p:ph idx="1"/>
          </p:nvPr>
        </p:nvSpPr>
        <p:spPr/>
        <p:txBody>
          <a:bodyPr/>
          <a:lstStyle/>
          <a:p>
            <a:r>
              <a:rPr lang="en-US" dirty="0"/>
              <a:t>A Wrapper class is a class whose object wraps or contains a </a:t>
            </a:r>
            <a:r>
              <a:rPr lang="en-US" dirty="0">
                <a:solidFill>
                  <a:srgbClr val="C00000"/>
                </a:solidFill>
              </a:rPr>
              <a:t>primitive datatypes</a:t>
            </a:r>
            <a:r>
              <a:rPr lang="en-US" dirty="0"/>
              <a:t>. </a:t>
            </a:r>
          </a:p>
          <a:p>
            <a:r>
              <a:rPr lang="en-US" dirty="0"/>
              <a:t>When we create an object to a wrapper class, it contains a field and in this field, we can store a primitive datatypes. </a:t>
            </a:r>
          </a:p>
          <a:p>
            <a:r>
              <a:rPr lang="en-US" dirty="0"/>
              <a:t>In other words, we can wrap a primitive value into a wrapper class object.</a:t>
            </a:r>
          </a:p>
          <a:p>
            <a:r>
              <a:rPr lang="en-IN" dirty="0"/>
              <a:t>Use of wrapper class :</a:t>
            </a:r>
          </a:p>
          <a:p>
            <a:pPr lvl="1"/>
            <a:r>
              <a:rPr lang="en-US" sz="2200" dirty="0"/>
              <a:t>They </a:t>
            </a:r>
            <a:r>
              <a:rPr lang="en-US" sz="2200" dirty="0">
                <a:solidFill>
                  <a:srgbClr val="B71B1C"/>
                </a:solidFill>
              </a:rPr>
              <a:t>convert</a:t>
            </a:r>
            <a:r>
              <a:rPr lang="en-US" sz="2200" dirty="0"/>
              <a:t> primitive </a:t>
            </a:r>
            <a:r>
              <a:rPr lang="en-US" sz="2200" dirty="0">
                <a:solidFill>
                  <a:srgbClr val="B71B1C"/>
                </a:solidFill>
              </a:rPr>
              <a:t>datatypes</a:t>
            </a:r>
            <a:r>
              <a:rPr lang="en-US" sz="2200" dirty="0"/>
              <a:t> into </a:t>
            </a:r>
            <a:r>
              <a:rPr lang="en-US" sz="2200" dirty="0">
                <a:solidFill>
                  <a:srgbClr val="B71B1C"/>
                </a:solidFill>
              </a:rPr>
              <a:t>objects</a:t>
            </a:r>
            <a:r>
              <a:rPr lang="en-US" sz="2200" dirty="0"/>
              <a:t>.</a:t>
            </a:r>
          </a:p>
          <a:p>
            <a:pPr lvl="1"/>
            <a:r>
              <a:rPr lang="en-US" sz="2200" dirty="0"/>
              <a:t>The classes in </a:t>
            </a:r>
            <a:r>
              <a:rPr lang="en-US" sz="2200" dirty="0" err="1"/>
              <a:t>java.util</a:t>
            </a:r>
            <a:r>
              <a:rPr lang="en-US" sz="2200" dirty="0"/>
              <a:t> package handles only objects and hence wrapper classes help in this case also.</a:t>
            </a:r>
          </a:p>
          <a:p>
            <a:pPr lvl="1"/>
            <a:r>
              <a:rPr lang="en-US" sz="2200" dirty="0"/>
              <a:t>Data structures in the Collection framework, such as </a:t>
            </a:r>
            <a:r>
              <a:rPr lang="en-US" sz="2200" dirty="0" err="1"/>
              <a:t>ArrayList</a:t>
            </a:r>
            <a:r>
              <a:rPr lang="en-US" sz="2200" dirty="0"/>
              <a:t> and Vector, store only objects (reference types) and not primitive types.</a:t>
            </a:r>
          </a:p>
          <a:p>
            <a:pPr lvl="1"/>
            <a:r>
              <a:rPr lang="en-US" sz="2200" dirty="0"/>
              <a:t>An object is needed to support synchronization in multithreading.</a:t>
            </a:r>
          </a:p>
          <a:p>
            <a:endParaRPr lang="en-US" dirty="0"/>
          </a:p>
        </p:txBody>
      </p:sp>
    </p:spTree>
    <p:extLst>
      <p:ext uri="{BB962C8B-B14F-4D97-AF65-F5344CB8AC3E}">
        <p14:creationId xmlns:p14="http://schemas.microsoft.com/office/powerpoint/2010/main" val="226208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Wrapper classes (Cont.)</a:t>
            </a:r>
          </a:p>
        </p:txBody>
      </p:sp>
      <p:graphicFrame>
        <p:nvGraphicFramePr>
          <p:cNvPr id="4" name="Content Placeholder 4"/>
          <p:cNvGraphicFramePr>
            <a:graphicFrameLocks noGrp="1"/>
          </p:cNvGraphicFramePr>
          <p:nvPr>
            <p:ph idx="1"/>
          </p:nvPr>
        </p:nvGraphicFramePr>
        <p:xfrm>
          <a:off x="165217" y="922713"/>
          <a:ext cx="11189968" cy="3337560"/>
        </p:xfrm>
        <a:graphic>
          <a:graphicData uri="http://schemas.openxmlformats.org/drawingml/2006/table">
            <a:tbl>
              <a:tblPr firstRow="1" bandRow="1">
                <a:tableStyleId>{00A15C55-8517-42AA-B614-E9B94910E393}</a:tableStyleId>
              </a:tblPr>
              <a:tblGrid>
                <a:gridCol w="2889429">
                  <a:extLst>
                    <a:ext uri="{9D8B030D-6E8A-4147-A177-3AD203B41FA5}">
                      <a16:colId xmlns:a16="http://schemas.microsoft.com/office/drawing/2014/main" val="20000"/>
                    </a:ext>
                  </a:extLst>
                </a:gridCol>
                <a:gridCol w="2206473">
                  <a:extLst>
                    <a:ext uri="{9D8B030D-6E8A-4147-A177-3AD203B41FA5}">
                      <a16:colId xmlns:a16="http://schemas.microsoft.com/office/drawing/2014/main" val="20001"/>
                    </a:ext>
                  </a:extLst>
                </a:gridCol>
                <a:gridCol w="6094066">
                  <a:extLst>
                    <a:ext uri="{9D8B030D-6E8A-4147-A177-3AD203B41FA5}">
                      <a16:colId xmlns:a16="http://schemas.microsoft.com/office/drawing/2014/main" val="20002"/>
                    </a:ext>
                  </a:extLst>
                </a:gridCol>
              </a:tblGrid>
              <a:tr h="370840">
                <a:tc>
                  <a:txBody>
                    <a:bodyPr/>
                    <a:lstStyle/>
                    <a:p>
                      <a:r>
                        <a:rPr lang="en-IN" u="none" dirty="0"/>
                        <a:t>Primitive </a:t>
                      </a:r>
                      <a:r>
                        <a:rPr lang="en-IN" u="none" dirty="0" err="1"/>
                        <a:t>datatype</a:t>
                      </a:r>
                      <a:endParaRPr lang="en-US" u="none" dirty="0"/>
                    </a:p>
                  </a:txBody>
                  <a:tcPr/>
                </a:tc>
                <a:tc>
                  <a:txBody>
                    <a:bodyPr/>
                    <a:lstStyle/>
                    <a:p>
                      <a:r>
                        <a:rPr lang="en-IN" u="none" dirty="0"/>
                        <a:t>Wrapper class</a:t>
                      </a:r>
                      <a:endParaRPr lang="en-US" u="none" dirty="0"/>
                    </a:p>
                  </a:txBody>
                  <a:tcPr/>
                </a:tc>
                <a:tc>
                  <a:txBody>
                    <a:bodyPr/>
                    <a:lstStyle/>
                    <a:p>
                      <a:r>
                        <a:rPr lang="en-IN" u="none" dirty="0"/>
                        <a:t>Example</a:t>
                      </a:r>
                      <a:endParaRPr lang="en-US" u="none" dirty="0"/>
                    </a:p>
                  </a:txBody>
                  <a:tcPr/>
                </a:tc>
                <a:extLst>
                  <a:ext uri="{0D108BD9-81ED-4DB2-BD59-A6C34878D82A}">
                    <a16:rowId xmlns:a16="http://schemas.microsoft.com/office/drawing/2014/main" val="10000"/>
                  </a:ext>
                </a:extLst>
              </a:tr>
              <a:tr h="370840">
                <a:tc>
                  <a:txBody>
                    <a:bodyPr/>
                    <a:lstStyle/>
                    <a:p>
                      <a:r>
                        <a:rPr lang="en-IN" u="none" dirty="0"/>
                        <a:t>byte</a:t>
                      </a:r>
                      <a:endParaRPr lang="en-US" u="none" dirty="0"/>
                    </a:p>
                  </a:txBody>
                  <a:tcPr/>
                </a:tc>
                <a:tc>
                  <a:txBody>
                    <a:bodyPr/>
                    <a:lstStyle/>
                    <a:p>
                      <a:r>
                        <a:rPr lang="en-IN" u="none" dirty="0"/>
                        <a:t>Byte</a:t>
                      </a:r>
                      <a:endParaRPr lang="en-US" u="none" dirty="0"/>
                    </a:p>
                  </a:txBody>
                  <a:tcPr/>
                </a:tc>
                <a:tc>
                  <a:txBody>
                    <a:bodyPr/>
                    <a:lstStyle/>
                    <a:p>
                      <a:pPr algn="l"/>
                      <a:r>
                        <a:rPr lang="pl-PL" sz="1800" u="none" dirty="0"/>
                        <a:t>Byte b = new Byte((byte) 10);</a:t>
                      </a:r>
                      <a:endParaRPr lang="pl-PL" sz="1800" b="1" u="none" dirty="0">
                        <a:solidFill>
                          <a:srgbClr val="000000"/>
                        </a:solidFill>
                        <a:latin typeface="Consolas"/>
                      </a:endParaRPr>
                    </a:p>
                  </a:txBody>
                  <a:tcPr/>
                </a:tc>
                <a:extLst>
                  <a:ext uri="{0D108BD9-81ED-4DB2-BD59-A6C34878D82A}">
                    <a16:rowId xmlns:a16="http://schemas.microsoft.com/office/drawing/2014/main" val="10001"/>
                  </a:ext>
                </a:extLst>
              </a:tr>
              <a:tr h="370840">
                <a:tc>
                  <a:txBody>
                    <a:bodyPr/>
                    <a:lstStyle/>
                    <a:p>
                      <a:r>
                        <a:rPr lang="en-IN" u="none" dirty="0"/>
                        <a:t>short</a:t>
                      </a:r>
                      <a:endParaRPr lang="en-US" u="none" dirty="0"/>
                    </a:p>
                  </a:txBody>
                  <a:tcPr/>
                </a:tc>
                <a:tc>
                  <a:txBody>
                    <a:bodyPr/>
                    <a:lstStyle/>
                    <a:p>
                      <a:r>
                        <a:rPr lang="en-IN" u="none" dirty="0"/>
                        <a:t>Short</a:t>
                      </a:r>
                    </a:p>
                  </a:txBody>
                  <a:tcPr/>
                </a:tc>
                <a:tc>
                  <a:txBody>
                    <a:bodyPr/>
                    <a:lstStyle/>
                    <a:p>
                      <a:pPr algn="l"/>
                      <a:r>
                        <a:rPr lang="en-US" sz="1800" dirty="0"/>
                        <a:t>Short </a:t>
                      </a:r>
                      <a:r>
                        <a:rPr lang="en-US" sz="1800" u="none" dirty="0"/>
                        <a:t>s = new Short((short) 10);</a:t>
                      </a:r>
                      <a:endParaRPr lang="en-US" sz="1800" b="1" u="none" dirty="0">
                        <a:solidFill>
                          <a:srgbClr val="000000"/>
                        </a:solidFill>
                        <a:latin typeface="Consolas"/>
                      </a:endParaRPr>
                    </a:p>
                  </a:txBody>
                  <a:tcPr/>
                </a:tc>
                <a:extLst>
                  <a:ext uri="{0D108BD9-81ED-4DB2-BD59-A6C34878D82A}">
                    <a16:rowId xmlns:a16="http://schemas.microsoft.com/office/drawing/2014/main" val="10002"/>
                  </a:ext>
                </a:extLst>
              </a:tr>
              <a:tr h="370840">
                <a:tc>
                  <a:txBody>
                    <a:bodyPr/>
                    <a:lstStyle/>
                    <a:p>
                      <a:r>
                        <a:rPr lang="en-IN" u="none" dirty="0" err="1"/>
                        <a:t>int</a:t>
                      </a:r>
                      <a:endParaRPr lang="en-US" u="none" dirty="0"/>
                    </a:p>
                  </a:txBody>
                  <a:tcPr/>
                </a:tc>
                <a:tc>
                  <a:txBody>
                    <a:bodyPr/>
                    <a:lstStyle/>
                    <a:p>
                      <a:r>
                        <a:rPr lang="en-IN" u="none" dirty="0"/>
                        <a:t>Integer</a:t>
                      </a:r>
                    </a:p>
                  </a:txBody>
                  <a:tcPr/>
                </a:tc>
                <a:tc>
                  <a:txBody>
                    <a:bodyPr/>
                    <a:lstStyle/>
                    <a:p>
                      <a:pPr algn="l"/>
                      <a:r>
                        <a:rPr lang="en-US" sz="1800" dirty="0"/>
                        <a:t>Integer </a:t>
                      </a:r>
                      <a:r>
                        <a:rPr lang="en-US" sz="1800" u="none" dirty="0" err="1"/>
                        <a:t>i</a:t>
                      </a:r>
                      <a:r>
                        <a:rPr lang="en-US" sz="1800" u="none" dirty="0"/>
                        <a:t> = new Integer(10);</a:t>
                      </a:r>
                      <a:endParaRPr lang="en-US" sz="1800" b="1" u="none" dirty="0">
                        <a:solidFill>
                          <a:srgbClr val="000000"/>
                        </a:solidFill>
                        <a:latin typeface="Consolas"/>
                      </a:endParaRPr>
                    </a:p>
                  </a:txBody>
                  <a:tcPr/>
                </a:tc>
                <a:extLst>
                  <a:ext uri="{0D108BD9-81ED-4DB2-BD59-A6C34878D82A}">
                    <a16:rowId xmlns:a16="http://schemas.microsoft.com/office/drawing/2014/main" val="10003"/>
                  </a:ext>
                </a:extLst>
              </a:tr>
              <a:tr h="370840">
                <a:tc>
                  <a:txBody>
                    <a:bodyPr/>
                    <a:lstStyle/>
                    <a:p>
                      <a:r>
                        <a:rPr lang="en-IN" u="none" dirty="0"/>
                        <a:t>long</a:t>
                      </a:r>
                      <a:endParaRPr lang="en-US" u="none" dirty="0"/>
                    </a:p>
                  </a:txBody>
                  <a:tcPr/>
                </a:tc>
                <a:tc>
                  <a:txBody>
                    <a:bodyPr/>
                    <a:lstStyle/>
                    <a:p>
                      <a:r>
                        <a:rPr lang="en-IN" u="none" dirty="0"/>
                        <a:t>Long</a:t>
                      </a:r>
                    </a:p>
                  </a:txBody>
                  <a:tcPr/>
                </a:tc>
                <a:tc>
                  <a:txBody>
                    <a:bodyPr/>
                    <a:lstStyle/>
                    <a:p>
                      <a:pPr algn="l"/>
                      <a:r>
                        <a:rPr lang="en-US" sz="1800" dirty="0"/>
                        <a:t>Long </a:t>
                      </a:r>
                      <a:r>
                        <a:rPr lang="en-US" sz="1800" u="none" dirty="0"/>
                        <a:t>l = new Long(10);</a:t>
                      </a:r>
                      <a:endParaRPr lang="en-US" sz="1800" b="1" u="none" dirty="0">
                        <a:solidFill>
                          <a:srgbClr val="000000"/>
                        </a:solidFill>
                        <a:latin typeface="Consolas"/>
                      </a:endParaRPr>
                    </a:p>
                  </a:txBody>
                  <a:tcPr/>
                </a:tc>
                <a:extLst>
                  <a:ext uri="{0D108BD9-81ED-4DB2-BD59-A6C34878D82A}">
                    <a16:rowId xmlns:a16="http://schemas.microsoft.com/office/drawing/2014/main" val="10004"/>
                  </a:ext>
                </a:extLst>
              </a:tr>
              <a:tr h="370840">
                <a:tc>
                  <a:txBody>
                    <a:bodyPr/>
                    <a:lstStyle/>
                    <a:p>
                      <a:r>
                        <a:rPr lang="en-IN" u="none" dirty="0"/>
                        <a:t>float</a:t>
                      </a:r>
                      <a:endParaRPr lang="en-US" u="none" dirty="0"/>
                    </a:p>
                  </a:txBody>
                  <a:tcPr/>
                </a:tc>
                <a:tc>
                  <a:txBody>
                    <a:bodyPr/>
                    <a:lstStyle/>
                    <a:p>
                      <a:r>
                        <a:rPr lang="en-IN" u="none" dirty="0"/>
                        <a:t>Float</a:t>
                      </a:r>
                    </a:p>
                  </a:txBody>
                  <a:tcPr/>
                </a:tc>
                <a:tc>
                  <a:txBody>
                    <a:bodyPr/>
                    <a:lstStyle/>
                    <a:p>
                      <a:pPr algn="l"/>
                      <a:r>
                        <a:rPr lang="en-US" sz="1800" dirty="0"/>
                        <a:t>Float </a:t>
                      </a:r>
                      <a:r>
                        <a:rPr lang="en-US" sz="1800" u="none" dirty="0"/>
                        <a:t>f = new Float(10.0);</a:t>
                      </a:r>
                      <a:endParaRPr lang="en-US" sz="1800" b="0" u="none" dirty="0">
                        <a:solidFill>
                          <a:srgbClr val="000000"/>
                        </a:solidFill>
                        <a:latin typeface="Consolas"/>
                      </a:endParaRPr>
                    </a:p>
                  </a:txBody>
                  <a:tcPr/>
                </a:tc>
                <a:extLst>
                  <a:ext uri="{0D108BD9-81ED-4DB2-BD59-A6C34878D82A}">
                    <a16:rowId xmlns:a16="http://schemas.microsoft.com/office/drawing/2014/main" val="10005"/>
                  </a:ext>
                </a:extLst>
              </a:tr>
              <a:tr h="370840">
                <a:tc>
                  <a:txBody>
                    <a:bodyPr/>
                    <a:lstStyle/>
                    <a:p>
                      <a:r>
                        <a:rPr lang="en-IN" u="none" dirty="0"/>
                        <a:t>double</a:t>
                      </a:r>
                      <a:endParaRPr lang="en-US" u="none" dirty="0"/>
                    </a:p>
                  </a:txBody>
                  <a:tcPr/>
                </a:tc>
                <a:tc>
                  <a:txBody>
                    <a:bodyPr/>
                    <a:lstStyle/>
                    <a:p>
                      <a:r>
                        <a:rPr lang="en-IN" u="none" dirty="0"/>
                        <a:t>Double</a:t>
                      </a:r>
                    </a:p>
                  </a:txBody>
                  <a:tcPr/>
                </a:tc>
                <a:tc>
                  <a:txBody>
                    <a:bodyPr/>
                    <a:lstStyle/>
                    <a:p>
                      <a:pPr algn="l"/>
                      <a:r>
                        <a:rPr lang="en-US" sz="1800" dirty="0"/>
                        <a:t>Double </a:t>
                      </a:r>
                      <a:r>
                        <a:rPr lang="en-US" sz="1800" u="none" dirty="0"/>
                        <a:t>d = new Double(10.2);</a:t>
                      </a:r>
                      <a:endParaRPr lang="en-US" sz="1800" b="1" u="none" dirty="0">
                        <a:solidFill>
                          <a:srgbClr val="000000"/>
                        </a:solidFill>
                        <a:latin typeface="Consolas"/>
                      </a:endParaRPr>
                    </a:p>
                  </a:txBody>
                  <a:tcPr/>
                </a:tc>
                <a:extLst>
                  <a:ext uri="{0D108BD9-81ED-4DB2-BD59-A6C34878D82A}">
                    <a16:rowId xmlns:a16="http://schemas.microsoft.com/office/drawing/2014/main" val="10006"/>
                  </a:ext>
                </a:extLst>
              </a:tr>
              <a:tr h="370840">
                <a:tc>
                  <a:txBody>
                    <a:bodyPr/>
                    <a:lstStyle/>
                    <a:p>
                      <a:r>
                        <a:rPr lang="en-IN" u="none" dirty="0"/>
                        <a:t>char</a:t>
                      </a:r>
                      <a:endParaRPr lang="en-US" u="none" dirty="0"/>
                    </a:p>
                  </a:txBody>
                  <a:tcPr/>
                </a:tc>
                <a:tc>
                  <a:txBody>
                    <a:bodyPr/>
                    <a:lstStyle/>
                    <a:p>
                      <a:r>
                        <a:rPr lang="en-IN" u="none" dirty="0"/>
                        <a:t>Character</a:t>
                      </a:r>
                    </a:p>
                  </a:txBody>
                  <a:tcPr/>
                </a:tc>
                <a:tc>
                  <a:txBody>
                    <a:bodyPr/>
                    <a:lstStyle/>
                    <a:p>
                      <a:pPr algn="l"/>
                      <a:r>
                        <a:rPr lang="en-US" sz="1800" dirty="0"/>
                        <a:t>Character </a:t>
                      </a:r>
                      <a:r>
                        <a:rPr lang="en-US" sz="1800" u="none" dirty="0"/>
                        <a:t>c = new Character('a');</a:t>
                      </a:r>
                      <a:endParaRPr lang="en-US" sz="1800" b="1" u="none" dirty="0">
                        <a:solidFill>
                          <a:srgbClr val="000000"/>
                        </a:solidFill>
                        <a:latin typeface="Consolas"/>
                      </a:endParaRPr>
                    </a:p>
                  </a:txBody>
                  <a:tcPr/>
                </a:tc>
                <a:extLst>
                  <a:ext uri="{0D108BD9-81ED-4DB2-BD59-A6C34878D82A}">
                    <a16:rowId xmlns:a16="http://schemas.microsoft.com/office/drawing/2014/main" val="10007"/>
                  </a:ext>
                </a:extLst>
              </a:tr>
              <a:tr h="370840">
                <a:tc>
                  <a:txBody>
                    <a:bodyPr/>
                    <a:lstStyle/>
                    <a:p>
                      <a:r>
                        <a:rPr lang="en-IN" u="none" dirty="0" err="1"/>
                        <a:t>boolean</a:t>
                      </a:r>
                      <a:endParaRPr lang="en-US" u="none" dirty="0"/>
                    </a:p>
                  </a:txBody>
                  <a:tcPr/>
                </a:tc>
                <a:tc>
                  <a:txBody>
                    <a:bodyPr/>
                    <a:lstStyle/>
                    <a:p>
                      <a:r>
                        <a:rPr lang="en-IN" u="none" dirty="0"/>
                        <a:t>Boolean</a:t>
                      </a:r>
                    </a:p>
                  </a:txBody>
                  <a:tcPr/>
                </a:tc>
                <a:tc>
                  <a:txBody>
                    <a:bodyPr/>
                    <a:lstStyle/>
                    <a:p>
                      <a:pPr algn="l"/>
                      <a:r>
                        <a:rPr lang="en-US" sz="1800" dirty="0"/>
                        <a:t>Boolean </a:t>
                      </a:r>
                      <a:r>
                        <a:rPr lang="en-US" sz="1800" u="none" dirty="0"/>
                        <a:t>b = new Boolean(true);</a:t>
                      </a:r>
                      <a:endParaRPr lang="en-US" sz="1800" b="1" u="none" dirty="0">
                        <a:solidFill>
                          <a:srgbClr val="000000"/>
                        </a:solidFill>
                        <a:latin typeface="Consolas"/>
                      </a:endParaRPr>
                    </a:p>
                  </a:txBody>
                  <a:tcPr/>
                </a:tc>
                <a:extLst>
                  <a:ext uri="{0D108BD9-81ED-4DB2-BD59-A6C34878D82A}">
                    <a16:rowId xmlns:a16="http://schemas.microsoft.com/office/drawing/2014/main" val="10008"/>
                  </a:ext>
                </a:extLst>
              </a:tr>
            </a:tbl>
          </a:graphicData>
        </a:graphic>
      </p:graphicFrame>
      <p:sp>
        <p:nvSpPr>
          <p:cNvPr id="5" name="Content Placeholder 2"/>
          <p:cNvSpPr txBox="1">
            <a:spLocks/>
          </p:cNvSpPr>
          <p:nvPr/>
        </p:nvSpPr>
        <p:spPr>
          <a:xfrm>
            <a:off x="190500" y="4495800"/>
            <a:ext cx="6916882" cy="190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14000"/>
              </a:lnSpc>
              <a:spcBef>
                <a:spcPct val="20000"/>
              </a:spcBef>
              <a:spcAft>
                <a:spcPts val="0"/>
              </a:spcAft>
              <a:buClrTx/>
              <a:buSzTx/>
              <a:buFont typeface="Wingdings" panose="05000000000000000000" pitchFamily="2" charset="2"/>
              <a:buChar char="§"/>
              <a:tabLst/>
              <a:defRPr/>
            </a:pPr>
            <a:r>
              <a:rPr kumimoji="0" lang="en-IN" sz="2200" b="1"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Common Fields</a:t>
            </a:r>
            <a:r>
              <a:rPr kumimoji="0" lang="en-IN" sz="22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 (Except Boolean):</a:t>
            </a:r>
          </a:p>
          <a:p>
            <a:pPr marL="800100" lvl="1" indent="-342900">
              <a:lnSpc>
                <a:spcPct val="114000"/>
              </a:lnSpc>
              <a:spcBef>
                <a:spcPct val="20000"/>
              </a:spcBef>
              <a:buFont typeface="Wingdings" panose="05000000000000000000" pitchFamily="2" charset="2"/>
              <a:buChar char="§"/>
            </a:pPr>
            <a:r>
              <a:rPr lang="en-IN" sz="2000" dirty="0">
                <a:ea typeface="Times New Roman" panose="02020603050405020304" pitchFamily="18" charset="0"/>
                <a:cs typeface="Times New Roman" panose="02020603050405020304" pitchFamily="18" charset="0"/>
              </a:rPr>
              <a:t>MIN_VALUE : will return the minimum value it can store.</a:t>
            </a:r>
          </a:p>
          <a:p>
            <a:pPr marL="800100" lvl="1" indent="-342900">
              <a:lnSpc>
                <a:spcPct val="114000"/>
              </a:lnSpc>
              <a:spcBef>
                <a:spcPct val="20000"/>
              </a:spcBef>
              <a:buFont typeface="Wingdings" panose="05000000000000000000" pitchFamily="2" charset="2"/>
              <a:buChar char="§"/>
            </a:pPr>
            <a:r>
              <a:rPr kumimoji="0" lang="en-IN" sz="2000" b="0" i="0" u="none" strike="noStrike" kern="120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rPr>
              <a:t>MAX_VALUE</a:t>
            </a:r>
            <a:r>
              <a:rPr kumimoji="0" lang="en-IN" sz="2000" b="0" i="0" u="none" strike="noStrike" kern="1200" cap="none" spc="0" normalizeH="0" noProof="0" dirty="0">
                <a:ln>
                  <a:noFill/>
                </a:ln>
                <a:solidFill>
                  <a:schemeClr val="tx1"/>
                </a:solidFill>
                <a:effectLst/>
                <a:uLnTx/>
                <a:uFillTx/>
                <a:ea typeface="Times New Roman" panose="02020603050405020304" pitchFamily="18" charset="0"/>
                <a:cs typeface="Times New Roman" panose="02020603050405020304" pitchFamily="18" charset="0"/>
              </a:rPr>
              <a:t> : will return the maximum value it can store.</a:t>
            </a:r>
            <a:endParaRPr kumimoji="0" lang="en-US" sz="2000" b="0" i="0" u="none" strike="noStrike" kern="1200" cap="none" spc="0" normalizeH="0" baseline="0" noProof="0" dirty="0">
              <a:ln>
                <a:noFill/>
              </a:ln>
              <a:solidFill>
                <a:schemeClr val="tx1"/>
              </a:solidFill>
              <a:effectLst/>
              <a:uLnTx/>
              <a:uFillTx/>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52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Parsing the String</a:t>
            </a:r>
            <a:endParaRPr lang="en-US" dirty="0"/>
          </a:p>
        </p:txBody>
      </p:sp>
      <p:sp>
        <p:nvSpPr>
          <p:cNvPr id="3" name="Content Placeholder 2"/>
          <p:cNvSpPr>
            <a:spLocks noGrp="1"/>
          </p:cNvSpPr>
          <p:nvPr>
            <p:ph idx="1"/>
          </p:nvPr>
        </p:nvSpPr>
        <p:spPr/>
        <p:txBody>
          <a:bodyPr/>
          <a:lstStyle/>
          <a:p>
            <a:r>
              <a:rPr lang="en-IN" dirty="0"/>
              <a:t>Using </a:t>
            </a:r>
            <a:r>
              <a:rPr lang="en-IN" b="1" dirty="0"/>
              <a:t>wrapper class</a:t>
            </a:r>
            <a:r>
              <a:rPr lang="en-IN" dirty="0"/>
              <a:t> we can </a:t>
            </a:r>
            <a:r>
              <a:rPr lang="en-IN" b="1" dirty="0"/>
              <a:t>parse string </a:t>
            </a:r>
            <a:r>
              <a:rPr lang="en-IN" dirty="0"/>
              <a:t>to any </a:t>
            </a:r>
            <a:r>
              <a:rPr lang="en-IN" b="1" dirty="0"/>
              <a:t>primitive datatype (Except char)</a:t>
            </a:r>
            <a:r>
              <a:rPr lang="en-IN" dirty="0"/>
              <a:t>.</a:t>
            </a:r>
            <a:endParaRPr lang="en-US" dirty="0"/>
          </a:p>
          <a:p>
            <a:endParaRPr lang="en-US" dirty="0"/>
          </a:p>
        </p:txBody>
      </p:sp>
      <p:sp>
        <p:nvSpPr>
          <p:cNvPr id="4" name="TextBox 3"/>
          <p:cNvSpPr txBox="1"/>
          <p:nvPr/>
        </p:nvSpPr>
        <p:spPr>
          <a:xfrm>
            <a:off x="566977" y="1585812"/>
            <a:ext cx="7696200" cy="2862322"/>
          </a:xfrm>
          <a:prstGeom prst="rect">
            <a:avLst/>
          </a:prstGeom>
          <a:noFill/>
          <a:ln w="19050">
            <a:solidFill>
              <a:schemeClr val="accent1"/>
            </a:solidFill>
            <a:prstDash val="dash"/>
          </a:ln>
        </p:spPr>
        <p:txBody>
          <a:bodyPr wrap="square" rtlCol="0">
            <a:spAutoFit/>
          </a:bodyPr>
          <a:lstStyle/>
          <a:p>
            <a:pPr lvl="1"/>
            <a:endParaRPr lang="en-US" b="1" dirty="0">
              <a:solidFill>
                <a:srgbClr val="7F0055"/>
              </a:solidFill>
              <a:latin typeface="Consolas"/>
            </a:endParaRPr>
          </a:p>
          <a:p>
            <a:pPr lvl="1"/>
            <a:r>
              <a:rPr lang="en-US" b="1" dirty="0">
                <a:solidFill>
                  <a:srgbClr val="7F0055"/>
                </a:solidFill>
                <a:latin typeface="Consolas"/>
              </a:rPr>
              <a:t>byte</a:t>
            </a:r>
            <a:r>
              <a:rPr lang="en-US" b="1" dirty="0">
                <a:solidFill>
                  <a:srgbClr val="000000"/>
                </a:solidFill>
                <a:latin typeface="Consolas"/>
              </a:rPr>
              <a:t> </a:t>
            </a:r>
            <a:r>
              <a:rPr lang="en-US" b="1" dirty="0">
                <a:solidFill>
                  <a:srgbClr val="6A3E3E"/>
                </a:solidFill>
                <a:latin typeface="Consolas"/>
              </a:rPr>
              <a:t>b1</a:t>
            </a:r>
            <a:r>
              <a:rPr lang="en-US" b="1" dirty="0">
                <a:solidFill>
                  <a:srgbClr val="000000"/>
                </a:solidFill>
                <a:latin typeface="Consolas"/>
              </a:rPr>
              <a:t> = </a:t>
            </a:r>
            <a:r>
              <a:rPr lang="en-US" b="1" dirty="0" err="1">
                <a:solidFill>
                  <a:srgbClr val="000000"/>
                </a:solidFill>
                <a:latin typeface="Consolas"/>
              </a:rPr>
              <a:t>Byte.</a:t>
            </a:r>
            <a:r>
              <a:rPr lang="en-US" b="1" i="1" dirty="0" err="1">
                <a:solidFill>
                  <a:srgbClr val="000000"/>
                </a:solidFill>
                <a:latin typeface="Consolas"/>
              </a:rPr>
              <a:t>parseByte</a:t>
            </a:r>
            <a:r>
              <a:rPr lang="en-US" b="1" i="1" dirty="0">
                <a:solidFill>
                  <a:srgbClr val="000000"/>
                </a:solidFill>
                <a:latin typeface="Consolas"/>
              </a:rPr>
              <a:t>(</a:t>
            </a:r>
            <a:r>
              <a:rPr lang="en-US" b="1" i="1" dirty="0">
                <a:solidFill>
                  <a:srgbClr val="2A00FF"/>
                </a:solidFill>
                <a:latin typeface="Consolas"/>
              </a:rPr>
              <a:t>"10"</a:t>
            </a:r>
            <a:r>
              <a:rPr lang="en-US" b="1" i="1" dirty="0">
                <a:solidFill>
                  <a:srgbClr val="000000"/>
                </a:solidFill>
                <a:latin typeface="Consolas"/>
              </a:rPr>
              <a:t>);</a:t>
            </a:r>
          </a:p>
          <a:p>
            <a:pPr lvl="1"/>
            <a:r>
              <a:rPr lang="en-US" b="1" dirty="0">
                <a:solidFill>
                  <a:srgbClr val="7F0055"/>
                </a:solidFill>
                <a:latin typeface="Consolas"/>
              </a:rPr>
              <a:t>short</a:t>
            </a:r>
            <a:r>
              <a:rPr lang="en-US" b="1" dirty="0">
                <a:solidFill>
                  <a:srgbClr val="000000"/>
                </a:solidFill>
                <a:latin typeface="Consolas"/>
              </a:rPr>
              <a:t> </a:t>
            </a:r>
            <a:r>
              <a:rPr lang="en-US" b="1" dirty="0">
                <a:solidFill>
                  <a:srgbClr val="6A3E3E"/>
                </a:solidFill>
                <a:latin typeface="Consolas"/>
              </a:rPr>
              <a:t>s</a:t>
            </a:r>
            <a:r>
              <a:rPr lang="en-US" b="1" dirty="0">
                <a:solidFill>
                  <a:srgbClr val="000000"/>
                </a:solidFill>
                <a:latin typeface="Consolas"/>
              </a:rPr>
              <a:t> = </a:t>
            </a:r>
            <a:r>
              <a:rPr lang="en-US" b="1" dirty="0" err="1">
                <a:solidFill>
                  <a:srgbClr val="000000"/>
                </a:solidFill>
                <a:latin typeface="Consolas"/>
              </a:rPr>
              <a:t>Short.</a:t>
            </a:r>
            <a:r>
              <a:rPr lang="en-US" b="1" i="1" dirty="0" err="1">
                <a:solidFill>
                  <a:srgbClr val="000000"/>
                </a:solidFill>
                <a:latin typeface="Consolas"/>
              </a:rPr>
              <a:t>parseShort</a:t>
            </a:r>
            <a:r>
              <a:rPr lang="en-US" b="1" i="1" dirty="0">
                <a:solidFill>
                  <a:srgbClr val="000000"/>
                </a:solidFill>
                <a:latin typeface="Consolas"/>
              </a:rPr>
              <a:t>(</a:t>
            </a:r>
            <a:r>
              <a:rPr lang="en-US" b="1" i="1" dirty="0">
                <a:solidFill>
                  <a:srgbClr val="2A00FF"/>
                </a:solidFill>
                <a:latin typeface="Consolas"/>
              </a:rPr>
              <a:t>"10"</a:t>
            </a:r>
            <a:r>
              <a:rPr lang="en-US" b="1" i="1" dirty="0">
                <a:solidFill>
                  <a:srgbClr val="000000"/>
                </a:solidFill>
                <a:latin typeface="Consolas"/>
              </a:rPr>
              <a:t>);</a:t>
            </a:r>
          </a:p>
          <a:p>
            <a:pPr lvl="1"/>
            <a:r>
              <a:rPr lang="en-US" b="1" dirty="0" err="1">
                <a:solidFill>
                  <a:srgbClr val="7F0055"/>
                </a:solidFill>
                <a:latin typeface="Consolas"/>
              </a:rPr>
              <a:t>int</a:t>
            </a:r>
            <a:r>
              <a:rPr lang="en-US" b="1" dirty="0">
                <a:solidFill>
                  <a:srgbClr val="000000"/>
                </a:solidFill>
                <a:latin typeface="Consolas"/>
              </a:rPr>
              <a:t> </a:t>
            </a:r>
            <a:r>
              <a:rPr lang="en-US" b="1" dirty="0" err="1">
                <a:solidFill>
                  <a:srgbClr val="6A3E3E"/>
                </a:solidFill>
                <a:latin typeface="Consolas"/>
              </a:rPr>
              <a:t>i</a:t>
            </a:r>
            <a:r>
              <a:rPr lang="en-US" b="1" dirty="0">
                <a:solidFill>
                  <a:srgbClr val="000000"/>
                </a:solidFill>
                <a:latin typeface="Consolas"/>
              </a:rPr>
              <a:t> = </a:t>
            </a:r>
            <a:r>
              <a:rPr lang="en-US" b="1" dirty="0" err="1">
                <a:solidFill>
                  <a:srgbClr val="000000"/>
                </a:solidFill>
                <a:latin typeface="Consolas"/>
              </a:rPr>
              <a:t>Integer.</a:t>
            </a:r>
            <a:r>
              <a:rPr lang="en-US" b="1" i="1" dirty="0" err="1">
                <a:solidFill>
                  <a:srgbClr val="000000"/>
                </a:solidFill>
                <a:latin typeface="Consolas"/>
              </a:rPr>
              <a:t>parseInt</a:t>
            </a:r>
            <a:r>
              <a:rPr lang="en-US" b="1" i="1" dirty="0">
                <a:solidFill>
                  <a:srgbClr val="000000"/>
                </a:solidFill>
                <a:latin typeface="Consolas"/>
              </a:rPr>
              <a:t>(</a:t>
            </a:r>
            <a:r>
              <a:rPr lang="en-US" b="1" i="1" dirty="0">
                <a:solidFill>
                  <a:srgbClr val="2A00FF"/>
                </a:solidFill>
                <a:latin typeface="Consolas"/>
              </a:rPr>
              <a:t>"10"</a:t>
            </a:r>
            <a:r>
              <a:rPr lang="en-US" b="1" i="1" dirty="0">
                <a:solidFill>
                  <a:srgbClr val="000000"/>
                </a:solidFill>
                <a:latin typeface="Consolas"/>
              </a:rPr>
              <a:t>);</a:t>
            </a:r>
          </a:p>
          <a:p>
            <a:pPr lvl="1"/>
            <a:r>
              <a:rPr lang="en-US" b="1" dirty="0">
                <a:solidFill>
                  <a:srgbClr val="7F0055"/>
                </a:solidFill>
                <a:latin typeface="Consolas"/>
              </a:rPr>
              <a:t>long</a:t>
            </a:r>
            <a:r>
              <a:rPr lang="en-US" b="1" dirty="0">
                <a:solidFill>
                  <a:srgbClr val="000000"/>
                </a:solidFill>
                <a:latin typeface="Consolas"/>
              </a:rPr>
              <a:t> </a:t>
            </a:r>
            <a:r>
              <a:rPr lang="en-US" b="1" dirty="0">
                <a:solidFill>
                  <a:srgbClr val="6A3E3E"/>
                </a:solidFill>
                <a:latin typeface="Consolas"/>
              </a:rPr>
              <a:t>l</a:t>
            </a:r>
            <a:r>
              <a:rPr lang="en-US" b="1" dirty="0">
                <a:solidFill>
                  <a:srgbClr val="000000"/>
                </a:solidFill>
                <a:latin typeface="Consolas"/>
              </a:rPr>
              <a:t> = </a:t>
            </a:r>
            <a:r>
              <a:rPr lang="en-US" b="1" dirty="0" err="1">
                <a:solidFill>
                  <a:srgbClr val="000000"/>
                </a:solidFill>
                <a:latin typeface="Consolas"/>
              </a:rPr>
              <a:t>Long.</a:t>
            </a:r>
            <a:r>
              <a:rPr lang="en-US" b="1" i="1" dirty="0" err="1">
                <a:solidFill>
                  <a:srgbClr val="000000"/>
                </a:solidFill>
                <a:latin typeface="Consolas"/>
              </a:rPr>
              <a:t>parseLong</a:t>
            </a:r>
            <a:r>
              <a:rPr lang="en-US" b="1" i="1" dirty="0">
                <a:solidFill>
                  <a:srgbClr val="000000"/>
                </a:solidFill>
                <a:latin typeface="Consolas"/>
              </a:rPr>
              <a:t>(</a:t>
            </a:r>
            <a:r>
              <a:rPr lang="en-US" b="1" i="1" dirty="0">
                <a:solidFill>
                  <a:srgbClr val="2A00FF"/>
                </a:solidFill>
                <a:latin typeface="Consolas"/>
              </a:rPr>
              <a:t>"10"</a:t>
            </a:r>
            <a:r>
              <a:rPr lang="en-US" b="1" i="1" dirty="0">
                <a:solidFill>
                  <a:srgbClr val="000000"/>
                </a:solidFill>
                <a:latin typeface="Consolas"/>
              </a:rPr>
              <a:t>);</a:t>
            </a:r>
          </a:p>
          <a:p>
            <a:pPr lvl="1"/>
            <a:r>
              <a:rPr lang="en-US" b="1" dirty="0">
                <a:solidFill>
                  <a:srgbClr val="7F0055"/>
                </a:solidFill>
                <a:latin typeface="Consolas"/>
              </a:rPr>
              <a:t>float</a:t>
            </a:r>
            <a:r>
              <a:rPr lang="en-US" b="1" dirty="0">
                <a:solidFill>
                  <a:srgbClr val="000000"/>
                </a:solidFill>
                <a:latin typeface="Consolas"/>
              </a:rPr>
              <a:t> </a:t>
            </a:r>
            <a:r>
              <a:rPr lang="en-US" b="1" dirty="0">
                <a:solidFill>
                  <a:srgbClr val="6A3E3E"/>
                </a:solidFill>
                <a:latin typeface="Consolas"/>
              </a:rPr>
              <a:t>f</a:t>
            </a:r>
            <a:r>
              <a:rPr lang="en-US" b="1" dirty="0">
                <a:solidFill>
                  <a:srgbClr val="000000"/>
                </a:solidFill>
                <a:latin typeface="Consolas"/>
              </a:rPr>
              <a:t> = </a:t>
            </a:r>
            <a:r>
              <a:rPr lang="en-US" b="1" dirty="0" err="1">
                <a:solidFill>
                  <a:srgbClr val="000000"/>
                </a:solidFill>
                <a:latin typeface="Consolas"/>
              </a:rPr>
              <a:t>Float.</a:t>
            </a:r>
            <a:r>
              <a:rPr lang="en-US" b="1" i="1" dirty="0" err="1">
                <a:solidFill>
                  <a:srgbClr val="000000"/>
                </a:solidFill>
                <a:latin typeface="Consolas"/>
              </a:rPr>
              <a:t>parseFloat</a:t>
            </a:r>
            <a:r>
              <a:rPr lang="en-US" b="1" i="1" dirty="0">
                <a:solidFill>
                  <a:srgbClr val="000000"/>
                </a:solidFill>
                <a:latin typeface="Consolas"/>
              </a:rPr>
              <a:t>(</a:t>
            </a:r>
            <a:r>
              <a:rPr lang="en-US" b="1" i="1" dirty="0">
                <a:solidFill>
                  <a:srgbClr val="2A00FF"/>
                </a:solidFill>
                <a:latin typeface="Consolas"/>
              </a:rPr>
              <a:t>"10.5"</a:t>
            </a:r>
            <a:r>
              <a:rPr lang="en-US" b="1" i="1" dirty="0">
                <a:solidFill>
                  <a:srgbClr val="000000"/>
                </a:solidFill>
                <a:latin typeface="Consolas"/>
              </a:rPr>
              <a:t>);</a:t>
            </a:r>
          </a:p>
          <a:p>
            <a:pPr lvl="1"/>
            <a:r>
              <a:rPr lang="en-US" b="1" dirty="0">
                <a:solidFill>
                  <a:srgbClr val="7F0055"/>
                </a:solidFill>
                <a:latin typeface="Consolas"/>
              </a:rPr>
              <a:t>double</a:t>
            </a:r>
            <a:r>
              <a:rPr lang="en-US" b="1" dirty="0">
                <a:solidFill>
                  <a:srgbClr val="000000"/>
                </a:solidFill>
                <a:latin typeface="Consolas"/>
              </a:rPr>
              <a:t> </a:t>
            </a:r>
            <a:r>
              <a:rPr lang="en-US" b="1" dirty="0">
                <a:solidFill>
                  <a:srgbClr val="6A3E3E"/>
                </a:solidFill>
                <a:latin typeface="Consolas"/>
              </a:rPr>
              <a:t>d</a:t>
            </a:r>
            <a:r>
              <a:rPr lang="en-US" b="1" dirty="0">
                <a:solidFill>
                  <a:srgbClr val="000000"/>
                </a:solidFill>
                <a:latin typeface="Consolas"/>
              </a:rPr>
              <a:t> = </a:t>
            </a:r>
            <a:r>
              <a:rPr lang="en-US" b="1" dirty="0" err="1">
                <a:solidFill>
                  <a:srgbClr val="000000"/>
                </a:solidFill>
                <a:latin typeface="Consolas"/>
              </a:rPr>
              <a:t>Double.</a:t>
            </a:r>
            <a:r>
              <a:rPr lang="en-US" b="1" i="1" dirty="0" err="1">
                <a:solidFill>
                  <a:srgbClr val="000000"/>
                </a:solidFill>
                <a:latin typeface="Consolas"/>
              </a:rPr>
              <a:t>parseDouble</a:t>
            </a:r>
            <a:r>
              <a:rPr lang="en-US" b="1" i="1" dirty="0">
                <a:solidFill>
                  <a:srgbClr val="000000"/>
                </a:solidFill>
                <a:latin typeface="Consolas"/>
              </a:rPr>
              <a:t>(</a:t>
            </a:r>
            <a:r>
              <a:rPr lang="en-US" b="1" i="1" dirty="0">
                <a:solidFill>
                  <a:srgbClr val="2A00FF"/>
                </a:solidFill>
                <a:latin typeface="Consolas"/>
              </a:rPr>
              <a:t>"10.5"</a:t>
            </a:r>
            <a:r>
              <a:rPr lang="en-US" b="1" i="1" dirty="0">
                <a:solidFill>
                  <a:srgbClr val="000000"/>
                </a:solidFill>
                <a:latin typeface="Consolas"/>
              </a:rPr>
              <a:t>);</a:t>
            </a:r>
          </a:p>
          <a:p>
            <a:pPr lvl="1"/>
            <a:r>
              <a:rPr lang="en-US" b="1" dirty="0" err="1">
                <a:solidFill>
                  <a:srgbClr val="7F0055"/>
                </a:solidFill>
                <a:latin typeface="Consolas"/>
              </a:rPr>
              <a:t>boolean</a:t>
            </a:r>
            <a:r>
              <a:rPr lang="en-US" b="1" dirty="0">
                <a:solidFill>
                  <a:srgbClr val="000000"/>
                </a:solidFill>
                <a:latin typeface="Consolas"/>
              </a:rPr>
              <a:t> </a:t>
            </a:r>
            <a:r>
              <a:rPr lang="en-US" b="1" dirty="0">
                <a:solidFill>
                  <a:srgbClr val="6A3E3E"/>
                </a:solidFill>
                <a:latin typeface="Consolas"/>
              </a:rPr>
              <a:t>b2</a:t>
            </a:r>
            <a:r>
              <a:rPr lang="en-US" b="1" dirty="0">
                <a:solidFill>
                  <a:srgbClr val="000000"/>
                </a:solidFill>
                <a:latin typeface="Consolas"/>
              </a:rPr>
              <a:t> = </a:t>
            </a:r>
            <a:r>
              <a:rPr lang="en-US" b="1" dirty="0" err="1">
                <a:solidFill>
                  <a:srgbClr val="000000"/>
                </a:solidFill>
                <a:latin typeface="Consolas"/>
              </a:rPr>
              <a:t>Boolean.</a:t>
            </a:r>
            <a:r>
              <a:rPr lang="en-US" b="1" i="1" dirty="0" err="1">
                <a:solidFill>
                  <a:srgbClr val="000000"/>
                </a:solidFill>
                <a:latin typeface="Consolas"/>
              </a:rPr>
              <a:t>parseBoolean</a:t>
            </a:r>
            <a:r>
              <a:rPr lang="en-US" b="1" i="1" dirty="0">
                <a:solidFill>
                  <a:srgbClr val="000000"/>
                </a:solidFill>
                <a:latin typeface="Consolas"/>
              </a:rPr>
              <a:t>(</a:t>
            </a:r>
            <a:r>
              <a:rPr lang="en-US" b="1" i="1" dirty="0">
                <a:solidFill>
                  <a:srgbClr val="2A00FF"/>
                </a:solidFill>
                <a:latin typeface="Consolas"/>
              </a:rPr>
              <a:t>"true"</a:t>
            </a:r>
            <a:r>
              <a:rPr lang="en-US" b="1" i="1" dirty="0">
                <a:solidFill>
                  <a:srgbClr val="000000"/>
                </a:solidFill>
                <a:latin typeface="Consolas"/>
              </a:rPr>
              <a:t>);</a:t>
            </a:r>
          </a:p>
          <a:p>
            <a:pPr lvl="1"/>
            <a:r>
              <a:rPr lang="en-US" b="1" dirty="0">
                <a:solidFill>
                  <a:srgbClr val="7F0055"/>
                </a:solidFill>
                <a:latin typeface="Consolas"/>
              </a:rPr>
              <a:t>char</a:t>
            </a:r>
            <a:r>
              <a:rPr lang="en-US" b="1" dirty="0">
                <a:solidFill>
                  <a:srgbClr val="000000"/>
                </a:solidFill>
                <a:latin typeface="Consolas"/>
              </a:rPr>
              <a:t> </a:t>
            </a:r>
            <a:r>
              <a:rPr lang="en-US" b="1" dirty="0">
                <a:solidFill>
                  <a:srgbClr val="6A3E3E"/>
                </a:solidFill>
                <a:latin typeface="Consolas"/>
              </a:rPr>
              <a:t>c</a:t>
            </a:r>
            <a:r>
              <a:rPr lang="en-US" b="1" dirty="0">
                <a:solidFill>
                  <a:srgbClr val="000000"/>
                </a:solidFill>
                <a:latin typeface="Consolas"/>
              </a:rPr>
              <a:t> = </a:t>
            </a:r>
            <a:r>
              <a:rPr lang="en-US" b="1" dirty="0" err="1">
                <a:solidFill>
                  <a:srgbClr val="000000"/>
                </a:solidFill>
                <a:latin typeface="Consolas"/>
              </a:rPr>
              <a:t>Character.parseCharacter</a:t>
            </a:r>
            <a:r>
              <a:rPr lang="en-US" b="1" dirty="0">
                <a:solidFill>
                  <a:srgbClr val="000000"/>
                </a:solidFill>
                <a:latin typeface="Consolas"/>
              </a:rPr>
              <a:t>(</a:t>
            </a:r>
            <a:r>
              <a:rPr lang="en-US" b="1" dirty="0">
                <a:solidFill>
                  <a:srgbClr val="2A00FF"/>
                </a:solidFill>
                <a:latin typeface="Consolas"/>
              </a:rPr>
              <a:t>'a'</a:t>
            </a:r>
            <a:r>
              <a:rPr lang="en-US" b="1" dirty="0">
                <a:solidFill>
                  <a:srgbClr val="000000"/>
                </a:solidFill>
                <a:latin typeface="Consolas"/>
              </a:rPr>
              <a:t>);</a:t>
            </a:r>
          </a:p>
          <a:p>
            <a:pPr lvl="1"/>
            <a:endParaRPr lang="en-US" b="1" i="1" dirty="0">
              <a:solidFill>
                <a:srgbClr val="000000"/>
              </a:solidFill>
              <a:latin typeface="Consolas"/>
            </a:endParaRPr>
          </a:p>
        </p:txBody>
      </p:sp>
      <p:sp>
        <p:nvSpPr>
          <p:cNvPr id="5" name="Line Callout 1 4"/>
          <p:cNvSpPr/>
          <p:nvPr/>
        </p:nvSpPr>
        <p:spPr>
          <a:xfrm>
            <a:off x="6033939" y="1966812"/>
            <a:ext cx="2667000" cy="990600"/>
          </a:xfrm>
          <a:prstGeom prst="borderCallout1">
            <a:avLst>
              <a:gd name="adj1" fmla="val 50000"/>
              <a:gd name="adj2" fmla="val -119"/>
              <a:gd name="adj3" fmla="val 63702"/>
              <a:gd name="adj4" fmla="val -3797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Note : for Integer class we have </a:t>
            </a:r>
            <a:r>
              <a:rPr lang="en-IN" b="1" dirty="0" err="1">
                <a:solidFill>
                  <a:srgbClr val="FF0000"/>
                </a:solidFill>
              </a:rPr>
              <a:t>parseInt</a:t>
            </a:r>
            <a:r>
              <a:rPr lang="en-IN" dirty="0">
                <a:solidFill>
                  <a:schemeClr val="tx1"/>
                </a:solidFill>
              </a:rPr>
              <a:t> not </a:t>
            </a:r>
            <a:r>
              <a:rPr lang="en-IN" b="1" dirty="0" err="1">
                <a:solidFill>
                  <a:srgbClr val="FF0000"/>
                </a:solidFill>
              </a:rPr>
              <a:t>parseInteger</a:t>
            </a:r>
            <a:endParaRPr lang="en-US" b="1" dirty="0">
              <a:solidFill>
                <a:srgbClr val="FF0000"/>
              </a:solidFill>
            </a:endParaRPr>
          </a:p>
        </p:txBody>
      </p:sp>
    </p:spTree>
    <p:extLst>
      <p:ext uri="{BB962C8B-B14F-4D97-AF65-F5344CB8AC3E}">
        <p14:creationId xmlns:p14="http://schemas.microsoft.com/office/powerpoint/2010/main" val="66230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animBg="1"/>
      <p:bldP spid="5" grpId="0" animBg="1"/>
      <p:bldP spid="5"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BigInteger</a:t>
            </a:r>
            <a:r>
              <a:rPr lang="en-US" dirty="0"/>
              <a:t> and </a:t>
            </a:r>
            <a:r>
              <a:rPr lang="en-US" dirty="0" err="1"/>
              <a:t>BigDecimal</a:t>
            </a:r>
            <a:endParaRPr lang="en-US" dirty="0"/>
          </a:p>
        </p:txBody>
      </p:sp>
      <p:sp>
        <p:nvSpPr>
          <p:cNvPr id="3" name="Content Placeholder 2"/>
          <p:cNvSpPr>
            <a:spLocks noGrp="1"/>
          </p:cNvSpPr>
          <p:nvPr>
            <p:ph idx="1"/>
          </p:nvPr>
        </p:nvSpPr>
        <p:spPr/>
        <p:txBody>
          <a:bodyPr/>
          <a:lstStyle/>
          <a:p>
            <a:r>
              <a:rPr lang="en-US" dirty="0"/>
              <a:t>The </a:t>
            </a:r>
            <a:r>
              <a:rPr lang="en-US" b="1" dirty="0" err="1"/>
              <a:t>BigInteger</a:t>
            </a:r>
            <a:r>
              <a:rPr lang="en-US" dirty="0"/>
              <a:t> class found in </a:t>
            </a:r>
            <a:r>
              <a:rPr lang="en-US" dirty="0" err="1">
                <a:latin typeface="Consolas" panose="020B0609020204030204" pitchFamily="49" charset="0"/>
              </a:rPr>
              <a:t>java.math</a:t>
            </a:r>
            <a:r>
              <a:rPr lang="en-US" dirty="0"/>
              <a:t> package is used for mathematical operation which involves very big integer calculations that are outside the limit of all available primitive data types. </a:t>
            </a:r>
          </a:p>
          <a:p>
            <a:pPr lvl="1"/>
            <a:r>
              <a:rPr lang="en-US" sz="2200" dirty="0"/>
              <a:t>For example factorial of 100 contains 158 digits in it so we can’t store it in any primitive data type available.</a:t>
            </a:r>
          </a:p>
          <a:p>
            <a:pPr lvl="1"/>
            <a:r>
              <a:rPr lang="en-US" sz="2200" dirty="0"/>
              <a:t>There is no theoretical limit on the upper bound of the range because memory is allocated dynamically.</a:t>
            </a:r>
          </a:p>
        </p:txBody>
      </p:sp>
      <p:sp>
        <p:nvSpPr>
          <p:cNvPr id="4" name="Rectangle 3"/>
          <p:cNvSpPr/>
          <p:nvPr/>
        </p:nvSpPr>
        <p:spPr>
          <a:xfrm>
            <a:off x="1897890" y="3380965"/>
            <a:ext cx="8396219" cy="3139321"/>
          </a:xfrm>
          <a:prstGeom prst="rect">
            <a:avLst/>
          </a:prstGeom>
          <a:ln w="19050">
            <a:solidFill>
              <a:schemeClr val="accent1"/>
            </a:solidFill>
            <a:prstDash val="dash"/>
          </a:ln>
        </p:spPr>
        <p:txBody>
          <a:bodyPr wrap="square">
            <a:spAutoFit/>
          </a:bodyPr>
          <a:lstStyle/>
          <a:p>
            <a:r>
              <a:rPr lang="en-US" sz="2200" b="1" dirty="0">
                <a:solidFill>
                  <a:srgbClr val="7F0055"/>
                </a:solidFill>
              </a:rPr>
              <a:t>import</a:t>
            </a:r>
            <a:r>
              <a:rPr lang="en-US" sz="2200" b="1" dirty="0">
                <a:solidFill>
                  <a:srgbClr val="000000"/>
                </a:solidFill>
              </a:rPr>
              <a:t> </a:t>
            </a:r>
            <a:r>
              <a:rPr lang="en-US" sz="2200" b="1" dirty="0" err="1">
                <a:solidFill>
                  <a:srgbClr val="000000"/>
                </a:solidFill>
              </a:rPr>
              <a:t>java.math.BigInteger</a:t>
            </a:r>
            <a:r>
              <a:rPr lang="en-US" sz="2200" b="1" dirty="0">
                <a:solidFill>
                  <a:srgbClr val="000000"/>
                </a:solidFill>
              </a:rPr>
              <a:t>;</a:t>
            </a:r>
            <a:endParaRPr lang="en-US" sz="2200" dirty="0"/>
          </a:p>
          <a:p>
            <a:r>
              <a:rPr lang="en-US" sz="2200" b="1" dirty="0">
                <a:solidFill>
                  <a:srgbClr val="7F0055"/>
                </a:solidFill>
              </a:rPr>
              <a:t>public</a:t>
            </a:r>
            <a:r>
              <a:rPr lang="en-US" sz="2200" b="1" dirty="0">
                <a:solidFill>
                  <a:srgbClr val="000000"/>
                </a:solidFill>
              </a:rPr>
              <a:t> </a:t>
            </a:r>
            <a:r>
              <a:rPr lang="en-US" sz="2200" b="1" dirty="0">
                <a:solidFill>
                  <a:srgbClr val="7F0055"/>
                </a:solidFill>
              </a:rPr>
              <a:t>class</a:t>
            </a:r>
            <a:r>
              <a:rPr lang="en-US" sz="2200" b="1" dirty="0">
                <a:solidFill>
                  <a:srgbClr val="000000"/>
                </a:solidFill>
              </a:rPr>
              <a:t> </a:t>
            </a:r>
            <a:r>
              <a:rPr lang="en-US" sz="2200" b="1" dirty="0" err="1">
                <a:solidFill>
                  <a:srgbClr val="000000"/>
                </a:solidFill>
              </a:rPr>
              <a:t>DemoBigNumbers</a:t>
            </a:r>
            <a:r>
              <a:rPr lang="en-US" sz="2200" b="1" dirty="0">
                <a:solidFill>
                  <a:srgbClr val="000000"/>
                </a:solidFill>
              </a:rPr>
              <a:t> {</a:t>
            </a:r>
          </a:p>
          <a:p>
            <a:pPr lvl="1"/>
            <a:r>
              <a:rPr lang="en-US" sz="2200" b="1" dirty="0">
                <a:solidFill>
                  <a:srgbClr val="7F0055"/>
                </a:solidFill>
              </a:rPr>
              <a:t>public</a:t>
            </a:r>
            <a:r>
              <a:rPr lang="en-US" sz="2200" b="1" dirty="0">
                <a:solidFill>
                  <a:srgbClr val="000000"/>
                </a:solidFill>
              </a:rPr>
              <a:t> </a:t>
            </a:r>
            <a:r>
              <a:rPr lang="en-US" sz="2200" b="1" dirty="0">
                <a:solidFill>
                  <a:srgbClr val="7F0055"/>
                </a:solidFill>
              </a:rPr>
              <a:t>static</a:t>
            </a:r>
            <a:r>
              <a:rPr lang="en-US" sz="2200" b="1" dirty="0">
                <a:solidFill>
                  <a:srgbClr val="000000"/>
                </a:solidFill>
              </a:rPr>
              <a:t> </a:t>
            </a:r>
            <a:r>
              <a:rPr lang="en-US" sz="2200" b="1" dirty="0">
                <a:solidFill>
                  <a:srgbClr val="7F0055"/>
                </a:solidFill>
              </a:rPr>
              <a:t>void</a:t>
            </a:r>
            <a:r>
              <a:rPr lang="en-US" sz="2200" b="1" dirty="0">
                <a:solidFill>
                  <a:srgbClr val="000000"/>
                </a:solidFill>
              </a:rPr>
              <a:t> main(String[] </a:t>
            </a:r>
            <a:r>
              <a:rPr lang="en-US" sz="2200" b="1" dirty="0" err="1">
                <a:solidFill>
                  <a:srgbClr val="6A3E3E"/>
                </a:solidFill>
              </a:rPr>
              <a:t>args</a:t>
            </a:r>
            <a:r>
              <a:rPr lang="en-US" sz="2200" b="1" dirty="0">
                <a:solidFill>
                  <a:srgbClr val="000000"/>
                </a:solidFill>
              </a:rPr>
              <a:t>) {</a:t>
            </a:r>
          </a:p>
          <a:p>
            <a:pPr lvl="2"/>
            <a:r>
              <a:rPr lang="en-US" sz="2200" dirty="0" err="1">
                <a:solidFill>
                  <a:srgbClr val="000000"/>
                </a:solidFill>
              </a:rPr>
              <a:t>BigInteger</a:t>
            </a:r>
            <a:r>
              <a:rPr lang="en-US" sz="2200" dirty="0">
                <a:solidFill>
                  <a:srgbClr val="000000"/>
                </a:solidFill>
              </a:rPr>
              <a:t> </a:t>
            </a:r>
            <a:r>
              <a:rPr lang="en-US" sz="2200" dirty="0">
                <a:solidFill>
                  <a:srgbClr val="6A3E3E"/>
                </a:solidFill>
              </a:rPr>
              <a:t>bi</a:t>
            </a:r>
            <a:r>
              <a:rPr lang="en-US" sz="2200" dirty="0">
                <a:solidFill>
                  <a:srgbClr val="000000"/>
                </a:solidFill>
              </a:rPr>
              <a:t> = </a:t>
            </a:r>
            <a:r>
              <a:rPr lang="en-US" sz="2200" b="1" dirty="0">
                <a:solidFill>
                  <a:srgbClr val="7F0055"/>
                </a:solidFill>
              </a:rPr>
              <a:t>new</a:t>
            </a:r>
            <a:r>
              <a:rPr lang="en-US" sz="2200" b="1" dirty="0">
                <a:solidFill>
                  <a:srgbClr val="000000"/>
                </a:solidFill>
              </a:rPr>
              <a:t> </a:t>
            </a:r>
            <a:r>
              <a:rPr lang="en-US" sz="2200" b="1" dirty="0" err="1">
                <a:solidFill>
                  <a:srgbClr val="000000"/>
                </a:solidFill>
              </a:rPr>
              <a:t>BigInteger</a:t>
            </a:r>
            <a:r>
              <a:rPr lang="en-US" sz="2200" b="1" dirty="0">
                <a:solidFill>
                  <a:srgbClr val="000000"/>
                </a:solidFill>
              </a:rPr>
              <a:t>(</a:t>
            </a:r>
            <a:r>
              <a:rPr lang="en-US" sz="2200" b="1" dirty="0">
                <a:solidFill>
                  <a:srgbClr val="2A00FF"/>
                </a:solidFill>
              </a:rPr>
              <a:t>"1234567891234567891234567890"</a:t>
            </a:r>
            <a:r>
              <a:rPr lang="en-US" sz="2200" b="1" dirty="0">
                <a:solidFill>
                  <a:srgbClr val="000000"/>
                </a:solidFill>
              </a:rPr>
              <a:t>);</a:t>
            </a:r>
          </a:p>
          <a:p>
            <a:pPr lvl="2"/>
            <a:r>
              <a:rPr lang="en-US" sz="2200" dirty="0" err="1">
                <a:solidFill>
                  <a:srgbClr val="000000"/>
                </a:solidFill>
              </a:rPr>
              <a:t>System.</a:t>
            </a:r>
            <a:r>
              <a:rPr lang="en-US" sz="2200" b="1" i="1" dirty="0" err="1">
                <a:solidFill>
                  <a:srgbClr val="0000C0"/>
                </a:solidFill>
              </a:rPr>
              <a:t>out</a:t>
            </a:r>
            <a:r>
              <a:rPr lang="en-US" sz="2200" b="1" i="1" dirty="0" err="1">
                <a:solidFill>
                  <a:srgbClr val="000000"/>
                </a:solidFill>
              </a:rPr>
              <a:t>.println</a:t>
            </a:r>
            <a:r>
              <a:rPr lang="en-US" sz="2200" b="1" i="1" dirty="0">
                <a:solidFill>
                  <a:srgbClr val="000000"/>
                </a:solidFill>
              </a:rPr>
              <a:t>(</a:t>
            </a:r>
            <a:r>
              <a:rPr lang="en-US" sz="2200" b="1" i="1" dirty="0">
                <a:solidFill>
                  <a:srgbClr val="6A3E3E"/>
                </a:solidFill>
              </a:rPr>
              <a:t>bi</a:t>
            </a:r>
            <a:r>
              <a:rPr lang="en-US" sz="2200" b="1" i="1" dirty="0">
                <a:solidFill>
                  <a:srgbClr val="000000"/>
                </a:solidFill>
              </a:rPr>
              <a:t>); </a:t>
            </a:r>
            <a:r>
              <a:rPr lang="en-US" sz="2200" dirty="0">
                <a:solidFill>
                  <a:srgbClr val="3F7F5F"/>
                </a:solidFill>
              </a:rPr>
              <a:t>// will return 1234567891234567891234567890</a:t>
            </a:r>
            <a:endParaRPr lang="en-US" sz="2200" b="1" i="1" dirty="0">
              <a:solidFill>
                <a:srgbClr val="000000"/>
              </a:solidFill>
            </a:endParaRPr>
          </a:p>
          <a:p>
            <a:pPr lvl="1"/>
            <a:r>
              <a:rPr lang="en-US" sz="2200" dirty="0">
                <a:solidFill>
                  <a:srgbClr val="000000"/>
                </a:solidFill>
              </a:rPr>
              <a:t>}</a:t>
            </a:r>
          </a:p>
          <a:p>
            <a:r>
              <a:rPr lang="en-US" sz="2200" dirty="0">
                <a:solidFill>
                  <a:srgbClr val="000000"/>
                </a:solidFill>
              </a:rPr>
              <a:t>}</a:t>
            </a:r>
          </a:p>
        </p:txBody>
      </p:sp>
    </p:spTree>
    <p:extLst>
      <p:ext uri="{BB962C8B-B14F-4D97-AF65-F5344CB8AC3E}">
        <p14:creationId xmlns:p14="http://schemas.microsoft.com/office/powerpoint/2010/main" val="315153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bldLvl="5"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BigInteger</a:t>
            </a:r>
            <a:r>
              <a:rPr lang="en-US" dirty="0"/>
              <a:t> and </a:t>
            </a:r>
            <a:r>
              <a:rPr lang="en-US" dirty="0" err="1"/>
              <a:t>BigDecimal</a:t>
            </a:r>
            <a:endParaRPr lang="en-US" dirty="0"/>
          </a:p>
        </p:txBody>
      </p:sp>
      <p:sp>
        <p:nvSpPr>
          <p:cNvPr id="3" name="Content Placeholder 2"/>
          <p:cNvSpPr>
            <a:spLocks noGrp="1"/>
          </p:cNvSpPr>
          <p:nvPr>
            <p:ph idx="1"/>
          </p:nvPr>
        </p:nvSpPr>
        <p:spPr/>
        <p:txBody>
          <a:bodyPr/>
          <a:lstStyle/>
          <a:p>
            <a:r>
              <a:rPr lang="en-US" dirty="0"/>
              <a:t>The </a:t>
            </a:r>
            <a:r>
              <a:rPr lang="en-US" b="1" dirty="0" err="1"/>
              <a:t>BigDecimal</a:t>
            </a:r>
            <a:r>
              <a:rPr lang="en-US" dirty="0"/>
              <a:t> class found in </a:t>
            </a:r>
            <a:r>
              <a:rPr lang="en-US" dirty="0" err="1"/>
              <a:t>java.math</a:t>
            </a:r>
            <a:r>
              <a:rPr lang="en-US" dirty="0"/>
              <a:t> package provides operation for arithmetic, comparison, hashing, rounding, manipulation and format conversion. This method can handle very small and very big floating point numbers with great precision.</a:t>
            </a:r>
          </a:p>
        </p:txBody>
      </p:sp>
      <p:sp>
        <p:nvSpPr>
          <p:cNvPr id="6" name="Rectangle 5"/>
          <p:cNvSpPr/>
          <p:nvPr/>
        </p:nvSpPr>
        <p:spPr>
          <a:xfrm>
            <a:off x="525244" y="2398111"/>
            <a:ext cx="8916227" cy="769441"/>
          </a:xfrm>
          <a:prstGeom prst="rect">
            <a:avLst/>
          </a:prstGeom>
          <a:ln w="19050">
            <a:solidFill>
              <a:schemeClr val="accent1"/>
            </a:solidFill>
            <a:prstDash val="dash"/>
          </a:ln>
        </p:spPr>
        <p:txBody>
          <a:bodyPr wrap="square">
            <a:spAutoFit/>
          </a:bodyPr>
          <a:lstStyle/>
          <a:p>
            <a:r>
              <a:rPr lang="en-US" sz="2200" dirty="0" err="1">
                <a:solidFill>
                  <a:srgbClr val="000000"/>
                </a:solidFill>
              </a:rPr>
              <a:t>BigDecimal</a:t>
            </a:r>
            <a:r>
              <a:rPr lang="en-US" sz="2200" dirty="0">
                <a:solidFill>
                  <a:srgbClr val="000000"/>
                </a:solidFill>
              </a:rPr>
              <a:t> </a:t>
            </a:r>
            <a:r>
              <a:rPr lang="en-US" sz="2200" dirty="0" err="1">
                <a:solidFill>
                  <a:srgbClr val="6A3E3E"/>
                </a:solidFill>
              </a:rPr>
              <a:t>bd</a:t>
            </a:r>
            <a:r>
              <a:rPr lang="en-US" sz="2200" dirty="0">
                <a:solidFill>
                  <a:srgbClr val="000000"/>
                </a:solidFill>
              </a:rPr>
              <a:t> = </a:t>
            </a:r>
            <a:r>
              <a:rPr lang="en-US" sz="2200" b="1" dirty="0">
                <a:solidFill>
                  <a:srgbClr val="7F0055"/>
                </a:solidFill>
              </a:rPr>
              <a:t>new</a:t>
            </a:r>
            <a:r>
              <a:rPr lang="en-US" sz="2200" b="1" dirty="0">
                <a:solidFill>
                  <a:srgbClr val="000000"/>
                </a:solidFill>
              </a:rPr>
              <a:t> </a:t>
            </a:r>
            <a:r>
              <a:rPr lang="en-US" sz="2200" b="1" dirty="0" err="1">
                <a:solidFill>
                  <a:srgbClr val="000000"/>
                </a:solidFill>
              </a:rPr>
              <a:t>BigDecimal</a:t>
            </a:r>
            <a:r>
              <a:rPr lang="en-US" sz="2200" b="1" dirty="0">
                <a:solidFill>
                  <a:srgbClr val="000000"/>
                </a:solidFill>
              </a:rPr>
              <a:t>(</a:t>
            </a:r>
            <a:r>
              <a:rPr lang="en-US" sz="2200" b="1" dirty="0">
                <a:solidFill>
                  <a:srgbClr val="2A00FF"/>
                </a:solidFill>
              </a:rPr>
              <a:t>"111111.000000000000000000025"</a:t>
            </a:r>
            <a:r>
              <a:rPr lang="en-US" sz="2200" b="1" dirty="0">
                <a:solidFill>
                  <a:srgbClr val="000000"/>
                </a:solidFill>
              </a:rPr>
              <a:t>);</a:t>
            </a:r>
          </a:p>
          <a:p>
            <a:r>
              <a:rPr lang="en-US" sz="2200" dirty="0" err="1">
                <a:solidFill>
                  <a:srgbClr val="000000"/>
                </a:solidFill>
              </a:rPr>
              <a:t>System.</a:t>
            </a:r>
            <a:r>
              <a:rPr lang="en-US" sz="2200" b="1" i="1" dirty="0" err="1">
                <a:solidFill>
                  <a:srgbClr val="0000C0"/>
                </a:solidFill>
              </a:rPr>
              <a:t>out</a:t>
            </a:r>
            <a:r>
              <a:rPr lang="en-US" sz="2200" b="1" i="1" dirty="0" err="1">
                <a:solidFill>
                  <a:srgbClr val="000000"/>
                </a:solidFill>
              </a:rPr>
              <a:t>.println</a:t>
            </a:r>
            <a:r>
              <a:rPr lang="en-US" sz="2200" b="1" i="1" dirty="0">
                <a:solidFill>
                  <a:srgbClr val="000000"/>
                </a:solidFill>
              </a:rPr>
              <a:t>(</a:t>
            </a:r>
            <a:r>
              <a:rPr lang="en-US" sz="2200" b="1" i="1" dirty="0" err="1">
                <a:solidFill>
                  <a:srgbClr val="6A3E3E"/>
                </a:solidFill>
              </a:rPr>
              <a:t>bd</a:t>
            </a:r>
            <a:r>
              <a:rPr lang="en-US" sz="2200" b="1" i="1" dirty="0">
                <a:solidFill>
                  <a:srgbClr val="000000"/>
                </a:solidFill>
              </a:rPr>
              <a:t>); </a:t>
            </a:r>
            <a:r>
              <a:rPr lang="en-US" sz="2200" b="1" i="1" dirty="0">
                <a:solidFill>
                  <a:srgbClr val="3F7F5F"/>
                </a:solidFill>
              </a:rPr>
              <a:t>//111111.000000000000000000025</a:t>
            </a:r>
            <a:endParaRPr lang="en-US" sz="2200" dirty="0">
              <a:solidFill>
                <a:srgbClr val="000000"/>
              </a:solidFill>
            </a:endParaRPr>
          </a:p>
        </p:txBody>
      </p:sp>
    </p:spTree>
    <p:extLst>
      <p:ext uri="{BB962C8B-B14F-4D97-AF65-F5344CB8AC3E}">
        <p14:creationId xmlns:p14="http://schemas.microsoft.com/office/powerpoint/2010/main" val="49982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bldLvl="5"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a:t>chirag.sakhrani@darshan.ac.in</a:t>
            </a:r>
            <a:endParaRPr lang="en-US" dirty="0"/>
          </a:p>
        </p:txBody>
      </p:sp>
      <p:sp>
        <p:nvSpPr>
          <p:cNvPr id="3" name="Text Placeholder 2"/>
          <p:cNvSpPr>
            <a:spLocks noGrp="1"/>
          </p:cNvSpPr>
          <p:nvPr>
            <p:ph type="body" sz="quarter" idx="12"/>
          </p:nvPr>
        </p:nvSpPr>
        <p:spPr/>
        <p:txBody>
          <a:bodyPr/>
          <a:lstStyle/>
          <a:p>
            <a:r>
              <a:rPr lang="en-IN" dirty="0"/>
              <a:t>8401191184</a:t>
            </a:r>
            <a:endParaRPr lang="en-US" dirty="0"/>
          </a:p>
        </p:txBody>
      </p:sp>
      <p:sp>
        <p:nvSpPr>
          <p:cNvPr id="4" name="Text Placeholder 3"/>
          <p:cNvSpPr>
            <a:spLocks noGrp="1"/>
          </p:cNvSpPr>
          <p:nvPr>
            <p:ph type="body" sz="quarter" idx="13"/>
          </p:nvPr>
        </p:nvSpPr>
        <p:spPr/>
        <p:txBody>
          <a:bodyPr/>
          <a:lstStyle/>
          <a:p>
            <a:r>
              <a:rPr lang="en-US" dirty="0"/>
              <a:t>Department of Computer Applications</a:t>
            </a:r>
          </a:p>
        </p:txBody>
      </p:sp>
      <p:sp>
        <p:nvSpPr>
          <p:cNvPr id="5" name="Text Placeholder 4"/>
          <p:cNvSpPr>
            <a:spLocks noGrp="1"/>
          </p:cNvSpPr>
          <p:nvPr>
            <p:ph type="body" sz="quarter" idx="14"/>
          </p:nvPr>
        </p:nvSpPr>
        <p:spPr/>
        <p:txBody>
          <a:bodyPr/>
          <a:lstStyle/>
          <a:p>
            <a:r>
              <a:rPr lang="en-IN" dirty="0"/>
              <a:t>Prof. </a:t>
            </a:r>
            <a:r>
              <a:rPr lang="en-IN" dirty="0" err="1"/>
              <a:t>Chirag</a:t>
            </a:r>
            <a:r>
              <a:rPr lang="en-IN" dirty="0"/>
              <a:t> K </a:t>
            </a:r>
            <a:r>
              <a:rPr lang="en-IN" dirty="0" err="1"/>
              <a:t>Sakhrani</a:t>
            </a:r>
            <a:endParaRPr lang="en-US" dirty="0"/>
          </a:p>
        </p:txBody>
      </p:sp>
      <p:sp>
        <p:nvSpPr>
          <p:cNvPr id="6" name="Text Placeholder 5"/>
          <p:cNvSpPr>
            <a:spLocks noGrp="1"/>
          </p:cNvSpPr>
          <p:nvPr>
            <p:ph type="body" sz="quarter" idx="16"/>
          </p:nvPr>
        </p:nvSpPr>
        <p:spPr/>
        <p:txBody>
          <a:bodyPr/>
          <a:lstStyle/>
          <a:p>
            <a:r>
              <a:rPr lang="en-US" dirty="0"/>
              <a:t>Object Oriented Programming using Java </a:t>
            </a:r>
            <a:r>
              <a:rPr lang="en-IN" dirty="0"/>
              <a:t>(</a:t>
            </a:r>
            <a:r>
              <a:rPr lang="en-US" dirty="0"/>
              <a:t>2304CS302</a:t>
            </a:r>
            <a:r>
              <a:rPr lang="en-IN" dirty="0"/>
              <a:t>)</a:t>
            </a:r>
            <a:endParaRPr lang="en-US" dirty="0"/>
          </a:p>
        </p:txBody>
      </p:sp>
      <p:pic>
        <p:nvPicPr>
          <p:cNvPr id="10" name="Picture Placeholder 9"/>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12189917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0.8|1.2"/>
</p:tagLst>
</file>

<file path=ppt/tags/tag2.xml><?xml version="1.0" encoding="utf-8"?>
<p:tagLst xmlns:a="http://schemas.openxmlformats.org/drawingml/2006/main" xmlns:r="http://schemas.openxmlformats.org/officeDocument/2006/relationships" xmlns:p="http://schemas.openxmlformats.org/presentationml/2006/main">
  <p:tag name="TIMING" val="|2.8|0.8|1.5|1.7|0.9|1.4|1.6|0.8|2|2.1"/>
</p:tagLst>
</file>

<file path=ppt/tags/tag3.xml><?xml version="1.0" encoding="utf-8"?>
<p:tagLst xmlns:a="http://schemas.openxmlformats.org/drawingml/2006/main" xmlns:r="http://schemas.openxmlformats.org/officeDocument/2006/relationships" xmlns:p="http://schemas.openxmlformats.org/presentationml/2006/main">
  <p:tag name="TIMING" val="|1.6|1.2|1.1|1.1"/>
</p:tagLst>
</file>

<file path=ppt/tags/tag4.xml><?xml version="1.0" encoding="utf-8"?>
<p:tagLst xmlns:a="http://schemas.openxmlformats.org/drawingml/2006/main" xmlns:r="http://schemas.openxmlformats.org/officeDocument/2006/relationships" xmlns:p="http://schemas.openxmlformats.org/presentationml/2006/main">
  <p:tag name="TIMING" val="|0.6|0.4|0.3"/>
</p:tagLst>
</file>

<file path=ppt/tags/tag5.xml><?xml version="1.0" encoding="utf-8"?>
<p:tagLst xmlns:a="http://schemas.openxmlformats.org/drawingml/2006/main" xmlns:r="http://schemas.openxmlformats.org/officeDocument/2006/relationships" xmlns:p="http://schemas.openxmlformats.org/presentationml/2006/main">
  <p:tag name="TIMING" val="|0.6|0.4|0.3"/>
</p:tagLst>
</file>

<file path=ppt/tags/tag6.xml><?xml version="1.0" encoding="utf-8"?>
<p:tagLst xmlns:a="http://schemas.openxmlformats.org/drawingml/2006/main" xmlns:r="http://schemas.openxmlformats.org/officeDocument/2006/relationships" xmlns:p="http://schemas.openxmlformats.org/presentationml/2006/main">
  <p:tag name="TIMING" val="|0.6|0.4|0.3"/>
</p:tagLst>
</file>

<file path=ppt/tags/tag7.xml><?xml version="1.0" encoding="utf-8"?>
<p:tagLst xmlns:a="http://schemas.openxmlformats.org/drawingml/2006/main" xmlns:r="http://schemas.openxmlformats.org/officeDocument/2006/relationships" xmlns:p="http://schemas.openxmlformats.org/presentationml/2006/main">
  <p:tag name="TIMING" val="|0.6|0.4|0.3"/>
</p:tagLst>
</file>

<file path=ppt/tags/tag8.xml><?xml version="1.0" encoding="utf-8"?>
<p:tagLst xmlns:a="http://schemas.openxmlformats.org/drawingml/2006/main" xmlns:r="http://schemas.openxmlformats.org/officeDocument/2006/relationships" xmlns:p="http://schemas.openxmlformats.org/presentationml/2006/main">
  <p:tag name="TIMING" val="|0.4|0.2|0.2|0.2"/>
</p:tagLst>
</file>

<file path=ppt/tags/tag9.xml><?xml version="1.0" encoding="utf-8"?>
<p:tagLst xmlns:a="http://schemas.openxmlformats.org/drawingml/2006/main" xmlns:r="http://schemas.openxmlformats.org/officeDocument/2006/relationships" xmlns:p="http://schemas.openxmlformats.org/presentationml/2006/main">
  <p:tag name="TIMING" val="|0.4|0.2|0.2|0.2"/>
</p:tagLst>
</file>

<file path=ppt/tags/tag10.xml><?xml version="1.0" encoding="utf-8"?>
<p:tagLst xmlns:a="http://schemas.openxmlformats.org/drawingml/2006/main" xmlns:r="http://schemas.openxmlformats.org/officeDocument/2006/relationships" xmlns:p="http://schemas.openxmlformats.org/presentationml/2006/main">
  <p:tag name="TIMING" val="|0.4|0.2|0.2|0.2"/>
</p:tagLst>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6787</TotalTime>
  <Words>4470</Words>
  <Application>Microsoft Office PowerPoint</Application>
  <PresentationFormat>Widescreen</PresentationFormat>
  <Paragraphs>773</Paragraphs>
  <Slides>54</Slides>
  <Notes>6</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54</vt:i4>
      </vt:variant>
    </vt:vector>
  </HeadingPairs>
  <TitlesOfParts>
    <vt:vector size="70" baseType="lpstr">
      <vt:lpstr>Wingdings 2</vt:lpstr>
      <vt:lpstr>Segoe UI Black</vt:lpstr>
      <vt:lpstr>Courier New</vt:lpstr>
      <vt:lpstr>Roboto Condensed Light</vt:lpstr>
      <vt:lpstr>Times New Roman</vt:lpstr>
      <vt:lpstr>Wingdings</vt:lpstr>
      <vt:lpstr>Calibri</vt:lpstr>
      <vt:lpstr>Consolas</vt:lpstr>
      <vt:lpstr>Roboto Condensed</vt:lpstr>
      <vt:lpstr>Arial</vt:lpstr>
      <vt:lpstr>Cambria</vt:lpstr>
      <vt:lpstr>Wingdings 3</vt:lpstr>
      <vt:lpstr>Shruti</vt:lpstr>
      <vt:lpstr>Office Theme</vt:lpstr>
      <vt:lpstr>1_Office Theme</vt:lpstr>
      <vt:lpstr>Document</vt:lpstr>
      <vt:lpstr>Unit-03  Object Oriented Programming</vt:lpstr>
      <vt:lpstr>PowerPoint Presentation</vt:lpstr>
      <vt:lpstr>Class</vt:lpstr>
      <vt:lpstr>Class</vt:lpstr>
      <vt:lpstr>Car Class</vt:lpstr>
      <vt:lpstr>Object</vt:lpstr>
      <vt:lpstr>Object</vt:lpstr>
      <vt:lpstr>Objects of Class Bird</vt:lpstr>
      <vt:lpstr>Objects of Class Car</vt:lpstr>
      <vt:lpstr>Class</vt:lpstr>
      <vt:lpstr>Rectangle Class</vt:lpstr>
      <vt:lpstr>Attributes and operations</vt:lpstr>
      <vt:lpstr>Procedural Vs. Object Oriented Programming</vt:lpstr>
      <vt:lpstr>Procedural Vs. Object Oriented Programming</vt:lpstr>
      <vt:lpstr>OOPs Concept</vt:lpstr>
      <vt:lpstr>Encapsulation</vt:lpstr>
      <vt:lpstr>Encapsulation</vt:lpstr>
      <vt:lpstr>Abstraction</vt:lpstr>
      <vt:lpstr>Abstraction</vt:lpstr>
      <vt:lpstr>Polymorphism</vt:lpstr>
      <vt:lpstr>Polymorphism</vt:lpstr>
      <vt:lpstr>Inheritance</vt:lpstr>
      <vt:lpstr>Inheritance</vt:lpstr>
      <vt:lpstr>Another Example of Inheritance</vt:lpstr>
      <vt:lpstr>Nested Class</vt:lpstr>
      <vt:lpstr>Nested Class</vt:lpstr>
      <vt:lpstr>Nested Class </vt:lpstr>
      <vt:lpstr>Inner classes</vt:lpstr>
      <vt:lpstr>String Class</vt:lpstr>
      <vt:lpstr>String Initialization</vt:lpstr>
      <vt:lpstr>String Immutability</vt:lpstr>
      <vt:lpstr>String Methods — length, charAt</vt:lpstr>
      <vt:lpstr>String Methods — substring</vt:lpstr>
      <vt:lpstr>String Methods — Concatenation</vt:lpstr>
      <vt:lpstr>String Methods — Find (indexOf)</vt:lpstr>
      <vt:lpstr>String Methods — Equality</vt:lpstr>
      <vt:lpstr>String Methods — Comparisons</vt:lpstr>
      <vt:lpstr>Comparison Examples</vt:lpstr>
      <vt:lpstr>String Methods — trim &amp; replace</vt:lpstr>
      <vt:lpstr>String Methods — Changing Case</vt:lpstr>
      <vt:lpstr>StringBuffer</vt:lpstr>
      <vt:lpstr>StringBuffer Methods</vt:lpstr>
      <vt:lpstr>StringBuffer Methods</vt:lpstr>
      <vt:lpstr>Math class</vt:lpstr>
      <vt:lpstr>Methods of class Math (Basic)</vt:lpstr>
      <vt:lpstr>Methods of class Math (Logarithmic, Angular)</vt:lpstr>
      <vt:lpstr>Methods of class Math (Trigonometric, Hyperbolic)</vt:lpstr>
      <vt:lpstr>Math Example</vt:lpstr>
      <vt:lpstr>Wrapper classes</vt:lpstr>
      <vt:lpstr>Wrapper classes (Cont.)</vt:lpstr>
      <vt:lpstr>Parsing the String</vt:lpstr>
      <vt:lpstr>BigInteger and BigDecimal</vt:lpstr>
      <vt:lpstr>BigInteger and BigDecimal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1172</cp:revision>
  <dcterms:created xsi:type="dcterms:W3CDTF">2020-05-01T05:09:15Z</dcterms:created>
  <dcterms:modified xsi:type="dcterms:W3CDTF">2025-07-22T05:26:54Z</dcterms:modified>
</cp:coreProperties>
</file>