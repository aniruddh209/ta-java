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92" r:id="rId2"/>
  </p:sldMasterIdLst>
  <p:notesMasterIdLst>
    <p:notesMasterId r:id="rId49"/>
  </p:notesMasterIdLst>
  <p:handoutMasterIdLst>
    <p:handoutMasterId r:id="rId50"/>
  </p:handoutMasterIdLst>
  <p:sldIdLst>
    <p:sldId id="308" r:id="rId3"/>
    <p:sldId id="470" r:id="rId4"/>
    <p:sldId id="426" r:id="rId5"/>
    <p:sldId id="431" r:id="rId6"/>
    <p:sldId id="430" r:id="rId7"/>
    <p:sldId id="429" r:id="rId8"/>
    <p:sldId id="428" r:id="rId9"/>
    <p:sldId id="433" r:id="rId10"/>
    <p:sldId id="432" r:id="rId11"/>
    <p:sldId id="435" r:id="rId12"/>
    <p:sldId id="436" r:id="rId13"/>
    <p:sldId id="442" r:id="rId14"/>
    <p:sldId id="443" r:id="rId15"/>
    <p:sldId id="441" r:id="rId16"/>
    <p:sldId id="440" r:id="rId17"/>
    <p:sldId id="439" r:id="rId18"/>
    <p:sldId id="438" r:id="rId19"/>
    <p:sldId id="447" r:id="rId20"/>
    <p:sldId id="446" r:id="rId21"/>
    <p:sldId id="445" r:id="rId22"/>
    <p:sldId id="444" r:id="rId23"/>
    <p:sldId id="437" r:id="rId24"/>
    <p:sldId id="449" r:id="rId25"/>
    <p:sldId id="448" r:id="rId26"/>
    <p:sldId id="434" r:id="rId27"/>
    <p:sldId id="457" r:id="rId28"/>
    <p:sldId id="456" r:id="rId29"/>
    <p:sldId id="455" r:id="rId30"/>
    <p:sldId id="454" r:id="rId31"/>
    <p:sldId id="453" r:id="rId32"/>
    <p:sldId id="452" r:id="rId33"/>
    <p:sldId id="451" r:id="rId34"/>
    <p:sldId id="450" r:id="rId35"/>
    <p:sldId id="460" r:id="rId36"/>
    <p:sldId id="459" r:id="rId37"/>
    <p:sldId id="458" r:id="rId38"/>
    <p:sldId id="463" r:id="rId39"/>
    <p:sldId id="462" r:id="rId40"/>
    <p:sldId id="464" r:id="rId41"/>
    <p:sldId id="461" r:id="rId42"/>
    <p:sldId id="427" r:id="rId43"/>
    <p:sldId id="467" r:id="rId44"/>
    <p:sldId id="468" r:id="rId45"/>
    <p:sldId id="466" r:id="rId46"/>
    <p:sldId id="469" r:id="rId47"/>
    <p:sldId id="358" r:id="rId48"/>
  </p:sldIdLst>
  <p:sldSz cx="12192000" cy="6858000"/>
  <p:notesSz cx="6858000" cy="9144000"/>
  <p:embeddedFontLst>
    <p:embeddedFont>
      <p:font typeface="Calibri" panose="020F0502020204030204" pitchFamily="34" charset="0"/>
      <p:regular r:id="rId51"/>
      <p:bold r:id="rId52"/>
      <p:italic r:id="rId53"/>
      <p:boldItalic r:id="rId54"/>
    </p:embeddedFont>
    <p:embeddedFont>
      <p:font typeface="Consolas" panose="020B0609020204030204" pitchFamily="49" charset="0"/>
      <p:regular r:id="rId55"/>
      <p:bold r:id="rId56"/>
      <p:italic r:id="rId57"/>
      <p:boldItalic r:id="rId58"/>
    </p:embeddedFont>
    <p:embeddedFont>
      <p:font typeface="Segoe UI Black" panose="020B0A02040204020203" pitchFamily="34" charset="0"/>
      <p:bold r:id="rId59"/>
      <p:boldItalic r:id="rId60"/>
    </p:embeddedFont>
    <p:embeddedFont>
      <p:font typeface="Times" panose="02020603050405020304" pitchFamily="18" charset="0"/>
      <p:regular r:id="rId61"/>
      <p:bold r:id="rId62"/>
      <p:italic r:id="rId63"/>
      <p:boldItalic r:id="rId64"/>
    </p:embeddedFont>
    <p:embeddedFont>
      <p:font typeface="Wingdings 3" panose="05040102010807070707" pitchFamily="18" charset="2"/>
      <p:regular r:id="rId65"/>
    </p:embeddedFont>
    <p:embeddedFont>
      <p:font typeface="Roboto Condensed" panose="02000000000000000000" pitchFamily="2" charset="0"/>
      <p:regular r:id="rId66"/>
      <p:bold r:id="rId67"/>
      <p:italic r:id="rId68"/>
      <p:boldItalic r:id="rId69"/>
    </p:embeddedFont>
    <p:embeddedFont>
      <p:font typeface="Wingdings 2" panose="05020102010507070707" pitchFamily="18" charset="2"/>
      <p:regular r:id="rId70"/>
    </p:embeddedFont>
    <p:embeddedFont>
      <p:font typeface="Roboto Condensed Light" panose="02000000000000000000" pitchFamily="2" charset="0"/>
      <p:regular r:id="rId71"/>
      <p:italic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jHupmbJo5MinoDKfuwfuow==" hashData="T3V/xpFPGLiwMLUOWCZ1L9diqxN+IJJXTGcUbE/w3D56mL0ZwMhO901q+qGrkiEfiqRFTs5nSqSt5ryaf1pDcw=="/>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ED524F"/>
    <a:srgbClr val="301B92"/>
    <a:srgbClr val="673BB7"/>
    <a:srgbClr val="607D8B"/>
    <a:srgbClr val="B71B1C"/>
    <a:srgbClr val="F54337"/>
    <a:srgbClr val="D81A60"/>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59" autoAdjust="0"/>
    <p:restoredTop sz="96404" autoAdjust="0"/>
  </p:normalViewPr>
  <p:slideViewPr>
    <p:cSldViewPr snapToGrid="0">
      <p:cViewPr varScale="1">
        <p:scale>
          <a:sx n="79" d="100"/>
          <a:sy n="79" d="100"/>
        </p:scale>
        <p:origin x="108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187"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3.fntdata"/><Relationship Id="rId68" Type="http://schemas.openxmlformats.org/officeDocument/2006/relationships/font" Target="fonts/font18.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font" Target="fonts/font11.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8" Type="http://schemas.openxmlformats.org/officeDocument/2006/relationships/slide" Target="slides/slide6.xml"/><Relationship Id="rId51" Type="http://schemas.openxmlformats.org/officeDocument/2006/relationships/font" Target="fonts/font1.fntdata"/><Relationship Id="rId72" Type="http://schemas.openxmlformats.org/officeDocument/2006/relationships/font" Target="fonts/font2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57" Type="http://schemas.openxmlformats.org/officeDocument/2006/relationships/font" Target="fonts/font7.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handoutMaster" Target="handoutMasters/handoutMaster1.xml"/><Relationship Id="rId55" Type="http://schemas.openxmlformats.org/officeDocument/2006/relationships/font" Target="fonts/font5.fntdata"/><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font" Target="fonts/font2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CB8B648-81D7-4B97-BE43-C82A41EFF624}" type="datetimeFigureOut">
              <a:rPr lang="en-US" smtClean="0"/>
              <a:t>9/1/2025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E14FB9-2BAE-423A-AD69-78200BE88C93}" type="slidenum">
              <a:rPr lang="en-US" smtClean="0"/>
              <a:t>‹#›</a:t>
            </a:fld>
            <a:endParaRPr lang="en-US"/>
          </a:p>
        </p:txBody>
      </p:sp>
    </p:spTree>
    <p:extLst>
      <p:ext uri="{BB962C8B-B14F-4D97-AF65-F5344CB8AC3E}">
        <p14:creationId xmlns:p14="http://schemas.microsoft.com/office/powerpoint/2010/main" val="1389690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9/1/2025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3.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4.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11" Type="http://schemas.openxmlformats.org/officeDocument/2006/relationships/image" Target="../media/image9.jpeg"/><Relationship Id="rId5" Type="http://schemas.openxmlformats.org/officeDocument/2006/relationships/image" Target="../media/image15.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14.jpe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Chirag</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2304CS523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(JavaScript Frameworks)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454199" y="6612110"/>
            <a:ext cx="52835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#2304CS302 (OOPJ)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04 – Inheritance and Abstraction</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2304CS523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(JavaScript Frameworks)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Chirag</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2304CS523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(JavaScript Frameworks)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2105CS204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2105CS204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Darshan Institute of Computer Applications , Rajkot</a:t>
            </a:r>
          </a:p>
          <a:p>
            <a:endParaRPr lang="en-US" sz="1600" dirty="0"/>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129420851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264298465"/>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5521596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2104CS512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(JSF)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1848502"/>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1495876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374685313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0978197"/>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00009926"/>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028422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520867"/>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12720573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17426888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117097230"/>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810899029"/>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338554"/>
          </a:xfrm>
          <a:prstGeom prst="rect">
            <a:avLst/>
          </a:prstGeom>
          <a:noFill/>
        </p:spPr>
        <p:txBody>
          <a:bodyPr wrap="none" rtlCol="0">
            <a:spAutoFit/>
          </a:bodyPr>
          <a:lstStyle/>
          <a:p>
            <a:r>
              <a:rPr lang="en-US" sz="1600" dirty="0"/>
              <a:t>Darshan Institute of Computer Applications ,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5" name="Picture 4">
            <a:extLst>
              <a:ext uri="{FF2B5EF4-FFF2-40B4-BE49-F238E27FC236}">
                <a16:creationId xmlns:a16="http://schemas.microsoft.com/office/drawing/2014/main" id="{7CCC06F6-21AB-DA1A-AA70-A3E11D1BE30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644474" y="1609868"/>
            <a:ext cx="2116066" cy="2116066"/>
          </a:xfrm>
          <a:prstGeom prst="rect">
            <a:avLst/>
          </a:prstGeom>
        </p:spPr>
      </p:pic>
    </p:spTree>
    <p:extLst>
      <p:ext uri="{BB962C8B-B14F-4D97-AF65-F5344CB8AC3E}">
        <p14:creationId xmlns:p14="http://schemas.microsoft.com/office/powerpoint/2010/main" val="1367730656"/>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977840071"/>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226103874"/>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440435433"/>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289549701"/>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105606558"/>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109134326"/>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499073365"/>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Darshan Institute of Computer Applications , Rajkot</a:t>
            </a:r>
          </a:p>
          <a:p>
            <a:endParaRPr lang="en-US" sz="1600" dirty="0"/>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369990358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9/1/2025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715"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9/1/2025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350828334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chirag.sakhrani@darshan.ac.in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a:t>8401191184</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US" dirty="0"/>
              <a:t>Department of Computer Applications</a:t>
            </a:r>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a:t>
            </a:r>
            <a:r>
              <a:rPr lang="en-IN" dirty="0" err="1"/>
              <a:t>Chirag</a:t>
            </a:r>
            <a:r>
              <a:rPr lang="en-IN" dirty="0"/>
              <a:t> K </a:t>
            </a:r>
            <a:r>
              <a:rPr lang="en-IN" dirty="0" err="1"/>
              <a:t>Sakhrani</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US" dirty="0"/>
              <a:t>Object Oriented Programming using Java </a:t>
            </a:r>
            <a:r>
              <a:rPr lang="en-IN" dirty="0"/>
              <a:t>(</a:t>
            </a:r>
            <a:r>
              <a:rPr lang="en-US" dirty="0"/>
              <a:t>2304CS302</a:t>
            </a:r>
            <a:r>
              <a:rPr lang="en-IN" dirty="0"/>
              <a:t>)</a:t>
            </a:r>
            <a:endParaRPr lang="en-US" dirty="0"/>
          </a:p>
        </p:txBody>
      </p:sp>
      <p:pic>
        <p:nvPicPr>
          <p:cNvPr id="16" name="Picture Placeholder 15"/>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53569" y="5197789"/>
            <a:ext cx="1353599" cy="1353599"/>
          </a:xfrm>
        </p:spPr>
      </p:pic>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794508" y="997890"/>
            <a:ext cx="7582576" cy="2578780"/>
          </a:xfrm>
        </p:spPr>
        <p:txBody>
          <a:bodyPr/>
          <a:lstStyle/>
          <a:p>
            <a:r>
              <a:rPr lang="en-US" sz="4800" b="0" dirty="0">
                <a:latin typeface="Roboto Condensed Light" panose="02000000000000000000" pitchFamily="2" charset="0"/>
                <a:ea typeface="Roboto Condensed Light" panose="02000000000000000000" pitchFamily="2" charset="0"/>
              </a:rPr>
              <a:t>Unit-04</a:t>
            </a:r>
            <a:r>
              <a:rPr lang="en-US" dirty="0"/>
              <a:t> </a:t>
            </a:r>
            <a:br>
              <a:rPr lang="en-US" dirty="0"/>
            </a:br>
            <a:r>
              <a:rPr lang="en-IN" dirty="0"/>
              <a:t>Inheritance and Abstraction</a:t>
            </a:r>
            <a:endParaRPr lang="en-US" dirty="0"/>
          </a:p>
        </p:txBody>
      </p:sp>
      <p:sp>
        <p:nvSpPr>
          <p:cNvPr id="4" name="TextBox 3">
            <a:extLst>
              <a:ext uri="{FF2B5EF4-FFF2-40B4-BE49-F238E27FC236}">
                <a16:creationId xmlns:a16="http://schemas.microsoft.com/office/drawing/2014/main" id="{9166C5B6-CA7E-D20E-2548-87ACCB95BDD8}"/>
              </a:ext>
            </a:extLst>
          </p:cNvPr>
          <p:cNvSpPr txBox="1"/>
          <p:nvPr/>
        </p:nvSpPr>
        <p:spPr>
          <a:xfrm>
            <a:off x="794508" y="4144065"/>
            <a:ext cx="8949260" cy="769441"/>
          </a:xfrm>
          <a:prstGeom prst="rect">
            <a:avLst/>
          </a:prstGeom>
          <a:noFill/>
        </p:spPr>
        <p:txBody>
          <a:bodyPr wrap="square">
            <a:spAutoFit/>
          </a:bodyPr>
          <a:lstStyle/>
          <a:p>
            <a:r>
              <a:rPr lang="en-US" sz="2200" b="1" i="1" dirty="0">
                <a:effectLst/>
              </a:rPr>
              <a:t>CO4 : At the end of this course, students will be able to,</a:t>
            </a:r>
          </a:p>
          <a:p>
            <a:r>
              <a:rPr lang="en-US" sz="2200" dirty="0"/>
              <a:t>          execute the concept of inheritance and data abstraction.</a:t>
            </a:r>
            <a:endParaRPr lang="en-US" sz="2200" b="0" i="1" dirty="0">
              <a:effectLst/>
            </a:endParaRPr>
          </a:p>
        </p:txBody>
      </p:sp>
    </p:spTree>
    <p:extLst>
      <p:ext uri="{BB962C8B-B14F-4D97-AF65-F5344CB8AC3E}">
        <p14:creationId xmlns:p14="http://schemas.microsoft.com/office/powerpoint/2010/main" val="2436520014"/>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7005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5915230" cy="5570756"/>
          </a:xfrm>
          <a:prstGeom prst="rect">
            <a:avLst/>
          </a:prstGeom>
          <a:noFill/>
        </p:spPr>
        <p:txBody>
          <a:bodyPr wrap="square" rtlCol="0">
            <a:spAutoFit/>
          </a:bodyPr>
          <a:lstStyle/>
          <a:p>
            <a:r>
              <a:rPr lang="en-IN" sz="2400" b="1" dirty="0"/>
              <a:t>Outline</a:t>
            </a:r>
            <a:endParaRPr lang="en-US" sz="2400" b="1" dirty="0"/>
          </a:p>
          <a:p>
            <a:endParaRPr lang="en-US" sz="2200" b="1" dirty="0"/>
          </a:p>
          <a:p>
            <a:pPr indent="446088">
              <a:buFont typeface="Wingdings" pitchFamily="2" charset="2"/>
              <a:buChar char="ü"/>
            </a:pPr>
            <a:r>
              <a:rPr lang="en-US" sz="2400" dirty="0"/>
              <a:t>Method </a:t>
            </a:r>
            <a:r>
              <a:rPr lang="en-US" sz="2400" dirty="0" smtClean="0"/>
              <a:t>overloading</a:t>
            </a:r>
            <a:endParaRPr lang="en-US" sz="2400" dirty="0"/>
          </a:p>
          <a:p>
            <a:pPr indent="446088">
              <a:buFont typeface="Wingdings" pitchFamily="2" charset="2"/>
              <a:buChar char="ü"/>
            </a:pPr>
            <a:r>
              <a:rPr lang="en-US" sz="2400" dirty="0" smtClean="0"/>
              <a:t>Constructor</a:t>
            </a:r>
          </a:p>
          <a:p>
            <a:pPr indent="446088">
              <a:buFont typeface="Wingdings" pitchFamily="2" charset="2"/>
              <a:buChar char="ü"/>
            </a:pPr>
            <a:r>
              <a:rPr lang="en-US" sz="2400" dirty="0" smtClean="0"/>
              <a:t>Constructor overloading</a:t>
            </a:r>
            <a:endParaRPr lang="en-IN" sz="2400" dirty="0"/>
          </a:p>
          <a:p>
            <a:pPr indent="446088">
              <a:buFont typeface="Wingdings" pitchFamily="2" charset="2"/>
              <a:buChar char="ü"/>
            </a:pPr>
            <a:r>
              <a:rPr lang="en-IN" sz="2400" dirty="0"/>
              <a:t>Polymorphism</a:t>
            </a:r>
          </a:p>
          <a:p>
            <a:pPr indent="446088">
              <a:buFont typeface="Wingdings" pitchFamily="2" charset="2"/>
              <a:buChar char="ü"/>
            </a:pPr>
            <a:r>
              <a:rPr lang="en-IN" sz="2400" dirty="0" smtClean="0"/>
              <a:t>this keyword</a:t>
            </a:r>
            <a:endParaRPr lang="en-IN" sz="2400" dirty="0"/>
          </a:p>
          <a:p>
            <a:pPr indent="446088">
              <a:buFont typeface="Wingdings" pitchFamily="2" charset="2"/>
              <a:buChar char="ü"/>
            </a:pPr>
            <a:r>
              <a:rPr lang="en-IN" sz="2400" dirty="0" smtClean="0"/>
              <a:t>static keyword</a:t>
            </a:r>
            <a:endParaRPr lang="en-IN" sz="2400" dirty="0"/>
          </a:p>
          <a:p>
            <a:pPr indent="446088">
              <a:buFont typeface="Wingdings" pitchFamily="2" charset="2"/>
              <a:buChar char="ü"/>
            </a:pPr>
            <a:r>
              <a:rPr lang="en-IN" sz="2400" dirty="0" smtClean="0"/>
              <a:t>Finalize method</a:t>
            </a:r>
            <a:endParaRPr lang="en-IN" sz="2400" dirty="0"/>
          </a:p>
          <a:p>
            <a:pPr indent="446088">
              <a:buFont typeface="Wingdings" pitchFamily="2" charset="2"/>
              <a:buChar char="ü"/>
            </a:pPr>
            <a:r>
              <a:rPr lang="en-IN" sz="2400" dirty="0" smtClean="0"/>
              <a:t>Method Overriding</a:t>
            </a:r>
            <a:endParaRPr lang="en-IN" sz="2400" dirty="0"/>
          </a:p>
          <a:p>
            <a:pPr indent="446088">
              <a:buFont typeface="Wingdings" pitchFamily="2" charset="2"/>
              <a:buChar char="ü"/>
            </a:pPr>
            <a:r>
              <a:rPr lang="en-IN" sz="2400" dirty="0" smtClean="0"/>
              <a:t>Super keyword</a:t>
            </a:r>
            <a:endParaRPr lang="en-IN" sz="2400" dirty="0"/>
          </a:p>
          <a:p>
            <a:pPr indent="446088">
              <a:buFont typeface="Wingdings" pitchFamily="2" charset="2"/>
              <a:buChar char="ü"/>
            </a:pPr>
            <a:r>
              <a:rPr lang="en-IN" sz="2400" dirty="0" smtClean="0"/>
              <a:t>Final keyword</a:t>
            </a:r>
            <a:endParaRPr lang="en-IN" sz="2400" dirty="0"/>
          </a:p>
          <a:p>
            <a:pPr indent="446088">
              <a:buFont typeface="Wingdings" pitchFamily="2" charset="2"/>
              <a:buChar char="ü"/>
            </a:pPr>
            <a:r>
              <a:rPr lang="en-IN" sz="2400" dirty="0" smtClean="0"/>
              <a:t>Abstract Class</a:t>
            </a:r>
          </a:p>
          <a:p>
            <a:pPr indent="446088">
              <a:buFont typeface="Wingdings" pitchFamily="2" charset="2"/>
              <a:buChar char="ü"/>
            </a:pPr>
            <a:r>
              <a:rPr lang="en-IN" sz="2400" dirty="0" smtClean="0"/>
              <a:t>Interface</a:t>
            </a:r>
          </a:p>
          <a:p>
            <a:pPr indent="446088">
              <a:buFont typeface="Wingdings" pitchFamily="2" charset="2"/>
              <a:buChar char="ü"/>
            </a:pPr>
            <a:r>
              <a:rPr lang="en-IN" sz="2400" dirty="0" smtClean="0"/>
              <a:t>Dynamic Method Dispatch</a:t>
            </a:r>
            <a:endParaRPr lang="en-US" sz="2200" dirty="0"/>
          </a:p>
        </p:txBody>
      </p:sp>
    </p:spTree>
    <p:extLst>
      <p:ext uri="{BB962C8B-B14F-4D97-AF65-F5344CB8AC3E}">
        <p14:creationId xmlns:p14="http://schemas.microsoft.com/office/powerpoint/2010/main" val="2101025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22" presetClass="entr" presetSubtype="1"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ipe(up)">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par>
                          <p:cTn id="19" fill="hold">
                            <p:stCondLst>
                              <p:cond delay="1000"/>
                            </p:stCondLst>
                            <p:childTnLst>
                              <p:par>
                                <p:cTn id="20" presetID="1"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C5E97-187A-D24D-4548-5C4E3FCEE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FE70A-2D2C-C02B-1A21-686398AB003D}"/>
              </a:ext>
            </a:extLst>
          </p:cNvPr>
          <p:cNvSpPr>
            <a:spLocks noGrp="1"/>
          </p:cNvSpPr>
          <p:nvPr>
            <p:ph type="title"/>
          </p:nvPr>
        </p:nvSpPr>
        <p:spPr>
          <a:xfrm>
            <a:off x="0" y="1"/>
            <a:ext cx="12192000" cy="711200"/>
          </a:xfrm>
        </p:spPr>
        <p:txBody>
          <a:bodyPr/>
          <a:lstStyle/>
          <a:p>
            <a:r>
              <a:rPr lang="en-IN" dirty="0"/>
              <a:t>Method Overloading</a:t>
            </a:r>
            <a:endParaRPr lang="en-US" dirty="0"/>
          </a:p>
        </p:txBody>
      </p:sp>
      <p:sp>
        <p:nvSpPr>
          <p:cNvPr id="3" name="Content Placeholder 2">
            <a:extLst>
              <a:ext uri="{FF2B5EF4-FFF2-40B4-BE49-F238E27FC236}">
                <a16:creationId xmlns:a16="http://schemas.microsoft.com/office/drawing/2014/main" id="{CB403B97-9D24-E4D0-BBEA-08CAD63E2485}"/>
              </a:ext>
            </a:extLst>
          </p:cNvPr>
          <p:cNvSpPr>
            <a:spLocks noGrp="1"/>
          </p:cNvSpPr>
          <p:nvPr>
            <p:ph idx="1"/>
          </p:nvPr>
        </p:nvSpPr>
        <p:spPr>
          <a:xfrm>
            <a:off x="131180" y="863444"/>
            <a:ext cx="4108311" cy="5590565"/>
          </a:xfrm>
        </p:spPr>
        <p:txBody>
          <a:bodyPr/>
          <a:lstStyle/>
          <a:p>
            <a:r>
              <a:rPr lang="en-US" dirty="0"/>
              <a:t>Overloading allows </a:t>
            </a:r>
            <a:r>
              <a:rPr lang="en-US" dirty="0">
                <a:solidFill>
                  <a:srgbClr val="B71B1C"/>
                </a:solidFill>
              </a:rPr>
              <a:t>different methods</a:t>
            </a:r>
            <a:r>
              <a:rPr lang="en-US" dirty="0"/>
              <a:t> to have </a:t>
            </a:r>
            <a:r>
              <a:rPr lang="en-US" dirty="0">
                <a:solidFill>
                  <a:srgbClr val="B71B1C"/>
                </a:solidFill>
              </a:rPr>
              <a:t>same name</a:t>
            </a:r>
            <a:r>
              <a:rPr lang="en-US" dirty="0"/>
              <a:t>, but </a:t>
            </a:r>
            <a:r>
              <a:rPr lang="en-US" dirty="0">
                <a:solidFill>
                  <a:srgbClr val="B71B1C"/>
                </a:solidFill>
              </a:rPr>
              <a:t>different signatures</a:t>
            </a:r>
            <a:r>
              <a:rPr lang="en-US" dirty="0"/>
              <a:t>.</a:t>
            </a:r>
          </a:p>
          <a:p>
            <a:r>
              <a:rPr lang="en-US" dirty="0"/>
              <a:t>Signature can differ by </a:t>
            </a:r>
            <a:r>
              <a:rPr lang="en-US" dirty="0">
                <a:solidFill>
                  <a:srgbClr val="B71B1C"/>
                </a:solidFill>
              </a:rPr>
              <a:t>number of input </a:t>
            </a:r>
            <a:r>
              <a:rPr lang="en-US" dirty="0"/>
              <a:t>parameters or </a:t>
            </a:r>
            <a:r>
              <a:rPr lang="en-US" dirty="0">
                <a:solidFill>
                  <a:srgbClr val="B71B1C"/>
                </a:solidFill>
              </a:rPr>
              <a:t>type of input parameters or both</a:t>
            </a:r>
            <a:r>
              <a:rPr lang="en-US" dirty="0"/>
              <a:t>. </a:t>
            </a:r>
          </a:p>
          <a:p>
            <a:r>
              <a:rPr lang="en-US" dirty="0"/>
              <a:t>Overloading is related to </a:t>
            </a:r>
            <a:r>
              <a:rPr lang="en-US" dirty="0">
                <a:solidFill>
                  <a:srgbClr val="B71B1C"/>
                </a:solidFill>
              </a:rPr>
              <a:t>compile time </a:t>
            </a:r>
            <a:r>
              <a:rPr lang="en-US" dirty="0"/>
              <a:t>(or static) polymorphism.</a:t>
            </a:r>
          </a:p>
          <a:p>
            <a:endParaRPr lang="en-US" dirty="0"/>
          </a:p>
        </p:txBody>
      </p:sp>
      <p:sp>
        <p:nvSpPr>
          <p:cNvPr id="4" name="Rectangle 3">
            <a:extLst>
              <a:ext uri="{FF2B5EF4-FFF2-40B4-BE49-F238E27FC236}">
                <a16:creationId xmlns:a16="http://schemas.microsoft.com/office/drawing/2014/main" id="{45B6B603-E686-BB1F-1AB1-718CDB9C693D}"/>
              </a:ext>
            </a:extLst>
          </p:cNvPr>
          <p:cNvSpPr/>
          <p:nvPr/>
        </p:nvSpPr>
        <p:spPr>
          <a:xfrm>
            <a:off x="4422370" y="711201"/>
            <a:ext cx="7696639" cy="5909310"/>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OverloadingMethods</a:t>
            </a:r>
            <a:r>
              <a:rPr lang="en-US" b="1" dirty="0">
                <a:solidFill>
                  <a:srgbClr val="000000"/>
                </a:solidFill>
                <a:latin typeface="Consolas"/>
              </a:rPr>
              <a:t> {</a:t>
            </a:r>
            <a:endParaRPr lang="en-US" dirty="0">
              <a:latin typeface="Consolas"/>
            </a:endParaRP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a:t>
            </a:r>
            <a:r>
              <a:rPr lang="en-US" b="1" dirty="0">
                <a:solidFill>
                  <a:srgbClr val="000000"/>
                </a:solidFill>
                <a:latin typeface="Consolas"/>
              </a:rPr>
              <a:t>) {</a:t>
            </a:r>
          </a:p>
          <a:p>
            <a:pPr lvl="2"/>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ans1</a:t>
            </a:r>
            <a:r>
              <a:rPr lang="en-US" b="1" dirty="0">
                <a:solidFill>
                  <a:srgbClr val="000000"/>
                </a:solidFill>
                <a:latin typeface="Consolas"/>
              </a:rPr>
              <a:t> = </a:t>
            </a:r>
            <a:r>
              <a:rPr lang="en-US" b="1" i="1" dirty="0">
                <a:solidFill>
                  <a:srgbClr val="000000"/>
                </a:solidFill>
                <a:latin typeface="Consolas"/>
              </a:rPr>
              <a:t>sum(5,2); </a:t>
            </a:r>
            <a:r>
              <a:rPr lang="en-US" dirty="0">
                <a:solidFill>
                  <a:srgbClr val="3F7F5F"/>
                </a:solidFill>
                <a:latin typeface="Consolas"/>
              </a:rPr>
              <a:t>// will return 7</a:t>
            </a:r>
          </a:p>
          <a:p>
            <a:pPr lvl="2"/>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ans2</a:t>
            </a:r>
            <a:r>
              <a:rPr lang="en-US" b="1" dirty="0">
                <a:solidFill>
                  <a:srgbClr val="000000"/>
                </a:solidFill>
                <a:latin typeface="Consolas"/>
              </a:rPr>
              <a:t> = </a:t>
            </a:r>
            <a:r>
              <a:rPr lang="en-US" b="1" i="1" dirty="0">
                <a:solidFill>
                  <a:srgbClr val="000000"/>
                </a:solidFill>
                <a:latin typeface="Consolas"/>
              </a:rPr>
              <a:t>sum(5,2,6); </a:t>
            </a:r>
            <a:r>
              <a:rPr lang="en-US" dirty="0">
                <a:solidFill>
                  <a:srgbClr val="3F7F5F"/>
                </a:solidFill>
                <a:latin typeface="Consolas"/>
              </a:rPr>
              <a:t>// will return 13</a:t>
            </a:r>
          </a:p>
          <a:p>
            <a:pPr lvl="2"/>
            <a:r>
              <a:rPr lang="en-US" b="1" dirty="0">
                <a:solidFill>
                  <a:srgbClr val="7F0055"/>
                </a:solidFill>
                <a:latin typeface="Consolas"/>
              </a:rPr>
              <a:t>double</a:t>
            </a:r>
            <a:r>
              <a:rPr lang="en-US" b="1" dirty="0">
                <a:solidFill>
                  <a:srgbClr val="000000"/>
                </a:solidFill>
                <a:latin typeface="Consolas"/>
              </a:rPr>
              <a:t> </a:t>
            </a:r>
            <a:r>
              <a:rPr lang="en-US" b="1" dirty="0">
                <a:solidFill>
                  <a:srgbClr val="6A3E3E"/>
                </a:solidFill>
                <a:latin typeface="Consolas"/>
              </a:rPr>
              <a:t>ans3</a:t>
            </a:r>
            <a:r>
              <a:rPr lang="en-US" b="1" dirty="0">
                <a:solidFill>
                  <a:srgbClr val="000000"/>
                </a:solidFill>
                <a:latin typeface="Consolas"/>
              </a:rPr>
              <a:t> = </a:t>
            </a:r>
            <a:r>
              <a:rPr lang="en-US" b="1" i="1" dirty="0">
                <a:solidFill>
                  <a:srgbClr val="000000"/>
                </a:solidFill>
                <a:latin typeface="Consolas"/>
              </a:rPr>
              <a:t>sum(5.8,6.4); </a:t>
            </a:r>
            <a:r>
              <a:rPr lang="en-US" dirty="0">
                <a:solidFill>
                  <a:srgbClr val="3F7F5F"/>
                </a:solidFill>
                <a:latin typeface="Consolas"/>
              </a:rPr>
              <a:t>// will return 12.2</a:t>
            </a:r>
          </a:p>
          <a:p>
            <a:pPr lvl="2"/>
            <a:r>
              <a:rPr lang="en-IN" dirty="0">
                <a:solidFill>
                  <a:srgbClr val="3F7F5F"/>
                </a:solidFill>
                <a:latin typeface="Consolas"/>
              </a:rPr>
              <a:t>// print ans1,ans2,ans3 in order to see the result</a:t>
            </a:r>
            <a:endParaRPr lang="en-US" dirty="0">
              <a:solidFill>
                <a:srgbClr val="3F7F5F"/>
              </a:solidFill>
              <a:latin typeface="Consolas"/>
            </a:endParaRPr>
          </a:p>
          <a:p>
            <a:pPr lvl="1"/>
            <a:r>
              <a:rPr lang="en-US" dirty="0">
                <a:solidFill>
                  <a:srgbClr val="000000"/>
                </a:solidFill>
                <a:latin typeface="Consolas"/>
              </a:rPr>
              <a:t>}</a:t>
            </a:r>
            <a:endParaRPr lang="en-US" dirty="0">
              <a:latin typeface="Consolas"/>
            </a:endParaRPr>
          </a:p>
          <a:p>
            <a:pPr lvl="1"/>
            <a:r>
              <a:rPr lang="en-US" dirty="0">
                <a:solidFill>
                  <a:srgbClr val="3F7F5F"/>
                </a:solidFill>
                <a:latin typeface="Consolas"/>
              </a:rPr>
              <a:t>// Overloaded sum(). This sum takes two </a:t>
            </a:r>
            <a:r>
              <a:rPr lang="en-US" dirty="0" err="1">
                <a:solidFill>
                  <a:srgbClr val="3F7F5F"/>
                </a:solidFill>
                <a:latin typeface="Consolas"/>
              </a:rPr>
              <a:t>int</a:t>
            </a:r>
            <a:r>
              <a:rPr lang="en-US" dirty="0">
                <a:solidFill>
                  <a:srgbClr val="3F7F5F"/>
                </a:solidFill>
                <a:latin typeface="Consolas"/>
              </a:rPr>
              <a:t> parameters</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 sum(</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x</a:t>
            </a:r>
            <a:r>
              <a:rPr lang="en-US"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y</a:t>
            </a:r>
            <a:r>
              <a:rPr lang="en-US" b="1" dirty="0">
                <a:solidFill>
                  <a:srgbClr val="000000"/>
                </a:solidFill>
                <a:latin typeface="Consolas"/>
              </a:rPr>
              <a:t>) {</a:t>
            </a:r>
          </a:p>
          <a:p>
            <a:pPr lvl="1"/>
            <a:r>
              <a:rPr lang="en-US" b="1" dirty="0">
                <a:solidFill>
                  <a:srgbClr val="7F0055"/>
                </a:solidFill>
                <a:latin typeface="Consolas"/>
              </a:rPr>
              <a:t>	return</a:t>
            </a:r>
            <a:r>
              <a:rPr lang="en-US" b="1" dirty="0">
                <a:solidFill>
                  <a:srgbClr val="000000"/>
                </a:solidFill>
                <a:latin typeface="Consolas"/>
              </a:rPr>
              <a:t> (</a:t>
            </a:r>
            <a:r>
              <a:rPr lang="en-US" b="1" dirty="0">
                <a:solidFill>
                  <a:srgbClr val="6A3E3E"/>
                </a:solidFill>
                <a:latin typeface="Consolas"/>
              </a:rPr>
              <a:t>x</a:t>
            </a:r>
            <a:r>
              <a:rPr lang="en-US" b="1" dirty="0">
                <a:solidFill>
                  <a:srgbClr val="000000"/>
                </a:solidFill>
                <a:latin typeface="Consolas"/>
              </a:rPr>
              <a:t> + </a:t>
            </a:r>
            <a:r>
              <a:rPr lang="en-US" b="1" dirty="0">
                <a:solidFill>
                  <a:srgbClr val="6A3E3E"/>
                </a:solidFill>
                <a:latin typeface="Consolas"/>
              </a:rPr>
              <a:t>y</a:t>
            </a:r>
            <a:r>
              <a:rPr lang="en-US" b="1" dirty="0">
                <a:solidFill>
                  <a:srgbClr val="000000"/>
                </a:solidFill>
                <a:latin typeface="Consolas"/>
              </a:rPr>
              <a:t>);</a:t>
            </a:r>
          </a:p>
          <a:p>
            <a:pPr lvl="1"/>
            <a:r>
              <a:rPr lang="en-US" dirty="0">
                <a:solidFill>
                  <a:srgbClr val="000000"/>
                </a:solidFill>
                <a:latin typeface="Consolas"/>
              </a:rPr>
              <a:t>}</a:t>
            </a:r>
            <a:endParaRPr lang="en-US" dirty="0">
              <a:latin typeface="Consolas"/>
            </a:endParaRPr>
          </a:p>
          <a:p>
            <a:pPr lvl="1"/>
            <a:r>
              <a:rPr lang="en-US" dirty="0">
                <a:solidFill>
                  <a:srgbClr val="3F7F5F"/>
                </a:solidFill>
                <a:latin typeface="Consolas"/>
              </a:rPr>
              <a:t>// Overloaded sum(). This sum takes three </a:t>
            </a:r>
            <a:r>
              <a:rPr lang="en-US" dirty="0" err="1">
                <a:solidFill>
                  <a:srgbClr val="3F7F5F"/>
                </a:solidFill>
                <a:latin typeface="Consolas"/>
              </a:rPr>
              <a:t>int</a:t>
            </a:r>
            <a:r>
              <a:rPr lang="en-US" dirty="0">
                <a:solidFill>
                  <a:srgbClr val="3F7F5F"/>
                </a:solidFill>
                <a:latin typeface="Consolas"/>
              </a:rPr>
              <a:t> parameters</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 sum(</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x</a:t>
            </a:r>
            <a:r>
              <a:rPr lang="en-US"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y</a:t>
            </a:r>
            <a:r>
              <a:rPr lang="en-US"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z</a:t>
            </a:r>
            <a:r>
              <a:rPr lang="en-US" b="1" dirty="0">
                <a:solidFill>
                  <a:srgbClr val="000000"/>
                </a:solidFill>
                <a:latin typeface="Consolas"/>
              </a:rPr>
              <a:t>) {</a:t>
            </a:r>
          </a:p>
          <a:p>
            <a:pPr lvl="1"/>
            <a:r>
              <a:rPr lang="en-US" b="1" dirty="0">
                <a:solidFill>
                  <a:srgbClr val="7F0055"/>
                </a:solidFill>
                <a:latin typeface="Consolas"/>
              </a:rPr>
              <a:t>	return</a:t>
            </a:r>
            <a:r>
              <a:rPr lang="en-US" b="1" dirty="0">
                <a:solidFill>
                  <a:srgbClr val="000000"/>
                </a:solidFill>
                <a:latin typeface="Consolas"/>
              </a:rPr>
              <a:t> (</a:t>
            </a:r>
            <a:r>
              <a:rPr lang="en-US" b="1" dirty="0">
                <a:solidFill>
                  <a:srgbClr val="6A3E3E"/>
                </a:solidFill>
                <a:latin typeface="Consolas"/>
              </a:rPr>
              <a:t>x</a:t>
            </a:r>
            <a:r>
              <a:rPr lang="en-US" b="1" dirty="0">
                <a:solidFill>
                  <a:srgbClr val="000000"/>
                </a:solidFill>
                <a:latin typeface="Consolas"/>
              </a:rPr>
              <a:t> + </a:t>
            </a:r>
            <a:r>
              <a:rPr lang="en-US" b="1" dirty="0">
                <a:solidFill>
                  <a:srgbClr val="6A3E3E"/>
                </a:solidFill>
                <a:latin typeface="Consolas"/>
              </a:rPr>
              <a:t>y</a:t>
            </a:r>
            <a:r>
              <a:rPr lang="en-US" b="1" dirty="0">
                <a:solidFill>
                  <a:srgbClr val="000000"/>
                </a:solidFill>
                <a:latin typeface="Consolas"/>
              </a:rPr>
              <a:t> + </a:t>
            </a:r>
            <a:r>
              <a:rPr lang="en-US" b="1" dirty="0">
                <a:solidFill>
                  <a:srgbClr val="6A3E3E"/>
                </a:solidFill>
                <a:latin typeface="Consolas"/>
              </a:rPr>
              <a:t>z</a:t>
            </a:r>
            <a:r>
              <a:rPr lang="en-US" b="1" dirty="0">
                <a:solidFill>
                  <a:srgbClr val="000000"/>
                </a:solidFill>
                <a:latin typeface="Consolas"/>
              </a:rPr>
              <a:t>);</a:t>
            </a:r>
          </a:p>
          <a:p>
            <a:pPr lvl="1"/>
            <a:r>
              <a:rPr lang="en-US" dirty="0">
                <a:solidFill>
                  <a:srgbClr val="000000"/>
                </a:solidFill>
                <a:latin typeface="Consolas"/>
              </a:rPr>
              <a:t>}</a:t>
            </a:r>
            <a:endParaRPr lang="en-US" dirty="0">
              <a:latin typeface="Consolas"/>
            </a:endParaRPr>
          </a:p>
          <a:p>
            <a:pPr lvl="1"/>
            <a:r>
              <a:rPr lang="en-US" dirty="0">
                <a:solidFill>
                  <a:srgbClr val="3F7F5F"/>
                </a:solidFill>
                <a:latin typeface="Consolas"/>
              </a:rPr>
              <a:t>// Overloaded sum(). This sum takes two double parameters</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double</a:t>
            </a:r>
            <a:r>
              <a:rPr lang="en-US" b="1" dirty="0">
                <a:solidFill>
                  <a:srgbClr val="000000"/>
                </a:solidFill>
                <a:latin typeface="Consolas"/>
              </a:rPr>
              <a:t> sum(</a:t>
            </a:r>
            <a:r>
              <a:rPr lang="en-US" b="1" dirty="0">
                <a:solidFill>
                  <a:srgbClr val="7F0055"/>
                </a:solidFill>
                <a:latin typeface="Consolas"/>
              </a:rPr>
              <a:t>double</a:t>
            </a:r>
            <a:r>
              <a:rPr lang="en-US" b="1" dirty="0">
                <a:solidFill>
                  <a:srgbClr val="000000"/>
                </a:solidFill>
                <a:latin typeface="Consolas"/>
              </a:rPr>
              <a:t> </a:t>
            </a:r>
            <a:r>
              <a:rPr lang="en-US" b="1" dirty="0">
                <a:solidFill>
                  <a:srgbClr val="6A3E3E"/>
                </a:solidFill>
                <a:latin typeface="Consolas"/>
              </a:rPr>
              <a:t>x</a:t>
            </a:r>
            <a:r>
              <a:rPr lang="en-US" b="1" dirty="0">
                <a:solidFill>
                  <a:srgbClr val="000000"/>
                </a:solidFill>
                <a:latin typeface="Consolas"/>
              </a:rPr>
              <a:t>, </a:t>
            </a:r>
            <a:r>
              <a:rPr lang="en-US" b="1" dirty="0">
                <a:solidFill>
                  <a:srgbClr val="7F0055"/>
                </a:solidFill>
                <a:latin typeface="Consolas"/>
              </a:rPr>
              <a:t>double</a:t>
            </a:r>
            <a:r>
              <a:rPr lang="en-US" b="1" dirty="0">
                <a:solidFill>
                  <a:srgbClr val="000000"/>
                </a:solidFill>
                <a:latin typeface="Consolas"/>
              </a:rPr>
              <a:t> </a:t>
            </a:r>
            <a:r>
              <a:rPr lang="en-US" b="1" dirty="0">
                <a:solidFill>
                  <a:srgbClr val="6A3E3E"/>
                </a:solidFill>
                <a:latin typeface="Consolas"/>
              </a:rPr>
              <a:t>y</a:t>
            </a:r>
            <a:r>
              <a:rPr lang="en-US" b="1" dirty="0">
                <a:solidFill>
                  <a:srgbClr val="000000"/>
                </a:solidFill>
                <a:latin typeface="Consolas"/>
              </a:rPr>
              <a:t>) {</a:t>
            </a:r>
          </a:p>
          <a:p>
            <a:pPr lvl="1"/>
            <a:r>
              <a:rPr lang="en-US" b="1" dirty="0">
                <a:solidFill>
                  <a:srgbClr val="7F0055"/>
                </a:solidFill>
                <a:latin typeface="Consolas"/>
              </a:rPr>
              <a:t>	return</a:t>
            </a:r>
            <a:r>
              <a:rPr lang="en-US" b="1" dirty="0">
                <a:solidFill>
                  <a:srgbClr val="000000"/>
                </a:solidFill>
                <a:latin typeface="Consolas"/>
              </a:rPr>
              <a:t> (</a:t>
            </a:r>
            <a:r>
              <a:rPr lang="en-US" b="1" dirty="0">
                <a:solidFill>
                  <a:srgbClr val="6A3E3E"/>
                </a:solidFill>
                <a:latin typeface="Consolas"/>
              </a:rPr>
              <a:t>x</a:t>
            </a:r>
            <a:r>
              <a:rPr lang="en-US" b="1" dirty="0">
                <a:solidFill>
                  <a:srgbClr val="000000"/>
                </a:solidFill>
                <a:latin typeface="Consolas"/>
              </a:rPr>
              <a:t> + </a:t>
            </a:r>
            <a:r>
              <a:rPr lang="en-US" b="1" dirty="0">
                <a:solidFill>
                  <a:srgbClr val="6A3E3E"/>
                </a:solidFill>
                <a:latin typeface="Consolas"/>
              </a:rPr>
              <a:t>y</a:t>
            </a:r>
            <a:r>
              <a:rPr lang="en-US" b="1"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p>
        </p:txBody>
      </p:sp>
    </p:spTree>
    <p:extLst>
      <p:ext uri="{BB962C8B-B14F-4D97-AF65-F5344CB8AC3E}">
        <p14:creationId xmlns:p14="http://schemas.microsoft.com/office/powerpoint/2010/main" val="4176004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bldLvl="4"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AF8F1-7091-A2E2-C437-DC77B66BD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F70762-F219-A352-7AC8-B989D128FA7F}"/>
              </a:ext>
            </a:extLst>
          </p:cNvPr>
          <p:cNvSpPr>
            <a:spLocks noGrp="1"/>
          </p:cNvSpPr>
          <p:nvPr>
            <p:ph type="title"/>
          </p:nvPr>
        </p:nvSpPr>
        <p:spPr>
          <a:xfrm>
            <a:off x="0" y="1"/>
            <a:ext cx="12192000" cy="711200"/>
          </a:xfrm>
        </p:spPr>
        <p:txBody>
          <a:bodyPr/>
          <a:lstStyle/>
          <a:p>
            <a:r>
              <a:rPr lang="en-IN" dirty="0"/>
              <a:t>Constructor</a:t>
            </a:r>
            <a:endParaRPr lang="en-US" dirty="0"/>
          </a:p>
        </p:txBody>
      </p:sp>
      <p:sp>
        <p:nvSpPr>
          <p:cNvPr id="3" name="Content Placeholder 2">
            <a:extLst>
              <a:ext uri="{FF2B5EF4-FFF2-40B4-BE49-F238E27FC236}">
                <a16:creationId xmlns:a16="http://schemas.microsoft.com/office/drawing/2014/main" id="{10404677-BA0A-D73A-2970-644A191A6C49}"/>
              </a:ext>
            </a:extLst>
          </p:cNvPr>
          <p:cNvSpPr>
            <a:spLocks noGrp="1"/>
          </p:cNvSpPr>
          <p:nvPr>
            <p:ph idx="1"/>
          </p:nvPr>
        </p:nvSpPr>
        <p:spPr>
          <a:xfrm>
            <a:off x="149842" y="863444"/>
            <a:ext cx="11929641" cy="5590565"/>
          </a:xfrm>
        </p:spPr>
        <p:txBody>
          <a:bodyPr/>
          <a:lstStyle/>
          <a:p>
            <a:r>
              <a:rPr lang="en-US" dirty="0"/>
              <a:t>A </a:t>
            </a:r>
            <a:r>
              <a:rPr lang="en-US" i="1" dirty="0">
                <a:solidFill>
                  <a:srgbClr val="B71B1C"/>
                </a:solidFill>
              </a:rPr>
              <a:t>constructor</a:t>
            </a:r>
            <a:r>
              <a:rPr lang="en-US" dirty="0">
                <a:solidFill>
                  <a:schemeClr val="tx2"/>
                </a:solidFill>
              </a:rPr>
              <a:t> </a:t>
            </a:r>
            <a:r>
              <a:rPr lang="en-US" dirty="0"/>
              <a:t>is a “special” member method which </a:t>
            </a:r>
            <a:r>
              <a:rPr lang="en-US" i="1" dirty="0">
                <a:solidFill>
                  <a:srgbClr val="C00000"/>
                </a:solidFill>
              </a:rPr>
              <a:t>initializes</a:t>
            </a:r>
            <a:r>
              <a:rPr lang="en-US" dirty="0">
                <a:solidFill>
                  <a:srgbClr val="C00000"/>
                </a:solidFill>
              </a:rPr>
              <a:t> </a:t>
            </a:r>
            <a:r>
              <a:rPr lang="en-US" dirty="0"/>
              <a:t>the </a:t>
            </a:r>
            <a:r>
              <a:rPr lang="en-US" i="1" dirty="0">
                <a:solidFill>
                  <a:srgbClr val="C00000"/>
                </a:solidFill>
              </a:rPr>
              <a:t>objects</a:t>
            </a:r>
            <a:r>
              <a:rPr lang="en-US" dirty="0">
                <a:solidFill>
                  <a:srgbClr val="C00000"/>
                </a:solidFill>
              </a:rPr>
              <a:t> </a:t>
            </a:r>
            <a:r>
              <a:rPr lang="en-US" dirty="0"/>
              <a:t>of class.</a:t>
            </a:r>
          </a:p>
          <a:p>
            <a:pPr marL="0" indent="0">
              <a:buNone/>
            </a:pPr>
            <a:endParaRPr lang="en-US" b="1" dirty="0"/>
          </a:p>
          <a:p>
            <a:pPr marL="0" indent="0">
              <a:buNone/>
            </a:pPr>
            <a:r>
              <a:rPr lang="en-US" b="1" dirty="0"/>
              <a:t>Properties of constructor:</a:t>
            </a:r>
          </a:p>
          <a:p>
            <a:r>
              <a:rPr lang="en-US" dirty="0"/>
              <a:t>Constructor is </a:t>
            </a:r>
            <a:r>
              <a:rPr lang="en-US" i="1" dirty="0">
                <a:solidFill>
                  <a:srgbClr val="C00000"/>
                </a:solidFill>
              </a:rPr>
              <a:t>invoked automatically</a:t>
            </a:r>
            <a:r>
              <a:rPr lang="en-US" dirty="0"/>
              <a:t> whenever an object of class is created.</a:t>
            </a:r>
          </a:p>
          <a:p>
            <a:r>
              <a:rPr lang="en-US" i="1" dirty="0">
                <a:solidFill>
                  <a:srgbClr val="C00000"/>
                </a:solidFill>
              </a:rPr>
              <a:t>Constructor name</a:t>
            </a:r>
            <a:r>
              <a:rPr lang="en-US" dirty="0"/>
              <a:t> must be </a:t>
            </a:r>
            <a:r>
              <a:rPr lang="en-US" i="1" dirty="0">
                <a:solidFill>
                  <a:srgbClr val="C00000"/>
                </a:solidFill>
              </a:rPr>
              <a:t>same</a:t>
            </a:r>
            <a:r>
              <a:rPr lang="en-US" dirty="0"/>
              <a:t> as </a:t>
            </a:r>
            <a:r>
              <a:rPr lang="en-US" i="1" dirty="0">
                <a:solidFill>
                  <a:srgbClr val="C00000"/>
                </a:solidFill>
              </a:rPr>
              <a:t>class name</a:t>
            </a:r>
            <a:r>
              <a:rPr lang="en-US" dirty="0"/>
              <a:t>.</a:t>
            </a:r>
          </a:p>
          <a:p>
            <a:r>
              <a:rPr lang="en-US" dirty="0"/>
              <a:t>Constructors do </a:t>
            </a:r>
            <a:r>
              <a:rPr lang="en-US" i="1" dirty="0">
                <a:solidFill>
                  <a:srgbClr val="C00000"/>
                </a:solidFill>
              </a:rPr>
              <a:t>not </a:t>
            </a:r>
            <a:r>
              <a:rPr lang="en-US" dirty="0"/>
              <a:t>have </a:t>
            </a:r>
            <a:r>
              <a:rPr lang="en-US" i="1" dirty="0">
                <a:solidFill>
                  <a:srgbClr val="C00000"/>
                </a:solidFill>
              </a:rPr>
              <a:t>return types </a:t>
            </a:r>
            <a:r>
              <a:rPr lang="en-US" dirty="0"/>
              <a:t>and they cannot return values, not even void.</a:t>
            </a:r>
          </a:p>
          <a:p>
            <a:r>
              <a:rPr lang="en-US" dirty="0"/>
              <a:t>All classes have </a:t>
            </a:r>
            <a:r>
              <a:rPr lang="en-US" i="1" dirty="0">
                <a:solidFill>
                  <a:srgbClr val="C00000"/>
                </a:solidFill>
              </a:rPr>
              <a:t>constructors</a:t>
            </a:r>
            <a:r>
              <a:rPr lang="en-US" dirty="0">
                <a:solidFill>
                  <a:srgbClr val="C00000"/>
                </a:solidFill>
              </a:rPr>
              <a:t> </a:t>
            </a:r>
            <a:r>
              <a:rPr lang="en-US" dirty="0"/>
              <a:t>by </a:t>
            </a:r>
            <a:r>
              <a:rPr lang="en-US" i="1" dirty="0">
                <a:solidFill>
                  <a:srgbClr val="C00000"/>
                </a:solidFill>
              </a:rPr>
              <a:t>default</a:t>
            </a:r>
            <a:r>
              <a:rPr lang="en-US" dirty="0"/>
              <a:t>: if you do not create a class constructor yourself, Java creates one for you. However, then you are not able to set initial values for object attributes.</a:t>
            </a:r>
          </a:p>
          <a:p>
            <a:r>
              <a:rPr lang="en-IN" dirty="0"/>
              <a:t>Types of Constructor</a:t>
            </a:r>
          </a:p>
          <a:p>
            <a:pPr marL="1001712" lvl="1" indent="-457200">
              <a:buFont typeface="+mj-lt"/>
              <a:buAutoNum type="arabicPeriod"/>
            </a:pPr>
            <a:r>
              <a:rPr lang="en-IN" sz="2200" dirty="0">
                <a:solidFill>
                  <a:srgbClr val="B71B1C"/>
                </a:solidFill>
              </a:rPr>
              <a:t>Default Constructor</a:t>
            </a:r>
          </a:p>
          <a:p>
            <a:pPr marL="1001712" lvl="1" indent="-457200">
              <a:buFont typeface="+mj-lt"/>
              <a:buAutoNum type="arabicPeriod"/>
            </a:pPr>
            <a:r>
              <a:rPr lang="en-IN" sz="2200" dirty="0">
                <a:solidFill>
                  <a:srgbClr val="B71B1C"/>
                </a:solidFill>
              </a:rPr>
              <a:t>Parameterized Constructor (User Defined Constructor)</a:t>
            </a:r>
          </a:p>
          <a:p>
            <a:pPr lvl="1"/>
            <a:endParaRPr lang="en-US" dirty="0"/>
          </a:p>
        </p:txBody>
      </p:sp>
    </p:spTree>
    <p:extLst>
      <p:ext uri="{BB962C8B-B14F-4D97-AF65-F5344CB8AC3E}">
        <p14:creationId xmlns:p14="http://schemas.microsoft.com/office/powerpoint/2010/main" val="1477690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AF614-E835-8A1F-84D9-7727C45FB0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4516E9-0530-D245-D697-745838AF0734}"/>
              </a:ext>
            </a:extLst>
          </p:cNvPr>
          <p:cNvSpPr>
            <a:spLocks noGrp="1"/>
          </p:cNvSpPr>
          <p:nvPr>
            <p:ph type="title"/>
          </p:nvPr>
        </p:nvSpPr>
        <p:spPr>
          <a:xfrm>
            <a:off x="0" y="1"/>
            <a:ext cx="12192000" cy="711200"/>
          </a:xfrm>
        </p:spPr>
        <p:txBody>
          <a:bodyPr/>
          <a:lstStyle/>
          <a:p>
            <a:r>
              <a:rPr lang="en-IN" dirty="0"/>
              <a:t>Default Constructor</a:t>
            </a:r>
            <a:endParaRPr lang="en-US" dirty="0"/>
          </a:p>
        </p:txBody>
      </p:sp>
      <p:sp>
        <p:nvSpPr>
          <p:cNvPr id="3" name="Content Placeholder 2">
            <a:extLst>
              <a:ext uri="{FF2B5EF4-FFF2-40B4-BE49-F238E27FC236}">
                <a16:creationId xmlns:a16="http://schemas.microsoft.com/office/drawing/2014/main" id="{91DDF0D1-E99A-64DD-5964-B95720405CA0}"/>
              </a:ext>
            </a:extLst>
          </p:cNvPr>
          <p:cNvSpPr>
            <a:spLocks noGrp="1"/>
          </p:cNvSpPr>
          <p:nvPr>
            <p:ph idx="1"/>
          </p:nvPr>
        </p:nvSpPr>
        <p:spPr>
          <a:xfrm>
            <a:off x="131180" y="863444"/>
            <a:ext cx="11929641" cy="5590565"/>
          </a:xfrm>
        </p:spPr>
        <p:txBody>
          <a:bodyPr/>
          <a:lstStyle/>
          <a:p>
            <a:r>
              <a:rPr lang="en-US" dirty="0"/>
              <a:t>Default constructor is the one which </a:t>
            </a:r>
            <a:r>
              <a:rPr lang="en-US" i="1" dirty="0">
                <a:solidFill>
                  <a:srgbClr val="C00000"/>
                </a:solidFill>
              </a:rPr>
              <a:t>invokes</a:t>
            </a:r>
            <a:r>
              <a:rPr lang="en-US" dirty="0">
                <a:solidFill>
                  <a:srgbClr val="C00000"/>
                </a:solidFill>
              </a:rPr>
              <a:t> </a:t>
            </a:r>
            <a:r>
              <a:rPr lang="en-US" dirty="0"/>
              <a:t>by </a:t>
            </a:r>
            <a:r>
              <a:rPr lang="en-US" i="1" dirty="0">
                <a:solidFill>
                  <a:srgbClr val="C00000"/>
                </a:solidFill>
              </a:rPr>
              <a:t>default</a:t>
            </a:r>
            <a:r>
              <a:rPr lang="en-US" dirty="0">
                <a:solidFill>
                  <a:srgbClr val="C00000"/>
                </a:solidFill>
              </a:rPr>
              <a:t> </a:t>
            </a:r>
            <a:r>
              <a:rPr lang="en-US" dirty="0"/>
              <a:t>when </a:t>
            </a:r>
            <a:r>
              <a:rPr lang="en-US" i="1" dirty="0">
                <a:solidFill>
                  <a:srgbClr val="C00000"/>
                </a:solidFill>
              </a:rPr>
              <a:t>object</a:t>
            </a:r>
            <a:r>
              <a:rPr lang="en-US" dirty="0">
                <a:solidFill>
                  <a:srgbClr val="C00000"/>
                </a:solidFill>
              </a:rPr>
              <a:t> </a:t>
            </a:r>
            <a:r>
              <a:rPr lang="en-US" dirty="0"/>
              <a:t>of the class is </a:t>
            </a:r>
            <a:r>
              <a:rPr lang="en-US" i="1" dirty="0">
                <a:solidFill>
                  <a:srgbClr val="C00000"/>
                </a:solidFill>
              </a:rPr>
              <a:t>created</a:t>
            </a:r>
            <a:r>
              <a:rPr lang="en-US" dirty="0"/>
              <a:t>.</a:t>
            </a:r>
          </a:p>
          <a:p>
            <a:r>
              <a:rPr lang="en-US" dirty="0"/>
              <a:t>It is generally used to </a:t>
            </a:r>
            <a:r>
              <a:rPr lang="en-US" i="1" dirty="0">
                <a:solidFill>
                  <a:srgbClr val="C00000"/>
                </a:solidFill>
              </a:rPr>
              <a:t>initialize</a:t>
            </a:r>
            <a:r>
              <a:rPr lang="en-US" dirty="0">
                <a:solidFill>
                  <a:srgbClr val="C00000"/>
                </a:solidFill>
              </a:rPr>
              <a:t> </a:t>
            </a:r>
            <a:r>
              <a:rPr lang="en-US" dirty="0"/>
              <a:t>the </a:t>
            </a:r>
            <a:r>
              <a:rPr lang="en-US" i="1" dirty="0">
                <a:solidFill>
                  <a:srgbClr val="C00000"/>
                </a:solidFill>
              </a:rPr>
              <a:t>default</a:t>
            </a:r>
            <a:r>
              <a:rPr lang="en-US" dirty="0">
                <a:solidFill>
                  <a:srgbClr val="C00000"/>
                </a:solidFill>
              </a:rPr>
              <a:t> </a:t>
            </a:r>
            <a:r>
              <a:rPr lang="en-US" i="1" dirty="0">
                <a:solidFill>
                  <a:srgbClr val="C00000"/>
                </a:solidFill>
              </a:rPr>
              <a:t>value</a:t>
            </a:r>
            <a:r>
              <a:rPr lang="en-US" dirty="0">
                <a:solidFill>
                  <a:srgbClr val="C00000"/>
                </a:solidFill>
              </a:rPr>
              <a:t> </a:t>
            </a:r>
            <a:r>
              <a:rPr lang="en-US" dirty="0"/>
              <a:t>of the data members.</a:t>
            </a:r>
          </a:p>
          <a:p>
            <a:r>
              <a:rPr lang="en-US" dirty="0"/>
              <a:t>It is also called </a:t>
            </a:r>
            <a:r>
              <a:rPr lang="en-US" i="1" dirty="0">
                <a:solidFill>
                  <a:srgbClr val="B71B1C"/>
                </a:solidFill>
              </a:rPr>
              <a:t>no argument constructor</a:t>
            </a:r>
            <a:r>
              <a:rPr lang="en-US" i="1" dirty="0">
                <a:solidFill>
                  <a:schemeClr val="tx2"/>
                </a:solidFill>
              </a:rPr>
              <a:t>.</a:t>
            </a:r>
            <a:endParaRPr lang="en-US" dirty="0"/>
          </a:p>
        </p:txBody>
      </p:sp>
      <p:sp>
        <p:nvSpPr>
          <p:cNvPr id="4" name="Rectangle 3">
            <a:extLst>
              <a:ext uri="{FF2B5EF4-FFF2-40B4-BE49-F238E27FC236}">
                <a16:creationId xmlns:a16="http://schemas.microsoft.com/office/drawing/2014/main" id="{726C12C9-B7F9-44DD-7A4D-F2636D133514}"/>
              </a:ext>
            </a:extLst>
          </p:cNvPr>
          <p:cNvSpPr/>
          <p:nvPr/>
        </p:nvSpPr>
        <p:spPr>
          <a:xfrm>
            <a:off x="462741" y="2502668"/>
            <a:ext cx="3820501" cy="3816429"/>
          </a:xfrm>
          <a:prstGeom prst="rect">
            <a:avLst/>
          </a:prstGeom>
          <a:ln w="19050">
            <a:solidFill>
              <a:schemeClr val="accent1"/>
            </a:solidFill>
            <a:prstDash val="dash"/>
          </a:ln>
        </p:spPr>
        <p:txBody>
          <a:bodyPr wrap="square">
            <a:spAutoFit/>
          </a:bodyPr>
          <a:lstStyle/>
          <a:p>
            <a:r>
              <a:rPr lang="en-US" sz="2200" b="1" dirty="0">
                <a:solidFill>
                  <a:srgbClr val="7F0055"/>
                </a:solidFill>
                <a:latin typeface="Consolas" panose="020B0609020204030204" pitchFamily="49" charset="0"/>
              </a:rPr>
              <a:t>class</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Rect</a:t>
            </a:r>
            <a:r>
              <a:rPr lang="en-US" sz="2200" b="1" dirty="0">
                <a:solidFill>
                  <a:srgbClr val="000000"/>
                </a:solidFill>
                <a:latin typeface="Consolas" panose="020B0609020204030204" pitchFamily="49" charset="0"/>
              </a:rPr>
              <a:t>{</a:t>
            </a:r>
          </a:p>
          <a:p>
            <a:pPr lvl="1"/>
            <a:r>
              <a:rPr lang="en-US" sz="2200" b="1" dirty="0" err="1">
                <a:solidFill>
                  <a:srgbClr val="7F0055"/>
                </a:solidFill>
                <a:latin typeface="Consolas" panose="020B0609020204030204" pitchFamily="49" charset="0"/>
              </a:rPr>
              <a:t>int</a:t>
            </a:r>
            <a:r>
              <a:rPr lang="en-US" sz="2200" b="1" dirty="0">
                <a:solidFill>
                  <a:srgbClr val="000000"/>
                </a:solidFill>
                <a:latin typeface="Consolas" panose="020B0609020204030204" pitchFamily="49" charset="0"/>
              </a:rPr>
              <a:t> </a:t>
            </a:r>
            <a:r>
              <a:rPr lang="en-US" sz="2200" b="1" dirty="0" err="1">
                <a:solidFill>
                  <a:srgbClr val="0000C0"/>
                </a:solidFill>
                <a:latin typeface="Consolas" panose="020B0609020204030204" pitchFamily="49" charset="0"/>
              </a:rPr>
              <a:t>len</a:t>
            </a:r>
            <a:r>
              <a:rPr lang="en-US" sz="2200" b="1" dirty="0">
                <a:solidFill>
                  <a:srgbClr val="000000"/>
                </a:solidFill>
                <a:latin typeface="Consolas" panose="020B0609020204030204" pitchFamily="49" charset="0"/>
              </a:rPr>
              <a:t>;</a:t>
            </a:r>
          </a:p>
          <a:p>
            <a:pPr lvl="1"/>
            <a:r>
              <a:rPr lang="en-US" sz="2200" b="1" dirty="0" err="1">
                <a:solidFill>
                  <a:srgbClr val="7F0055"/>
                </a:solidFill>
                <a:latin typeface="Consolas" panose="020B0609020204030204" pitchFamily="49" charset="0"/>
              </a:rPr>
              <a:t>int</a:t>
            </a:r>
            <a:r>
              <a:rPr lang="en-US" sz="2200" b="1" dirty="0">
                <a:solidFill>
                  <a:srgbClr val="000000"/>
                </a:solidFill>
                <a:latin typeface="Consolas" panose="020B0609020204030204" pitchFamily="49" charset="0"/>
              </a:rPr>
              <a:t> </a:t>
            </a:r>
            <a:r>
              <a:rPr lang="en-US" sz="2200" b="1" dirty="0" err="1">
                <a:solidFill>
                  <a:srgbClr val="0000C0"/>
                </a:solidFill>
                <a:latin typeface="Consolas" panose="020B0609020204030204" pitchFamily="49" charset="0"/>
              </a:rPr>
              <a:t>wid</a:t>
            </a:r>
            <a:r>
              <a:rPr lang="en-US" sz="2200" b="1" dirty="0">
                <a:solidFill>
                  <a:srgbClr val="000000"/>
                </a:solidFill>
                <a:latin typeface="Consolas" panose="020B0609020204030204" pitchFamily="49" charset="0"/>
              </a:rPr>
              <a:t>;</a:t>
            </a:r>
          </a:p>
          <a:p>
            <a:pPr lvl="1"/>
            <a:r>
              <a:rPr lang="en-US" sz="2200" b="1" dirty="0" err="1">
                <a:solidFill>
                  <a:srgbClr val="7F0055"/>
                </a:solidFill>
                <a:latin typeface="Consolas" panose="020B0609020204030204" pitchFamily="49" charset="0"/>
              </a:rPr>
              <a:t>boolean</a:t>
            </a:r>
            <a:r>
              <a:rPr lang="en-US" sz="2200" b="1" dirty="0">
                <a:solidFill>
                  <a:srgbClr val="000000"/>
                </a:solidFill>
                <a:latin typeface="Consolas" panose="020B0609020204030204" pitchFamily="49" charset="0"/>
              </a:rPr>
              <a:t> </a:t>
            </a:r>
            <a:r>
              <a:rPr lang="en-US" sz="2200" b="1" dirty="0" err="1">
                <a:solidFill>
                  <a:srgbClr val="0000C0"/>
                </a:solidFill>
                <a:latin typeface="Consolas" panose="020B0609020204030204" pitchFamily="49" charset="0"/>
              </a:rPr>
              <a:t>isFilled</a:t>
            </a:r>
            <a:r>
              <a:rPr lang="en-US" sz="2200" b="1" dirty="0">
                <a:solidFill>
                  <a:srgbClr val="000000"/>
                </a:solidFill>
                <a:latin typeface="Consolas" panose="020B0609020204030204" pitchFamily="49" charset="0"/>
              </a:rPr>
              <a:t>;</a:t>
            </a:r>
          </a:p>
          <a:p>
            <a:pPr lvl="1"/>
            <a:endParaRPr lang="en-US" sz="2200" dirty="0">
              <a:latin typeface="Consolas" panose="020B0609020204030204" pitchFamily="49" charset="0"/>
            </a:endParaRPr>
          </a:p>
          <a:p>
            <a:pPr lvl="1"/>
            <a:r>
              <a:rPr lang="en-US" sz="2200" b="1" dirty="0">
                <a:solidFill>
                  <a:srgbClr val="7F0055"/>
                </a:solidFill>
                <a:latin typeface="Consolas" panose="020B0609020204030204" pitchFamily="49" charset="0"/>
              </a:rPr>
              <a:t>public</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Rect</a:t>
            </a:r>
            <a:r>
              <a:rPr lang="en-US" sz="2200" b="1" dirty="0">
                <a:solidFill>
                  <a:srgbClr val="000000"/>
                </a:solidFill>
                <a:latin typeface="Consolas" panose="020B0609020204030204" pitchFamily="49" charset="0"/>
              </a:rPr>
              <a:t>(){</a:t>
            </a:r>
          </a:p>
          <a:p>
            <a:pPr lvl="2"/>
            <a:r>
              <a:rPr lang="en-US" sz="2200" dirty="0" err="1">
                <a:solidFill>
                  <a:srgbClr val="0000C0"/>
                </a:solidFill>
                <a:latin typeface="Consolas" panose="020B0609020204030204" pitchFamily="49" charset="0"/>
              </a:rPr>
              <a:t>len</a:t>
            </a:r>
            <a:r>
              <a:rPr lang="en-US" sz="2200" dirty="0">
                <a:solidFill>
                  <a:srgbClr val="000000"/>
                </a:solidFill>
                <a:latin typeface="Consolas" panose="020B0609020204030204" pitchFamily="49" charset="0"/>
              </a:rPr>
              <a:t> = 6;</a:t>
            </a:r>
          </a:p>
          <a:p>
            <a:pPr lvl="2"/>
            <a:r>
              <a:rPr lang="en-US" sz="2200" dirty="0" err="1">
                <a:solidFill>
                  <a:srgbClr val="0000C0"/>
                </a:solidFill>
                <a:latin typeface="Consolas" panose="020B0609020204030204" pitchFamily="49" charset="0"/>
              </a:rPr>
              <a:t>wid</a:t>
            </a:r>
            <a:r>
              <a:rPr lang="en-US" sz="2200" dirty="0">
                <a:solidFill>
                  <a:srgbClr val="000000"/>
                </a:solidFill>
                <a:latin typeface="Consolas" panose="020B0609020204030204" pitchFamily="49" charset="0"/>
              </a:rPr>
              <a:t> = 6;</a:t>
            </a:r>
          </a:p>
          <a:p>
            <a:pPr lvl="2"/>
            <a:r>
              <a:rPr lang="en-US" sz="2200" dirty="0" err="1">
                <a:solidFill>
                  <a:srgbClr val="0000C0"/>
                </a:solidFill>
                <a:latin typeface="Consolas" panose="020B0609020204030204" pitchFamily="49" charset="0"/>
              </a:rPr>
              <a:t>isFilled</a:t>
            </a:r>
            <a:r>
              <a:rPr lang="en-US" sz="2200" dirty="0">
                <a:solidFill>
                  <a:srgbClr val="000000"/>
                </a:solidFill>
                <a:latin typeface="Consolas" panose="020B0609020204030204" pitchFamily="49" charset="0"/>
              </a:rPr>
              <a:t> = </a:t>
            </a:r>
            <a:r>
              <a:rPr lang="en-US" sz="2200" b="1" dirty="0">
                <a:solidFill>
                  <a:srgbClr val="7F0055"/>
                </a:solidFill>
                <a:latin typeface="Consolas" panose="020B0609020204030204" pitchFamily="49" charset="0"/>
              </a:rPr>
              <a:t>false</a:t>
            </a:r>
            <a:r>
              <a:rPr lang="en-US" sz="2200" b="1" dirty="0">
                <a:solidFill>
                  <a:srgbClr val="000000"/>
                </a:solidFill>
                <a:latin typeface="Consolas" panose="020B0609020204030204" pitchFamily="49" charset="0"/>
              </a:rPr>
              <a:t>;</a:t>
            </a:r>
          </a:p>
          <a:p>
            <a:pPr lvl="1"/>
            <a:r>
              <a:rPr lang="en-US" sz="2200" dirty="0">
                <a:solidFill>
                  <a:srgbClr val="000000"/>
                </a:solidFill>
                <a:latin typeface="Consolas" panose="020B0609020204030204" pitchFamily="49" charset="0"/>
              </a:rPr>
              <a:t>}</a:t>
            </a:r>
            <a:endParaRPr lang="en-US" sz="2200" dirty="0">
              <a:latin typeface="Consolas" panose="020B0609020204030204" pitchFamily="49" charset="0"/>
            </a:endParaRPr>
          </a:p>
          <a:p>
            <a:r>
              <a:rPr lang="en-US" sz="2200" dirty="0">
                <a:solidFill>
                  <a:srgbClr val="000000"/>
                </a:solidFill>
                <a:latin typeface="Consolas" panose="020B0609020204030204" pitchFamily="49" charset="0"/>
              </a:rPr>
              <a:t>}</a:t>
            </a:r>
            <a:endParaRPr lang="en-US" sz="2200" dirty="0">
              <a:solidFill>
                <a:srgbClr val="000000"/>
              </a:solidFill>
              <a:latin typeface="Consolas"/>
            </a:endParaRPr>
          </a:p>
        </p:txBody>
      </p:sp>
      <p:sp>
        <p:nvSpPr>
          <p:cNvPr id="5" name="Rectangle 4">
            <a:extLst>
              <a:ext uri="{FF2B5EF4-FFF2-40B4-BE49-F238E27FC236}">
                <a16:creationId xmlns:a16="http://schemas.microsoft.com/office/drawing/2014/main" id="{7C9FECBE-C457-750F-D6A3-E2A284DA10CB}"/>
              </a:ext>
            </a:extLst>
          </p:cNvPr>
          <p:cNvSpPr/>
          <p:nvPr/>
        </p:nvSpPr>
        <p:spPr>
          <a:xfrm>
            <a:off x="4699865" y="2762550"/>
            <a:ext cx="6062749" cy="2462213"/>
          </a:xfrm>
          <a:prstGeom prst="rect">
            <a:avLst/>
          </a:prstGeom>
          <a:ln w="19050">
            <a:solidFill>
              <a:schemeClr val="accent1"/>
            </a:solidFill>
            <a:prstDash val="dash"/>
          </a:ln>
        </p:spPr>
        <p:txBody>
          <a:bodyPr wrap="square">
            <a:spAutoFit/>
          </a:bodyPr>
          <a:lstStyle/>
          <a:p>
            <a:r>
              <a:rPr lang="en-US" sz="2200" b="1" dirty="0">
                <a:solidFill>
                  <a:srgbClr val="7F0055"/>
                </a:solidFill>
                <a:latin typeface="Consolas" panose="020B0609020204030204" pitchFamily="49" charset="0"/>
              </a:rPr>
              <a:t>public</a:t>
            </a:r>
            <a:r>
              <a:rPr lang="en-US" sz="2200" b="1" dirty="0">
                <a:solidFill>
                  <a:srgbClr val="000000"/>
                </a:solidFill>
                <a:latin typeface="Consolas" panose="020B0609020204030204" pitchFamily="49" charset="0"/>
              </a:rPr>
              <a:t> </a:t>
            </a:r>
            <a:r>
              <a:rPr lang="en-US" sz="2200" b="1" dirty="0">
                <a:solidFill>
                  <a:srgbClr val="7F0055"/>
                </a:solidFill>
                <a:latin typeface="Consolas" panose="020B0609020204030204" pitchFamily="49" charset="0"/>
              </a:rPr>
              <a:t>class</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RectDemo</a:t>
            </a:r>
            <a:r>
              <a:rPr lang="en-US" sz="2200" b="1" dirty="0">
                <a:solidFill>
                  <a:srgbClr val="000000"/>
                </a:solidFill>
                <a:latin typeface="Consolas" panose="020B0609020204030204" pitchFamily="49" charset="0"/>
              </a:rPr>
              <a:t>{</a:t>
            </a:r>
          </a:p>
          <a:p>
            <a:pPr lvl="1"/>
            <a:r>
              <a:rPr lang="en-US" sz="2200" b="1" dirty="0">
                <a:solidFill>
                  <a:srgbClr val="7F0055"/>
                </a:solidFill>
                <a:latin typeface="Consolas" panose="020B0609020204030204" pitchFamily="49" charset="0"/>
              </a:rPr>
              <a:t>public</a:t>
            </a:r>
            <a:r>
              <a:rPr lang="en-US" sz="2200" b="1" dirty="0">
                <a:solidFill>
                  <a:srgbClr val="000000"/>
                </a:solidFill>
                <a:latin typeface="Consolas" panose="020B0609020204030204" pitchFamily="49" charset="0"/>
              </a:rPr>
              <a:t> </a:t>
            </a:r>
            <a:r>
              <a:rPr lang="en-US" sz="2200" b="1" dirty="0">
                <a:solidFill>
                  <a:srgbClr val="7F0055"/>
                </a:solidFill>
                <a:latin typeface="Consolas" panose="020B0609020204030204" pitchFamily="49" charset="0"/>
              </a:rPr>
              <a:t>static</a:t>
            </a:r>
            <a:r>
              <a:rPr lang="en-US" sz="2200" b="1" dirty="0">
                <a:solidFill>
                  <a:srgbClr val="000000"/>
                </a:solidFill>
                <a:latin typeface="Consolas" panose="020B0609020204030204" pitchFamily="49" charset="0"/>
              </a:rPr>
              <a:t> </a:t>
            </a:r>
            <a:r>
              <a:rPr lang="en-US" sz="2200" b="1" dirty="0">
                <a:solidFill>
                  <a:srgbClr val="7F0055"/>
                </a:solidFill>
                <a:latin typeface="Consolas" panose="020B0609020204030204" pitchFamily="49" charset="0"/>
              </a:rPr>
              <a:t>void</a:t>
            </a:r>
            <a:r>
              <a:rPr lang="en-US" sz="2200" b="1" dirty="0">
                <a:solidFill>
                  <a:srgbClr val="000000"/>
                </a:solidFill>
                <a:latin typeface="Consolas" panose="020B0609020204030204" pitchFamily="49" charset="0"/>
              </a:rPr>
              <a:t> main(String[] </a:t>
            </a:r>
            <a:r>
              <a:rPr lang="en-US" sz="2200" b="1" dirty="0" err="1">
                <a:solidFill>
                  <a:srgbClr val="6A3E3E"/>
                </a:solidFill>
                <a:latin typeface="Consolas" panose="020B0609020204030204" pitchFamily="49" charset="0"/>
              </a:rPr>
              <a:t>args</a:t>
            </a:r>
            <a:r>
              <a:rPr lang="en-US" sz="2200" b="1" dirty="0">
                <a:solidFill>
                  <a:srgbClr val="000000"/>
                </a:solidFill>
                <a:latin typeface="Consolas" panose="020B0609020204030204" pitchFamily="49" charset="0"/>
              </a:rPr>
              <a:t>) {</a:t>
            </a:r>
          </a:p>
          <a:p>
            <a:pPr lvl="2"/>
            <a:r>
              <a:rPr lang="en-US" sz="2200" dirty="0" err="1">
                <a:solidFill>
                  <a:srgbClr val="000000"/>
                </a:solidFill>
                <a:latin typeface="Consolas" panose="020B0609020204030204" pitchFamily="49" charset="0"/>
              </a:rPr>
              <a:t>Rect</a:t>
            </a:r>
            <a:r>
              <a:rPr lang="en-US" sz="2200" dirty="0">
                <a:solidFill>
                  <a:srgbClr val="000000"/>
                </a:solidFill>
                <a:latin typeface="Consolas" panose="020B0609020204030204" pitchFamily="49" charset="0"/>
              </a:rPr>
              <a:t> </a:t>
            </a:r>
            <a:r>
              <a:rPr lang="en-US" sz="2200" dirty="0">
                <a:solidFill>
                  <a:srgbClr val="6A3E3E"/>
                </a:solidFill>
                <a:latin typeface="Consolas" panose="020B0609020204030204" pitchFamily="49" charset="0"/>
              </a:rPr>
              <a:t>r1</a:t>
            </a:r>
            <a:r>
              <a:rPr lang="en-US" sz="2200" dirty="0">
                <a:solidFill>
                  <a:srgbClr val="000000"/>
                </a:solidFill>
                <a:latin typeface="Consolas" panose="020B0609020204030204" pitchFamily="49" charset="0"/>
              </a:rPr>
              <a:t> = </a:t>
            </a:r>
            <a:r>
              <a:rPr lang="en-US" sz="2200" b="1" dirty="0">
                <a:solidFill>
                  <a:srgbClr val="7F0055"/>
                </a:solidFill>
                <a:latin typeface="Consolas" panose="020B0609020204030204" pitchFamily="49" charset="0"/>
              </a:rPr>
              <a:t>new</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Rect</a:t>
            </a:r>
            <a:r>
              <a:rPr lang="en-US" sz="2200" b="1" dirty="0">
                <a:solidFill>
                  <a:srgbClr val="000000"/>
                </a:solidFill>
                <a:latin typeface="Consolas" panose="020B0609020204030204" pitchFamily="49" charset="0"/>
              </a:rPr>
              <a:t>();</a:t>
            </a:r>
          </a:p>
          <a:p>
            <a:pPr lvl="2"/>
            <a:r>
              <a:rPr lang="en-US" sz="2200" dirty="0" err="1">
                <a:solidFill>
                  <a:srgbClr val="000000"/>
                </a:solidFill>
                <a:latin typeface="Consolas" panose="020B0609020204030204" pitchFamily="49" charset="0"/>
              </a:rPr>
              <a:t>System.</a:t>
            </a:r>
            <a:r>
              <a:rPr lang="en-US" sz="2200" b="1" i="1" dirty="0" err="1">
                <a:solidFill>
                  <a:srgbClr val="0000C0"/>
                </a:solidFill>
                <a:latin typeface="Consolas" panose="020B0609020204030204" pitchFamily="49" charset="0"/>
              </a:rPr>
              <a:t>out</a:t>
            </a:r>
            <a:r>
              <a:rPr lang="en-US" sz="2200" b="1" i="1" dirty="0" err="1">
                <a:solidFill>
                  <a:srgbClr val="000000"/>
                </a:solidFill>
                <a:latin typeface="Consolas" panose="020B0609020204030204" pitchFamily="49" charset="0"/>
              </a:rPr>
              <a:t>.println</a:t>
            </a:r>
            <a:r>
              <a:rPr lang="en-US" sz="2200" b="1" i="1" dirty="0">
                <a:solidFill>
                  <a:srgbClr val="000000"/>
                </a:solidFill>
                <a:latin typeface="Consolas" panose="020B0609020204030204" pitchFamily="49" charset="0"/>
              </a:rPr>
              <a:t>(</a:t>
            </a:r>
            <a:r>
              <a:rPr lang="en-US" sz="2200" b="1" i="1" dirty="0">
                <a:solidFill>
                  <a:srgbClr val="6A3E3E"/>
                </a:solidFill>
                <a:latin typeface="Consolas" panose="020B0609020204030204" pitchFamily="49" charset="0"/>
              </a:rPr>
              <a:t>r1</a:t>
            </a:r>
            <a:r>
              <a:rPr lang="en-US" sz="2200" b="1" i="1" dirty="0">
                <a:solidFill>
                  <a:srgbClr val="000000"/>
                </a:solidFill>
                <a:latin typeface="Consolas" panose="020B0609020204030204" pitchFamily="49" charset="0"/>
              </a:rPr>
              <a:t>.</a:t>
            </a:r>
            <a:r>
              <a:rPr lang="en-US" sz="2200" b="1" i="1" dirty="0">
                <a:solidFill>
                  <a:srgbClr val="0000C0"/>
                </a:solidFill>
                <a:latin typeface="Consolas" panose="020B0609020204030204" pitchFamily="49" charset="0"/>
              </a:rPr>
              <a:t>len</a:t>
            </a:r>
            <a:r>
              <a:rPr lang="en-US" sz="2200" b="1" i="1" dirty="0">
                <a:solidFill>
                  <a:srgbClr val="000000"/>
                </a:solidFill>
                <a:latin typeface="Consolas" panose="020B0609020204030204" pitchFamily="49" charset="0"/>
              </a:rPr>
              <a:t>);</a:t>
            </a:r>
          </a:p>
          <a:p>
            <a:pPr lvl="1"/>
            <a:r>
              <a:rPr lang="en-US" sz="2200" dirty="0">
                <a:solidFill>
                  <a:srgbClr val="000000"/>
                </a:solidFill>
                <a:latin typeface="Consolas" panose="020B0609020204030204" pitchFamily="49" charset="0"/>
              </a:rPr>
              <a:t>}</a:t>
            </a:r>
          </a:p>
          <a:p>
            <a:r>
              <a:rPr lang="en-US" sz="2200" dirty="0">
                <a:solidFill>
                  <a:srgbClr val="000000"/>
                </a:solidFill>
                <a:latin typeface="Consolas" panose="020B0609020204030204" pitchFamily="49" charset="0"/>
              </a:rPr>
              <a:t>}</a:t>
            </a:r>
            <a:endParaRPr lang="en-US" sz="2200" dirty="0">
              <a:solidFill>
                <a:srgbClr val="000000"/>
              </a:solidFill>
              <a:latin typeface="Consolas"/>
            </a:endParaRPr>
          </a:p>
        </p:txBody>
      </p:sp>
    </p:spTree>
    <p:extLst>
      <p:ext uri="{BB962C8B-B14F-4D97-AF65-F5344CB8AC3E}">
        <p14:creationId xmlns:p14="http://schemas.microsoft.com/office/powerpoint/2010/main" val="1743497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4">
                                            <p:bg/>
                                          </p:spTgt>
                                        </p:tgtEl>
                                        <p:attrNameLst>
                                          <p:attrName>style.visibility</p:attrName>
                                        </p:attrNameLst>
                                      </p:cBhvr>
                                      <p:to>
                                        <p:strVal val="visible"/>
                                      </p:to>
                                    </p:set>
                                    <p:animEffect transition="in" filter="blinds(horizontal)">
                                      <p:cBhvr>
                                        <p:cTn id="19" dur="500"/>
                                        <p:tgtEl>
                                          <p:spTgt spid="4">
                                            <p:bg/>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4">
                                            <p:txEl>
                                              <p:pRg st="0" end="0"/>
                                            </p:txEl>
                                          </p:spTgt>
                                        </p:tgtEl>
                                        <p:attrNameLst>
                                          <p:attrName>style.visibility</p:attrName>
                                        </p:attrNameLst>
                                      </p:cBhvr>
                                      <p:to>
                                        <p:strVal val="visible"/>
                                      </p:to>
                                    </p:set>
                                    <p:animEffect transition="in" filter="blinds(horizontal)">
                                      <p:cBhvr>
                                        <p:cTn id="24" dur="500"/>
                                        <p:tgtEl>
                                          <p:spTgt spid="4">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animEffect transition="in" filter="blinds(horizontal)">
                                      <p:cBhvr>
                                        <p:cTn id="29" dur="500"/>
                                        <p:tgtEl>
                                          <p:spTgt spid="4">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4">
                                            <p:txEl>
                                              <p:pRg st="2" end="2"/>
                                            </p:txEl>
                                          </p:spTgt>
                                        </p:tgtEl>
                                        <p:attrNameLst>
                                          <p:attrName>style.visibility</p:attrName>
                                        </p:attrNameLst>
                                      </p:cBhvr>
                                      <p:to>
                                        <p:strVal val="visible"/>
                                      </p:to>
                                    </p:set>
                                    <p:animEffect transition="in" filter="blinds(horizontal)">
                                      <p:cBhvr>
                                        <p:cTn id="34" dur="500"/>
                                        <p:tgtEl>
                                          <p:spTgt spid="4">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animEffect transition="in" filter="blinds(horizontal)">
                                      <p:cBhvr>
                                        <p:cTn id="39" dur="500"/>
                                        <p:tgtEl>
                                          <p:spTgt spid="4">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4">
                                            <p:txEl>
                                              <p:pRg st="5" end="5"/>
                                            </p:txEl>
                                          </p:spTgt>
                                        </p:tgtEl>
                                        <p:attrNameLst>
                                          <p:attrName>style.visibility</p:attrName>
                                        </p:attrNameLst>
                                      </p:cBhvr>
                                      <p:to>
                                        <p:strVal val="visible"/>
                                      </p:to>
                                    </p:set>
                                    <p:animEffect transition="in" filter="blinds(horizontal)">
                                      <p:cBhvr>
                                        <p:cTn id="44" dur="500"/>
                                        <p:tgtEl>
                                          <p:spTgt spid="4">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blinds(horizontal)">
                                      <p:cBhvr>
                                        <p:cTn id="49" dur="500"/>
                                        <p:tgtEl>
                                          <p:spTgt spid="4">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4">
                                            <p:txEl>
                                              <p:pRg st="7" end="7"/>
                                            </p:txEl>
                                          </p:spTgt>
                                        </p:tgtEl>
                                        <p:attrNameLst>
                                          <p:attrName>style.visibility</p:attrName>
                                        </p:attrNameLst>
                                      </p:cBhvr>
                                      <p:to>
                                        <p:strVal val="visible"/>
                                      </p:to>
                                    </p:set>
                                    <p:animEffect transition="in" filter="blinds(horizontal)">
                                      <p:cBhvr>
                                        <p:cTn id="54" dur="500"/>
                                        <p:tgtEl>
                                          <p:spTgt spid="4">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4">
                                            <p:txEl>
                                              <p:pRg st="8" end="8"/>
                                            </p:txEl>
                                          </p:spTgt>
                                        </p:tgtEl>
                                        <p:attrNameLst>
                                          <p:attrName>style.visibility</p:attrName>
                                        </p:attrNameLst>
                                      </p:cBhvr>
                                      <p:to>
                                        <p:strVal val="visible"/>
                                      </p:to>
                                    </p:set>
                                    <p:animEffect transition="in" filter="blinds(horizontal)">
                                      <p:cBhvr>
                                        <p:cTn id="59" dur="500"/>
                                        <p:tgtEl>
                                          <p:spTgt spid="4">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4">
                                            <p:txEl>
                                              <p:pRg st="9" end="9"/>
                                            </p:txEl>
                                          </p:spTgt>
                                        </p:tgtEl>
                                        <p:attrNameLst>
                                          <p:attrName>style.visibility</p:attrName>
                                        </p:attrNameLst>
                                      </p:cBhvr>
                                      <p:to>
                                        <p:strVal val="visible"/>
                                      </p:to>
                                    </p:set>
                                    <p:animEffect transition="in" filter="blinds(horizontal)">
                                      <p:cBhvr>
                                        <p:cTn id="64" dur="500"/>
                                        <p:tgtEl>
                                          <p:spTgt spid="4">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4">
                                            <p:txEl>
                                              <p:pRg st="10" end="10"/>
                                            </p:txEl>
                                          </p:spTgt>
                                        </p:tgtEl>
                                        <p:attrNameLst>
                                          <p:attrName>style.visibility</p:attrName>
                                        </p:attrNameLst>
                                      </p:cBhvr>
                                      <p:to>
                                        <p:strVal val="visible"/>
                                      </p:to>
                                    </p:set>
                                    <p:animEffect transition="in" filter="blinds(horizontal)">
                                      <p:cBhvr>
                                        <p:cTn id="69" dur="500"/>
                                        <p:tgtEl>
                                          <p:spTgt spid="4">
                                            <p:txEl>
                                              <p:pRg st="10" end="1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5">
                                            <p:bg/>
                                          </p:spTgt>
                                        </p:tgtEl>
                                        <p:attrNameLst>
                                          <p:attrName>style.visibility</p:attrName>
                                        </p:attrNameLst>
                                      </p:cBhvr>
                                      <p:to>
                                        <p:strVal val="visible"/>
                                      </p:to>
                                    </p:set>
                                    <p:animEffect transition="in" filter="blinds(horizontal)">
                                      <p:cBhvr>
                                        <p:cTn id="74" dur="500"/>
                                        <p:tgtEl>
                                          <p:spTgt spid="5">
                                            <p:bg/>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5">
                                            <p:txEl>
                                              <p:pRg st="0" end="0"/>
                                            </p:txEl>
                                          </p:spTgt>
                                        </p:tgtEl>
                                        <p:attrNameLst>
                                          <p:attrName>style.visibility</p:attrName>
                                        </p:attrNameLst>
                                      </p:cBhvr>
                                      <p:to>
                                        <p:strVal val="visible"/>
                                      </p:to>
                                    </p:set>
                                    <p:animEffect transition="in" filter="blinds(horizontal)">
                                      <p:cBhvr>
                                        <p:cTn id="79" dur="500"/>
                                        <p:tgtEl>
                                          <p:spTgt spid="5">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5">
                                            <p:txEl>
                                              <p:pRg st="1" end="1"/>
                                            </p:txEl>
                                          </p:spTgt>
                                        </p:tgtEl>
                                        <p:attrNameLst>
                                          <p:attrName>style.visibility</p:attrName>
                                        </p:attrNameLst>
                                      </p:cBhvr>
                                      <p:to>
                                        <p:strVal val="visible"/>
                                      </p:to>
                                    </p:set>
                                    <p:animEffect transition="in" filter="blinds(horizontal)">
                                      <p:cBhvr>
                                        <p:cTn id="84" dur="500"/>
                                        <p:tgtEl>
                                          <p:spTgt spid="5">
                                            <p:txEl>
                                              <p:pRg st="1" end="1"/>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5">
                                            <p:txEl>
                                              <p:pRg st="2" end="2"/>
                                            </p:txEl>
                                          </p:spTgt>
                                        </p:tgtEl>
                                        <p:attrNameLst>
                                          <p:attrName>style.visibility</p:attrName>
                                        </p:attrNameLst>
                                      </p:cBhvr>
                                      <p:to>
                                        <p:strVal val="visible"/>
                                      </p:to>
                                    </p:set>
                                    <p:animEffect transition="in" filter="blinds(horizontal)">
                                      <p:cBhvr>
                                        <p:cTn id="89" dur="500"/>
                                        <p:tgtEl>
                                          <p:spTgt spid="5">
                                            <p:txEl>
                                              <p:pRg st="2" end="2"/>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5">
                                            <p:txEl>
                                              <p:pRg st="3" end="3"/>
                                            </p:txEl>
                                          </p:spTgt>
                                        </p:tgtEl>
                                        <p:attrNameLst>
                                          <p:attrName>style.visibility</p:attrName>
                                        </p:attrNameLst>
                                      </p:cBhvr>
                                      <p:to>
                                        <p:strVal val="visible"/>
                                      </p:to>
                                    </p:set>
                                    <p:animEffect transition="in" filter="blinds(horizontal)">
                                      <p:cBhvr>
                                        <p:cTn id="94" dur="500"/>
                                        <p:tgtEl>
                                          <p:spTgt spid="5">
                                            <p:txEl>
                                              <p:pRg st="3" end="3"/>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5">
                                            <p:txEl>
                                              <p:pRg st="4" end="4"/>
                                            </p:txEl>
                                          </p:spTgt>
                                        </p:tgtEl>
                                        <p:attrNameLst>
                                          <p:attrName>style.visibility</p:attrName>
                                        </p:attrNameLst>
                                      </p:cBhvr>
                                      <p:to>
                                        <p:strVal val="visible"/>
                                      </p:to>
                                    </p:set>
                                    <p:animEffect transition="in" filter="blinds(horizontal)">
                                      <p:cBhvr>
                                        <p:cTn id="99" dur="500"/>
                                        <p:tgtEl>
                                          <p:spTgt spid="5">
                                            <p:txEl>
                                              <p:pRg st="4" end="4"/>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5">
                                            <p:txEl>
                                              <p:pRg st="5" end="5"/>
                                            </p:txEl>
                                          </p:spTgt>
                                        </p:tgtEl>
                                        <p:attrNameLst>
                                          <p:attrName>style.visibility</p:attrName>
                                        </p:attrNameLst>
                                      </p:cBhvr>
                                      <p:to>
                                        <p:strVal val="visible"/>
                                      </p:to>
                                    </p:set>
                                    <p:animEffect transition="in" filter="blinds(horizontal)">
                                      <p:cBhvr>
                                        <p:cTn id="104"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4" animBg="1"/>
      <p:bldP spid="5" grpId="0" build="p" bldLvl="4"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ABC4-EEDB-09A7-9696-2BC13D64C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45FDB-5DAB-0513-EA82-C3AE02002490}"/>
              </a:ext>
            </a:extLst>
          </p:cNvPr>
          <p:cNvSpPr>
            <a:spLocks noGrp="1"/>
          </p:cNvSpPr>
          <p:nvPr>
            <p:ph type="title"/>
          </p:nvPr>
        </p:nvSpPr>
        <p:spPr>
          <a:xfrm>
            <a:off x="0" y="1"/>
            <a:ext cx="12192000" cy="711200"/>
          </a:xfrm>
        </p:spPr>
        <p:txBody>
          <a:bodyPr/>
          <a:lstStyle/>
          <a:p>
            <a:r>
              <a:rPr lang="en-IN" dirty="0"/>
              <a:t>Parameterized Constructor</a:t>
            </a:r>
            <a:endParaRPr lang="en-US" dirty="0"/>
          </a:p>
        </p:txBody>
      </p:sp>
      <p:sp>
        <p:nvSpPr>
          <p:cNvPr id="3" name="Content Placeholder 2">
            <a:extLst>
              <a:ext uri="{FF2B5EF4-FFF2-40B4-BE49-F238E27FC236}">
                <a16:creationId xmlns:a16="http://schemas.microsoft.com/office/drawing/2014/main" id="{AB99EE02-B2B6-F24E-E444-39723C0A5F8A}"/>
              </a:ext>
            </a:extLst>
          </p:cNvPr>
          <p:cNvSpPr>
            <a:spLocks noGrp="1"/>
          </p:cNvSpPr>
          <p:nvPr>
            <p:ph idx="1"/>
          </p:nvPr>
        </p:nvSpPr>
        <p:spPr>
          <a:xfrm>
            <a:off x="131180" y="863444"/>
            <a:ext cx="11929641" cy="5590565"/>
          </a:xfrm>
        </p:spPr>
        <p:txBody>
          <a:bodyPr/>
          <a:lstStyle/>
          <a:p>
            <a:r>
              <a:rPr lang="en-US" dirty="0"/>
              <a:t>We can also create parameterized constructor (user defined constructor) just like we create separate methods. </a:t>
            </a:r>
          </a:p>
          <a:p>
            <a:r>
              <a:rPr lang="en-US" dirty="0"/>
              <a:t>Constructors differs from general methods in the following ways:</a:t>
            </a:r>
          </a:p>
          <a:p>
            <a:pPr lvl="1"/>
            <a:r>
              <a:rPr lang="en-US" sz="2200" dirty="0"/>
              <a:t>Constructor must have the same name as class name.</a:t>
            </a:r>
          </a:p>
          <a:p>
            <a:pPr lvl="1"/>
            <a:r>
              <a:rPr lang="en-US" sz="2200" dirty="0"/>
              <a:t>Constructor does not have return type.</a:t>
            </a:r>
          </a:p>
          <a:p>
            <a:pPr lvl="1"/>
            <a:r>
              <a:rPr lang="en-US" sz="2200" dirty="0"/>
              <a:t>Constructor is invoked implicitly only when an object is constructed using new operator.</a:t>
            </a:r>
            <a:endParaRPr lang="en-US" sz="2200" i="1" dirty="0">
              <a:solidFill>
                <a:srgbClr val="C00000"/>
              </a:solidFill>
            </a:endParaRPr>
          </a:p>
          <a:p>
            <a:r>
              <a:rPr lang="en-US" i="1" dirty="0">
                <a:solidFill>
                  <a:srgbClr val="C00000"/>
                </a:solidFill>
              </a:rPr>
              <a:t>Constructors</a:t>
            </a:r>
            <a:r>
              <a:rPr lang="en-US" dirty="0">
                <a:solidFill>
                  <a:srgbClr val="C00000"/>
                </a:solidFill>
              </a:rPr>
              <a:t> </a:t>
            </a:r>
            <a:r>
              <a:rPr lang="en-US" dirty="0"/>
              <a:t>that can take </a:t>
            </a:r>
            <a:r>
              <a:rPr lang="en-US" i="1" dirty="0">
                <a:solidFill>
                  <a:srgbClr val="C00000"/>
                </a:solidFill>
              </a:rPr>
              <a:t>arguments</a:t>
            </a:r>
            <a:r>
              <a:rPr lang="en-US" dirty="0">
                <a:solidFill>
                  <a:srgbClr val="C00000"/>
                </a:solidFill>
              </a:rPr>
              <a:t> </a:t>
            </a:r>
            <a:r>
              <a:rPr lang="en-US" dirty="0"/>
              <a:t>are called parameterized constructors.</a:t>
            </a:r>
          </a:p>
          <a:p>
            <a:r>
              <a:rPr lang="en-US" dirty="0"/>
              <a:t>Sometimes it is necessary to initialize the various data elements of different objects with different values when they are created.</a:t>
            </a:r>
          </a:p>
          <a:p>
            <a:r>
              <a:rPr lang="en-US" dirty="0"/>
              <a:t>We can achieve this objective by passing arguments to the constructor when the objects are created.</a:t>
            </a:r>
          </a:p>
        </p:txBody>
      </p:sp>
    </p:spTree>
    <p:extLst>
      <p:ext uri="{BB962C8B-B14F-4D97-AF65-F5344CB8AC3E}">
        <p14:creationId xmlns:p14="http://schemas.microsoft.com/office/powerpoint/2010/main" val="124042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BE351-D942-DF82-3815-B3A017E23A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7FC73C-DDF8-95D7-A27F-ACC2A1434446}"/>
              </a:ext>
            </a:extLst>
          </p:cNvPr>
          <p:cNvSpPr>
            <a:spLocks noGrp="1"/>
          </p:cNvSpPr>
          <p:nvPr>
            <p:ph type="title"/>
          </p:nvPr>
        </p:nvSpPr>
        <p:spPr>
          <a:xfrm>
            <a:off x="0" y="1"/>
            <a:ext cx="12192000" cy="711200"/>
          </a:xfrm>
        </p:spPr>
        <p:txBody>
          <a:bodyPr/>
          <a:lstStyle/>
          <a:p>
            <a:r>
              <a:rPr lang="en-IN" dirty="0"/>
              <a:t>Parameterized Constructor</a:t>
            </a:r>
            <a:endParaRPr lang="en-US" dirty="0"/>
          </a:p>
        </p:txBody>
      </p:sp>
      <p:sp>
        <p:nvSpPr>
          <p:cNvPr id="3" name="Rectangle 2">
            <a:extLst>
              <a:ext uri="{FF2B5EF4-FFF2-40B4-BE49-F238E27FC236}">
                <a16:creationId xmlns:a16="http://schemas.microsoft.com/office/drawing/2014/main" id="{20C78C8C-7814-DCDF-2FE4-71821F9CA336}"/>
              </a:ext>
            </a:extLst>
          </p:cNvPr>
          <p:cNvSpPr/>
          <p:nvPr/>
        </p:nvSpPr>
        <p:spPr>
          <a:xfrm>
            <a:off x="269616" y="1102528"/>
            <a:ext cx="5370788" cy="4154984"/>
          </a:xfrm>
          <a:prstGeom prst="rect">
            <a:avLst/>
          </a:prstGeom>
          <a:ln w="19050">
            <a:solidFill>
              <a:schemeClr val="accent1"/>
            </a:solidFill>
            <a:prstDash val="dash"/>
          </a:ln>
        </p:spPr>
        <p:txBody>
          <a:bodyPr wrap="square">
            <a:spAutoFit/>
          </a:bodyPr>
          <a:lstStyle/>
          <a:p>
            <a:r>
              <a:rPr lang="en-US" sz="2200" b="1" dirty="0">
                <a:solidFill>
                  <a:srgbClr val="7F0055"/>
                </a:solidFill>
                <a:latin typeface="Consolas" panose="020B0609020204030204" pitchFamily="49" charset="0"/>
              </a:rPr>
              <a:t>class</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Rect</a:t>
            </a:r>
            <a:r>
              <a:rPr lang="en-US" sz="2200" b="1" dirty="0">
                <a:solidFill>
                  <a:srgbClr val="000000"/>
                </a:solidFill>
                <a:latin typeface="Consolas" panose="020B0609020204030204" pitchFamily="49" charset="0"/>
              </a:rPr>
              <a:t>{</a:t>
            </a:r>
          </a:p>
          <a:p>
            <a:pPr lvl="1"/>
            <a:r>
              <a:rPr lang="en-US" sz="2200" b="1" dirty="0" err="1">
                <a:solidFill>
                  <a:srgbClr val="7F0055"/>
                </a:solidFill>
                <a:latin typeface="Consolas" panose="020B0609020204030204" pitchFamily="49" charset="0"/>
              </a:rPr>
              <a:t>int</a:t>
            </a:r>
            <a:r>
              <a:rPr lang="en-US" sz="2200" b="1" dirty="0">
                <a:solidFill>
                  <a:srgbClr val="000000"/>
                </a:solidFill>
                <a:latin typeface="Consolas" panose="020B0609020204030204" pitchFamily="49" charset="0"/>
              </a:rPr>
              <a:t> </a:t>
            </a:r>
            <a:r>
              <a:rPr lang="en-US" sz="2200" b="1" dirty="0" err="1">
                <a:solidFill>
                  <a:srgbClr val="0000C0"/>
                </a:solidFill>
                <a:latin typeface="Consolas" panose="020B0609020204030204" pitchFamily="49" charset="0"/>
              </a:rPr>
              <a:t>len</a:t>
            </a:r>
            <a:r>
              <a:rPr lang="en-US" sz="2200" b="1" dirty="0">
                <a:solidFill>
                  <a:srgbClr val="000000"/>
                </a:solidFill>
                <a:latin typeface="Consolas" panose="020B0609020204030204" pitchFamily="49" charset="0"/>
              </a:rPr>
              <a:t>;</a:t>
            </a:r>
          </a:p>
          <a:p>
            <a:pPr lvl="1"/>
            <a:r>
              <a:rPr lang="en-US" sz="2200" b="1" dirty="0" err="1">
                <a:solidFill>
                  <a:srgbClr val="7F0055"/>
                </a:solidFill>
                <a:latin typeface="Consolas" panose="020B0609020204030204" pitchFamily="49" charset="0"/>
              </a:rPr>
              <a:t>int</a:t>
            </a:r>
            <a:r>
              <a:rPr lang="en-US" sz="2200" b="1" dirty="0">
                <a:solidFill>
                  <a:srgbClr val="000000"/>
                </a:solidFill>
                <a:latin typeface="Consolas" panose="020B0609020204030204" pitchFamily="49" charset="0"/>
              </a:rPr>
              <a:t> </a:t>
            </a:r>
            <a:r>
              <a:rPr lang="en-US" sz="2200" b="1" dirty="0" err="1">
                <a:solidFill>
                  <a:srgbClr val="0000C0"/>
                </a:solidFill>
                <a:latin typeface="Consolas" panose="020B0609020204030204" pitchFamily="49" charset="0"/>
              </a:rPr>
              <a:t>wid</a:t>
            </a:r>
            <a:r>
              <a:rPr lang="en-US" sz="2200" b="1" dirty="0">
                <a:solidFill>
                  <a:srgbClr val="000000"/>
                </a:solidFill>
                <a:latin typeface="Consolas" panose="020B0609020204030204" pitchFamily="49" charset="0"/>
              </a:rPr>
              <a:t>;</a:t>
            </a:r>
          </a:p>
          <a:p>
            <a:pPr lvl="1"/>
            <a:r>
              <a:rPr lang="en-US" sz="2200" b="1" dirty="0" err="1">
                <a:solidFill>
                  <a:srgbClr val="7F0055"/>
                </a:solidFill>
                <a:latin typeface="Consolas" panose="020B0609020204030204" pitchFamily="49" charset="0"/>
              </a:rPr>
              <a:t>boolean</a:t>
            </a:r>
            <a:r>
              <a:rPr lang="en-US" sz="2200" b="1" dirty="0">
                <a:solidFill>
                  <a:srgbClr val="000000"/>
                </a:solidFill>
                <a:latin typeface="Consolas" panose="020B0609020204030204" pitchFamily="49" charset="0"/>
              </a:rPr>
              <a:t> </a:t>
            </a:r>
            <a:r>
              <a:rPr lang="en-US" sz="2200" b="1" dirty="0" err="1">
                <a:solidFill>
                  <a:srgbClr val="0000C0"/>
                </a:solidFill>
                <a:latin typeface="Consolas" panose="020B0609020204030204" pitchFamily="49" charset="0"/>
              </a:rPr>
              <a:t>isFilled</a:t>
            </a:r>
            <a:r>
              <a:rPr lang="en-US" sz="2200" b="1" dirty="0">
                <a:solidFill>
                  <a:srgbClr val="000000"/>
                </a:solidFill>
                <a:latin typeface="Consolas" panose="020B0609020204030204" pitchFamily="49" charset="0"/>
              </a:rPr>
              <a:t>;</a:t>
            </a:r>
          </a:p>
          <a:p>
            <a:pPr lvl="1"/>
            <a:endParaRPr lang="en-US" sz="2200" dirty="0">
              <a:latin typeface="Consolas" panose="020B0609020204030204" pitchFamily="49" charset="0"/>
            </a:endParaRPr>
          </a:p>
          <a:p>
            <a:pPr lvl="1"/>
            <a:r>
              <a:rPr lang="en-US" sz="2200" b="1" dirty="0">
                <a:solidFill>
                  <a:srgbClr val="7F0055"/>
                </a:solidFill>
                <a:latin typeface="Consolas" panose="020B0609020204030204" pitchFamily="49" charset="0"/>
              </a:rPr>
              <a:t>public</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Rect</a:t>
            </a:r>
            <a:r>
              <a:rPr lang="en-US" sz="2200" b="1" dirty="0">
                <a:solidFill>
                  <a:srgbClr val="000000"/>
                </a:solidFill>
                <a:latin typeface="Consolas" panose="020B0609020204030204" pitchFamily="49" charset="0"/>
              </a:rPr>
              <a:t>(</a:t>
            </a:r>
            <a:r>
              <a:rPr lang="en-US" sz="2200" b="1" dirty="0" err="1">
                <a:solidFill>
                  <a:srgbClr val="7F0055"/>
                </a:solidFill>
                <a:latin typeface="Consolas" panose="020B0609020204030204" pitchFamily="49" charset="0"/>
              </a:rPr>
              <a:t>int</a:t>
            </a:r>
            <a:r>
              <a:rPr lang="en-US" sz="2200" b="1" dirty="0">
                <a:solidFill>
                  <a:srgbClr val="000000"/>
                </a:solidFill>
                <a:latin typeface="Consolas" panose="020B0609020204030204" pitchFamily="49" charset="0"/>
              </a:rPr>
              <a:t> </a:t>
            </a:r>
            <a:r>
              <a:rPr lang="en-US" sz="2200" b="1" dirty="0">
                <a:solidFill>
                  <a:srgbClr val="6A3E3E"/>
                </a:solidFill>
                <a:latin typeface="Consolas" panose="020B0609020204030204" pitchFamily="49" charset="0"/>
              </a:rPr>
              <a:t>l</a:t>
            </a:r>
            <a:r>
              <a:rPr lang="en-US" sz="2200" b="1" dirty="0">
                <a:solidFill>
                  <a:srgbClr val="000000"/>
                </a:solidFill>
                <a:latin typeface="Consolas" panose="020B0609020204030204" pitchFamily="49" charset="0"/>
              </a:rPr>
              <a:t>, </a:t>
            </a:r>
            <a:r>
              <a:rPr lang="en-US" sz="2200" b="1" dirty="0" err="1">
                <a:solidFill>
                  <a:srgbClr val="7F0055"/>
                </a:solidFill>
                <a:latin typeface="Consolas" panose="020B0609020204030204" pitchFamily="49" charset="0"/>
              </a:rPr>
              <a:t>int</a:t>
            </a:r>
            <a:r>
              <a:rPr lang="en-US" sz="2200" b="1" dirty="0">
                <a:solidFill>
                  <a:srgbClr val="000000"/>
                </a:solidFill>
                <a:latin typeface="Consolas" panose="020B0609020204030204" pitchFamily="49" charset="0"/>
              </a:rPr>
              <a:t> </a:t>
            </a:r>
            <a:r>
              <a:rPr lang="en-US" sz="2200" b="1" dirty="0">
                <a:solidFill>
                  <a:srgbClr val="6A3E3E"/>
                </a:solidFill>
                <a:latin typeface="Consolas" panose="020B0609020204030204" pitchFamily="49" charset="0"/>
              </a:rPr>
              <a:t>w</a:t>
            </a:r>
            <a:r>
              <a:rPr lang="en-US" sz="2200" b="1" dirty="0">
                <a:solidFill>
                  <a:srgbClr val="000000"/>
                </a:solidFill>
                <a:latin typeface="Consolas" panose="020B0609020204030204" pitchFamily="49" charset="0"/>
              </a:rPr>
              <a:t>, </a:t>
            </a:r>
            <a:r>
              <a:rPr lang="en-US" sz="2200" b="1" dirty="0" err="1">
                <a:solidFill>
                  <a:srgbClr val="7F0055"/>
                </a:solidFill>
                <a:latin typeface="Consolas" panose="020B0609020204030204" pitchFamily="49" charset="0"/>
              </a:rPr>
              <a:t>boolean</a:t>
            </a:r>
            <a:r>
              <a:rPr lang="en-US" sz="2200" b="1" dirty="0">
                <a:solidFill>
                  <a:srgbClr val="000000"/>
                </a:solidFill>
                <a:latin typeface="Consolas" panose="020B0609020204030204" pitchFamily="49" charset="0"/>
              </a:rPr>
              <a:t> </a:t>
            </a:r>
            <a:r>
              <a:rPr lang="en-US" sz="2200" b="1" dirty="0" err="1">
                <a:solidFill>
                  <a:srgbClr val="6A3E3E"/>
                </a:solidFill>
                <a:latin typeface="Consolas" panose="020B0609020204030204" pitchFamily="49" charset="0"/>
              </a:rPr>
              <a:t>isF</a:t>
            </a:r>
            <a:r>
              <a:rPr lang="en-US" sz="2200" b="1" dirty="0">
                <a:solidFill>
                  <a:srgbClr val="000000"/>
                </a:solidFill>
                <a:latin typeface="Consolas" panose="020B0609020204030204" pitchFamily="49" charset="0"/>
              </a:rPr>
              <a:t>){</a:t>
            </a:r>
          </a:p>
          <a:p>
            <a:pPr lvl="2"/>
            <a:r>
              <a:rPr lang="en-US" sz="2200" dirty="0" err="1">
                <a:solidFill>
                  <a:srgbClr val="0000C0"/>
                </a:solidFill>
                <a:latin typeface="Consolas" panose="020B0609020204030204" pitchFamily="49" charset="0"/>
              </a:rPr>
              <a:t>len</a:t>
            </a:r>
            <a:r>
              <a:rPr lang="en-US" sz="2200" dirty="0">
                <a:solidFill>
                  <a:srgbClr val="000000"/>
                </a:solidFill>
                <a:latin typeface="Consolas" panose="020B0609020204030204" pitchFamily="49" charset="0"/>
              </a:rPr>
              <a:t> = </a:t>
            </a:r>
            <a:r>
              <a:rPr lang="en-US" sz="2200" dirty="0">
                <a:solidFill>
                  <a:srgbClr val="6A3E3E"/>
                </a:solidFill>
                <a:latin typeface="Consolas" panose="020B0609020204030204" pitchFamily="49" charset="0"/>
              </a:rPr>
              <a:t>l</a:t>
            </a:r>
            <a:r>
              <a:rPr lang="en-US" sz="2200" dirty="0">
                <a:solidFill>
                  <a:srgbClr val="000000"/>
                </a:solidFill>
                <a:latin typeface="Consolas" panose="020B0609020204030204" pitchFamily="49" charset="0"/>
              </a:rPr>
              <a:t>;</a:t>
            </a:r>
          </a:p>
          <a:p>
            <a:pPr lvl="2"/>
            <a:r>
              <a:rPr lang="en-US" sz="2200" dirty="0" err="1">
                <a:solidFill>
                  <a:srgbClr val="0000C0"/>
                </a:solidFill>
                <a:latin typeface="Consolas" panose="020B0609020204030204" pitchFamily="49" charset="0"/>
              </a:rPr>
              <a:t>wid</a:t>
            </a:r>
            <a:r>
              <a:rPr lang="en-US" sz="2200" dirty="0">
                <a:solidFill>
                  <a:srgbClr val="000000"/>
                </a:solidFill>
                <a:latin typeface="Consolas" panose="020B0609020204030204" pitchFamily="49" charset="0"/>
              </a:rPr>
              <a:t> = </a:t>
            </a:r>
            <a:r>
              <a:rPr lang="en-US" sz="2200" dirty="0">
                <a:solidFill>
                  <a:srgbClr val="6A3E3E"/>
                </a:solidFill>
                <a:latin typeface="Consolas" panose="020B0609020204030204" pitchFamily="49" charset="0"/>
              </a:rPr>
              <a:t>w</a:t>
            </a:r>
            <a:r>
              <a:rPr lang="en-US" sz="2200" dirty="0">
                <a:solidFill>
                  <a:srgbClr val="000000"/>
                </a:solidFill>
                <a:latin typeface="Consolas" panose="020B0609020204030204" pitchFamily="49" charset="0"/>
              </a:rPr>
              <a:t>;</a:t>
            </a:r>
          </a:p>
          <a:p>
            <a:pPr lvl="2"/>
            <a:r>
              <a:rPr lang="en-US" sz="2200" dirty="0" err="1">
                <a:solidFill>
                  <a:srgbClr val="0000C0"/>
                </a:solidFill>
                <a:latin typeface="Consolas" panose="020B0609020204030204" pitchFamily="49" charset="0"/>
              </a:rPr>
              <a:t>isFilled</a:t>
            </a:r>
            <a:r>
              <a:rPr lang="en-US" sz="2200" dirty="0">
                <a:solidFill>
                  <a:srgbClr val="000000"/>
                </a:solidFill>
                <a:latin typeface="Consolas" panose="020B0609020204030204" pitchFamily="49" charset="0"/>
              </a:rPr>
              <a:t> = </a:t>
            </a:r>
            <a:r>
              <a:rPr lang="en-US" sz="2200" dirty="0" err="1">
                <a:solidFill>
                  <a:srgbClr val="6A3E3E"/>
                </a:solidFill>
                <a:latin typeface="Consolas" panose="020B0609020204030204" pitchFamily="49" charset="0"/>
              </a:rPr>
              <a:t>isF</a:t>
            </a:r>
            <a:r>
              <a:rPr lang="en-US" sz="2200" dirty="0">
                <a:solidFill>
                  <a:srgbClr val="000000"/>
                </a:solidFill>
                <a:latin typeface="Consolas" panose="020B0609020204030204" pitchFamily="49" charset="0"/>
              </a:rPr>
              <a:t>;</a:t>
            </a:r>
          </a:p>
          <a:p>
            <a:pPr lvl="1"/>
            <a:r>
              <a:rPr lang="en-US" sz="2200" dirty="0">
                <a:solidFill>
                  <a:srgbClr val="000000"/>
                </a:solidFill>
                <a:latin typeface="Consolas" panose="020B0609020204030204" pitchFamily="49" charset="0"/>
              </a:rPr>
              <a:t>}</a:t>
            </a:r>
            <a:endParaRPr lang="en-US" sz="2200" dirty="0">
              <a:latin typeface="Consolas" panose="020B0609020204030204" pitchFamily="49" charset="0"/>
            </a:endParaRPr>
          </a:p>
          <a:p>
            <a:r>
              <a:rPr lang="en-US" sz="2200" dirty="0">
                <a:solidFill>
                  <a:srgbClr val="000000"/>
                </a:solidFill>
                <a:latin typeface="Consolas" panose="020B0609020204030204" pitchFamily="49" charset="0"/>
              </a:rPr>
              <a:t>}</a:t>
            </a:r>
            <a:endParaRPr lang="en-US" sz="2200" dirty="0">
              <a:solidFill>
                <a:srgbClr val="000000"/>
              </a:solidFill>
              <a:latin typeface="Consolas"/>
            </a:endParaRPr>
          </a:p>
        </p:txBody>
      </p:sp>
      <p:sp>
        <p:nvSpPr>
          <p:cNvPr id="4" name="Rectangle 3">
            <a:extLst>
              <a:ext uri="{FF2B5EF4-FFF2-40B4-BE49-F238E27FC236}">
                <a16:creationId xmlns:a16="http://schemas.microsoft.com/office/drawing/2014/main" id="{FFF9FCF2-1E83-5D46-9E77-91B23B94C0E7}"/>
              </a:ext>
            </a:extLst>
          </p:cNvPr>
          <p:cNvSpPr/>
          <p:nvPr/>
        </p:nvSpPr>
        <p:spPr>
          <a:xfrm>
            <a:off x="6020858" y="1577018"/>
            <a:ext cx="5808590" cy="2462213"/>
          </a:xfrm>
          <a:prstGeom prst="rect">
            <a:avLst/>
          </a:prstGeom>
          <a:ln w="19050">
            <a:solidFill>
              <a:schemeClr val="accent1"/>
            </a:solidFill>
            <a:prstDash val="dash"/>
          </a:ln>
        </p:spPr>
        <p:txBody>
          <a:bodyPr wrap="square">
            <a:spAutoFit/>
          </a:bodyPr>
          <a:lstStyle/>
          <a:p>
            <a:r>
              <a:rPr lang="en-US" sz="2200" b="1" dirty="0">
                <a:solidFill>
                  <a:srgbClr val="7F0055"/>
                </a:solidFill>
                <a:latin typeface="Consolas" panose="020B0609020204030204" pitchFamily="49" charset="0"/>
              </a:rPr>
              <a:t>public</a:t>
            </a:r>
            <a:r>
              <a:rPr lang="en-US" sz="2200" b="1" dirty="0">
                <a:solidFill>
                  <a:srgbClr val="000000"/>
                </a:solidFill>
                <a:latin typeface="Consolas" panose="020B0609020204030204" pitchFamily="49" charset="0"/>
              </a:rPr>
              <a:t> </a:t>
            </a:r>
            <a:r>
              <a:rPr lang="en-US" sz="2200" b="1" dirty="0">
                <a:solidFill>
                  <a:srgbClr val="7F0055"/>
                </a:solidFill>
                <a:latin typeface="Consolas" panose="020B0609020204030204" pitchFamily="49" charset="0"/>
              </a:rPr>
              <a:t>class</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RectDemo</a:t>
            </a:r>
            <a:r>
              <a:rPr lang="en-US" sz="2200" b="1" dirty="0">
                <a:solidFill>
                  <a:srgbClr val="000000"/>
                </a:solidFill>
                <a:latin typeface="Consolas" panose="020B0609020204030204" pitchFamily="49" charset="0"/>
              </a:rPr>
              <a:t>{</a:t>
            </a:r>
          </a:p>
          <a:p>
            <a:pPr lvl="1"/>
            <a:r>
              <a:rPr lang="en-US" sz="2200" b="1" dirty="0">
                <a:solidFill>
                  <a:srgbClr val="7F0055"/>
                </a:solidFill>
                <a:latin typeface="Consolas" panose="020B0609020204030204" pitchFamily="49" charset="0"/>
              </a:rPr>
              <a:t>public</a:t>
            </a:r>
            <a:r>
              <a:rPr lang="en-US" sz="2200" b="1" dirty="0">
                <a:solidFill>
                  <a:srgbClr val="000000"/>
                </a:solidFill>
                <a:latin typeface="Consolas" panose="020B0609020204030204" pitchFamily="49" charset="0"/>
              </a:rPr>
              <a:t> </a:t>
            </a:r>
            <a:r>
              <a:rPr lang="en-US" sz="2200" b="1" dirty="0">
                <a:solidFill>
                  <a:srgbClr val="7F0055"/>
                </a:solidFill>
                <a:latin typeface="Consolas" panose="020B0609020204030204" pitchFamily="49" charset="0"/>
              </a:rPr>
              <a:t>static</a:t>
            </a:r>
            <a:r>
              <a:rPr lang="en-US" sz="2200" b="1" dirty="0">
                <a:solidFill>
                  <a:srgbClr val="000000"/>
                </a:solidFill>
                <a:latin typeface="Consolas" panose="020B0609020204030204" pitchFamily="49" charset="0"/>
              </a:rPr>
              <a:t> </a:t>
            </a:r>
            <a:r>
              <a:rPr lang="en-US" sz="2200" b="1" dirty="0">
                <a:solidFill>
                  <a:srgbClr val="7F0055"/>
                </a:solidFill>
                <a:latin typeface="Consolas" panose="020B0609020204030204" pitchFamily="49" charset="0"/>
              </a:rPr>
              <a:t>void</a:t>
            </a:r>
            <a:r>
              <a:rPr lang="en-US" sz="2200" b="1" dirty="0">
                <a:solidFill>
                  <a:srgbClr val="000000"/>
                </a:solidFill>
                <a:latin typeface="Consolas" panose="020B0609020204030204" pitchFamily="49" charset="0"/>
              </a:rPr>
              <a:t> main(String[] </a:t>
            </a:r>
            <a:r>
              <a:rPr lang="en-US" sz="2200" b="1" dirty="0" err="1">
                <a:solidFill>
                  <a:srgbClr val="6A3E3E"/>
                </a:solidFill>
                <a:latin typeface="Consolas" panose="020B0609020204030204" pitchFamily="49" charset="0"/>
              </a:rPr>
              <a:t>args</a:t>
            </a:r>
            <a:r>
              <a:rPr lang="en-US" sz="2200" b="1" dirty="0">
                <a:solidFill>
                  <a:srgbClr val="000000"/>
                </a:solidFill>
                <a:latin typeface="Consolas" panose="020B0609020204030204" pitchFamily="49" charset="0"/>
              </a:rPr>
              <a:t>) {</a:t>
            </a:r>
          </a:p>
          <a:p>
            <a:pPr lvl="2"/>
            <a:r>
              <a:rPr lang="en-US" sz="2200" dirty="0" err="1">
                <a:solidFill>
                  <a:srgbClr val="000000"/>
                </a:solidFill>
                <a:latin typeface="Consolas" panose="020B0609020204030204" pitchFamily="49" charset="0"/>
              </a:rPr>
              <a:t>Rect</a:t>
            </a:r>
            <a:r>
              <a:rPr lang="en-US" sz="2200" dirty="0">
                <a:solidFill>
                  <a:srgbClr val="000000"/>
                </a:solidFill>
                <a:latin typeface="Consolas" panose="020B0609020204030204" pitchFamily="49" charset="0"/>
              </a:rPr>
              <a:t> r1 = </a:t>
            </a:r>
            <a:r>
              <a:rPr lang="en-US" sz="2200" b="1" dirty="0">
                <a:solidFill>
                  <a:srgbClr val="7F0055"/>
                </a:solidFill>
                <a:latin typeface="Consolas" panose="020B0609020204030204" pitchFamily="49" charset="0"/>
              </a:rPr>
              <a:t>new</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Rect</a:t>
            </a:r>
            <a:r>
              <a:rPr lang="en-US" sz="2200" b="1" dirty="0">
                <a:solidFill>
                  <a:srgbClr val="000000"/>
                </a:solidFill>
                <a:latin typeface="Consolas" panose="020B0609020204030204" pitchFamily="49" charset="0"/>
              </a:rPr>
              <a:t>(6,6,</a:t>
            </a:r>
            <a:r>
              <a:rPr lang="en-US" sz="2200" b="1" dirty="0">
                <a:solidFill>
                  <a:srgbClr val="7F0055"/>
                </a:solidFill>
                <a:latin typeface="Consolas" panose="020B0609020204030204" pitchFamily="49" charset="0"/>
              </a:rPr>
              <a:t>false</a:t>
            </a:r>
            <a:r>
              <a:rPr lang="en-US" sz="2200" b="1" dirty="0">
                <a:solidFill>
                  <a:srgbClr val="000000"/>
                </a:solidFill>
                <a:latin typeface="Consolas" panose="020B0609020204030204" pitchFamily="49" charset="0"/>
              </a:rPr>
              <a:t>);</a:t>
            </a:r>
          </a:p>
          <a:p>
            <a:pPr lvl="2"/>
            <a:r>
              <a:rPr lang="en-US" sz="2200" dirty="0" err="1">
                <a:solidFill>
                  <a:srgbClr val="000000"/>
                </a:solidFill>
                <a:latin typeface="Consolas" panose="020B0609020204030204" pitchFamily="49" charset="0"/>
              </a:rPr>
              <a:t>System.</a:t>
            </a:r>
            <a:r>
              <a:rPr lang="en-US" sz="2200" b="1" i="1" dirty="0" err="1">
                <a:solidFill>
                  <a:srgbClr val="0000C0"/>
                </a:solidFill>
                <a:latin typeface="Consolas" panose="020B0609020204030204" pitchFamily="49" charset="0"/>
              </a:rPr>
              <a:t>out</a:t>
            </a:r>
            <a:r>
              <a:rPr lang="en-US" sz="2200" b="1" i="1" dirty="0" err="1">
                <a:solidFill>
                  <a:srgbClr val="000000"/>
                </a:solidFill>
                <a:latin typeface="Consolas" panose="020B0609020204030204" pitchFamily="49" charset="0"/>
              </a:rPr>
              <a:t>.println</a:t>
            </a:r>
            <a:r>
              <a:rPr lang="en-US" sz="2200" b="1" i="1" dirty="0">
                <a:solidFill>
                  <a:srgbClr val="000000"/>
                </a:solidFill>
                <a:latin typeface="Consolas" panose="020B0609020204030204" pitchFamily="49" charset="0"/>
              </a:rPr>
              <a:t>(</a:t>
            </a:r>
            <a:r>
              <a:rPr lang="en-US" sz="2200" b="1" i="1" dirty="0">
                <a:solidFill>
                  <a:srgbClr val="6A3E3E"/>
                </a:solidFill>
                <a:latin typeface="Consolas" panose="020B0609020204030204" pitchFamily="49" charset="0"/>
              </a:rPr>
              <a:t>r1</a:t>
            </a:r>
            <a:r>
              <a:rPr lang="en-US" sz="2200" b="1" i="1" dirty="0">
                <a:solidFill>
                  <a:srgbClr val="000000"/>
                </a:solidFill>
                <a:latin typeface="Consolas" panose="020B0609020204030204" pitchFamily="49" charset="0"/>
              </a:rPr>
              <a:t>.</a:t>
            </a:r>
            <a:r>
              <a:rPr lang="en-US" sz="2200" b="1" i="1" dirty="0">
                <a:solidFill>
                  <a:srgbClr val="0000C0"/>
                </a:solidFill>
                <a:latin typeface="Consolas" panose="020B0609020204030204" pitchFamily="49" charset="0"/>
              </a:rPr>
              <a:t>len</a:t>
            </a:r>
            <a:r>
              <a:rPr lang="en-US" sz="2200" b="1" i="1" dirty="0">
                <a:solidFill>
                  <a:srgbClr val="000000"/>
                </a:solidFill>
                <a:latin typeface="Consolas" panose="020B0609020204030204" pitchFamily="49" charset="0"/>
              </a:rPr>
              <a:t>);</a:t>
            </a:r>
          </a:p>
          <a:p>
            <a:pPr lvl="1"/>
            <a:r>
              <a:rPr lang="en-US" sz="2200" dirty="0">
                <a:solidFill>
                  <a:srgbClr val="000000"/>
                </a:solidFill>
                <a:latin typeface="Consolas" panose="020B0609020204030204" pitchFamily="49" charset="0"/>
              </a:rPr>
              <a:t>}</a:t>
            </a:r>
          </a:p>
          <a:p>
            <a:r>
              <a:rPr lang="en-US" sz="2200" dirty="0">
                <a:solidFill>
                  <a:srgbClr val="000000"/>
                </a:solidFill>
                <a:latin typeface="Consolas" panose="020B0609020204030204" pitchFamily="49" charset="0"/>
              </a:rPr>
              <a:t>}</a:t>
            </a:r>
            <a:endParaRPr lang="en-US" sz="2200" dirty="0">
              <a:solidFill>
                <a:srgbClr val="000000"/>
              </a:solidFill>
              <a:latin typeface="Consolas"/>
            </a:endParaRPr>
          </a:p>
        </p:txBody>
      </p:sp>
    </p:spTree>
    <p:extLst>
      <p:ext uri="{BB962C8B-B14F-4D97-AF65-F5344CB8AC3E}">
        <p14:creationId xmlns:p14="http://schemas.microsoft.com/office/powerpoint/2010/main" val="116175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blinds(horizontal)">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
                                            <p:bg/>
                                          </p:spTgt>
                                        </p:tgtEl>
                                        <p:attrNameLst>
                                          <p:attrName>style.visibility</p:attrName>
                                        </p:attrNameLst>
                                      </p:cBhvr>
                                      <p:to>
                                        <p:strVal val="visible"/>
                                      </p:to>
                                    </p:set>
                                    <p:animEffect transition="in" filter="blinds(horizontal)">
                                      <p:cBhvr>
                                        <p:cTn id="62" dur="500"/>
                                        <p:tgtEl>
                                          <p:spTgt spid="4">
                                            <p:bg/>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4">
                                            <p:txEl>
                                              <p:pRg st="0" end="0"/>
                                            </p:txEl>
                                          </p:spTgt>
                                        </p:tgtEl>
                                        <p:attrNameLst>
                                          <p:attrName>style.visibility</p:attrName>
                                        </p:attrNameLst>
                                      </p:cBhvr>
                                      <p:to>
                                        <p:strVal val="visible"/>
                                      </p:to>
                                    </p:set>
                                    <p:animEffect transition="in" filter="blinds(horizontal)">
                                      <p:cBhvr>
                                        <p:cTn id="67" dur="500"/>
                                        <p:tgtEl>
                                          <p:spTgt spid="4">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4">
                                            <p:txEl>
                                              <p:pRg st="1" end="1"/>
                                            </p:txEl>
                                          </p:spTgt>
                                        </p:tgtEl>
                                        <p:attrNameLst>
                                          <p:attrName>style.visibility</p:attrName>
                                        </p:attrNameLst>
                                      </p:cBhvr>
                                      <p:to>
                                        <p:strVal val="visible"/>
                                      </p:to>
                                    </p:set>
                                    <p:animEffect transition="in" filter="blinds(horizontal)">
                                      <p:cBhvr>
                                        <p:cTn id="72" dur="500"/>
                                        <p:tgtEl>
                                          <p:spTgt spid="4">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4">
                                            <p:txEl>
                                              <p:pRg st="2" end="2"/>
                                            </p:txEl>
                                          </p:spTgt>
                                        </p:tgtEl>
                                        <p:attrNameLst>
                                          <p:attrName>style.visibility</p:attrName>
                                        </p:attrNameLst>
                                      </p:cBhvr>
                                      <p:to>
                                        <p:strVal val="visible"/>
                                      </p:to>
                                    </p:set>
                                    <p:animEffect transition="in" filter="blinds(horizontal)">
                                      <p:cBhvr>
                                        <p:cTn id="77" dur="500"/>
                                        <p:tgtEl>
                                          <p:spTgt spid="4">
                                            <p:txEl>
                                              <p:pRg st="2" end="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4">
                                            <p:txEl>
                                              <p:pRg st="3" end="3"/>
                                            </p:txEl>
                                          </p:spTgt>
                                        </p:tgtEl>
                                        <p:attrNameLst>
                                          <p:attrName>style.visibility</p:attrName>
                                        </p:attrNameLst>
                                      </p:cBhvr>
                                      <p:to>
                                        <p:strVal val="visible"/>
                                      </p:to>
                                    </p:set>
                                    <p:animEffect transition="in" filter="blinds(horizontal)">
                                      <p:cBhvr>
                                        <p:cTn id="82" dur="500"/>
                                        <p:tgtEl>
                                          <p:spTgt spid="4">
                                            <p:txEl>
                                              <p:pRg st="3" end="3"/>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4">
                                            <p:txEl>
                                              <p:pRg st="4" end="4"/>
                                            </p:txEl>
                                          </p:spTgt>
                                        </p:tgtEl>
                                        <p:attrNameLst>
                                          <p:attrName>style.visibility</p:attrName>
                                        </p:attrNameLst>
                                      </p:cBhvr>
                                      <p:to>
                                        <p:strVal val="visible"/>
                                      </p:to>
                                    </p:set>
                                    <p:animEffect transition="in" filter="blinds(horizontal)">
                                      <p:cBhvr>
                                        <p:cTn id="87" dur="500"/>
                                        <p:tgtEl>
                                          <p:spTgt spid="4">
                                            <p:txEl>
                                              <p:pRg st="4" end="4"/>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4">
                                            <p:txEl>
                                              <p:pRg st="5" end="5"/>
                                            </p:txEl>
                                          </p:spTgt>
                                        </p:tgtEl>
                                        <p:attrNameLst>
                                          <p:attrName>style.visibility</p:attrName>
                                        </p:attrNameLst>
                                      </p:cBhvr>
                                      <p:to>
                                        <p:strVal val="visible"/>
                                      </p:to>
                                    </p:set>
                                    <p:animEffect transition="in" filter="blinds(horizontal)">
                                      <p:cBhvr>
                                        <p:cTn id="9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4" animBg="1"/>
      <p:bldP spid="4" grpId="0" build="p" bldLvl="4"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01B23-7FAC-934D-57A2-463B7126A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755EC-39C3-6E9D-3FB4-1195579165C3}"/>
              </a:ext>
            </a:extLst>
          </p:cNvPr>
          <p:cNvSpPr>
            <a:spLocks noGrp="1"/>
          </p:cNvSpPr>
          <p:nvPr>
            <p:ph type="title"/>
          </p:nvPr>
        </p:nvSpPr>
        <p:spPr>
          <a:xfrm>
            <a:off x="0" y="1"/>
            <a:ext cx="12192000" cy="711200"/>
          </a:xfrm>
        </p:spPr>
        <p:txBody>
          <a:bodyPr/>
          <a:lstStyle/>
          <a:p>
            <a:r>
              <a:rPr lang="en-IN" dirty="0"/>
              <a:t>Constructor Overloading</a:t>
            </a:r>
            <a:endParaRPr lang="en-US" dirty="0"/>
          </a:p>
        </p:txBody>
      </p:sp>
      <p:sp>
        <p:nvSpPr>
          <p:cNvPr id="3" name="Content Placeholder 2">
            <a:extLst>
              <a:ext uri="{FF2B5EF4-FFF2-40B4-BE49-F238E27FC236}">
                <a16:creationId xmlns:a16="http://schemas.microsoft.com/office/drawing/2014/main" id="{923D6DDA-AE08-C5ED-72DB-F0CD3767AA7A}"/>
              </a:ext>
            </a:extLst>
          </p:cNvPr>
          <p:cNvSpPr>
            <a:spLocks noGrp="1"/>
          </p:cNvSpPr>
          <p:nvPr>
            <p:ph idx="1"/>
          </p:nvPr>
        </p:nvSpPr>
        <p:spPr>
          <a:xfrm>
            <a:off x="131180" y="863444"/>
            <a:ext cx="11775271" cy="5590565"/>
          </a:xfrm>
        </p:spPr>
        <p:txBody>
          <a:bodyPr/>
          <a:lstStyle/>
          <a:p>
            <a:r>
              <a:rPr lang="en-US" dirty="0"/>
              <a:t>Like other methods, constructors can also be overloaded.</a:t>
            </a:r>
          </a:p>
          <a:p>
            <a:r>
              <a:rPr lang="en-US" dirty="0"/>
              <a:t>Constructor overloading allows </a:t>
            </a:r>
            <a:r>
              <a:rPr lang="en-US" dirty="0">
                <a:solidFill>
                  <a:srgbClr val="C00000"/>
                </a:solidFill>
              </a:rPr>
              <a:t>different constructors </a:t>
            </a:r>
            <a:r>
              <a:rPr lang="en-US" dirty="0"/>
              <a:t>to have </a:t>
            </a:r>
            <a:r>
              <a:rPr lang="en-US" dirty="0">
                <a:solidFill>
                  <a:srgbClr val="C00000"/>
                </a:solidFill>
              </a:rPr>
              <a:t>same name</a:t>
            </a:r>
            <a:r>
              <a:rPr lang="en-US" dirty="0"/>
              <a:t>, but </a:t>
            </a:r>
            <a:r>
              <a:rPr lang="en-US" dirty="0">
                <a:solidFill>
                  <a:srgbClr val="C00000"/>
                </a:solidFill>
              </a:rPr>
              <a:t>different arguments</a:t>
            </a:r>
            <a:r>
              <a:rPr lang="en-US" dirty="0"/>
              <a:t>.</a:t>
            </a:r>
          </a:p>
          <a:p>
            <a:r>
              <a:rPr lang="en-US" dirty="0"/>
              <a:t>It can differ by </a:t>
            </a:r>
            <a:r>
              <a:rPr lang="en-US" dirty="0">
                <a:solidFill>
                  <a:srgbClr val="C00000"/>
                </a:solidFill>
              </a:rPr>
              <a:t>number of input </a:t>
            </a:r>
            <a:r>
              <a:rPr lang="en-US" dirty="0"/>
              <a:t>parameters or </a:t>
            </a:r>
            <a:r>
              <a:rPr lang="en-US" dirty="0">
                <a:solidFill>
                  <a:srgbClr val="C00000"/>
                </a:solidFill>
              </a:rPr>
              <a:t>type of input </a:t>
            </a:r>
            <a:r>
              <a:rPr lang="en-US" dirty="0"/>
              <a:t>parameters or </a:t>
            </a:r>
            <a:r>
              <a:rPr lang="en-US" dirty="0">
                <a:solidFill>
                  <a:srgbClr val="C00000"/>
                </a:solidFill>
              </a:rPr>
              <a:t>both</a:t>
            </a:r>
            <a:r>
              <a:rPr lang="en-US" dirty="0"/>
              <a:t>. </a:t>
            </a:r>
          </a:p>
          <a:p>
            <a:r>
              <a:rPr lang="en-US" dirty="0"/>
              <a:t>Overloading is related to </a:t>
            </a:r>
            <a:r>
              <a:rPr lang="en-US" dirty="0">
                <a:solidFill>
                  <a:srgbClr val="C00000"/>
                </a:solidFill>
              </a:rPr>
              <a:t>compile time </a:t>
            </a:r>
            <a:r>
              <a:rPr lang="en-US" dirty="0"/>
              <a:t>(or </a:t>
            </a:r>
            <a:r>
              <a:rPr lang="en-US" dirty="0">
                <a:solidFill>
                  <a:srgbClr val="C00000"/>
                </a:solidFill>
              </a:rPr>
              <a:t>static</a:t>
            </a:r>
            <a:r>
              <a:rPr lang="en-US" dirty="0"/>
              <a:t>) polymorphism.</a:t>
            </a:r>
          </a:p>
          <a:p>
            <a:endParaRPr lang="en-US" dirty="0"/>
          </a:p>
        </p:txBody>
      </p:sp>
    </p:spTree>
    <p:extLst>
      <p:ext uri="{BB962C8B-B14F-4D97-AF65-F5344CB8AC3E}">
        <p14:creationId xmlns:p14="http://schemas.microsoft.com/office/powerpoint/2010/main" val="322709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A2DF9-17DE-A91C-0AB1-3F04BE418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80A5A-FEA0-10DF-00C1-4D5D200C45C6}"/>
              </a:ext>
            </a:extLst>
          </p:cNvPr>
          <p:cNvSpPr>
            <a:spLocks noGrp="1"/>
          </p:cNvSpPr>
          <p:nvPr>
            <p:ph type="title"/>
          </p:nvPr>
        </p:nvSpPr>
        <p:spPr>
          <a:xfrm>
            <a:off x="0" y="1"/>
            <a:ext cx="12192000" cy="711200"/>
          </a:xfrm>
        </p:spPr>
        <p:txBody>
          <a:bodyPr/>
          <a:lstStyle/>
          <a:p>
            <a:r>
              <a:rPr lang="en-IN" dirty="0"/>
              <a:t>Constructor Overloading</a:t>
            </a:r>
            <a:endParaRPr lang="en-US" dirty="0"/>
          </a:p>
        </p:txBody>
      </p:sp>
      <p:sp>
        <p:nvSpPr>
          <p:cNvPr id="3" name="Rectangle 2">
            <a:extLst>
              <a:ext uri="{FF2B5EF4-FFF2-40B4-BE49-F238E27FC236}">
                <a16:creationId xmlns:a16="http://schemas.microsoft.com/office/drawing/2014/main" id="{BB473D8D-8AFA-219C-5F9D-00467B44B9C4}"/>
              </a:ext>
            </a:extLst>
          </p:cNvPr>
          <p:cNvSpPr/>
          <p:nvPr/>
        </p:nvSpPr>
        <p:spPr>
          <a:xfrm>
            <a:off x="216133" y="817082"/>
            <a:ext cx="4923760" cy="4493538"/>
          </a:xfrm>
          <a:prstGeom prst="rect">
            <a:avLst/>
          </a:prstGeom>
          <a:ln w="19050">
            <a:solidFill>
              <a:schemeClr val="accent1"/>
            </a:solidFill>
            <a:prstDash val="dash"/>
          </a:ln>
        </p:spPr>
        <p:txBody>
          <a:bodyPr wrap="square">
            <a:spAutoFit/>
          </a:bodyPr>
          <a:lstStyle/>
          <a:p>
            <a:r>
              <a:rPr lang="en-US" sz="2200" dirty="0">
                <a:solidFill>
                  <a:srgbClr val="000000"/>
                </a:solidFill>
              </a:rPr>
              <a:t>class Box {</a:t>
            </a:r>
          </a:p>
          <a:p>
            <a:r>
              <a:rPr lang="en-US" sz="2200" dirty="0">
                <a:solidFill>
                  <a:srgbClr val="000000"/>
                </a:solidFill>
              </a:rPr>
              <a:t>    double width, height, depth;</a:t>
            </a:r>
          </a:p>
          <a:p>
            <a:r>
              <a:rPr lang="en-US" sz="2200" dirty="0">
                <a:solidFill>
                  <a:srgbClr val="000000"/>
                </a:solidFill>
              </a:rPr>
              <a:t>    Box(double w, double h, double d)</a:t>
            </a:r>
          </a:p>
          <a:p>
            <a:r>
              <a:rPr lang="en-US" sz="2200" dirty="0">
                <a:solidFill>
                  <a:srgbClr val="000000"/>
                </a:solidFill>
              </a:rPr>
              <a:t>    {   width = w;</a:t>
            </a:r>
          </a:p>
          <a:p>
            <a:r>
              <a:rPr lang="en-US" sz="2200" dirty="0">
                <a:solidFill>
                  <a:srgbClr val="000000"/>
                </a:solidFill>
              </a:rPr>
              <a:t>        height = h;</a:t>
            </a:r>
          </a:p>
          <a:p>
            <a:r>
              <a:rPr lang="en-US" sz="2200" dirty="0">
                <a:solidFill>
                  <a:srgbClr val="000000"/>
                </a:solidFill>
              </a:rPr>
              <a:t>        depth = d;</a:t>
            </a:r>
          </a:p>
          <a:p>
            <a:r>
              <a:rPr lang="en-US" sz="2200" dirty="0">
                <a:solidFill>
                  <a:srgbClr val="000000"/>
                </a:solidFill>
              </a:rPr>
              <a:t>    }</a:t>
            </a:r>
          </a:p>
          <a:p>
            <a:r>
              <a:rPr lang="en-US" sz="2200" dirty="0">
                <a:solidFill>
                  <a:srgbClr val="000000"/>
                </a:solidFill>
              </a:rPr>
              <a:t>    Box() { width = height = depth = 0; }</a:t>
            </a:r>
          </a:p>
          <a:p>
            <a:r>
              <a:rPr lang="en-US" sz="2200" dirty="0">
                <a:solidFill>
                  <a:srgbClr val="000000"/>
                </a:solidFill>
              </a:rPr>
              <a:t>    Box(double </a:t>
            </a:r>
            <a:r>
              <a:rPr lang="en-US" sz="2200" dirty="0" err="1">
                <a:solidFill>
                  <a:srgbClr val="000000"/>
                </a:solidFill>
              </a:rPr>
              <a:t>len</a:t>
            </a:r>
            <a:r>
              <a:rPr lang="en-US" sz="2200" dirty="0">
                <a:solidFill>
                  <a:srgbClr val="000000"/>
                </a:solidFill>
              </a:rPr>
              <a:t>) { width = height = depth = </a:t>
            </a:r>
            <a:r>
              <a:rPr lang="en-US" sz="2200" dirty="0" err="1">
                <a:solidFill>
                  <a:srgbClr val="000000"/>
                </a:solidFill>
              </a:rPr>
              <a:t>len</a:t>
            </a:r>
            <a:r>
              <a:rPr lang="en-US" sz="2200" dirty="0">
                <a:solidFill>
                  <a:srgbClr val="000000"/>
                </a:solidFill>
              </a:rPr>
              <a:t>; }</a:t>
            </a:r>
          </a:p>
          <a:p>
            <a:r>
              <a:rPr lang="en-US" sz="2200" dirty="0">
                <a:solidFill>
                  <a:srgbClr val="000000"/>
                </a:solidFill>
              </a:rPr>
              <a:t>    double volume() { return width * height * depth; }</a:t>
            </a:r>
          </a:p>
          <a:p>
            <a:r>
              <a:rPr lang="en-US" sz="2200" dirty="0">
                <a:solidFill>
                  <a:srgbClr val="000000"/>
                </a:solidFill>
              </a:rPr>
              <a:t>}</a:t>
            </a:r>
          </a:p>
        </p:txBody>
      </p:sp>
      <p:sp>
        <p:nvSpPr>
          <p:cNvPr id="4" name="Rectangle 3">
            <a:extLst>
              <a:ext uri="{FF2B5EF4-FFF2-40B4-BE49-F238E27FC236}">
                <a16:creationId xmlns:a16="http://schemas.microsoft.com/office/drawing/2014/main" id="{EC17923A-B80A-3153-7343-D06351592305}"/>
              </a:ext>
            </a:extLst>
          </p:cNvPr>
          <p:cNvSpPr/>
          <p:nvPr/>
        </p:nvSpPr>
        <p:spPr>
          <a:xfrm>
            <a:off x="5258171" y="814461"/>
            <a:ext cx="6802284" cy="4493538"/>
          </a:xfrm>
          <a:prstGeom prst="rect">
            <a:avLst/>
          </a:prstGeom>
          <a:ln w="19050">
            <a:solidFill>
              <a:schemeClr val="accent1"/>
            </a:solidFill>
            <a:prstDash val="dash"/>
          </a:ln>
        </p:spPr>
        <p:txBody>
          <a:bodyPr wrap="square">
            <a:spAutoFit/>
          </a:bodyPr>
          <a:lstStyle/>
          <a:p>
            <a:r>
              <a:rPr lang="en-US" sz="2200" dirty="0">
                <a:solidFill>
                  <a:srgbClr val="000000"/>
                </a:solidFill>
              </a:rPr>
              <a:t>public class Test {</a:t>
            </a:r>
          </a:p>
          <a:p>
            <a:r>
              <a:rPr lang="en-US" sz="2200" dirty="0">
                <a:solidFill>
                  <a:srgbClr val="000000"/>
                </a:solidFill>
              </a:rPr>
              <a:t>    public static void main(String </a:t>
            </a:r>
            <a:r>
              <a:rPr lang="en-US" sz="2200" dirty="0" err="1">
                <a:solidFill>
                  <a:srgbClr val="000000"/>
                </a:solidFill>
              </a:rPr>
              <a:t>args</a:t>
            </a:r>
            <a:r>
              <a:rPr lang="en-US" sz="2200" dirty="0">
                <a:solidFill>
                  <a:srgbClr val="000000"/>
                </a:solidFill>
              </a:rPr>
              <a:t>[])</a:t>
            </a:r>
          </a:p>
          <a:p>
            <a:r>
              <a:rPr lang="en-US" sz="2200" dirty="0">
                <a:solidFill>
                  <a:srgbClr val="000000"/>
                </a:solidFill>
              </a:rPr>
              <a:t>    {   Box mybox1 = new Box(10, 20, 15);</a:t>
            </a:r>
          </a:p>
          <a:p>
            <a:r>
              <a:rPr lang="en-US" sz="2200" dirty="0">
                <a:solidFill>
                  <a:srgbClr val="000000"/>
                </a:solidFill>
              </a:rPr>
              <a:t>        Box mybox2 = new Box();</a:t>
            </a:r>
          </a:p>
          <a:p>
            <a:r>
              <a:rPr lang="en-US" sz="2200" dirty="0">
                <a:solidFill>
                  <a:srgbClr val="000000"/>
                </a:solidFill>
              </a:rPr>
              <a:t>        Box </a:t>
            </a:r>
            <a:r>
              <a:rPr lang="en-US" sz="2200" dirty="0" err="1">
                <a:solidFill>
                  <a:srgbClr val="000000"/>
                </a:solidFill>
              </a:rPr>
              <a:t>mycube</a:t>
            </a:r>
            <a:r>
              <a:rPr lang="en-US" sz="2200" dirty="0">
                <a:solidFill>
                  <a:srgbClr val="000000"/>
                </a:solidFill>
              </a:rPr>
              <a:t> = new Box(7);</a:t>
            </a:r>
          </a:p>
          <a:p>
            <a:r>
              <a:rPr lang="en-US" sz="2200" dirty="0">
                <a:solidFill>
                  <a:srgbClr val="000000"/>
                </a:solidFill>
              </a:rPr>
              <a:t>        double vol;</a:t>
            </a:r>
          </a:p>
          <a:p>
            <a:r>
              <a:rPr lang="en-US" sz="2200" dirty="0">
                <a:solidFill>
                  <a:srgbClr val="000000"/>
                </a:solidFill>
              </a:rPr>
              <a:t>        vol = mybox1.volume();</a:t>
            </a:r>
          </a:p>
          <a:p>
            <a:r>
              <a:rPr lang="en-US" sz="2200" dirty="0">
                <a:solidFill>
                  <a:srgbClr val="000000"/>
                </a:solidFill>
              </a:rPr>
              <a:t>        </a:t>
            </a:r>
            <a:r>
              <a:rPr lang="en-US" sz="2200" dirty="0" err="1">
                <a:solidFill>
                  <a:srgbClr val="000000"/>
                </a:solidFill>
              </a:rPr>
              <a:t>System.out.println</a:t>
            </a:r>
            <a:r>
              <a:rPr lang="en-US" sz="2200" dirty="0">
                <a:solidFill>
                  <a:srgbClr val="000000"/>
                </a:solidFill>
              </a:rPr>
              <a:t>("Volume of mybox1 is "+</a:t>
            </a:r>
            <a:r>
              <a:rPr lang="en-US" sz="2200" dirty="0" err="1">
                <a:solidFill>
                  <a:srgbClr val="000000"/>
                </a:solidFill>
              </a:rPr>
              <a:t>vol</a:t>
            </a:r>
            <a:r>
              <a:rPr lang="en-US" sz="2200" dirty="0">
                <a:solidFill>
                  <a:srgbClr val="000000"/>
                </a:solidFill>
              </a:rPr>
              <a:t>);</a:t>
            </a:r>
          </a:p>
          <a:p>
            <a:r>
              <a:rPr lang="en-US" sz="2200" dirty="0">
                <a:solidFill>
                  <a:srgbClr val="000000"/>
                </a:solidFill>
              </a:rPr>
              <a:t>        vol = mybox2.volume();</a:t>
            </a:r>
          </a:p>
          <a:p>
            <a:r>
              <a:rPr lang="en-US" sz="2200" dirty="0">
                <a:solidFill>
                  <a:srgbClr val="000000"/>
                </a:solidFill>
              </a:rPr>
              <a:t>        </a:t>
            </a:r>
            <a:r>
              <a:rPr lang="en-US" sz="2200" dirty="0" err="1">
                <a:solidFill>
                  <a:srgbClr val="000000"/>
                </a:solidFill>
              </a:rPr>
              <a:t>System.out.println</a:t>
            </a:r>
            <a:r>
              <a:rPr lang="en-US" sz="2200" dirty="0">
                <a:solidFill>
                  <a:srgbClr val="000000"/>
                </a:solidFill>
              </a:rPr>
              <a:t>("Volume of mybox2 is "+</a:t>
            </a:r>
            <a:r>
              <a:rPr lang="en-US" sz="2200" dirty="0" err="1">
                <a:solidFill>
                  <a:srgbClr val="000000"/>
                </a:solidFill>
              </a:rPr>
              <a:t>vol</a:t>
            </a:r>
            <a:r>
              <a:rPr lang="en-US" sz="2200" dirty="0">
                <a:solidFill>
                  <a:srgbClr val="000000"/>
                </a:solidFill>
              </a:rPr>
              <a:t>);</a:t>
            </a:r>
          </a:p>
          <a:p>
            <a:r>
              <a:rPr lang="en-US" sz="2200" dirty="0">
                <a:solidFill>
                  <a:srgbClr val="000000"/>
                </a:solidFill>
              </a:rPr>
              <a:t>        vol = </a:t>
            </a:r>
            <a:r>
              <a:rPr lang="en-US" sz="2200" dirty="0" err="1">
                <a:solidFill>
                  <a:srgbClr val="000000"/>
                </a:solidFill>
              </a:rPr>
              <a:t>mycube.volume</a:t>
            </a:r>
            <a:r>
              <a:rPr lang="en-US" sz="2200" dirty="0">
                <a:solidFill>
                  <a:srgbClr val="000000"/>
                </a:solidFill>
              </a:rPr>
              <a:t>();</a:t>
            </a:r>
          </a:p>
          <a:p>
            <a:r>
              <a:rPr lang="en-US" sz="2200" dirty="0">
                <a:solidFill>
                  <a:srgbClr val="000000"/>
                </a:solidFill>
              </a:rPr>
              <a:t>        </a:t>
            </a:r>
            <a:r>
              <a:rPr lang="en-US" sz="2200" dirty="0" err="1">
                <a:solidFill>
                  <a:srgbClr val="000000"/>
                </a:solidFill>
              </a:rPr>
              <a:t>System.out.println</a:t>
            </a:r>
            <a:r>
              <a:rPr lang="en-US" sz="2200" dirty="0">
                <a:solidFill>
                  <a:srgbClr val="000000"/>
                </a:solidFill>
              </a:rPr>
              <a:t>("Volume of </a:t>
            </a:r>
            <a:r>
              <a:rPr lang="en-US" sz="2200" dirty="0" err="1">
                <a:solidFill>
                  <a:srgbClr val="000000"/>
                </a:solidFill>
              </a:rPr>
              <a:t>mycube</a:t>
            </a:r>
            <a:r>
              <a:rPr lang="en-US" sz="2200" dirty="0">
                <a:solidFill>
                  <a:srgbClr val="000000"/>
                </a:solidFill>
              </a:rPr>
              <a:t> is "+</a:t>
            </a:r>
            <a:r>
              <a:rPr lang="en-US" sz="2200" dirty="0" err="1">
                <a:solidFill>
                  <a:srgbClr val="000000"/>
                </a:solidFill>
              </a:rPr>
              <a:t>vol</a:t>
            </a:r>
            <a:r>
              <a:rPr lang="en-US" sz="2200" dirty="0">
                <a:solidFill>
                  <a:srgbClr val="000000"/>
                </a:solidFill>
              </a:rPr>
              <a:t>);</a:t>
            </a:r>
          </a:p>
          <a:p>
            <a:r>
              <a:rPr lang="en-US" sz="2200" dirty="0">
                <a:solidFill>
                  <a:srgbClr val="000000"/>
                </a:solidFill>
              </a:rPr>
              <a:t>    }}</a:t>
            </a:r>
          </a:p>
        </p:txBody>
      </p:sp>
    </p:spTree>
    <p:extLst>
      <p:ext uri="{BB962C8B-B14F-4D97-AF65-F5344CB8AC3E}">
        <p14:creationId xmlns:p14="http://schemas.microsoft.com/office/powerpoint/2010/main" val="64907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bg/>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4" end="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
                                            <p:txEl>
                                              <p:pRg st="9" end="9"/>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
                                            <p:txEl>
                                              <p:pRg st="11" end="11"/>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4" animBg="1"/>
      <p:bldP spid="4" grpId="0" build="p" bldLvl="4"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D11C1-BB01-7B49-7DF1-1AF0E051C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EA09E-9522-60EE-1F6F-EAD14ED4ACC3}"/>
              </a:ext>
            </a:extLst>
          </p:cNvPr>
          <p:cNvSpPr>
            <a:spLocks noGrp="1"/>
          </p:cNvSpPr>
          <p:nvPr>
            <p:ph type="title"/>
          </p:nvPr>
        </p:nvSpPr>
        <p:spPr>
          <a:xfrm>
            <a:off x="0" y="1"/>
            <a:ext cx="12192000" cy="711200"/>
          </a:xfrm>
        </p:spPr>
        <p:txBody>
          <a:bodyPr/>
          <a:lstStyle/>
          <a:p>
            <a:r>
              <a:rPr lang="en-IN" dirty="0"/>
              <a:t>this keyword</a:t>
            </a:r>
            <a:endParaRPr lang="en-US" dirty="0"/>
          </a:p>
        </p:txBody>
      </p:sp>
      <p:sp>
        <p:nvSpPr>
          <p:cNvPr id="3" name="Content Placeholder 2">
            <a:extLst>
              <a:ext uri="{FF2B5EF4-FFF2-40B4-BE49-F238E27FC236}">
                <a16:creationId xmlns:a16="http://schemas.microsoft.com/office/drawing/2014/main" id="{C482052F-74CC-9901-DF79-268E4681D1DA}"/>
              </a:ext>
            </a:extLst>
          </p:cNvPr>
          <p:cNvSpPr>
            <a:spLocks noGrp="1"/>
          </p:cNvSpPr>
          <p:nvPr>
            <p:ph idx="1"/>
          </p:nvPr>
        </p:nvSpPr>
        <p:spPr>
          <a:xfrm>
            <a:off x="131180" y="863444"/>
            <a:ext cx="11929641" cy="5590565"/>
          </a:xfrm>
        </p:spPr>
        <p:txBody>
          <a:bodyPr/>
          <a:lstStyle/>
          <a:p>
            <a:r>
              <a:rPr lang="en-US" dirty="0"/>
              <a:t> </a:t>
            </a:r>
            <a:r>
              <a:rPr lang="en-US" i="1" dirty="0">
                <a:solidFill>
                  <a:srgbClr val="C00000"/>
                </a:solidFill>
              </a:rPr>
              <a:t>this</a:t>
            </a:r>
            <a:r>
              <a:rPr lang="en-US" dirty="0"/>
              <a:t> is a reference variable that refers to the </a:t>
            </a:r>
            <a:r>
              <a:rPr lang="en-US" i="1" dirty="0">
                <a:solidFill>
                  <a:srgbClr val="C00000"/>
                </a:solidFill>
              </a:rPr>
              <a:t>current object</a:t>
            </a:r>
            <a:r>
              <a:rPr lang="en-US" dirty="0"/>
              <a:t>.</a:t>
            </a:r>
          </a:p>
          <a:p>
            <a:r>
              <a:rPr lang="en-US" dirty="0"/>
              <a:t> </a:t>
            </a:r>
            <a:r>
              <a:rPr lang="en-US" i="1" dirty="0">
                <a:solidFill>
                  <a:srgbClr val="C00000"/>
                </a:solidFill>
              </a:rPr>
              <a:t>this </a:t>
            </a:r>
            <a:r>
              <a:rPr lang="en-US" dirty="0"/>
              <a:t>can be used to </a:t>
            </a:r>
            <a:r>
              <a:rPr lang="en-US" i="1" dirty="0">
                <a:solidFill>
                  <a:srgbClr val="C00000"/>
                </a:solidFill>
              </a:rPr>
              <a:t>invoke</a:t>
            </a:r>
            <a:r>
              <a:rPr lang="en-US" dirty="0">
                <a:solidFill>
                  <a:srgbClr val="C00000"/>
                </a:solidFill>
              </a:rPr>
              <a:t> </a:t>
            </a:r>
            <a:r>
              <a:rPr lang="en-US" dirty="0"/>
              <a:t>current object's method.</a:t>
            </a:r>
          </a:p>
          <a:p>
            <a:r>
              <a:rPr lang="en-US" dirty="0"/>
              <a:t> </a:t>
            </a:r>
            <a:r>
              <a:rPr lang="en-US" i="1" dirty="0">
                <a:solidFill>
                  <a:srgbClr val="C00000"/>
                </a:solidFill>
              </a:rPr>
              <a:t>this</a:t>
            </a:r>
            <a:r>
              <a:rPr lang="en-US" dirty="0"/>
              <a:t>() can be used to </a:t>
            </a:r>
            <a:r>
              <a:rPr lang="en-US" i="1" dirty="0">
                <a:solidFill>
                  <a:srgbClr val="C00000"/>
                </a:solidFill>
              </a:rPr>
              <a:t>invoke</a:t>
            </a:r>
            <a:r>
              <a:rPr lang="en-US" dirty="0"/>
              <a:t> current class constructor</a:t>
            </a:r>
          </a:p>
          <a:p>
            <a:r>
              <a:rPr lang="en-US" dirty="0"/>
              <a:t> </a:t>
            </a:r>
            <a:r>
              <a:rPr lang="en-US" i="1" dirty="0">
                <a:solidFill>
                  <a:srgbClr val="C00000"/>
                </a:solidFill>
              </a:rPr>
              <a:t>this </a:t>
            </a:r>
            <a:r>
              <a:rPr lang="en-US" dirty="0"/>
              <a:t>can be passed as a </a:t>
            </a:r>
            <a:r>
              <a:rPr lang="en-US" i="1" dirty="0">
                <a:solidFill>
                  <a:srgbClr val="C00000"/>
                </a:solidFill>
              </a:rPr>
              <a:t>parameter</a:t>
            </a:r>
            <a:r>
              <a:rPr lang="en-US" dirty="0"/>
              <a:t> to </a:t>
            </a:r>
            <a:r>
              <a:rPr lang="en-US" i="1" dirty="0">
                <a:solidFill>
                  <a:srgbClr val="C00000"/>
                </a:solidFill>
              </a:rPr>
              <a:t>constructor</a:t>
            </a:r>
            <a:r>
              <a:rPr lang="en-US" dirty="0">
                <a:solidFill>
                  <a:srgbClr val="C00000"/>
                </a:solidFill>
              </a:rPr>
              <a:t> </a:t>
            </a:r>
            <a:r>
              <a:rPr lang="en-US" dirty="0"/>
              <a:t>and </a:t>
            </a:r>
            <a:r>
              <a:rPr lang="en-US" i="1" dirty="0">
                <a:solidFill>
                  <a:srgbClr val="C00000"/>
                </a:solidFill>
              </a:rPr>
              <a:t>method</a:t>
            </a:r>
            <a:r>
              <a:rPr lang="en-US" dirty="0">
                <a:solidFill>
                  <a:srgbClr val="C00000"/>
                </a:solidFill>
              </a:rPr>
              <a:t> </a:t>
            </a:r>
            <a:r>
              <a:rPr lang="en-US" i="1" dirty="0">
                <a:solidFill>
                  <a:srgbClr val="C00000"/>
                </a:solidFill>
              </a:rPr>
              <a:t>call</a:t>
            </a:r>
            <a:r>
              <a:rPr lang="en-US" dirty="0"/>
              <a:t>.</a:t>
            </a:r>
          </a:p>
          <a:p>
            <a:r>
              <a:rPr lang="en-US" dirty="0"/>
              <a:t> </a:t>
            </a:r>
            <a:r>
              <a:rPr lang="en-US" i="1" dirty="0">
                <a:solidFill>
                  <a:srgbClr val="C00000"/>
                </a:solidFill>
              </a:rPr>
              <a:t>this </a:t>
            </a:r>
            <a:r>
              <a:rPr lang="en-US" dirty="0"/>
              <a:t>can be used to </a:t>
            </a:r>
            <a:r>
              <a:rPr lang="en-US" i="1" dirty="0">
                <a:solidFill>
                  <a:srgbClr val="C00000"/>
                </a:solidFill>
              </a:rPr>
              <a:t>return</a:t>
            </a:r>
            <a:r>
              <a:rPr lang="en-US" dirty="0"/>
              <a:t> the </a:t>
            </a:r>
            <a:r>
              <a:rPr lang="en-US" i="1" dirty="0">
                <a:solidFill>
                  <a:srgbClr val="C00000"/>
                </a:solidFill>
              </a:rPr>
              <a:t>current</a:t>
            </a:r>
            <a:r>
              <a:rPr lang="en-US" dirty="0">
                <a:solidFill>
                  <a:srgbClr val="C00000"/>
                </a:solidFill>
              </a:rPr>
              <a:t> </a:t>
            </a:r>
            <a:r>
              <a:rPr lang="en-US" i="1" dirty="0">
                <a:solidFill>
                  <a:srgbClr val="C00000"/>
                </a:solidFill>
              </a:rPr>
              <a:t>object</a:t>
            </a:r>
            <a:r>
              <a:rPr lang="en-US" dirty="0">
                <a:solidFill>
                  <a:srgbClr val="C00000"/>
                </a:solidFill>
              </a:rPr>
              <a:t> </a:t>
            </a:r>
            <a:r>
              <a:rPr lang="en-US" dirty="0"/>
              <a:t>from the method.</a:t>
            </a:r>
            <a:endParaRPr lang="en-IN" dirty="0"/>
          </a:p>
          <a:p>
            <a:endParaRPr lang="en-US" dirty="0"/>
          </a:p>
        </p:txBody>
      </p:sp>
    </p:spTree>
    <p:extLst>
      <p:ext uri="{BB962C8B-B14F-4D97-AF65-F5344CB8AC3E}">
        <p14:creationId xmlns:p14="http://schemas.microsoft.com/office/powerpoint/2010/main" val="66687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41668-C2CC-DCD4-DB95-16CF9430EE2D}"/>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BE35B9F-0625-B51E-EA04-3A6A1D9889BE}"/>
              </a:ext>
            </a:extLst>
          </p:cNvPr>
          <p:cNvSpPr txBox="1">
            <a:spLocks/>
          </p:cNvSpPr>
          <p:nvPr/>
        </p:nvSpPr>
        <p:spPr>
          <a:xfrm>
            <a:off x="0" y="0"/>
            <a:ext cx="9144000" cy="685800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IN" dirty="0">
                <a:solidFill>
                  <a:srgbClr val="7F0055"/>
                </a:solidFill>
                <a:latin typeface="Consolas" panose="020B0609020204030204" pitchFamily="49" charset="0"/>
              </a:rPr>
              <a:t>class</a:t>
            </a:r>
            <a:r>
              <a:rPr lang="en-IN" dirty="0">
                <a:latin typeface="Consolas" panose="020B0609020204030204" pitchFamily="49" charset="0"/>
              </a:rPr>
              <a:t> Box {</a:t>
            </a:r>
          </a:p>
          <a:p>
            <a:pPr marL="0" indent="0">
              <a:spcBef>
                <a:spcPts val="0"/>
              </a:spcBef>
              <a:buFont typeface="Arial" panose="020B0604020202020204" pitchFamily="34" charset="0"/>
              <a:buNone/>
            </a:pPr>
            <a:r>
              <a:rPr lang="en-IN" dirty="0">
                <a:latin typeface="Consolas" panose="020B0609020204030204" pitchFamily="49" charset="0"/>
              </a:rPr>
              <a:t>	</a:t>
            </a:r>
            <a:r>
              <a:rPr lang="en-IN" dirty="0">
                <a:solidFill>
                  <a:srgbClr val="7F0055"/>
                </a:solidFill>
                <a:latin typeface="Consolas" panose="020B0609020204030204" pitchFamily="49" charset="0"/>
              </a:rPr>
              <a:t>double</a:t>
            </a:r>
            <a:r>
              <a:rPr lang="en-IN" dirty="0">
                <a:latin typeface="Consolas" panose="020B0609020204030204" pitchFamily="49" charset="0"/>
              </a:rPr>
              <a:t> </a:t>
            </a:r>
            <a:r>
              <a:rPr lang="en-IN" dirty="0">
                <a:solidFill>
                  <a:srgbClr val="0000FF"/>
                </a:solidFill>
                <a:latin typeface="Consolas" panose="020B0609020204030204" pitchFamily="49" charset="0"/>
              </a:rPr>
              <a:t>length</a:t>
            </a:r>
            <a:r>
              <a:rPr lang="en-IN" dirty="0">
                <a:latin typeface="Consolas" panose="020B0609020204030204" pitchFamily="49" charset="0"/>
              </a:rPr>
              <a:t>;</a:t>
            </a:r>
          </a:p>
          <a:p>
            <a:pPr marL="0" indent="0">
              <a:spcBef>
                <a:spcPts val="0"/>
              </a:spcBef>
              <a:buFont typeface="Arial" panose="020B0604020202020204" pitchFamily="34" charset="0"/>
              <a:buNone/>
            </a:pPr>
            <a:r>
              <a:rPr lang="en-IN" dirty="0">
                <a:latin typeface="Consolas" panose="020B0609020204030204" pitchFamily="49" charset="0"/>
              </a:rPr>
              <a:t>	</a:t>
            </a:r>
            <a:r>
              <a:rPr lang="en-IN" dirty="0">
                <a:solidFill>
                  <a:srgbClr val="7F0055"/>
                </a:solidFill>
                <a:latin typeface="Consolas" panose="020B0609020204030204" pitchFamily="49" charset="0"/>
              </a:rPr>
              <a:t>double</a:t>
            </a:r>
            <a:r>
              <a:rPr lang="en-IN" dirty="0">
                <a:latin typeface="Consolas" panose="020B0609020204030204" pitchFamily="49" charset="0"/>
              </a:rPr>
              <a:t> </a:t>
            </a:r>
            <a:r>
              <a:rPr lang="en-IN" dirty="0">
                <a:solidFill>
                  <a:srgbClr val="0000FF"/>
                </a:solidFill>
                <a:latin typeface="Consolas" panose="020B0609020204030204" pitchFamily="49" charset="0"/>
              </a:rPr>
              <a:t>breadth</a:t>
            </a:r>
            <a:r>
              <a:rPr lang="en-IN" dirty="0">
                <a:latin typeface="Consolas" panose="020B0609020204030204" pitchFamily="49" charset="0"/>
              </a:rPr>
              <a:t>;</a:t>
            </a:r>
          </a:p>
          <a:p>
            <a:pPr marL="0" indent="0">
              <a:spcBef>
                <a:spcPts val="0"/>
              </a:spcBef>
              <a:buFont typeface="Arial" panose="020B0604020202020204" pitchFamily="34" charset="0"/>
              <a:buNone/>
            </a:pPr>
            <a:r>
              <a:rPr lang="en-IN" dirty="0">
                <a:latin typeface="Consolas" panose="020B0609020204030204" pitchFamily="49" charset="0"/>
              </a:rPr>
              <a:t>	</a:t>
            </a:r>
            <a:r>
              <a:rPr lang="en-IN" dirty="0">
                <a:solidFill>
                  <a:srgbClr val="7F0055"/>
                </a:solidFill>
                <a:latin typeface="Consolas" panose="020B0609020204030204" pitchFamily="49" charset="0"/>
              </a:rPr>
              <a:t>double</a:t>
            </a:r>
            <a:r>
              <a:rPr lang="en-IN" dirty="0">
                <a:latin typeface="Consolas" panose="020B0609020204030204" pitchFamily="49" charset="0"/>
              </a:rPr>
              <a:t> </a:t>
            </a:r>
            <a:r>
              <a:rPr lang="en-IN" dirty="0">
                <a:solidFill>
                  <a:srgbClr val="0000FF"/>
                </a:solidFill>
                <a:latin typeface="Consolas" panose="020B0609020204030204" pitchFamily="49" charset="0"/>
              </a:rPr>
              <a:t>height</a:t>
            </a:r>
            <a:r>
              <a:rPr lang="en-IN" dirty="0">
                <a:latin typeface="Consolas" panose="020B0609020204030204" pitchFamily="49" charset="0"/>
              </a:rPr>
              <a:t>;</a:t>
            </a:r>
          </a:p>
          <a:p>
            <a:pPr marL="0" indent="0">
              <a:spcBef>
                <a:spcPts val="0"/>
              </a:spcBef>
              <a:buFont typeface="Arial" panose="020B0604020202020204" pitchFamily="34" charset="0"/>
              <a:buNone/>
            </a:pPr>
            <a:r>
              <a:rPr lang="en-IN" dirty="0">
                <a:latin typeface="Consolas" panose="020B0609020204030204" pitchFamily="49" charset="0"/>
              </a:rPr>
              <a:t>	</a:t>
            </a:r>
            <a:r>
              <a:rPr lang="en-US" dirty="0">
                <a:latin typeface="Consolas" panose="020B0609020204030204" pitchFamily="49" charset="0"/>
              </a:rPr>
              <a:t>Box(</a:t>
            </a:r>
            <a:r>
              <a:rPr lang="en-IN" dirty="0">
                <a:solidFill>
                  <a:srgbClr val="7F0055"/>
                </a:solidFill>
                <a:latin typeface="Consolas" panose="020B0609020204030204" pitchFamily="49" charset="0"/>
              </a:rPr>
              <a:t>double</a:t>
            </a:r>
            <a:r>
              <a:rPr lang="en-IN" dirty="0">
                <a:latin typeface="Consolas" panose="020B0609020204030204" pitchFamily="49" charset="0"/>
              </a:rPr>
              <a:t> </a:t>
            </a:r>
            <a:r>
              <a:rPr lang="en-IN" dirty="0">
                <a:solidFill>
                  <a:schemeClr val="accent6">
                    <a:lumMod val="50000"/>
                  </a:schemeClr>
                </a:solidFill>
                <a:latin typeface="Consolas" panose="020B0609020204030204" pitchFamily="49" charset="0"/>
              </a:rPr>
              <a:t>l</a:t>
            </a:r>
            <a:r>
              <a:rPr lang="en-IN" dirty="0">
                <a:latin typeface="Consolas" panose="020B0609020204030204" pitchFamily="49" charset="0"/>
              </a:rPr>
              <a:t>, </a:t>
            </a:r>
            <a:r>
              <a:rPr lang="en-IN" dirty="0">
                <a:solidFill>
                  <a:srgbClr val="7F0055"/>
                </a:solidFill>
                <a:latin typeface="Consolas" panose="020B0609020204030204" pitchFamily="49" charset="0"/>
              </a:rPr>
              <a:t>double</a:t>
            </a:r>
            <a:r>
              <a:rPr lang="en-IN" dirty="0">
                <a:latin typeface="Consolas" panose="020B0609020204030204" pitchFamily="49" charset="0"/>
              </a:rPr>
              <a:t> </a:t>
            </a:r>
            <a:r>
              <a:rPr lang="en-IN" dirty="0">
                <a:solidFill>
                  <a:schemeClr val="accent6">
                    <a:lumMod val="50000"/>
                  </a:schemeClr>
                </a:solidFill>
                <a:latin typeface="Consolas" panose="020B0609020204030204" pitchFamily="49" charset="0"/>
              </a:rPr>
              <a:t>b</a:t>
            </a:r>
            <a:r>
              <a:rPr lang="en-IN" dirty="0">
                <a:latin typeface="Consolas" panose="020B0609020204030204" pitchFamily="49" charset="0"/>
              </a:rPr>
              <a:t>, </a:t>
            </a:r>
            <a:r>
              <a:rPr lang="en-IN" dirty="0">
                <a:solidFill>
                  <a:srgbClr val="7F0055"/>
                </a:solidFill>
                <a:latin typeface="Consolas" panose="020B0609020204030204" pitchFamily="49" charset="0"/>
              </a:rPr>
              <a:t>double</a:t>
            </a:r>
            <a:r>
              <a:rPr lang="en-IN" dirty="0">
                <a:latin typeface="Consolas" panose="020B0609020204030204" pitchFamily="49" charset="0"/>
              </a:rPr>
              <a:t> </a:t>
            </a:r>
            <a:r>
              <a:rPr lang="en-IN" dirty="0">
                <a:solidFill>
                  <a:schemeClr val="accent6">
                    <a:lumMod val="50000"/>
                  </a:schemeClr>
                </a:solidFill>
                <a:latin typeface="Consolas" panose="020B0609020204030204" pitchFamily="49" charset="0"/>
              </a:rPr>
              <a:t>h</a:t>
            </a:r>
            <a:r>
              <a:rPr lang="en-US" dirty="0">
                <a:latin typeface="Consolas" panose="020B0609020204030204" pitchFamily="49" charset="0"/>
              </a:rPr>
              <a:t>) {</a:t>
            </a:r>
          </a:p>
          <a:p>
            <a:pPr marL="0" indent="0">
              <a:spcBef>
                <a:spcPts val="0"/>
              </a:spcBef>
              <a:buFont typeface="Arial" panose="020B0604020202020204" pitchFamily="34" charset="0"/>
              <a:buNone/>
            </a:pPr>
            <a:r>
              <a:rPr lang="en-US" dirty="0">
                <a:latin typeface="Consolas" panose="020B0609020204030204" pitchFamily="49" charset="0"/>
              </a:rPr>
              <a:t>		</a:t>
            </a:r>
            <a:r>
              <a:rPr lang="en-IN" dirty="0" err="1">
                <a:latin typeface="Consolas" panose="020B0609020204030204" pitchFamily="49" charset="0"/>
              </a:rPr>
              <a:t>System.</a:t>
            </a:r>
            <a:r>
              <a:rPr lang="en-IN" i="1" dirty="0" err="1">
                <a:solidFill>
                  <a:srgbClr val="0000FF"/>
                </a:solidFill>
                <a:latin typeface="Consolas" panose="020B0609020204030204" pitchFamily="49" charset="0"/>
              </a:rPr>
              <a:t>out</a:t>
            </a:r>
            <a:r>
              <a:rPr lang="en-IN" dirty="0" err="1">
                <a:latin typeface="Consolas" panose="020B0609020204030204" pitchFamily="49" charset="0"/>
              </a:rPr>
              <a:t>.println</a:t>
            </a:r>
            <a:r>
              <a:rPr lang="en-US" dirty="0">
                <a:latin typeface="Consolas" panose="020B0609020204030204" pitchFamily="49" charset="0"/>
              </a:rPr>
              <a:t>("Constructing Box");</a:t>
            </a:r>
          </a:p>
          <a:p>
            <a:pPr marL="0" indent="0">
              <a:spcBef>
                <a:spcPts val="0"/>
              </a:spcBef>
              <a:buFont typeface="Arial" panose="020B0604020202020204" pitchFamily="34" charset="0"/>
              <a:buNone/>
            </a:pPr>
            <a:r>
              <a:rPr lang="en-US" dirty="0">
                <a:latin typeface="Consolas" panose="020B0609020204030204" pitchFamily="49" charset="0"/>
              </a:rPr>
              <a:t>		</a:t>
            </a:r>
            <a:r>
              <a:rPr lang="en-IN" dirty="0">
                <a:solidFill>
                  <a:srgbClr val="0000FF"/>
                </a:solidFill>
                <a:latin typeface="Consolas" panose="020B0609020204030204" pitchFamily="49" charset="0"/>
              </a:rPr>
              <a:t>length</a:t>
            </a:r>
            <a:r>
              <a:rPr lang="en-US" dirty="0">
                <a:latin typeface="Consolas" panose="020B0609020204030204" pitchFamily="49" charset="0"/>
              </a:rPr>
              <a:t> = </a:t>
            </a:r>
            <a:r>
              <a:rPr lang="en-US" dirty="0">
                <a:solidFill>
                  <a:schemeClr val="accent6">
                    <a:lumMod val="50000"/>
                  </a:schemeClr>
                </a:solidFill>
                <a:latin typeface="Consolas" panose="020B0609020204030204" pitchFamily="49" charset="0"/>
              </a:rPr>
              <a:t>l</a:t>
            </a:r>
            <a:r>
              <a:rPr lang="en-US" dirty="0">
                <a:latin typeface="Consolas" panose="020B0609020204030204" pitchFamily="49" charset="0"/>
              </a:rPr>
              <a:t>;</a:t>
            </a:r>
          </a:p>
          <a:p>
            <a:pPr marL="0" indent="0">
              <a:spcBef>
                <a:spcPts val="0"/>
              </a:spcBef>
              <a:buFont typeface="Arial" panose="020B0604020202020204" pitchFamily="34" charset="0"/>
              <a:buNone/>
            </a:pPr>
            <a:r>
              <a:rPr lang="en-US" dirty="0">
                <a:latin typeface="Consolas" panose="020B0609020204030204" pitchFamily="49" charset="0"/>
              </a:rPr>
              <a:t>		</a:t>
            </a:r>
            <a:r>
              <a:rPr lang="en-IN" dirty="0">
                <a:solidFill>
                  <a:srgbClr val="0000FF"/>
                </a:solidFill>
                <a:latin typeface="Consolas" panose="020B0609020204030204" pitchFamily="49" charset="0"/>
              </a:rPr>
              <a:t>breadth </a:t>
            </a:r>
            <a:r>
              <a:rPr lang="en-US" dirty="0">
                <a:latin typeface="Consolas" panose="020B0609020204030204" pitchFamily="49" charset="0"/>
              </a:rPr>
              <a:t>= </a:t>
            </a:r>
            <a:r>
              <a:rPr lang="en-IN" dirty="0">
                <a:solidFill>
                  <a:schemeClr val="accent6">
                    <a:lumMod val="50000"/>
                  </a:schemeClr>
                </a:solidFill>
                <a:latin typeface="Consolas" panose="020B0609020204030204" pitchFamily="49" charset="0"/>
              </a:rPr>
              <a:t>b</a:t>
            </a:r>
            <a:r>
              <a:rPr lang="en-US" dirty="0">
                <a:latin typeface="Consolas" panose="020B0609020204030204" pitchFamily="49" charset="0"/>
              </a:rPr>
              <a:t>;</a:t>
            </a:r>
          </a:p>
          <a:p>
            <a:pPr marL="0" indent="0">
              <a:spcBef>
                <a:spcPts val="0"/>
              </a:spcBef>
              <a:buFont typeface="Arial" panose="020B0604020202020204" pitchFamily="34" charset="0"/>
              <a:buNone/>
            </a:pPr>
            <a:r>
              <a:rPr lang="en-US" dirty="0">
                <a:latin typeface="Consolas" panose="020B0609020204030204" pitchFamily="49" charset="0"/>
              </a:rPr>
              <a:t>		</a:t>
            </a:r>
            <a:r>
              <a:rPr lang="en-IN" dirty="0">
                <a:solidFill>
                  <a:srgbClr val="0000FF"/>
                </a:solidFill>
                <a:latin typeface="Consolas" panose="020B0609020204030204" pitchFamily="49" charset="0"/>
              </a:rPr>
              <a:t>height </a:t>
            </a:r>
            <a:r>
              <a:rPr lang="en-US" dirty="0">
                <a:latin typeface="Consolas" panose="020B0609020204030204" pitchFamily="49" charset="0"/>
              </a:rPr>
              <a:t>= </a:t>
            </a:r>
            <a:r>
              <a:rPr lang="en-IN" dirty="0">
                <a:solidFill>
                  <a:schemeClr val="accent6">
                    <a:lumMod val="50000"/>
                  </a:schemeClr>
                </a:solidFill>
                <a:latin typeface="Consolas" panose="020B0609020204030204" pitchFamily="49" charset="0"/>
              </a:rPr>
              <a:t>h</a:t>
            </a:r>
            <a:r>
              <a:rPr lang="en-US" dirty="0">
                <a:latin typeface="Consolas" panose="020B0609020204030204" pitchFamily="49" charset="0"/>
              </a:rPr>
              <a:t>;</a:t>
            </a:r>
          </a:p>
          <a:p>
            <a:pPr marL="0" indent="0">
              <a:spcBef>
                <a:spcPts val="0"/>
              </a:spcBef>
              <a:buFont typeface="Arial" panose="020B0604020202020204" pitchFamily="34" charset="0"/>
              <a:buNone/>
            </a:pPr>
            <a:r>
              <a:rPr lang="en-US" dirty="0">
                <a:latin typeface="Consolas" panose="020B0609020204030204" pitchFamily="49" charset="0"/>
              </a:rPr>
              <a:t>	}</a:t>
            </a:r>
            <a:endParaRPr lang="en-IN" dirty="0">
              <a:latin typeface="Consolas" panose="020B0609020204030204" pitchFamily="49" charset="0"/>
            </a:endParaRPr>
          </a:p>
          <a:p>
            <a:pPr marL="0" indent="0">
              <a:spcBef>
                <a:spcPts val="0"/>
              </a:spcBef>
              <a:buFont typeface="Arial" panose="020B0604020202020204" pitchFamily="34" charset="0"/>
              <a:buNone/>
            </a:pPr>
            <a:r>
              <a:rPr lang="en-IN" dirty="0">
                <a:latin typeface="Consolas" panose="020B0609020204030204" pitchFamily="49" charset="0"/>
              </a:rPr>
              <a:t>	</a:t>
            </a:r>
            <a:r>
              <a:rPr lang="en-IN" dirty="0">
                <a:solidFill>
                  <a:srgbClr val="7F0055"/>
                </a:solidFill>
                <a:latin typeface="Consolas" panose="020B0609020204030204" pitchFamily="49" charset="0"/>
              </a:rPr>
              <a:t>void</a:t>
            </a:r>
            <a:r>
              <a:rPr lang="en-IN" dirty="0">
                <a:latin typeface="Consolas" panose="020B0609020204030204" pitchFamily="49" charset="0"/>
              </a:rPr>
              <a:t> volume() {</a:t>
            </a:r>
            <a:endParaRPr lang="en-IN" dirty="0">
              <a:solidFill>
                <a:srgbClr val="0000FF"/>
              </a:solidFill>
              <a:latin typeface="Consolas" panose="020B0609020204030204" pitchFamily="49" charset="0"/>
            </a:endParaRPr>
          </a:p>
          <a:p>
            <a:pPr marL="0" indent="0">
              <a:spcBef>
                <a:spcPts val="0"/>
              </a:spcBef>
              <a:buFont typeface="Arial" panose="020B0604020202020204" pitchFamily="34" charset="0"/>
              <a:buNone/>
            </a:pPr>
            <a:r>
              <a:rPr lang="en-IN" dirty="0">
                <a:latin typeface="Consolas" panose="020B0609020204030204" pitchFamily="49" charset="0"/>
              </a:rPr>
              <a:t>		</a:t>
            </a:r>
            <a:r>
              <a:rPr lang="en-IN" dirty="0">
                <a:solidFill>
                  <a:srgbClr val="7F0055"/>
                </a:solidFill>
                <a:latin typeface="Consolas" panose="020B0609020204030204" pitchFamily="49" charset="0"/>
              </a:rPr>
              <a:t>double</a:t>
            </a:r>
            <a:r>
              <a:rPr lang="en-IN" dirty="0">
                <a:latin typeface="Consolas" panose="020B0609020204030204" pitchFamily="49" charset="0"/>
              </a:rPr>
              <a:t> </a:t>
            </a:r>
            <a:r>
              <a:rPr lang="en-IN" dirty="0">
                <a:solidFill>
                  <a:schemeClr val="accent6">
                    <a:lumMod val="50000"/>
                  </a:schemeClr>
                </a:solidFill>
                <a:latin typeface="Consolas" panose="020B0609020204030204" pitchFamily="49" charset="0"/>
              </a:rPr>
              <a:t>volume</a:t>
            </a:r>
            <a:r>
              <a:rPr lang="en-IN" dirty="0">
                <a:latin typeface="Consolas" panose="020B0609020204030204" pitchFamily="49" charset="0"/>
              </a:rPr>
              <a:t> = </a:t>
            </a:r>
            <a:r>
              <a:rPr lang="en-IN" dirty="0">
                <a:solidFill>
                  <a:srgbClr val="0000FF"/>
                </a:solidFill>
                <a:latin typeface="Consolas" panose="020B0609020204030204" pitchFamily="49" charset="0"/>
              </a:rPr>
              <a:t>length</a:t>
            </a:r>
            <a:r>
              <a:rPr lang="en-IN" dirty="0">
                <a:latin typeface="Consolas" panose="020B0609020204030204" pitchFamily="49" charset="0"/>
              </a:rPr>
              <a:t> * </a:t>
            </a:r>
            <a:r>
              <a:rPr lang="en-IN" dirty="0">
                <a:solidFill>
                  <a:srgbClr val="0000FF"/>
                </a:solidFill>
                <a:latin typeface="Consolas" panose="020B0609020204030204" pitchFamily="49" charset="0"/>
              </a:rPr>
              <a:t>breadth</a:t>
            </a:r>
            <a:r>
              <a:rPr lang="en-IN" dirty="0">
                <a:latin typeface="Consolas" panose="020B0609020204030204" pitchFamily="49" charset="0"/>
              </a:rPr>
              <a:t> * </a:t>
            </a:r>
            <a:r>
              <a:rPr lang="en-IN" dirty="0">
                <a:solidFill>
                  <a:srgbClr val="0000FF"/>
                </a:solidFill>
                <a:latin typeface="Consolas" panose="020B0609020204030204" pitchFamily="49" charset="0"/>
              </a:rPr>
              <a:t>height</a:t>
            </a:r>
            <a:r>
              <a:rPr lang="en-IN" dirty="0">
                <a:latin typeface="Consolas" panose="020B0609020204030204" pitchFamily="49" charset="0"/>
              </a:rPr>
              <a:t>;</a:t>
            </a:r>
          </a:p>
          <a:p>
            <a:pPr marL="0" indent="0">
              <a:spcBef>
                <a:spcPts val="0"/>
              </a:spcBef>
              <a:buFont typeface="Arial" panose="020B0604020202020204" pitchFamily="34" charset="0"/>
              <a:buNone/>
            </a:pPr>
            <a:r>
              <a:rPr lang="en-IN" dirty="0">
                <a:latin typeface="Consolas" panose="020B0609020204030204" pitchFamily="49" charset="0"/>
              </a:rPr>
              <a:t>		</a:t>
            </a:r>
            <a:r>
              <a:rPr lang="en-IN" dirty="0" err="1">
                <a:latin typeface="Consolas" panose="020B0609020204030204" pitchFamily="49" charset="0"/>
              </a:rPr>
              <a:t>System.</a:t>
            </a:r>
            <a:r>
              <a:rPr lang="en-IN" i="1" dirty="0" err="1">
                <a:solidFill>
                  <a:srgbClr val="0000FF"/>
                </a:solidFill>
                <a:latin typeface="Consolas" panose="020B0609020204030204" pitchFamily="49" charset="0"/>
              </a:rPr>
              <a:t>out</a:t>
            </a:r>
            <a:r>
              <a:rPr lang="en-IN" dirty="0" err="1">
                <a:latin typeface="Consolas" panose="020B0609020204030204" pitchFamily="49" charset="0"/>
              </a:rPr>
              <a:t>.println</a:t>
            </a:r>
            <a:r>
              <a:rPr lang="en-IN" dirty="0">
                <a:latin typeface="Consolas" panose="020B0609020204030204" pitchFamily="49" charset="0"/>
              </a:rPr>
              <a:t>(</a:t>
            </a:r>
            <a:r>
              <a:rPr lang="en-IN" dirty="0">
                <a:solidFill>
                  <a:srgbClr val="0000FF"/>
                </a:solidFill>
                <a:latin typeface="Consolas" panose="020B0609020204030204" pitchFamily="49" charset="0"/>
              </a:rPr>
              <a:t>"Volume is "</a:t>
            </a:r>
            <a:r>
              <a:rPr lang="en-IN" dirty="0">
                <a:latin typeface="Consolas" panose="020B0609020204030204" pitchFamily="49" charset="0"/>
              </a:rPr>
              <a:t> + </a:t>
            </a:r>
            <a:r>
              <a:rPr lang="en-IN" dirty="0">
                <a:solidFill>
                  <a:schemeClr val="accent6">
                    <a:lumMod val="50000"/>
                  </a:schemeClr>
                </a:solidFill>
                <a:latin typeface="Consolas" panose="020B0609020204030204" pitchFamily="49" charset="0"/>
              </a:rPr>
              <a:t>volume</a:t>
            </a:r>
            <a:r>
              <a:rPr lang="en-IN" dirty="0">
                <a:latin typeface="Consolas" panose="020B0609020204030204" pitchFamily="49" charset="0"/>
              </a:rPr>
              <a:t>);</a:t>
            </a:r>
          </a:p>
          <a:p>
            <a:pPr marL="0" indent="0">
              <a:spcBef>
                <a:spcPts val="0"/>
              </a:spcBef>
              <a:buFont typeface="Arial" panose="020B0604020202020204" pitchFamily="34" charset="0"/>
              <a:buNone/>
            </a:pPr>
            <a:r>
              <a:rPr lang="en-IN" dirty="0">
                <a:latin typeface="Consolas" panose="020B0609020204030204" pitchFamily="49" charset="0"/>
              </a:rPr>
              <a:t>	}</a:t>
            </a:r>
          </a:p>
          <a:p>
            <a:pPr marL="0" indent="0">
              <a:spcBef>
                <a:spcPts val="0"/>
              </a:spcBef>
              <a:buFont typeface="Arial" panose="020B0604020202020204" pitchFamily="34" charset="0"/>
              <a:buNone/>
            </a:pPr>
            <a:r>
              <a:rPr lang="en-IN" dirty="0">
                <a:latin typeface="Consolas" panose="020B0609020204030204" pitchFamily="49" charset="0"/>
              </a:rPr>
              <a:t>}</a:t>
            </a:r>
          </a:p>
          <a:p>
            <a:pPr marL="0" indent="0">
              <a:spcBef>
                <a:spcPts val="0"/>
              </a:spcBef>
              <a:buFont typeface="Arial" panose="020B0604020202020204" pitchFamily="34" charset="0"/>
              <a:buNone/>
            </a:pPr>
            <a:r>
              <a:rPr lang="en-IN" dirty="0">
                <a:solidFill>
                  <a:srgbClr val="7F0055"/>
                </a:solidFill>
                <a:latin typeface="Consolas" panose="020B0609020204030204" pitchFamily="49" charset="0"/>
              </a:rPr>
              <a:t>class</a:t>
            </a:r>
            <a:r>
              <a:rPr lang="en-IN" dirty="0">
                <a:latin typeface="Consolas" panose="020B0609020204030204" pitchFamily="49" charset="0"/>
              </a:rPr>
              <a:t> </a:t>
            </a:r>
            <a:r>
              <a:rPr lang="en-IN" dirty="0" err="1">
                <a:latin typeface="Consolas" panose="020B0609020204030204" pitchFamily="49" charset="0"/>
              </a:rPr>
              <a:t>BoxDemo</a:t>
            </a:r>
            <a:r>
              <a:rPr lang="en-IN" dirty="0">
                <a:latin typeface="Consolas" panose="020B0609020204030204" pitchFamily="49" charset="0"/>
              </a:rPr>
              <a:t> {</a:t>
            </a:r>
          </a:p>
          <a:p>
            <a:pPr marL="0" indent="0">
              <a:spcBef>
                <a:spcPts val="0"/>
              </a:spcBef>
              <a:buFont typeface="Arial" panose="020B0604020202020204" pitchFamily="34" charset="0"/>
              <a:buNone/>
            </a:pPr>
            <a:r>
              <a:rPr lang="en-IN" dirty="0">
                <a:latin typeface="Consolas" panose="020B0609020204030204" pitchFamily="49" charset="0"/>
              </a:rPr>
              <a:t>	</a:t>
            </a:r>
            <a:r>
              <a:rPr lang="en-IN" dirty="0">
                <a:solidFill>
                  <a:srgbClr val="7F0055"/>
                </a:solidFill>
                <a:latin typeface="Consolas" panose="020B0609020204030204" pitchFamily="49" charset="0"/>
              </a:rPr>
              <a:t>public</a:t>
            </a:r>
            <a:r>
              <a:rPr lang="en-IN" dirty="0">
                <a:latin typeface="Consolas" panose="020B0609020204030204" pitchFamily="49" charset="0"/>
              </a:rPr>
              <a:t> </a:t>
            </a:r>
            <a:r>
              <a:rPr lang="en-IN" dirty="0">
                <a:solidFill>
                  <a:srgbClr val="7F0055"/>
                </a:solidFill>
                <a:latin typeface="Consolas" panose="020B0609020204030204" pitchFamily="49" charset="0"/>
              </a:rPr>
              <a:t>static</a:t>
            </a:r>
            <a:r>
              <a:rPr lang="en-IN" dirty="0">
                <a:latin typeface="Consolas" panose="020B0609020204030204" pitchFamily="49" charset="0"/>
              </a:rPr>
              <a:t> </a:t>
            </a:r>
            <a:r>
              <a:rPr lang="en-IN" dirty="0">
                <a:solidFill>
                  <a:srgbClr val="7F0055"/>
                </a:solidFill>
                <a:latin typeface="Consolas" panose="020B0609020204030204" pitchFamily="49" charset="0"/>
              </a:rPr>
              <a:t>void</a:t>
            </a:r>
            <a:r>
              <a:rPr lang="en-IN" dirty="0">
                <a:latin typeface="Consolas" panose="020B0609020204030204" pitchFamily="49" charset="0"/>
              </a:rPr>
              <a:t> main(String </a:t>
            </a:r>
            <a:r>
              <a:rPr lang="en-IN" dirty="0" err="1">
                <a:solidFill>
                  <a:schemeClr val="accent6">
                    <a:lumMod val="50000"/>
                  </a:schemeClr>
                </a:solidFill>
                <a:latin typeface="Consolas" panose="020B0609020204030204" pitchFamily="49" charset="0"/>
              </a:rPr>
              <a:t>args</a:t>
            </a:r>
            <a:r>
              <a:rPr lang="en-IN" dirty="0">
                <a:latin typeface="Consolas" panose="020B0609020204030204" pitchFamily="49" charset="0"/>
              </a:rPr>
              <a:t>[]) {</a:t>
            </a:r>
          </a:p>
          <a:p>
            <a:pPr marL="0" indent="0">
              <a:spcBef>
                <a:spcPts val="0"/>
              </a:spcBef>
              <a:buFont typeface="Arial" panose="020B0604020202020204" pitchFamily="34" charset="0"/>
              <a:buNone/>
            </a:pPr>
            <a:r>
              <a:rPr lang="en-IN" dirty="0">
                <a:latin typeface="Consolas" panose="020B0609020204030204" pitchFamily="49" charset="0"/>
              </a:rPr>
              <a:t>		Box </a:t>
            </a:r>
            <a:r>
              <a:rPr lang="en-IN" dirty="0">
                <a:solidFill>
                  <a:schemeClr val="accent6">
                    <a:lumMod val="50000"/>
                  </a:schemeClr>
                </a:solidFill>
                <a:latin typeface="Consolas" panose="020B0609020204030204" pitchFamily="49" charset="0"/>
              </a:rPr>
              <a:t>myBox1 </a:t>
            </a:r>
            <a:r>
              <a:rPr lang="en-IN" dirty="0">
                <a:latin typeface="Consolas" panose="020B0609020204030204" pitchFamily="49" charset="0"/>
              </a:rPr>
              <a:t>= </a:t>
            </a:r>
            <a:r>
              <a:rPr lang="en-IN" dirty="0">
                <a:solidFill>
                  <a:srgbClr val="7F0055"/>
                </a:solidFill>
                <a:latin typeface="Consolas" panose="020B0609020204030204" pitchFamily="49" charset="0"/>
              </a:rPr>
              <a:t>new</a:t>
            </a:r>
            <a:r>
              <a:rPr lang="en-IN" dirty="0">
                <a:latin typeface="Consolas" panose="020B0609020204030204" pitchFamily="49" charset="0"/>
              </a:rPr>
              <a:t> Box(10,20,30);</a:t>
            </a:r>
          </a:p>
          <a:p>
            <a:pPr marL="0" indent="0">
              <a:spcBef>
                <a:spcPts val="0"/>
              </a:spcBef>
              <a:buFont typeface="Arial" panose="020B0604020202020204" pitchFamily="34" charset="0"/>
              <a:buNone/>
            </a:pPr>
            <a:r>
              <a:rPr lang="en-IN" dirty="0">
                <a:latin typeface="Consolas" panose="020B0609020204030204" pitchFamily="49" charset="0"/>
              </a:rPr>
              <a:t>		Box </a:t>
            </a:r>
            <a:r>
              <a:rPr lang="en-IN" dirty="0">
                <a:solidFill>
                  <a:schemeClr val="accent6">
                    <a:lumMod val="50000"/>
                  </a:schemeClr>
                </a:solidFill>
                <a:latin typeface="Consolas" panose="020B0609020204030204" pitchFamily="49" charset="0"/>
              </a:rPr>
              <a:t>myBox2 </a:t>
            </a:r>
            <a:r>
              <a:rPr lang="en-IN" dirty="0">
                <a:latin typeface="Consolas" panose="020B0609020204030204" pitchFamily="49" charset="0"/>
              </a:rPr>
              <a:t>= </a:t>
            </a:r>
            <a:r>
              <a:rPr lang="en-IN" dirty="0">
                <a:solidFill>
                  <a:srgbClr val="7F0055"/>
                </a:solidFill>
                <a:latin typeface="Consolas" panose="020B0609020204030204" pitchFamily="49" charset="0"/>
              </a:rPr>
              <a:t>new</a:t>
            </a:r>
            <a:r>
              <a:rPr lang="en-IN" dirty="0">
                <a:latin typeface="Consolas" panose="020B0609020204030204" pitchFamily="49" charset="0"/>
              </a:rPr>
              <a:t> Box(3,6,9);</a:t>
            </a:r>
          </a:p>
          <a:p>
            <a:pPr marL="0" indent="0">
              <a:spcBef>
                <a:spcPts val="0"/>
              </a:spcBef>
              <a:buFont typeface="Arial" panose="020B0604020202020204" pitchFamily="34" charset="0"/>
              <a:buNone/>
            </a:pPr>
            <a:r>
              <a:rPr lang="en-IN" dirty="0">
                <a:latin typeface="Consolas" panose="020B0609020204030204" pitchFamily="49" charset="0"/>
              </a:rPr>
              <a:t>		</a:t>
            </a:r>
            <a:r>
              <a:rPr lang="en-IN" dirty="0">
                <a:solidFill>
                  <a:schemeClr val="accent6">
                    <a:lumMod val="50000"/>
                  </a:schemeClr>
                </a:solidFill>
                <a:latin typeface="Consolas" panose="020B0609020204030204" pitchFamily="49" charset="0"/>
              </a:rPr>
              <a:t>myBox1</a:t>
            </a:r>
            <a:r>
              <a:rPr lang="en-IN" dirty="0">
                <a:solidFill>
                  <a:srgbClr val="7F0055"/>
                </a:solidFill>
                <a:latin typeface="Consolas" panose="020B0609020204030204" pitchFamily="49" charset="0"/>
              </a:rPr>
              <a:t>.</a:t>
            </a:r>
            <a:r>
              <a:rPr lang="en-IN" dirty="0">
                <a:latin typeface="Consolas" panose="020B0609020204030204" pitchFamily="49" charset="0"/>
              </a:rPr>
              <a:t>volume();</a:t>
            </a:r>
          </a:p>
          <a:p>
            <a:pPr marL="0" indent="0">
              <a:spcBef>
                <a:spcPts val="0"/>
              </a:spcBef>
              <a:buFont typeface="Arial" panose="020B0604020202020204" pitchFamily="34" charset="0"/>
              <a:buNone/>
            </a:pPr>
            <a:r>
              <a:rPr lang="en-IN" dirty="0">
                <a:solidFill>
                  <a:srgbClr val="7F0055"/>
                </a:solidFill>
                <a:latin typeface="Consolas" panose="020B0609020204030204" pitchFamily="49" charset="0"/>
              </a:rPr>
              <a:t>		</a:t>
            </a:r>
            <a:r>
              <a:rPr lang="en-IN" dirty="0">
                <a:solidFill>
                  <a:schemeClr val="accent6">
                    <a:lumMod val="50000"/>
                  </a:schemeClr>
                </a:solidFill>
                <a:latin typeface="Consolas" panose="020B0609020204030204" pitchFamily="49" charset="0"/>
              </a:rPr>
              <a:t>myBox2</a:t>
            </a:r>
            <a:r>
              <a:rPr lang="en-IN" dirty="0">
                <a:solidFill>
                  <a:srgbClr val="7F0055"/>
                </a:solidFill>
                <a:latin typeface="Consolas" panose="020B0609020204030204" pitchFamily="49" charset="0"/>
              </a:rPr>
              <a:t>.</a:t>
            </a:r>
            <a:r>
              <a:rPr lang="en-IN" dirty="0">
                <a:latin typeface="Consolas" panose="020B0609020204030204" pitchFamily="49" charset="0"/>
              </a:rPr>
              <a:t>volume();</a:t>
            </a:r>
          </a:p>
          <a:p>
            <a:pPr marL="0" indent="0">
              <a:spcBef>
                <a:spcPts val="0"/>
              </a:spcBef>
              <a:buFont typeface="Arial" panose="020B0604020202020204" pitchFamily="34" charset="0"/>
              <a:buNone/>
            </a:pPr>
            <a:r>
              <a:rPr lang="en-IN" dirty="0">
                <a:latin typeface="Consolas" panose="020B0609020204030204" pitchFamily="49" charset="0"/>
              </a:rPr>
              <a:t>	}</a:t>
            </a:r>
          </a:p>
          <a:p>
            <a:pPr marL="0" indent="0">
              <a:spcBef>
                <a:spcPts val="0"/>
              </a:spcBef>
              <a:buFont typeface="Arial" panose="020B0604020202020204" pitchFamily="34" charset="0"/>
              <a:buNone/>
            </a:pPr>
            <a:r>
              <a:rPr lang="en-IN" dirty="0">
                <a:latin typeface="Consolas" panose="020B0609020204030204" pitchFamily="49" charset="0"/>
              </a:rPr>
              <a:t>}</a:t>
            </a:r>
            <a:endParaRPr lang="en-IN" dirty="0"/>
          </a:p>
        </p:txBody>
      </p:sp>
      <p:sp>
        <p:nvSpPr>
          <p:cNvPr id="3" name="Rectangle 2">
            <a:extLst>
              <a:ext uri="{FF2B5EF4-FFF2-40B4-BE49-F238E27FC236}">
                <a16:creationId xmlns:a16="http://schemas.microsoft.com/office/drawing/2014/main" id="{65C23B97-28B2-7635-C3C3-8CDBCBF9360F}"/>
              </a:ext>
            </a:extLst>
          </p:cNvPr>
          <p:cNvSpPr/>
          <p:nvPr/>
        </p:nvSpPr>
        <p:spPr>
          <a:xfrm>
            <a:off x="1837113" y="1699956"/>
            <a:ext cx="2667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Line Callout 1 5">
            <a:extLst>
              <a:ext uri="{FF2B5EF4-FFF2-40B4-BE49-F238E27FC236}">
                <a16:creationId xmlns:a16="http://schemas.microsoft.com/office/drawing/2014/main" id="{01D49C50-59BE-FE71-C27E-E9EA8C823A01}"/>
              </a:ext>
            </a:extLst>
          </p:cNvPr>
          <p:cNvSpPr/>
          <p:nvPr/>
        </p:nvSpPr>
        <p:spPr>
          <a:xfrm>
            <a:off x="5570913" y="1852356"/>
            <a:ext cx="3276600" cy="457200"/>
          </a:xfrm>
          <a:prstGeom prst="borderCallout1">
            <a:avLst>
              <a:gd name="adj1" fmla="val 45220"/>
              <a:gd name="adj2" fmla="val -490"/>
              <a:gd name="adj3" fmla="val 735"/>
              <a:gd name="adj4" fmla="val -3340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Creates ambiguity for compiler</a:t>
            </a:r>
          </a:p>
        </p:txBody>
      </p:sp>
      <p:sp>
        <p:nvSpPr>
          <p:cNvPr id="5" name="Line Callout 1 6">
            <a:extLst>
              <a:ext uri="{FF2B5EF4-FFF2-40B4-BE49-F238E27FC236}">
                <a16:creationId xmlns:a16="http://schemas.microsoft.com/office/drawing/2014/main" id="{0DC68B5E-2FB5-B8B3-244A-A50C393B0F36}"/>
              </a:ext>
            </a:extLst>
          </p:cNvPr>
          <p:cNvSpPr/>
          <p:nvPr/>
        </p:nvSpPr>
        <p:spPr>
          <a:xfrm>
            <a:off x="5584360" y="1838909"/>
            <a:ext cx="3276600" cy="838200"/>
          </a:xfrm>
          <a:prstGeom prst="borderCallout1">
            <a:avLst>
              <a:gd name="adj1" fmla="val 45220"/>
              <a:gd name="adj2" fmla="val -490"/>
              <a:gd name="adj3" fmla="val 735"/>
              <a:gd name="adj4" fmla="val -3340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0000FF"/>
                </a:solidFill>
              </a:rPr>
              <a:t>length</a:t>
            </a:r>
            <a:r>
              <a:rPr lang="en-IN" dirty="0">
                <a:solidFill>
                  <a:srgbClr val="C00000"/>
                </a:solidFill>
              </a:rPr>
              <a:t> is instance variable as well as </a:t>
            </a:r>
            <a:r>
              <a:rPr lang="en-IN" dirty="0">
                <a:solidFill>
                  <a:schemeClr val="accent6">
                    <a:lumMod val="50000"/>
                  </a:schemeClr>
                </a:solidFill>
              </a:rPr>
              <a:t>length</a:t>
            </a:r>
            <a:r>
              <a:rPr lang="en-IN" dirty="0">
                <a:solidFill>
                  <a:srgbClr val="C00000"/>
                </a:solidFill>
              </a:rPr>
              <a:t> is formal parameter of method</a:t>
            </a:r>
          </a:p>
        </p:txBody>
      </p:sp>
      <p:sp>
        <p:nvSpPr>
          <p:cNvPr id="6" name="Rectangle 5">
            <a:extLst>
              <a:ext uri="{FF2B5EF4-FFF2-40B4-BE49-F238E27FC236}">
                <a16:creationId xmlns:a16="http://schemas.microsoft.com/office/drawing/2014/main" id="{692025D2-481B-8A87-218A-F72847D3870F}"/>
              </a:ext>
            </a:extLst>
          </p:cNvPr>
          <p:cNvSpPr/>
          <p:nvPr/>
        </p:nvSpPr>
        <p:spPr>
          <a:xfrm>
            <a:off x="922713" y="1116959"/>
            <a:ext cx="8229600" cy="430887"/>
          </a:xfrm>
          <a:prstGeom prst="rect">
            <a:avLst/>
          </a:prstGeom>
        </p:spPr>
        <p:txBody>
          <a:bodyPr wrap="square">
            <a:spAutoFit/>
          </a:bodyPr>
          <a:lstStyle/>
          <a:p>
            <a:r>
              <a:rPr lang="en-US" sz="2200" dirty="0">
                <a:latin typeface="Consolas" panose="020B0609020204030204" pitchFamily="49" charset="0"/>
              </a:rPr>
              <a:t>Box(</a:t>
            </a:r>
            <a:r>
              <a:rPr lang="en-IN" sz="2200" dirty="0">
                <a:solidFill>
                  <a:srgbClr val="7F0055"/>
                </a:solidFill>
                <a:latin typeface="Consolas" panose="020B0609020204030204" pitchFamily="49" charset="0"/>
              </a:rPr>
              <a:t>double</a:t>
            </a:r>
            <a:r>
              <a:rPr lang="en-IN" sz="2200" dirty="0">
                <a:latin typeface="Consolas" panose="020B0609020204030204" pitchFamily="49" charset="0"/>
              </a:rPr>
              <a:t> </a:t>
            </a:r>
            <a:r>
              <a:rPr lang="en-IN" sz="2200" dirty="0">
                <a:solidFill>
                  <a:schemeClr val="accent6">
                    <a:lumMod val="50000"/>
                  </a:schemeClr>
                </a:solidFill>
                <a:latin typeface="Consolas" panose="020B0609020204030204" pitchFamily="49" charset="0"/>
              </a:rPr>
              <a:t>length</a:t>
            </a:r>
            <a:r>
              <a:rPr lang="en-IN" sz="2200" dirty="0">
                <a:latin typeface="Consolas" panose="020B0609020204030204" pitchFamily="49" charset="0"/>
              </a:rPr>
              <a:t>, </a:t>
            </a:r>
            <a:r>
              <a:rPr lang="en-IN" sz="2200" dirty="0">
                <a:solidFill>
                  <a:srgbClr val="7F0055"/>
                </a:solidFill>
                <a:latin typeface="Consolas" panose="020B0609020204030204" pitchFamily="49" charset="0"/>
              </a:rPr>
              <a:t>double</a:t>
            </a:r>
            <a:r>
              <a:rPr lang="en-IN" sz="2200" dirty="0">
                <a:latin typeface="Consolas" panose="020B0609020204030204" pitchFamily="49" charset="0"/>
              </a:rPr>
              <a:t> </a:t>
            </a:r>
            <a:r>
              <a:rPr lang="en-IN" sz="2200" dirty="0">
                <a:solidFill>
                  <a:schemeClr val="accent6">
                    <a:lumMod val="50000"/>
                  </a:schemeClr>
                </a:solidFill>
                <a:latin typeface="Consolas" panose="020B0609020204030204" pitchFamily="49" charset="0"/>
              </a:rPr>
              <a:t>breadth</a:t>
            </a:r>
            <a:r>
              <a:rPr lang="en-IN" sz="2200" dirty="0">
                <a:latin typeface="Consolas" panose="020B0609020204030204" pitchFamily="49" charset="0"/>
              </a:rPr>
              <a:t>, </a:t>
            </a:r>
            <a:r>
              <a:rPr lang="en-IN" sz="2200" dirty="0">
                <a:solidFill>
                  <a:srgbClr val="7F0055"/>
                </a:solidFill>
                <a:latin typeface="Consolas" panose="020B0609020204030204" pitchFamily="49" charset="0"/>
              </a:rPr>
              <a:t>double</a:t>
            </a:r>
            <a:r>
              <a:rPr lang="en-IN" sz="2200" dirty="0">
                <a:latin typeface="Consolas" panose="020B0609020204030204" pitchFamily="49" charset="0"/>
              </a:rPr>
              <a:t> </a:t>
            </a:r>
            <a:r>
              <a:rPr lang="en-IN" sz="2200" dirty="0">
                <a:solidFill>
                  <a:schemeClr val="accent6">
                    <a:lumMod val="50000"/>
                  </a:schemeClr>
                </a:solidFill>
                <a:latin typeface="Consolas" panose="020B0609020204030204" pitchFamily="49" charset="0"/>
              </a:rPr>
              <a:t>height</a:t>
            </a:r>
            <a:r>
              <a:rPr lang="en-US" sz="2200" dirty="0">
                <a:latin typeface="Consolas" panose="020B0609020204030204" pitchFamily="49" charset="0"/>
              </a:rPr>
              <a:t>) {</a:t>
            </a:r>
            <a:endParaRPr lang="en-IN" sz="2200" dirty="0"/>
          </a:p>
        </p:txBody>
      </p:sp>
      <p:sp>
        <p:nvSpPr>
          <p:cNvPr id="7" name="Rectangle 6">
            <a:extLst>
              <a:ext uri="{FF2B5EF4-FFF2-40B4-BE49-F238E27FC236}">
                <a16:creationId xmlns:a16="http://schemas.microsoft.com/office/drawing/2014/main" id="{46E19655-281C-1A3A-368B-931E28C963CE}"/>
              </a:ext>
            </a:extLst>
          </p:cNvPr>
          <p:cNvSpPr/>
          <p:nvPr/>
        </p:nvSpPr>
        <p:spPr>
          <a:xfrm>
            <a:off x="1832741" y="1706126"/>
            <a:ext cx="7315200" cy="909673"/>
          </a:xfrm>
          <a:prstGeom prst="rect">
            <a:avLst/>
          </a:prstGeom>
        </p:spPr>
        <p:txBody>
          <a:bodyPr wrap="square">
            <a:spAutoFit/>
          </a:bodyPr>
          <a:lstStyle/>
          <a:p>
            <a:pPr>
              <a:lnSpc>
                <a:spcPct val="80000"/>
              </a:lnSpc>
            </a:pPr>
            <a:r>
              <a:rPr lang="en-IN" sz="2200" dirty="0" err="1">
                <a:solidFill>
                  <a:srgbClr val="7F0055"/>
                </a:solidFill>
                <a:latin typeface="Consolas" panose="020B0609020204030204" pitchFamily="49" charset="0"/>
              </a:rPr>
              <a:t>this</a:t>
            </a:r>
            <a:r>
              <a:rPr lang="en-IN" sz="2200" dirty="0" err="1">
                <a:solidFill>
                  <a:srgbClr val="0000FF"/>
                </a:solidFill>
                <a:latin typeface="Consolas" panose="020B0609020204030204" pitchFamily="49" charset="0"/>
              </a:rPr>
              <a:t>.length</a:t>
            </a:r>
            <a:r>
              <a:rPr lang="en-US" sz="2200" dirty="0">
                <a:latin typeface="Consolas" panose="020B0609020204030204" pitchFamily="49" charset="0"/>
              </a:rPr>
              <a:t> = </a:t>
            </a:r>
            <a:r>
              <a:rPr lang="en-US" sz="2200" dirty="0">
                <a:solidFill>
                  <a:schemeClr val="accent6">
                    <a:lumMod val="50000"/>
                  </a:schemeClr>
                </a:solidFill>
                <a:latin typeface="Consolas" panose="020B0609020204030204" pitchFamily="49" charset="0"/>
              </a:rPr>
              <a:t>length</a:t>
            </a:r>
            <a:r>
              <a:rPr lang="en-US" sz="2200" dirty="0">
                <a:latin typeface="Consolas" panose="020B0609020204030204" pitchFamily="49" charset="0"/>
              </a:rPr>
              <a:t>;</a:t>
            </a:r>
          </a:p>
          <a:p>
            <a:pPr>
              <a:lnSpc>
                <a:spcPct val="80000"/>
              </a:lnSpc>
            </a:pPr>
            <a:r>
              <a:rPr lang="en-IN" sz="2200" dirty="0" err="1">
                <a:solidFill>
                  <a:srgbClr val="7F0055"/>
                </a:solidFill>
                <a:latin typeface="Consolas" panose="020B0609020204030204" pitchFamily="49" charset="0"/>
              </a:rPr>
              <a:t>this</a:t>
            </a:r>
            <a:r>
              <a:rPr lang="en-IN" sz="2200" dirty="0" err="1">
                <a:solidFill>
                  <a:srgbClr val="0000FF"/>
                </a:solidFill>
                <a:latin typeface="Consolas" panose="020B0609020204030204" pitchFamily="49" charset="0"/>
              </a:rPr>
              <a:t>.breadth</a:t>
            </a:r>
            <a:r>
              <a:rPr lang="en-IN" sz="2200" dirty="0">
                <a:solidFill>
                  <a:srgbClr val="0000FF"/>
                </a:solidFill>
                <a:latin typeface="Consolas" panose="020B0609020204030204" pitchFamily="49" charset="0"/>
              </a:rPr>
              <a:t> </a:t>
            </a:r>
            <a:r>
              <a:rPr lang="en-US" sz="2200" dirty="0">
                <a:latin typeface="Consolas" panose="020B0609020204030204" pitchFamily="49" charset="0"/>
              </a:rPr>
              <a:t>= </a:t>
            </a:r>
            <a:r>
              <a:rPr lang="en-IN" sz="2200" dirty="0">
                <a:solidFill>
                  <a:schemeClr val="accent6">
                    <a:lumMod val="50000"/>
                  </a:schemeClr>
                </a:solidFill>
                <a:latin typeface="Consolas" panose="020B0609020204030204" pitchFamily="49" charset="0"/>
              </a:rPr>
              <a:t>breadth</a:t>
            </a:r>
            <a:r>
              <a:rPr lang="en-US" sz="2200" dirty="0">
                <a:latin typeface="Consolas" panose="020B0609020204030204" pitchFamily="49" charset="0"/>
              </a:rPr>
              <a:t>;</a:t>
            </a:r>
          </a:p>
          <a:p>
            <a:pPr>
              <a:lnSpc>
                <a:spcPct val="80000"/>
              </a:lnSpc>
            </a:pPr>
            <a:r>
              <a:rPr lang="en-IN" sz="2200" dirty="0" err="1">
                <a:solidFill>
                  <a:srgbClr val="7F0055"/>
                </a:solidFill>
                <a:latin typeface="Consolas" panose="020B0609020204030204" pitchFamily="49" charset="0"/>
              </a:rPr>
              <a:t>this</a:t>
            </a:r>
            <a:r>
              <a:rPr lang="en-IN" sz="2200" dirty="0" err="1">
                <a:solidFill>
                  <a:srgbClr val="0000FF"/>
                </a:solidFill>
                <a:latin typeface="Consolas" panose="020B0609020204030204" pitchFamily="49" charset="0"/>
              </a:rPr>
              <a:t>.height</a:t>
            </a:r>
            <a:r>
              <a:rPr lang="en-IN" sz="2200" dirty="0">
                <a:solidFill>
                  <a:srgbClr val="0000FF"/>
                </a:solidFill>
                <a:latin typeface="Consolas" panose="020B0609020204030204" pitchFamily="49" charset="0"/>
              </a:rPr>
              <a:t> </a:t>
            </a:r>
            <a:r>
              <a:rPr lang="en-US" sz="2200" dirty="0">
                <a:latin typeface="Consolas" panose="020B0609020204030204" pitchFamily="49" charset="0"/>
              </a:rPr>
              <a:t>= </a:t>
            </a:r>
            <a:r>
              <a:rPr lang="en-IN" sz="2200" dirty="0">
                <a:solidFill>
                  <a:schemeClr val="accent6">
                    <a:lumMod val="50000"/>
                  </a:schemeClr>
                </a:solidFill>
                <a:latin typeface="Consolas" panose="020B0609020204030204" pitchFamily="49" charset="0"/>
              </a:rPr>
              <a:t>height</a:t>
            </a:r>
            <a:r>
              <a:rPr lang="en-US" sz="2200" dirty="0">
                <a:latin typeface="Consolas" panose="020B0609020204030204" pitchFamily="49" charset="0"/>
              </a:rPr>
              <a:t>;</a:t>
            </a:r>
          </a:p>
        </p:txBody>
      </p:sp>
      <p:sp>
        <p:nvSpPr>
          <p:cNvPr id="8" name="Rectangle 7">
            <a:extLst>
              <a:ext uri="{FF2B5EF4-FFF2-40B4-BE49-F238E27FC236}">
                <a16:creationId xmlns:a16="http://schemas.microsoft.com/office/drawing/2014/main" id="{50CC57AE-B5D2-F817-1521-698A90BA3C97}"/>
              </a:ext>
            </a:extLst>
          </p:cNvPr>
          <p:cNvSpPr/>
          <p:nvPr/>
        </p:nvSpPr>
        <p:spPr>
          <a:xfrm>
            <a:off x="1832741" y="1721852"/>
            <a:ext cx="7293964" cy="909673"/>
          </a:xfrm>
          <a:prstGeom prst="rect">
            <a:avLst/>
          </a:prstGeom>
        </p:spPr>
        <p:txBody>
          <a:bodyPr wrap="square">
            <a:spAutoFit/>
          </a:bodyPr>
          <a:lstStyle/>
          <a:p>
            <a:pPr>
              <a:lnSpc>
                <a:spcPct val="80000"/>
              </a:lnSpc>
            </a:pPr>
            <a:r>
              <a:rPr lang="en-IN" sz="2200" dirty="0">
                <a:solidFill>
                  <a:srgbClr val="0000FF"/>
                </a:solidFill>
                <a:latin typeface="Consolas" panose="020B0609020204030204" pitchFamily="49" charset="0"/>
              </a:rPr>
              <a:t>length</a:t>
            </a:r>
            <a:r>
              <a:rPr lang="en-US" sz="2200" dirty="0">
                <a:latin typeface="Consolas" panose="020B0609020204030204" pitchFamily="49" charset="0"/>
              </a:rPr>
              <a:t> = </a:t>
            </a:r>
            <a:r>
              <a:rPr lang="en-US" sz="2200" dirty="0">
                <a:solidFill>
                  <a:schemeClr val="accent6">
                    <a:lumMod val="50000"/>
                  </a:schemeClr>
                </a:solidFill>
                <a:latin typeface="Consolas" panose="020B0609020204030204" pitchFamily="49" charset="0"/>
              </a:rPr>
              <a:t>length</a:t>
            </a:r>
            <a:r>
              <a:rPr lang="en-US" sz="2200" dirty="0">
                <a:latin typeface="Consolas" panose="020B0609020204030204" pitchFamily="49" charset="0"/>
              </a:rPr>
              <a:t>;</a:t>
            </a:r>
          </a:p>
          <a:p>
            <a:pPr>
              <a:lnSpc>
                <a:spcPct val="80000"/>
              </a:lnSpc>
            </a:pPr>
            <a:r>
              <a:rPr lang="en-IN" sz="2200" dirty="0">
                <a:solidFill>
                  <a:srgbClr val="0000FF"/>
                </a:solidFill>
                <a:latin typeface="Consolas" panose="020B0609020204030204" pitchFamily="49" charset="0"/>
              </a:rPr>
              <a:t>breadth </a:t>
            </a:r>
            <a:r>
              <a:rPr lang="en-US" sz="2200" dirty="0">
                <a:latin typeface="Consolas" panose="020B0609020204030204" pitchFamily="49" charset="0"/>
              </a:rPr>
              <a:t>= </a:t>
            </a:r>
            <a:r>
              <a:rPr lang="en-IN" sz="2200" dirty="0">
                <a:solidFill>
                  <a:schemeClr val="accent6">
                    <a:lumMod val="50000"/>
                  </a:schemeClr>
                </a:solidFill>
                <a:latin typeface="Consolas" panose="020B0609020204030204" pitchFamily="49" charset="0"/>
              </a:rPr>
              <a:t>breadth</a:t>
            </a:r>
            <a:r>
              <a:rPr lang="en-US" sz="2200" dirty="0">
                <a:latin typeface="Consolas" panose="020B0609020204030204" pitchFamily="49" charset="0"/>
              </a:rPr>
              <a:t>;</a:t>
            </a:r>
          </a:p>
          <a:p>
            <a:pPr>
              <a:lnSpc>
                <a:spcPct val="80000"/>
              </a:lnSpc>
            </a:pPr>
            <a:r>
              <a:rPr lang="en-IN" sz="2200" dirty="0">
                <a:solidFill>
                  <a:srgbClr val="0000FF"/>
                </a:solidFill>
                <a:latin typeface="Consolas" panose="020B0609020204030204" pitchFamily="49" charset="0"/>
              </a:rPr>
              <a:t>height </a:t>
            </a:r>
            <a:r>
              <a:rPr lang="en-US" sz="2200" dirty="0">
                <a:latin typeface="Consolas" panose="020B0609020204030204" pitchFamily="49" charset="0"/>
              </a:rPr>
              <a:t>= </a:t>
            </a:r>
            <a:r>
              <a:rPr lang="en-IN" sz="2200" dirty="0">
                <a:solidFill>
                  <a:schemeClr val="accent6">
                    <a:lumMod val="50000"/>
                  </a:schemeClr>
                </a:solidFill>
                <a:latin typeface="Consolas" panose="020B0609020204030204" pitchFamily="49" charset="0"/>
              </a:rPr>
              <a:t>height</a:t>
            </a:r>
            <a:r>
              <a:rPr lang="en-US" sz="2200" dirty="0">
                <a:latin typeface="Consolas" panose="020B0609020204030204" pitchFamily="49" charset="0"/>
              </a:rPr>
              <a:t>;</a:t>
            </a:r>
          </a:p>
        </p:txBody>
      </p:sp>
      <p:grpSp>
        <p:nvGrpSpPr>
          <p:cNvPr id="9" name="Group 8">
            <a:extLst>
              <a:ext uri="{FF2B5EF4-FFF2-40B4-BE49-F238E27FC236}">
                <a16:creationId xmlns:a16="http://schemas.microsoft.com/office/drawing/2014/main" id="{0B972D13-8BA8-0BDC-09A5-E4A45D480BAF}"/>
              </a:ext>
            </a:extLst>
          </p:cNvPr>
          <p:cNvGrpSpPr/>
          <p:nvPr/>
        </p:nvGrpSpPr>
        <p:grpSpPr>
          <a:xfrm>
            <a:off x="428625" y="495300"/>
            <a:ext cx="1408488" cy="1357056"/>
            <a:chOff x="428625" y="495300"/>
            <a:chExt cx="1408488" cy="1357056"/>
          </a:xfrm>
        </p:grpSpPr>
        <p:cxnSp>
          <p:nvCxnSpPr>
            <p:cNvPr id="10" name="Straight Connector 9">
              <a:extLst>
                <a:ext uri="{FF2B5EF4-FFF2-40B4-BE49-F238E27FC236}">
                  <a16:creationId xmlns:a16="http://schemas.microsoft.com/office/drawing/2014/main" id="{CE84E097-EE8A-B96C-1AA2-B33D34E03CA4}"/>
                </a:ext>
              </a:extLst>
            </p:cNvPr>
            <p:cNvCxnSpPr>
              <a:stCxn id="3" idx="1"/>
            </p:cNvCxnSpPr>
            <p:nvPr/>
          </p:nvCxnSpPr>
          <p:spPr>
            <a:xfrm flipH="1">
              <a:off x="428625" y="1852356"/>
              <a:ext cx="1408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CAE5137-F9A8-3DFE-3E7E-A133630CD9CC}"/>
                </a:ext>
              </a:extLst>
            </p:cNvPr>
            <p:cNvCxnSpPr/>
            <p:nvPr/>
          </p:nvCxnSpPr>
          <p:spPr>
            <a:xfrm flipV="1">
              <a:off x="438150" y="495300"/>
              <a:ext cx="0" cy="13436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9341CCB-72AD-CDAD-8523-C5DFF6FF869F}"/>
                </a:ext>
              </a:extLst>
            </p:cNvPr>
            <p:cNvCxnSpPr/>
            <p:nvPr/>
          </p:nvCxnSpPr>
          <p:spPr>
            <a:xfrm>
              <a:off x="428625" y="504825"/>
              <a:ext cx="4940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6733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nodeType="clickEffect">
                                  <p:stCondLst>
                                    <p:cond delay="0"/>
                                  </p:stCondLst>
                                  <p:childTnLst>
                                    <p:set>
                                      <p:cBhvr>
                                        <p:cTn id="15" dur="1" fill="hold">
                                          <p:stCondLst>
                                            <p:cond delay="0"/>
                                          </p:stCondLst>
                                        </p:cTn>
                                        <p:tgtEl>
                                          <p:spTgt spid="2">
                                            <p:txEl>
                                              <p:pRg st="6" end="6"/>
                                            </p:txEl>
                                          </p:spTgt>
                                        </p:tgtEl>
                                        <p:attrNameLst>
                                          <p:attrName>style.visibility</p:attrName>
                                        </p:attrNameLst>
                                      </p:cBhvr>
                                      <p:to>
                                        <p:strVal val="hidden"/>
                                      </p:to>
                                    </p:set>
                                  </p:childTnLst>
                                </p:cTn>
                              </p:par>
                              <p:par>
                                <p:cTn id="16" presetID="1" presetClass="exit" presetSubtype="0" fill="hold" nodeType="withEffect">
                                  <p:stCondLst>
                                    <p:cond delay="0"/>
                                  </p:stCondLst>
                                  <p:childTnLst>
                                    <p:set>
                                      <p:cBhvr>
                                        <p:cTn id="17" dur="1" fill="hold">
                                          <p:stCondLst>
                                            <p:cond delay="0"/>
                                          </p:stCondLst>
                                        </p:cTn>
                                        <p:tgtEl>
                                          <p:spTgt spid="2">
                                            <p:txEl>
                                              <p:pRg st="7" end="7"/>
                                            </p:txEl>
                                          </p:spTgt>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2">
                                            <p:txEl>
                                              <p:pRg st="8" end="8"/>
                                            </p:txEl>
                                          </p:spTgt>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par>
                                <p:cTn id="40" presetID="1" presetClass="exit" presetSubtype="0" fill="hold" grpId="1" nodeType="withEffect">
                                  <p:stCondLst>
                                    <p:cond delay="0"/>
                                  </p:stCondLst>
                                  <p:childTnLst>
                                    <p:set>
                                      <p:cBhvr>
                                        <p:cTn id="41" dur="1" fill="hold">
                                          <p:stCondLst>
                                            <p:cond delay="0"/>
                                          </p:stCondLst>
                                        </p:cTn>
                                        <p:tgtEl>
                                          <p:spTgt spid="4"/>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3"/>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left)">
                                      <p:cBhvr>
                                        <p:cTn id="52" dur="500"/>
                                        <p:tgtEl>
                                          <p:spTgt spid="7"/>
                                        </p:tgtEl>
                                      </p:cBhvr>
                                    </p:animEffect>
                                  </p:childTnLst>
                                </p:cTn>
                              </p:par>
                              <p:par>
                                <p:cTn id="53" presetID="1" presetClass="exit" presetSubtype="0" fill="hold" grpId="1" nodeType="withEffect">
                                  <p:stCondLst>
                                    <p:cond delay="0"/>
                                  </p:stCondLst>
                                  <p:childTnLst>
                                    <p:set>
                                      <p:cBhvr>
                                        <p:cTn id="54" dur="1" fill="hold">
                                          <p:stCondLst>
                                            <p:cond delay="0"/>
                                          </p:stCondLst>
                                        </p:cTn>
                                        <p:tgtEl>
                                          <p:spTgt spid="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animBg="1"/>
      <p:bldP spid="5" grpId="1" animBg="1"/>
      <p:bldP spid="6" grpId="0"/>
      <p:bldP spid="7" grpId="0"/>
      <p:bldP spid="8" grpId="0"/>
      <p:bldP spid="8"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066F0-56E9-68BF-D85D-88462594E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9E55C-1D94-261A-9278-4C64A17C28DB}"/>
              </a:ext>
            </a:extLst>
          </p:cNvPr>
          <p:cNvSpPr>
            <a:spLocks noGrp="1"/>
          </p:cNvSpPr>
          <p:nvPr>
            <p:ph type="title"/>
          </p:nvPr>
        </p:nvSpPr>
        <p:spPr>
          <a:xfrm>
            <a:off x="0" y="1"/>
            <a:ext cx="12192000" cy="711200"/>
          </a:xfrm>
        </p:spPr>
        <p:txBody>
          <a:bodyPr/>
          <a:lstStyle/>
          <a:p>
            <a:r>
              <a:rPr lang="en-IN" dirty="0"/>
              <a:t>static keyword</a:t>
            </a:r>
            <a:endParaRPr lang="en-US" dirty="0"/>
          </a:p>
        </p:txBody>
      </p:sp>
      <p:sp>
        <p:nvSpPr>
          <p:cNvPr id="3" name="Content Placeholder 2">
            <a:extLst>
              <a:ext uri="{FF2B5EF4-FFF2-40B4-BE49-F238E27FC236}">
                <a16:creationId xmlns:a16="http://schemas.microsoft.com/office/drawing/2014/main" id="{8429E1EF-81D0-DDC4-98D5-D879D73AB086}"/>
              </a:ext>
            </a:extLst>
          </p:cNvPr>
          <p:cNvSpPr>
            <a:spLocks noGrp="1"/>
          </p:cNvSpPr>
          <p:nvPr>
            <p:ph idx="1"/>
          </p:nvPr>
        </p:nvSpPr>
        <p:spPr>
          <a:xfrm>
            <a:off x="131180" y="863444"/>
            <a:ext cx="11929641" cy="5590565"/>
          </a:xfrm>
        </p:spPr>
        <p:txBody>
          <a:bodyPr/>
          <a:lstStyle/>
          <a:p>
            <a:r>
              <a:rPr lang="en-US" dirty="0">
                <a:solidFill>
                  <a:srgbClr val="C00000"/>
                </a:solidFill>
              </a:rPr>
              <a:t>static</a:t>
            </a:r>
            <a:r>
              <a:rPr lang="en-US" dirty="0"/>
              <a:t> keyword is mainly used for </a:t>
            </a:r>
            <a:r>
              <a:rPr lang="en-US" i="1" dirty="0">
                <a:solidFill>
                  <a:srgbClr val="C00000"/>
                </a:solidFill>
              </a:rPr>
              <a:t>memory management</a:t>
            </a:r>
            <a:r>
              <a:rPr lang="en-US" dirty="0"/>
              <a:t>.</a:t>
            </a:r>
          </a:p>
          <a:p>
            <a:r>
              <a:rPr lang="en-US" dirty="0"/>
              <a:t>It can be used with </a:t>
            </a:r>
          </a:p>
          <a:p>
            <a:pPr lvl="1"/>
            <a:r>
              <a:rPr lang="en-US" sz="2200" dirty="0"/>
              <a:t>Variables</a:t>
            </a:r>
          </a:p>
          <a:p>
            <a:pPr lvl="1"/>
            <a:r>
              <a:rPr lang="en-US" sz="2200" dirty="0"/>
              <a:t>Methods</a:t>
            </a:r>
          </a:p>
          <a:p>
            <a:pPr lvl="1"/>
            <a:r>
              <a:rPr lang="en-US" sz="2200" dirty="0"/>
              <a:t>Blocks</a:t>
            </a:r>
          </a:p>
          <a:p>
            <a:pPr lvl="1"/>
            <a:r>
              <a:rPr lang="en-US" sz="2200" dirty="0"/>
              <a:t>Nested classes</a:t>
            </a:r>
          </a:p>
          <a:p>
            <a:r>
              <a:rPr lang="en-US" dirty="0"/>
              <a:t>Basically, static is used for a constant variable or a method that is same for every instance of a class.</a:t>
            </a:r>
          </a:p>
          <a:p>
            <a:r>
              <a:rPr lang="en-US" dirty="0"/>
              <a:t>The static variable can be used to refer to the common property of all objects.</a:t>
            </a:r>
          </a:p>
          <a:p>
            <a:r>
              <a:rPr lang="en-US" dirty="0"/>
              <a:t>The static variable gets memory only once in the class area at the time of class loading.</a:t>
            </a:r>
          </a:p>
          <a:p>
            <a:r>
              <a:rPr lang="en-US" dirty="0"/>
              <a:t>It makes your program memory efficient.</a:t>
            </a:r>
          </a:p>
          <a:p>
            <a:r>
              <a:rPr lang="en-US" dirty="0"/>
              <a:t>Syntax</a:t>
            </a:r>
          </a:p>
          <a:p>
            <a:pPr marL="363538" indent="0">
              <a:buNone/>
            </a:pPr>
            <a:r>
              <a:rPr lang="en-US" dirty="0">
                <a:solidFill>
                  <a:srgbClr val="7F0055"/>
                </a:solidFill>
                <a:latin typeface="Consolas" panose="020B0609020204030204" pitchFamily="49" charset="0"/>
              </a:rPr>
              <a:t>static</a:t>
            </a:r>
            <a:r>
              <a:rPr lang="en-US" dirty="0">
                <a:latin typeface="Consolas" panose="020B0609020204030204" pitchFamily="49" charset="0"/>
              </a:rPr>
              <a:t> </a:t>
            </a:r>
            <a:r>
              <a:rPr lang="en-US" i="1" dirty="0">
                <a:solidFill>
                  <a:srgbClr val="7F0055"/>
                </a:solidFill>
                <a:latin typeface="Consolas" panose="020B0609020204030204" pitchFamily="49" charset="0"/>
              </a:rPr>
              <a:t>type</a:t>
            </a:r>
            <a:r>
              <a:rPr lang="en-US" dirty="0">
                <a:solidFill>
                  <a:srgbClr val="7F0055"/>
                </a:solidFill>
                <a:latin typeface="Consolas" panose="020B0609020204030204" pitchFamily="49" charset="0"/>
              </a:rPr>
              <a:t> </a:t>
            </a:r>
            <a:r>
              <a:rPr lang="en-US" i="1" dirty="0" err="1">
                <a:solidFill>
                  <a:schemeClr val="accent6">
                    <a:lumMod val="50000"/>
                  </a:schemeClr>
                </a:solidFill>
                <a:latin typeface="Consolas" panose="020B0609020204030204" pitchFamily="49" charset="0"/>
              </a:rPr>
              <a:t>variablename</a:t>
            </a:r>
            <a:r>
              <a:rPr lang="en-US" dirty="0">
                <a:latin typeface="Consolas" panose="020B0609020204030204" pitchFamily="49" charset="0"/>
              </a:rPr>
              <a:t>;</a:t>
            </a:r>
            <a:endParaRPr lang="en-IN" dirty="0">
              <a:latin typeface="Consolas" panose="020B0609020204030204" pitchFamily="49" charset="0"/>
            </a:endParaRPr>
          </a:p>
          <a:p>
            <a:endParaRPr lang="en-US" dirty="0"/>
          </a:p>
          <a:p>
            <a:pPr lvl="1"/>
            <a:endParaRPr lang="en-IN" dirty="0"/>
          </a:p>
          <a:p>
            <a:endParaRPr lang="en-US" dirty="0"/>
          </a:p>
        </p:txBody>
      </p:sp>
    </p:spTree>
    <p:extLst>
      <p:ext uri="{BB962C8B-B14F-4D97-AF65-F5344CB8AC3E}">
        <p14:creationId xmlns:p14="http://schemas.microsoft.com/office/powerpoint/2010/main" val="100183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D1146-6232-BCCF-C490-10BCFD57D39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BDEE533-4780-2BDD-5E14-9303206B6DB1}"/>
              </a:ext>
            </a:extLst>
          </p:cNvPr>
          <p:cNvSpPr/>
          <p:nvPr/>
        </p:nvSpPr>
        <p:spPr>
          <a:xfrm>
            <a:off x="1" y="2260946"/>
            <a:ext cx="6172199" cy="2862322"/>
          </a:xfrm>
          <a:prstGeom prst="rect">
            <a:avLst/>
          </a:prstGeom>
        </p:spPr>
        <p:txBody>
          <a:bodyPr wrap="square">
            <a:spAutoFit/>
          </a:bodyPr>
          <a:lstStyle/>
          <a:p>
            <a:r>
              <a:rPr lang="en-IN" dirty="0">
                <a:solidFill>
                  <a:srgbClr val="7F0055"/>
                </a:solidFill>
                <a:latin typeface="Consolas" panose="020B0609020204030204" pitchFamily="49" charset="0"/>
              </a:rPr>
              <a:t>class</a:t>
            </a:r>
            <a:r>
              <a:rPr lang="en-IN" dirty="0">
                <a:latin typeface="Consolas" panose="020B0609020204030204" pitchFamily="49" charset="0"/>
              </a:rPr>
              <a:t> </a:t>
            </a:r>
            <a:r>
              <a:rPr lang="en-IN" dirty="0" err="1">
                <a:latin typeface="Consolas" panose="020B0609020204030204" pitchFamily="49" charset="0"/>
              </a:rPr>
              <a:t>StudentDemo</a:t>
            </a:r>
            <a:r>
              <a:rPr lang="en-IN" dirty="0">
                <a:latin typeface="Consolas" panose="020B0609020204030204" pitchFamily="49" charset="0"/>
              </a:rPr>
              <a:t> {</a:t>
            </a:r>
          </a:p>
          <a:p>
            <a:r>
              <a:rPr lang="en-IN" dirty="0">
                <a:latin typeface="Consolas" panose="020B0609020204030204" pitchFamily="49" charset="0"/>
              </a:rPr>
              <a:t>	</a:t>
            </a:r>
            <a:r>
              <a:rPr lang="en-IN" dirty="0">
                <a:solidFill>
                  <a:srgbClr val="7F0055"/>
                </a:solidFill>
                <a:latin typeface="Consolas" panose="020B0609020204030204" pitchFamily="49" charset="0"/>
              </a:rPr>
              <a:t>public</a:t>
            </a:r>
            <a:r>
              <a:rPr lang="en-IN" dirty="0">
                <a:latin typeface="Consolas" panose="020B0609020204030204" pitchFamily="49" charset="0"/>
              </a:rPr>
              <a:t> </a:t>
            </a:r>
            <a:r>
              <a:rPr lang="en-IN" dirty="0">
                <a:solidFill>
                  <a:srgbClr val="7F0055"/>
                </a:solidFill>
                <a:latin typeface="Consolas" panose="020B0609020204030204" pitchFamily="49" charset="0"/>
              </a:rPr>
              <a:t>static</a:t>
            </a:r>
            <a:r>
              <a:rPr lang="en-IN" dirty="0">
                <a:latin typeface="Consolas" panose="020B0609020204030204" pitchFamily="49" charset="0"/>
              </a:rPr>
              <a:t> </a:t>
            </a:r>
            <a:r>
              <a:rPr lang="en-IN" dirty="0">
                <a:solidFill>
                  <a:srgbClr val="7F0055"/>
                </a:solidFill>
                <a:latin typeface="Consolas" panose="020B0609020204030204" pitchFamily="49" charset="0"/>
              </a:rPr>
              <a:t>void</a:t>
            </a:r>
            <a:r>
              <a:rPr lang="en-IN" dirty="0">
                <a:latin typeface="Consolas" panose="020B0609020204030204" pitchFamily="49" charset="0"/>
              </a:rPr>
              <a:t> main(String </a:t>
            </a:r>
            <a:r>
              <a:rPr lang="en-IN" dirty="0" err="1">
                <a:solidFill>
                  <a:schemeClr val="accent6">
                    <a:lumMod val="50000"/>
                  </a:schemeClr>
                </a:solidFill>
                <a:latin typeface="Consolas" panose="020B0609020204030204" pitchFamily="49" charset="0"/>
              </a:rPr>
              <a:t>args</a:t>
            </a:r>
            <a:r>
              <a:rPr lang="en-IN" dirty="0">
                <a:latin typeface="Consolas" panose="020B0609020204030204" pitchFamily="49" charset="0"/>
              </a:rPr>
              <a:t>[]) {</a:t>
            </a:r>
          </a:p>
          <a:p>
            <a:r>
              <a:rPr lang="en-IN" dirty="0">
                <a:latin typeface="Consolas" panose="020B0609020204030204" pitchFamily="49" charset="0"/>
              </a:rPr>
              <a:t>		Student </a:t>
            </a:r>
            <a:r>
              <a:rPr lang="en-IN" dirty="0">
                <a:solidFill>
                  <a:schemeClr val="accent6">
                    <a:lumMod val="50000"/>
                  </a:schemeClr>
                </a:solidFill>
                <a:latin typeface="Consolas" panose="020B0609020204030204" pitchFamily="49" charset="0"/>
              </a:rPr>
              <a:t>student1 </a:t>
            </a:r>
            <a:r>
              <a:rPr lang="en-IN" dirty="0">
                <a:latin typeface="Consolas" panose="020B0609020204030204" pitchFamily="49" charset="0"/>
              </a:rPr>
              <a:t>= </a:t>
            </a:r>
            <a:r>
              <a:rPr lang="en-IN" dirty="0">
                <a:solidFill>
                  <a:srgbClr val="7F0055"/>
                </a:solidFill>
                <a:latin typeface="Consolas" panose="020B0609020204030204" pitchFamily="49" charset="0"/>
              </a:rPr>
              <a:t>new</a:t>
            </a:r>
            <a:r>
              <a:rPr lang="en-IN" dirty="0">
                <a:latin typeface="Consolas" panose="020B0609020204030204" pitchFamily="49" charset="0"/>
              </a:rPr>
              <a:t> Student();</a:t>
            </a:r>
          </a:p>
          <a:p>
            <a:r>
              <a:rPr lang="en-IN" dirty="0">
                <a:latin typeface="Consolas" panose="020B0609020204030204" pitchFamily="49" charset="0"/>
              </a:rPr>
              <a:t>		Student </a:t>
            </a:r>
            <a:r>
              <a:rPr lang="en-IN" dirty="0">
                <a:solidFill>
                  <a:schemeClr val="accent6">
                    <a:lumMod val="50000"/>
                  </a:schemeClr>
                </a:solidFill>
                <a:latin typeface="Consolas" panose="020B0609020204030204" pitchFamily="49" charset="0"/>
              </a:rPr>
              <a:t>student2 </a:t>
            </a:r>
            <a:r>
              <a:rPr lang="en-IN" dirty="0">
                <a:latin typeface="Consolas" panose="020B0609020204030204" pitchFamily="49" charset="0"/>
              </a:rPr>
              <a:t>= </a:t>
            </a:r>
            <a:r>
              <a:rPr lang="en-IN" dirty="0">
                <a:solidFill>
                  <a:srgbClr val="7F0055"/>
                </a:solidFill>
                <a:latin typeface="Consolas" panose="020B0609020204030204" pitchFamily="49" charset="0"/>
              </a:rPr>
              <a:t>new</a:t>
            </a:r>
            <a:r>
              <a:rPr lang="en-IN" dirty="0">
                <a:latin typeface="Consolas" panose="020B0609020204030204" pitchFamily="49" charset="0"/>
              </a:rPr>
              <a:t> Student();</a:t>
            </a:r>
          </a:p>
          <a:p>
            <a:r>
              <a:rPr lang="en-IN" dirty="0">
                <a:latin typeface="Consolas" panose="020B0609020204030204" pitchFamily="49" charset="0"/>
              </a:rPr>
              <a:t>		Student </a:t>
            </a:r>
            <a:r>
              <a:rPr lang="en-IN" dirty="0">
                <a:solidFill>
                  <a:schemeClr val="accent6">
                    <a:lumMod val="50000"/>
                  </a:schemeClr>
                </a:solidFill>
                <a:latin typeface="Consolas" panose="020B0609020204030204" pitchFamily="49" charset="0"/>
              </a:rPr>
              <a:t>student3 </a:t>
            </a:r>
            <a:r>
              <a:rPr lang="en-IN" dirty="0">
                <a:latin typeface="Consolas" panose="020B0609020204030204" pitchFamily="49" charset="0"/>
              </a:rPr>
              <a:t>= </a:t>
            </a:r>
            <a:r>
              <a:rPr lang="en-IN" dirty="0">
                <a:solidFill>
                  <a:srgbClr val="7F0055"/>
                </a:solidFill>
                <a:latin typeface="Consolas" panose="020B0609020204030204" pitchFamily="49" charset="0"/>
              </a:rPr>
              <a:t>new</a:t>
            </a:r>
            <a:r>
              <a:rPr lang="en-IN" dirty="0">
                <a:latin typeface="Consolas" panose="020B0609020204030204" pitchFamily="49" charset="0"/>
              </a:rPr>
              <a:t> Student();</a:t>
            </a:r>
          </a:p>
          <a:p>
            <a:r>
              <a:rPr lang="en-IN" dirty="0">
                <a:latin typeface="Consolas" panose="020B0609020204030204" pitchFamily="49" charset="0"/>
              </a:rPr>
              <a:t>		.</a:t>
            </a:r>
          </a:p>
          <a:p>
            <a:r>
              <a:rPr lang="en-IN" dirty="0">
                <a:latin typeface="Consolas" panose="020B0609020204030204" pitchFamily="49" charset="0"/>
              </a:rPr>
              <a:t>		.</a:t>
            </a:r>
          </a:p>
          <a:p>
            <a:r>
              <a:rPr lang="en-IN" dirty="0">
                <a:latin typeface="Consolas" panose="020B0609020204030204" pitchFamily="49" charset="0"/>
              </a:rPr>
              <a:t>		.</a:t>
            </a:r>
          </a:p>
          <a:p>
            <a:r>
              <a:rPr lang="en-IN" dirty="0">
                <a:latin typeface="Consolas" panose="020B0609020204030204" pitchFamily="49" charset="0"/>
              </a:rPr>
              <a:t>	}</a:t>
            </a:r>
          </a:p>
          <a:p>
            <a:r>
              <a:rPr lang="en-IN" dirty="0">
                <a:latin typeface="Consolas" panose="020B0609020204030204" pitchFamily="49" charset="0"/>
              </a:rPr>
              <a:t>}</a:t>
            </a:r>
            <a:endParaRPr lang="en-IN" dirty="0"/>
          </a:p>
        </p:txBody>
      </p:sp>
      <p:sp>
        <p:nvSpPr>
          <p:cNvPr id="3" name="Rectangle 2">
            <a:extLst>
              <a:ext uri="{FF2B5EF4-FFF2-40B4-BE49-F238E27FC236}">
                <a16:creationId xmlns:a16="http://schemas.microsoft.com/office/drawing/2014/main" id="{DBB60D1B-676A-4194-EB8A-F47A12839ABB}"/>
              </a:ext>
            </a:extLst>
          </p:cNvPr>
          <p:cNvSpPr/>
          <p:nvPr/>
        </p:nvSpPr>
        <p:spPr>
          <a:xfrm>
            <a:off x="1" y="-1"/>
            <a:ext cx="4114800" cy="2308324"/>
          </a:xfrm>
          <a:prstGeom prst="rect">
            <a:avLst/>
          </a:prstGeom>
        </p:spPr>
        <p:txBody>
          <a:bodyPr wrap="square">
            <a:spAutoFit/>
          </a:bodyPr>
          <a:lstStyle/>
          <a:p>
            <a:r>
              <a:rPr lang="en-IN" dirty="0">
                <a:solidFill>
                  <a:srgbClr val="7F0055"/>
                </a:solidFill>
                <a:latin typeface="Consolas" panose="020B0609020204030204" pitchFamily="49" charset="0"/>
              </a:rPr>
              <a:t>class</a:t>
            </a:r>
            <a:r>
              <a:rPr lang="en-IN" dirty="0">
                <a:latin typeface="Consolas" panose="020B0609020204030204" pitchFamily="49" charset="0"/>
              </a:rPr>
              <a:t> Student {</a:t>
            </a:r>
          </a:p>
          <a:p>
            <a:r>
              <a:rPr lang="en-IN" dirty="0">
                <a:latin typeface="Consolas" panose="020B0609020204030204" pitchFamily="49" charset="0"/>
              </a:rPr>
              <a:t>	</a:t>
            </a:r>
            <a:r>
              <a:rPr lang="en-IN" dirty="0" err="1">
                <a:solidFill>
                  <a:srgbClr val="7F0055"/>
                </a:solidFill>
                <a:latin typeface="Consolas" panose="020B0609020204030204" pitchFamily="49" charset="0"/>
              </a:rPr>
              <a:t>int</a:t>
            </a:r>
            <a:r>
              <a:rPr lang="en-IN" dirty="0">
                <a:solidFill>
                  <a:srgbClr val="7F0055"/>
                </a:solidFill>
                <a:latin typeface="Consolas" panose="020B0609020204030204" pitchFamily="49" charset="0"/>
              </a:rPr>
              <a:t> </a:t>
            </a:r>
            <a:r>
              <a:rPr lang="en-IN" dirty="0" err="1">
                <a:solidFill>
                  <a:srgbClr val="0000FF"/>
                </a:solidFill>
                <a:latin typeface="Consolas" panose="020B0609020204030204" pitchFamily="49" charset="0"/>
              </a:rPr>
              <a:t>rollNo</a:t>
            </a:r>
            <a:r>
              <a:rPr lang="en-IN" dirty="0">
                <a:latin typeface="Consolas" panose="020B0609020204030204" pitchFamily="49" charset="0"/>
              </a:rPr>
              <a:t>;</a:t>
            </a:r>
          </a:p>
          <a:p>
            <a:r>
              <a:rPr lang="en-IN" dirty="0">
                <a:latin typeface="Consolas" panose="020B0609020204030204" pitchFamily="49" charset="0"/>
              </a:rPr>
              <a:t>	</a:t>
            </a:r>
            <a:r>
              <a:rPr lang="en-IN" dirty="0">
                <a:solidFill>
                  <a:srgbClr val="7F0055"/>
                </a:solidFill>
                <a:latin typeface="Consolas" panose="020B0609020204030204" pitchFamily="49" charset="0"/>
              </a:rPr>
              <a:t>String</a:t>
            </a:r>
            <a:r>
              <a:rPr lang="en-IN" dirty="0">
                <a:latin typeface="Consolas" panose="020B0609020204030204" pitchFamily="49" charset="0"/>
              </a:rPr>
              <a:t> </a:t>
            </a:r>
            <a:r>
              <a:rPr lang="en-IN" dirty="0">
                <a:solidFill>
                  <a:srgbClr val="0000FF"/>
                </a:solidFill>
                <a:latin typeface="Consolas" panose="020B0609020204030204" pitchFamily="49" charset="0"/>
              </a:rPr>
              <a:t>name</a:t>
            </a:r>
            <a:r>
              <a:rPr lang="en-IN" dirty="0">
                <a:latin typeface="Consolas" panose="020B0609020204030204" pitchFamily="49" charset="0"/>
              </a:rPr>
              <a:t>;</a:t>
            </a:r>
          </a:p>
          <a:p>
            <a:r>
              <a:rPr lang="en-IN" dirty="0">
                <a:latin typeface="Consolas" panose="020B0609020204030204" pitchFamily="49" charset="0"/>
              </a:rPr>
              <a:t>	</a:t>
            </a:r>
          </a:p>
          <a:p>
            <a:r>
              <a:rPr lang="en-IN" dirty="0">
                <a:latin typeface="Consolas" panose="020B0609020204030204" pitchFamily="49" charset="0"/>
              </a:rPr>
              <a:t>	.</a:t>
            </a:r>
          </a:p>
          <a:p>
            <a:r>
              <a:rPr lang="en-IN" dirty="0">
                <a:latin typeface="Consolas" panose="020B0609020204030204" pitchFamily="49" charset="0"/>
              </a:rPr>
              <a:t>	.</a:t>
            </a:r>
          </a:p>
          <a:p>
            <a:r>
              <a:rPr lang="en-IN" dirty="0">
                <a:latin typeface="Consolas" panose="020B0609020204030204" pitchFamily="49" charset="0"/>
              </a:rPr>
              <a:t>	.</a:t>
            </a:r>
          </a:p>
          <a:p>
            <a:r>
              <a:rPr lang="en-IN" dirty="0">
                <a:latin typeface="Consolas" panose="020B0609020204030204" pitchFamily="49" charset="0"/>
              </a:rPr>
              <a:t>}</a:t>
            </a:r>
          </a:p>
        </p:txBody>
      </p:sp>
      <p:sp>
        <p:nvSpPr>
          <p:cNvPr id="4" name="Rectangle 3">
            <a:extLst>
              <a:ext uri="{FF2B5EF4-FFF2-40B4-BE49-F238E27FC236}">
                <a16:creationId xmlns:a16="http://schemas.microsoft.com/office/drawing/2014/main" id="{D2094D41-EF01-5356-CA6F-7D8DB5622EB2}"/>
              </a:ext>
            </a:extLst>
          </p:cNvPr>
          <p:cNvSpPr/>
          <p:nvPr/>
        </p:nvSpPr>
        <p:spPr>
          <a:xfrm>
            <a:off x="3429001" y="3829761"/>
            <a:ext cx="1371600" cy="369332"/>
          </a:xfrm>
          <a:prstGeom prst="rect">
            <a:avLst/>
          </a:prstGeom>
        </p:spPr>
        <p:txBody>
          <a:bodyPr wrap="square">
            <a:spAutoFit/>
          </a:bodyPr>
          <a:lstStyle/>
          <a:p>
            <a:pPr algn="ctr"/>
            <a:r>
              <a:rPr lang="en-IN" dirty="0">
                <a:solidFill>
                  <a:schemeClr val="accent6">
                    <a:lumMod val="50000"/>
                  </a:schemeClr>
                </a:solidFill>
                <a:latin typeface="Consolas" panose="020B0609020204030204" pitchFamily="49" charset="0"/>
              </a:rPr>
              <a:t>student1 </a:t>
            </a:r>
            <a:endParaRPr lang="en-IN" dirty="0"/>
          </a:p>
        </p:txBody>
      </p:sp>
      <p:sp>
        <p:nvSpPr>
          <p:cNvPr id="5" name="Rectangle 4">
            <a:extLst>
              <a:ext uri="{FF2B5EF4-FFF2-40B4-BE49-F238E27FC236}">
                <a16:creationId xmlns:a16="http://schemas.microsoft.com/office/drawing/2014/main" id="{9ED38ED2-0556-281E-33D4-F68BBC325AF7}"/>
              </a:ext>
            </a:extLst>
          </p:cNvPr>
          <p:cNvSpPr/>
          <p:nvPr/>
        </p:nvSpPr>
        <p:spPr>
          <a:xfrm>
            <a:off x="5105400" y="3829761"/>
            <a:ext cx="1371600" cy="369332"/>
          </a:xfrm>
          <a:prstGeom prst="rect">
            <a:avLst/>
          </a:prstGeom>
        </p:spPr>
        <p:txBody>
          <a:bodyPr wrap="square">
            <a:spAutoFit/>
          </a:bodyPr>
          <a:lstStyle/>
          <a:p>
            <a:pPr algn="ctr"/>
            <a:r>
              <a:rPr lang="en-IN" dirty="0">
                <a:solidFill>
                  <a:schemeClr val="accent6">
                    <a:lumMod val="50000"/>
                  </a:schemeClr>
                </a:solidFill>
                <a:latin typeface="Consolas" panose="020B0609020204030204" pitchFamily="49" charset="0"/>
              </a:rPr>
              <a:t>student2 </a:t>
            </a:r>
            <a:endParaRPr lang="en-IN" dirty="0"/>
          </a:p>
        </p:txBody>
      </p:sp>
      <p:sp>
        <p:nvSpPr>
          <p:cNvPr id="6" name="Rectangle 5">
            <a:extLst>
              <a:ext uri="{FF2B5EF4-FFF2-40B4-BE49-F238E27FC236}">
                <a16:creationId xmlns:a16="http://schemas.microsoft.com/office/drawing/2014/main" id="{12D6DA67-64CB-52FE-440B-B03DFF709538}"/>
              </a:ext>
            </a:extLst>
          </p:cNvPr>
          <p:cNvSpPr/>
          <p:nvPr/>
        </p:nvSpPr>
        <p:spPr>
          <a:xfrm>
            <a:off x="6781799" y="3829761"/>
            <a:ext cx="1371600" cy="369332"/>
          </a:xfrm>
          <a:prstGeom prst="rect">
            <a:avLst/>
          </a:prstGeom>
        </p:spPr>
        <p:txBody>
          <a:bodyPr wrap="square">
            <a:spAutoFit/>
          </a:bodyPr>
          <a:lstStyle/>
          <a:p>
            <a:pPr algn="ctr"/>
            <a:r>
              <a:rPr lang="en-IN" dirty="0">
                <a:solidFill>
                  <a:schemeClr val="accent6">
                    <a:lumMod val="50000"/>
                  </a:schemeClr>
                </a:solidFill>
                <a:latin typeface="Consolas" panose="020B0609020204030204" pitchFamily="49" charset="0"/>
              </a:rPr>
              <a:t>student3 </a:t>
            </a:r>
            <a:endParaRPr lang="en-IN" dirty="0"/>
          </a:p>
        </p:txBody>
      </p:sp>
      <p:sp>
        <p:nvSpPr>
          <p:cNvPr id="7" name="TextBox 6">
            <a:extLst>
              <a:ext uri="{FF2B5EF4-FFF2-40B4-BE49-F238E27FC236}">
                <a16:creationId xmlns:a16="http://schemas.microsoft.com/office/drawing/2014/main" id="{FCF9B66B-0FA7-E916-7691-289A8F57E1D7}"/>
              </a:ext>
            </a:extLst>
          </p:cNvPr>
          <p:cNvSpPr txBox="1"/>
          <p:nvPr/>
        </p:nvSpPr>
        <p:spPr>
          <a:xfrm>
            <a:off x="2333245" y="4337974"/>
            <a:ext cx="944489" cy="369332"/>
          </a:xfrm>
          <a:prstGeom prst="rect">
            <a:avLst/>
          </a:prstGeom>
          <a:noFill/>
        </p:spPr>
        <p:txBody>
          <a:bodyPr wrap="none" rtlCol="0">
            <a:spAutoFit/>
          </a:bodyPr>
          <a:lstStyle/>
          <a:p>
            <a:pPr algn="ctr"/>
            <a:r>
              <a:rPr lang="en-IN" dirty="0" err="1">
                <a:solidFill>
                  <a:srgbClr val="0000FF"/>
                </a:solidFill>
                <a:latin typeface="Consolas" panose="020B0609020204030204" pitchFamily="49" charset="0"/>
              </a:rPr>
              <a:t>rollNo</a:t>
            </a:r>
            <a:endParaRPr lang="en-IN" dirty="0"/>
          </a:p>
        </p:txBody>
      </p:sp>
      <p:sp>
        <p:nvSpPr>
          <p:cNvPr id="8" name="TextBox 7">
            <a:extLst>
              <a:ext uri="{FF2B5EF4-FFF2-40B4-BE49-F238E27FC236}">
                <a16:creationId xmlns:a16="http://schemas.microsoft.com/office/drawing/2014/main" id="{6555D9E5-DA68-63A4-A520-0BEE613611CE}"/>
              </a:ext>
            </a:extLst>
          </p:cNvPr>
          <p:cNvSpPr txBox="1"/>
          <p:nvPr/>
        </p:nvSpPr>
        <p:spPr>
          <a:xfrm>
            <a:off x="2459882" y="4873846"/>
            <a:ext cx="691215" cy="369332"/>
          </a:xfrm>
          <a:prstGeom prst="rect">
            <a:avLst/>
          </a:prstGeom>
          <a:noFill/>
        </p:spPr>
        <p:txBody>
          <a:bodyPr wrap="none" rtlCol="0">
            <a:spAutoFit/>
          </a:bodyPr>
          <a:lstStyle/>
          <a:p>
            <a:pPr algn="ctr"/>
            <a:r>
              <a:rPr lang="en-IN" dirty="0">
                <a:solidFill>
                  <a:srgbClr val="0000FF"/>
                </a:solidFill>
                <a:latin typeface="Consolas" panose="020B0609020204030204" pitchFamily="49" charset="0"/>
              </a:rPr>
              <a:t>name</a:t>
            </a:r>
            <a:endParaRPr lang="en-IN" dirty="0"/>
          </a:p>
        </p:txBody>
      </p:sp>
      <p:sp>
        <p:nvSpPr>
          <p:cNvPr id="9" name="TextBox 8">
            <a:extLst>
              <a:ext uri="{FF2B5EF4-FFF2-40B4-BE49-F238E27FC236}">
                <a16:creationId xmlns:a16="http://schemas.microsoft.com/office/drawing/2014/main" id="{70E5810A-49A2-FF18-A1D1-5E918047FA0A}"/>
              </a:ext>
            </a:extLst>
          </p:cNvPr>
          <p:cNvSpPr txBox="1"/>
          <p:nvPr/>
        </p:nvSpPr>
        <p:spPr>
          <a:xfrm>
            <a:off x="2269926" y="5397819"/>
            <a:ext cx="1071126" cy="369332"/>
          </a:xfrm>
          <a:prstGeom prst="rect">
            <a:avLst/>
          </a:prstGeom>
          <a:noFill/>
        </p:spPr>
        <p:txBody>
          <a:bodyPr wrap="none" rtlCol="0">
            <a:spAutoFit/>
          </a:bodyPr>
          <a:lstStyle/>
          <a:p>
            <a:pPr algn="ctr"/>
            <a:r>
              <a:rPr lang="en-IN" dirty="0">
                <a:solidFill>
                  <a:srgbClr val="0000FF"/>
                </a:solidFill>
                <a:latin typeface="Consolas" panose="020B0609020204030204" pitchFamily="49" charset="0"/>
              </a:rPr>
              <a:t>college</a:t>
            </a:r>
            <a:endParaRPr lang="en-IN" dirty="0"/>
          </a:p>
        </p:txBody>
      </p:sp>
      <p:sp>
        <p:nvSpPr>
          <p:cNvPr id="10" name="Rectangle 9">
            <a:extLst>
              <a:ext uri="{FF2B5EF4-FFF2-40B4-BE49-F238E27FC236}">
                <a16:creationId xmlns:a16="http://schemas.microsoft.com/office/drawing/2014/main" id="{FBFD444D-F895-0A36-0D52-8CD77E0956E7}"/>
              </a:ext>
            </a:extLst>
          </p:cNvPr>
          <p:cNvSpPr/>
          <p:nvPr/>
        </p:nvSpPr>
        <p:spPr>
          <a:xfrm>
            <a:off x="5105399" y="4262765"/>
            <a:ext cx="1371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7AE677C-EB7E-71F5-F593-6C4AFF809AEA}"/>
              </a:ext>
            </a:extLst>
          </p:cNvPr>
          <p:cNvSpPr/>
          <p:nvPr/>
        </p:nvSpPr>
        <p:spPr>
          <a:xfrm>
            <a:off x="5105399" y="4796165"/>
            <a:ext cx="1371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2" name="Rectangle 11">
            <a:extLst>
              <a:ext uri="{FF2B5EF4-FFF2-40B4-BE49-F238E27FC236}">
                <a16:creationId xmlns:a16="http://schemas.microsoft.com/office/drawing/2014/main" id="{60B00279-99E5-964B-F9E2-B3CA43F83A74}"/>
              </a:ext>
            </a:extLst>
          </p:cNvPr>
          <p:cNvSpPr/>
          <p:nvPr/>
        </p:nvSpPr>
        <p:spPr>
          <a:xfrm>
            <a:off x="5105399" y="5331806"/>
            <a:ext cx="1371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Consolas" panose="020B0609020204030204" pitchFamily="49" charset="0"/>
              </a:rPr>
              <a:t>DICA</a:t>
            </a:r>
            <a:endParaRPr lang="en-IN" dirty="0"/>
          </a:p>
        </p:txBody>
      </p:sp>
      <p:sp>
        <p:nvSpPr>
          <p:cNvPr id="13" name="Rectangle 12">
            <a:extLst>
              <a:ext uri="{FF2B5EF4-FFF2-40B4-BE49-F238E27FC236}">
                <a16:creationId xmlns:a16="http://schemas.microsoft.com/office/drawing/2014/main" id="{0A42D013-0731-9584-17EF-EC4B5B3FF8A7}"/>
              </a:ext>
            </a:extLst>
          </p:cNvPr>
          <p:cNvSpPr/>
          <p:nvPr/>
        </p:nvSpPr>
        <p:spPr>
          <a:xfrm>
            <a:off x="6781799" y="4262765"/>
            <a:ext cx="1371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CF1140DA-3901-D776-7E52-2BB49EF31D24}"/>
              </a:ext>
            </a:extLst>
          </p:cNvPr>
          <p:cNvSpPr/>
          <p:nvPr/>
        </p:nvSpPr>
        <p:spPr>
          <a:xfrm>
            <a:off x="6781799" y="4796165"/>
            <a:ext cx="1371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5" name="Rectangle 14">
            <a:extLst>
              <a:ext uri="{FF2B5EF4-FFF2-40B4-BE49-F238E27FC236}">
                <a16:creationId xmlns:a16="http://schemas.microsoft.com/office/drawing/2014/main" id="{E25F8275-F353-92AA-DA35-B0BF579AEA01}"/>
              </a:ext>
            </a:extLst>
          </p:cNvPr>
          <p:cNvSpPr/>
          <p:nvPr/>
        </p:nvSpPr>
        <p:spPr>
          <a:xfrm>
            <a:off x="6781799" y="5331806"/>
            <a:ext cx="1371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Consolas" panose="020B0609020204030204" pitchFamily="49" charset="0"/>
              </a:rPr>
              <a:t>DICA</a:t>
            </a:r>
            <a:endParaRPr lang="en-IN" dirty="0"/>
          </a:p>
        </p:txBody>
      </p:sp>
      <p:sp>
        <p:nvSpPr>
          <p:cNvPr id="16" name="Rectangle 15">
            <a:extLst>
              <a:ext uri="{FF2B5EF4-FFF2-40B4-BE49-F238E27FC236}">
                <a16:creationId xmlns:a16="http://schemas.microsoft.com/office/drawing/2014/main" id="{1EF6BA98-743C-E3B1-01E5-7EB0F394C7F1}"/>
              </a:ext>
            </a:extLst>
          </p:cNvPr>
          <p:cNvSpPr/>
          <p:nvPr/>
        </p:nvSpPr>
        <p:spPr>
          <a:xfrm>
            <a:off x="3442448" y="4262765"/>
            <a:ext cx="1371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C3CC9618-D1B0-2D9C-94C4-D89E9F44A839}"/>
              </a:ext>
            </a:extLst>
          </p:cNvPr>
          <p:cNvSpPr/>
          <p:nvPr/>
        </p:nvSpPr>
        <p:spPr>
          <a:xfrm>
            <a:off x="3442448" y="4796165"/>
            <a:ext cx="1371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8" name="Rectangle 17">
            <a:extLst>
              <a:ext uri="{FF2B5EF4-FFF2-40B4-BE49-F238E27FC236}">
                <a16:creationId xmlns:a16="http://schemas.microsoft.com/office/drawing/2014/main" id="{1968B20F-5F1A-61AA-EB3E-ED8C3C099378}"/>
              </a:ext>
            </a:extLst>
          </p:cNvPr>
          <p:cNvSpPr/>
          <p:nvPr/>
        </p:nvSpPr>
        <p:spPr>
          <a:xfrm>
            <a:off x="3442448" y="5331806"/>
            <a:ext cx="1371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Consolas" panose="020B0609020204030204" pitchFamily="49" charset="0"/>
              </a:rPr>
              <a:t>DICA</a:t>
            </a:r>
          </a:p>
        </p:txBody>
      </p:sp>
      <p:sp>
        <p:nvSpPr>
          <p:cNvPr id="19" name="Rectangle 18">
            <a:extLst>
              <a:ext uri="{FF2B5EF4-FFF2-40B4-BE49-F238E27FC236}">
                <a16:creationId xmlns:a16="http://schemas.microsoft.com/office/drawing/2014/main" id="{0589969A-432E-0115-489C-37557AA1BE14}"/>
              </a:ext>
            </a:extLst>
          </p:cNvPr>
          <p:cNvSpPr/>
          <p:nvPr/>
        </p:nvSpPr>
        <p:spPr>
          <a:xfrm>
            <a:off x="911314" y="805353"/>
            <a:ext cx="4110421" cy="369332"/>
          </a:xfrm>
          <a:prstGeom prst="rect">
            <a:avLst/>
          </a:prstGeom>
        </p:spPr>
        <p:txBody>
          <a:bodyPr wrap="none">
            <a:spAutoFit/>
          </a:bodyPr>
          <a:lstStyle/>
          <a:p>
            <a:r>
              <a:rPr lang="en-IN" dirty="0">
                <a:solidFill>
                  <a:srgbClr val="7F0055"/>
                </a:solidFill>
                <a:latin typeface="Consolas" panose="020B0609020204030204" pitchFamily="49" charset="0"/>
              </a:rPr>
              <a:t>static String</a:t>
            </a:r>
            <a:r>
              <a:rPr lang="en-IN" dirty="0">
                <a:latin typeface="Consolas" panose="020B0609020204030204" pitchFamily="49" charset="0"/>
              </a:rPr>
              <a:t> </a:t>
            </a:r>
            <a:r>
              <a:rPr lang="en-IN" dirty="0">
                <a:solidFill>
                  <a:srgbClr val="0000FF"/>
                </a:solidFill>
                <a:latin typeface="Consolas" panose="020B0609020204030204" pitchFamily="49" charset="0"/>
              </a:rPr>
              <a:t>college </a:t>
            </a:r>
            <a:r>
              <a:rPr lang="en-IN" dirty="0">
                <a:latin typeface="Consolas" panose="020B0609020204030204" pitchFamily="49" charset="0"/>
              </a:rPr>
              <a:t>= "DICA";</a:t>
            </a:r>
            <a:endParaRPr lang="en-IN" dirty="0"/>
          </a:p>
        </p:txBody>
      </p:sp>
      <p:sp>
        <p:nvSpPr>
          <p:cNvPr id="20" name="Rectangle 19">
            <a:extLst>
              <a:ext uri="{FF2B5EF4-FFF2-40B4-BE49-F238E27FC236}">
                <a16:creationId xmlns:a16="http://schemas.microsoft.com/office/drawing/2014/main" id="{A5EE617E-5382-FB68-B465-E3CEEEF8F54D}"/>
              </a:ext>
            </a:extLst>
          </p:cNvPr>
          <p:cNvSpPr/>
          <p:nvPr/>
        </p:nvSpPr>
        <p:spPr>
          <a:xfrm>
            <a:off x="911314" y="812125"/>
            <a:ext cx="3223959" cy="369332"/>
          </a:xfrm>
          <a:prstGeom prst="rect">
            <a:avLst/>
          </a:prstGeom>
        </p:spPr>
        <p:txBody>
          <a:bodyPr wrap="none">
            <a:spAutoFit/>
          </a:bodyPr>
          <a:lstStyle/>
          <a:p>
            <a:r>
              <a:rPr lang="en-IN" dirty="0">
                <a:solidFill>
                  <a:srgbClr val="7F0055"/>
                </a:solidFill>
                <a:latin typeface="Consolas" panose="020B0609020204030204" pitchFamily="49" charset="0"/>
              </a:rPr>
              <a:t>String</a:t>
            </a:r>
            <a:r>
              <a:rPr lang="en-IN" dirty="0">
                <a:latin typeface="Consolas" panose="020B0609020204030204" pitchFamily="49" charset="0"/>
              </a:rPr>
              <a:t> </a:t>
            </a:r>
            <a:r>
              <a:rPr lang="en-IN" dirty="0">
                <a:solidFill>
                  <a:srgbClr val="0000FF"/>
                </a:solidFill>
                <a:latin typeface="Consolas" panose="020B0609020204030204" pitchFamily="49" charset="0"/>
              </a:rPr>
              <a:t>college </a:t>
            </a:r>
            <a:r>
              <a:rPr lang="en-IN" dirty="0">
                <a:latin typeface="Consolas" panose="020B0609020204030204" pitchFamily="49" charset="0"/>
              </a:rPr>
              <a:t>= "DIET";</a:t>
            </a:r>
            <a:endParaRPr lang="en-IN" dirty="0"/>
          </a:p>
        </p:txBody>
      </p:sp>
      <p:sp>
        <p:nvSpPr>
          <p:cNvPr id="21" name="Rectangle 20">
            <a:extLst>
              <a:ext uri="{FF2B5EF4-FFF2-40B4-BE49-F238E27FC236}">
                <a16:creationId xmlns:a16="http://schemas.microsoft.com/office/drawing/2014/main" id="{2B415177-3606-6ED6-B7E7-0EF6AC028F42}"/>
              </a:ext>
            </a:extLst>
          </p:cNvPr>
          <p:cNvSpPr/>
          <p:nvPr/>
        </p:nvSpPr>
        <p:spPr>
          <a:xfrm>
            <a:off x="5105399" y="5990744"/>
            <a:ext cx="1371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Consolas" panose="020B0609020204030204" pitchFamily="49" charset="0"/>
              </a:rPr>
              <a:t>DICA</a:t>
            </a:r>
            <a:endParaRPr lang="en-IN" dirty="0"/>
          </a:p>
        </p:txBody>
      </p:sp>
      <p:sp>
        <p:nvSpPr>
          <p:cNvPr id="22" name="TextBox 21">
            <a:extLst>
              <a:ext uri="{FF2B5EF4-FFF2-40B4-BE49-F238E27FC236}">
                <a16:creationId xmlns:a16="http://schemas.microsoft.com/office/drawing/2014/main" id="{138455B5-1574-2D37-699C-36C19C4F24D5}"/>
              </a:ext>
            </a:extLst>
          </p:cNvPr>
          <p:cNvSpPr txBox="1"/>
          <p:nvPr/>
        </p:nvSpPr>
        <p:spPr>
          <a:xfrm>
            <a:off x="3957332" y="6072778"/>
            <a:ext cx="1071126" cy="369332"/>
          </a:xfrm>
          <a:prstGeom prst="rect">
            <a:avLst/>
          </a:prstGeom>
          <a:noFill/>
        </p:spPr>
        <p:txBody>
          <a:bodyPr wrap="none" rtlCol="0">
            <a:spAutoFit/>
          </a:bodyPr>
          <a:lstStyle/>
          <a:p>
            <a:pPr algn="ctr"/>
            <a:r>
              <a:rPr lang="en-IN" dirty="0">
                <a:solidFill>
                  <a:srgbClr val="0000FF"/>
                </a:solidFill>
                <a:latin typeface="Consolas" panose="020B0609020204030204" pitchFamily="49" charset="0"/>
              </a:rPr>
              <a:t>college</a:t>
            </a:r>
            <a:endParaRPr lang="en-IN" dirty="0"/>
          </a:p>
        </p:txBody>
      </p:sp>
      <p:cxnSp>
        <p:nvCxnSpPr>
          <p:cNvPr id="23" name="Straight Arrow Connector 22">
            <a:extLst>
              <a:ext uri="{FF2B5EF4-FFF2-40B4-BE49-F238E27FC236}">
                <a16:creationId xmlns:a16="http://schemas.microsoft.com/office/drawing/2014/main" id="{38115417-93DC-442F-2F38-FF528A7013F8}"/>
              </a:ext>
            </a:extLst>
          </p:cNvPr>
          <p:cNvCxnSpPr>
            <a:stCxn id="21" idx="1"/>
            <a:endCxn id="17" idx="2"/>
          </p:cNvCxnSpPr>
          <p:nvPr/>
        </p:nvCxnSpPr>
        <p:spPr>
          <a:xfrm flipH="1" flipV="1">
            <a:off x="4128248" y="5329565"/>
            <a:ext cx="977151" cy="927879"/>
          </a:xfrm>
          <a:prstGeom prst="straightConnector1">
            <a:avLst/>
          </a:prstGeom>
          <a:ln w="31750">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4A16930-80E1-C077-3E33-F19D9AFC7115}"/>
              </a:ext>
            </a:extLst>
          </p:cNvPr>
          <p:cNvCxnSpPr>
            <a:stCxn id="21" idx="0"/>
            <a:endCxn id="11" idx="2"/>
          </p:cNvCxnSpPr>
          <p:nvPr/>
        </p:nvCxnSpPr>
        <p:spPr>
          <a:xfrm flipV="1">
            <a:off x="5791199" y="5329565"/>
            <a:ext cx="0" cy="661179"/>
          </a:xfrm>
          <a:prstGeom prst="straightConnector1">
            <a:avLst/>
          </a:prstGeom>
          <a:ln w="31750">
            <a:tailEnd type="stealth"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71CE69A-5B91-E184-FAFD-CE881BDA5EDE}"/>
              </a:ext>
            </a:extLst>
          </p:cNvPr>
          <p:cNvCxnSpPr>
            <a:stCxn id="21" idx="3"/>
            <a:endCxn id="14" idx="2"/>
          </p:cNvCxnSpPr>
          <p:nvPr/>
        </p:nvCxnSpPr>
        <p:spPr>
          <a:xfrm flipV="1">
            <a:off x="6476999" y="5329565"/>
            <a:ext cx="990600" cy="927879"/>
          </a:xfrm>
          <a:prstGeom prst="straightConnector1">
            <a:avLst/>
          </a:prstGeom>
          <a:ln w="3175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2984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wipe(left)">
                                      <p:cBhvr>
                                        <p:cTn id="53" dur="500"/>
                                        <p:tgtEl>
                                          <p:spTgt spid="19"/>
                                        </p:tgtEl>
                                      </p:cBhvr>
                                    </p:animEffect>
                                  </p:childTnLst>
                                </p:cTn>
                              </p:par>
                              <p:par>
                                <p:cTn id="54" presetID="1" presetClass="exit" presetSubtype="0" fill="hold" grpId="1" nodeType="withEffect">
                                  <p:stCondLst>
                                    <p:cond delay="0"/>
                                  </p:stCondLst>
                                  <p:childTnLst>
                                    <p:set>
                                      <p:cBhvr>
                                        <p:cTn id="55" dur="1" fill="hold">
                                          <p:stCondLst>
                                            <p:cond delay="0"/>
                                          </p:stCondLst>
                                        </p:cTn>
                                        <p:tgtEl>
                                          <p:spTgt spid="20"/>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1" nodeType="clickEffect">
                                  <p:stCondLst>
                                    <p:cond delay="0"/>
                                  </p:stCondLst>
                                  <p:childTnLst>
                                    <p:set>
                                      <p:cBhvr>
                                        <p:cTn id="59" dur="1" fill="hold">
                                          <p:stCondLst>
                                            <p:cond delay="0"/>
                                          </p:stCondLst>
                                        </p:cTn>
                                        <p:tgtEl>
                                          <p:spTgt spid="9"/>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18"/>
                                        </p:tgtEl>
                                        <p:attrNameLst>
                                          <p:attrName>style.visibility</p:attrName>
                                        </p:attrNameLst>
                                      </p:cBhvr>
                                      <p:to>
                                        <p:strVal val="hidden"/>
                                      </p:to>
                                    </p:set>
                                  </p:childTnLst>
                                </p:cTn>
                              </p:par>
                              <p:par>
                                <p:cTn id="62" presetID="1" presetClass="exit" presetSubtype="0" fill="hold" grpId="1" nodeType="withEffect">
                                  <p:stCondLst>
                                    <p:cond delay="0"/>
                                  </p:stCondLst>
                                  <p:childTnLst>
                                    <p:set>
                                      <p:cBhvr>
                                        <p:cTn id="63" dur="1" fill="hold">
                                          <p:stCondLst>
                                            <p:cond delay="0"/>
                                          </p:stCondLst>
                                        </p:cTn>
                                        <p:tgtEl>
                                          <p:spTgt spid="12"/>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15"/>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wipe(up)">
                                      <p:cBhvr>
                                        <p:cTn id="70" dur="500"/>
                                        <p:tgtEl>
                                          <p:spTgt spid="22"/>
                                        </p:tgtEl>
                                      </p:cBhvr>
                                    </p:animEffect>
                                  </p:childTnLst>
                                </p:cTn>
                              </p:par>
                              <p:par>
                                <p:cTn id="71" presetID="22" presetClass="entr" presetSubtype="1"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wipe(up)">
                                      <p:cBhvr>
                                        <p:cTn id="73" dur="500"/>
                                        <p:tgtEl>
                                          <p:spTgt spid="2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wipe(down)">
                                      <p:cBhvr>
                                        <p:cTn id="78" dur="500"/>
                                        <p:tgtEl>
                                          <p:spTgt spid="25"/>
                                        </p:tgtEl>
                                      </p:cBhvr>
                                    </p:animEffect>
                                  </p:childTnLst>
                                </p:cTn>
                              </p:par>
                              <p:par>
                                <p:cTn id="79" presetID="22" presetClass="entr" presetSubtype="4" fill="hold" nodeType="with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wipe(down)">
                                      <p:cBhvr>
                                        <p:cTn id="81" dur="500"/>
                                        <p:tgtEl>
                                          <p:spTgt spid="24"/>
                                        </p:tgtEl>
                                      </p:cBhvr>
                                    </p:animEffect>
                                  </p:childTnLst>
                                </p:cTn>
                              </p:par>
                              <p:par>
                                <p:cTn id="82" presetID="22" presetClass="entr" presetSubtype="4" fill="hold"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wipe(down)">
                                      <p:cBhvr>
                                        <p:cTn id="8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9" grpId="1"/>
      <p:bldP spid="10" grpId="0" animBg="1"/>
      <p:bldP spid="11" grpId="0" animBg="1"/>
      <p:bldP spid="12" grpId="0" animBg="1"/>
      <p:bldP spid="12" grpId="1" animBg="1"/>
      <p:bldP spid="13" grpId="0" animBg="1"/>
      <p:bldP spid="14" grpId="0" animBg="1"/>
      <p:bldP spid="15" grpId="0" animBg="1"/>
      <p:bldP spid="15" grpId="1" animBg="1"/>
      <p:bldP spid="16" grpId="0" animBg="1"/>
      <p:bldP spid="17" grpId="0" animBg="1"/>
      <p:bldP spid="18" grpId="0" animBg="1"/>
      <p:bldP spid="18" grpId="1" animBg="1"/>
      <p:bldP spid="19" grpId="0"/>
      <p:bldP spid="20" grpId="0"/>
      <p:bldP spid="20" grpId="1"/>
      <p:bldP spid="21" grpId="0" animBg="1"/>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ABE71-EAF6-FCA4-9127-048BF69F74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2A6D0-B5BA-2AAA-FCE6-1A499A524F09}"/>
              </a:ext>
            </a:extLst>
          </p:cNvPr>
          <p:cNvSpPr>
            <a:spLocks noGrp="1"/>
          </p:cNvSpPr>
          <p:nvPr>
            <p:ph type="title"/>
          </p:nvPr>
        </p:nvSpPr>
        <p:spPr>
          <a:xfrm>
            <a:off x="0" y="1"/>
            <a:ext cx="12192000" cy="711200"/>
          </a:xfrm>
        </p:spPr>
        <p:txBody>
          <a:bodyPr/>
          <a:lstStyle/>
          <a:p>
            <a:r>
              <a:rPr lang="en-IN" dirty="0"/>
              <a:t>static method</a:t>
            </a:r>
            <a:endParaRPr lang="en-US" dirty="0"/>
          </a:p>
        </p:txBody>
      </p:sp>
      <p:sp>
        <p:nvSpPr>
          <p:cNvPr id="3" name="Content Placeholder 2">
            <a:extLst>
              <a:ext uri="{FF2B5EF4-FFF2-40B4-BE49-F238E27FC236}">
                <a16:creationId xmlns:a16="http://schemas.microsoft.com/office/drawing/2014/main" id="{C76446A2-AB65-B7ED-DA2A-B52A8A3A17D2}"/>
              </a:ext>
            </a:extLst>
          </p:cNvPr>
          <p:cNvSpPr>
            <a:spLocks noGrp="1"/>
          </p:cNvSpPr>
          <p:nvPr>
            <p:ph idx="1"/>
          </p:nvPr>
        </p:nvSpPr>
        <p:spPr>
          <a:xfrm>
            <a:off x="131180" y="863444"/>
            <a:ext cx="11929641" cy="5590565"/>
          </a:xfrm>
        </p:spPr>
        <p:txBody>
          <a:bodyPr/>
          <a:lstStyle/>
          <a:p>
            <a:r>
              <a:rPr lang="en-US" dirty="0"/>
              <a:t>If you apply static keyword with any method, it is known as static method.</a:t>
            </a:r>
          </a:p>
          <a:p>
            <a:r>
              <a:rPr lang="en-US" dirty="0"/>
              <a:t>A static method belongs to the class rather than the object of a class.</a:t>
            </a:r>
          </a:p>
          <a:p>
            <a:r>
              <a:rPr lang="en-US" dirty="0"/>
              <a:t>A static method can be invoked without the need for creating an instance of a class.</a:t>
            </a:r>
          </a:p>
          <a:p>
            <a:r>
              <a:rPr lang="en-US" dirty="0"/>
              <a:t>A static method can access static data member and can change the value of it.</a:t>
            </a:r>
          </a:p>
          <a:p>
            <a:r>
              <a:rPr lang="en-US" dirty="0">
                <a:solidFill>
                  <a:srgbClr val="C00000"/>
                </a:solidFill>
              </a:rPr>
              <a:t>Restrictions</a:t>
            </a:r>
          </a:p>
          <a:p>
            <a:pPr marL="457200" indent="-457200">
              <a:buFont typeface="+mj-lt"/>
              <a:buAutoNum type="arabicPeriod"/>
            </a:pPr>
            <a:r>
              <a:rPr lang="en-US" dirty="0"/>
              <a:t>The static method can not use non static data member or call non-static method directly.</a:t>
            </a:r>
          </a:p>
          <a:p>
            <a:pPr marL="457200" indent="-457200">
              <a:buFont typeface="+mj-lt"/>
              <a:buAutoNum type="arabicPeriod"/>
            </a:pPr>
            <a:r>
              <a:rPr lang="en-US" dirty="0"/>
              <a:t>this and super cannot be used in static context.</a:t>
            </a:r>
            <a:endParaRPr lang="en-IN" dirty="0"/>
          </a:p>
          <a:p>
            <a:endParaRPr lang="en-US" dirty="0"/>
          </a:p>
        </p:txBody>
      </p:sp>
    </p:spTree>
    <p:extLst>
      <p:ext uri="{BB962C8B-B14F-4D97-AF65-F5344CB8AC3E}">
        <p14:creationId xmlns:p14="http://schemas.microsoft.com/office/powerpoint/2010/main" val="3898938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1DD2A-E129-C5DE-E65D-CE1D8EDD3A7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459E887-EDB5-E521-1F54-A4902A6C9198}"/>
              </a:ext>
            </a:extLst>
          </p:cNvPr>
          <p:cNvSpPr/>
          <p:nvPr/>
        </p:nvSpPr>
        <p:spPr>
          <a:xfrm>
            <a:off x="0" y="0"/>
            <a:ext cx="9144000" cy="7017306"/>
          </a:xfrm>
          <a:prstGeom prst="rect">
            <a:avLst/>
          </a:prstGeom>
        </p:spPr>
        <p:txBody>
          <a:bodyPr wrap="square">
            <a:spAutoFit/>
          </a:bodyPr>
          <a:lstStyle/>
          <a:p>
            <a:r>
              <a:rPr lang="en-IN" dirty="0">
                <a:solidFill>
                  <a:srgbClr val="7F0055"/>
                </a:solidFill>
                <a:latin typeface="Consolas" panose="020B0609020204030204" pitchFamily="49" charset="0"/>
              </a:rPr>
              <a:t>class</a:t>
            </a:r>
            <a:r>
              <a:rPr lang="en-IN" dirty="0">
                <a:latin typeface="Consolas" panose="020B0609020204030204" pitchFamily="49" charset="0"/>
              </a:rPr>
              <a:t> Student {</a:t>
            </a:r>
          </a:p>
          <a:p>
            <a:r>
              <a:rPr lang="en-IN" dirty="0">
                <a:latin typeface="Consolas" panose="020B0609020204030204" pitchFamily="49" charset="0"/>
              </a:rPr>
              <a:t>    </a:t>
            </a:r>
            <a:r>
              <a:rPr lang="en-IN" dirty="0" err="1">
                <a:solidFill>
                  <a:srgbClr val="7F0055"/>
                </a:solidFill>
                <a:latin typeface="Consolas" panose="020B0609020204030204" pitchFamily="49" charset="0"/>
              </a:rPr>
              <a:t>int</a:t>
            </a:r>
            <a:r>
              <a:rPr lang="en-IN" dirty="0">
                <a:solidFill>
                  <a:srgbClr val="7F0055"/>
                </a:solidFill>
                <a:latin typeface="Consolas" panose="020B0609020204030204" pitchFamily="49" charset="0"/>
              </a:rPr>
              <a:t> </a:t>
            </a:r>
            <a:r>
              <a:rPr lang="en-IN" dirty="0" err="1">
                <a:solidFill>
                  <a:srgbClr val="0000FF"/>
                </a:solidFill>
                <a:latin typeface="Consolas" panose="020B0609020204030204" pitchFamily="49" charset="0"/>
              </a:rPr>
              <a:t>rollno</a:t>
            </a:r>
            <a:r>
              <a:rPr lang="en-IN" dirty="0">
                <a:latin typeface="Consolas" panose="020B0609020204030204" pitchFamily="49" charset="0"/>
              </a:rPr>
              <a:t>;  </a:t>
            </a:r>
          </a:p>
          <a:p>
            <a:r>
              <a:rPr lang="en-IN" dirty="0">
                <a:latin typeface="Consolas" panose="020B0609020204030204" pitchFamily="49" charset="0"/>
              </a:rPr>
              <a:t>    String </a:t>
            </a:r>
            <a:r>
              <a:rPr lang="en-IN" dirty="0">
                <a:solidFill>
                  <a:srgbClr val="0000FF"/>
                </a:solidFill>
                <a:latin typeface="Consolas" panose="020B0609020204030204" pitchFamily="49" charset="0"/>
              </a:rPr>
              <a:t>name</a:t>
            </a:r>
            <a:r>
              <a:rPr lang="en-IN" dirty="0">
                <a:latin typeface="Consolas" panose="020B0609020204030204" pitchFamily="49" charset="0"/>
              </a:rPr>
              <a:t>;  </a:t>
            </a:r>
          </a:p>
          <a:p>
            <a:r>
              <a:rPr lang="en-IN" dirty="0">
                <a:latin typeface="Consolas" panose="020B0609020204030204" pitchFamily="49" charset="0"/>
              </a:rPr>
              <a:t>    </a:t>
            </a:r>
            <a:r>
              <a:rPr lang="en-IN" dirty="0">
                <a:solidFill>
                  <a:srgbClr val="7F0055"/>
                </a:solidFill>
                <a:latin typeface="Consolas" panose="020B0609020204030204" pitchFamily="49" charset="0"/>
              </a:rPr>
              <a:t>static</a:t>
            </a:r>
            <a:r>
              <a:rPr lang="en-IN" dirty="0">
                <a:latin typeface="Consolas" panose="020B0609020204030204" pitchFamily="49" charset="0"/>
              </a:rPr>
              <a:t> </a:t>
            </a:r>
            <a:r>
              <a:rPr lang="en-IN" dirty="0">
                <a:solidFill>
                  <a:srgbClr val="7F0055"/>
                </a:solidFill>
                <a:latin typeface="Consolas" panose="020B0609020204030204" pitchFamily="49" charset="0"/>
              </a:rPr>
              <a:t>String</a:t>
            </a:r>
            <a:r>
              <a:rPr lang="en-IN" dirty="0">
                <a:latin typeface="Consolas" panose="020B0609020204030204" pitchFamily="49" charset="0"/>
              </a:rPr>
              <a:t> </a:t>
            </a:r>
            <a:r>
              <a:rPr lang="en-IN" i="1" dirty="0">
                <a:solidFill>
                  <a:srgbClr val="0000FF"/>
                </a:solidFill>
                <a:latin typeface="Consolas" panose="020B0609020204030204" pitchFamily="49" charset="0"/>
              </a:rPr>
              <a:t>college</a:t>
            </a:r>
            <a:r>
              <a:rPr lang="en-IN" dirty="0">
                <a:latin typeface="Consolas" panose="020B0609020204030204" pitchFamily="49" charset="0"/>
              </a:rPr>
              <a:t>="</a:t>
            </a:r>
            <a:r>
              <a:rPr lang="en-IN" dirty="0" err="1">
                <a:solidFill>
                  <a:srgbClr val="0000FF"/>
                </a:solidFill>
                <a:latin typeface="Consolas" panose="020B0609020204030204" pitchFamily="49" charset="0"/>
              </a:rPr>
              <a:t>abc</a:t>
            </a:r>
            <a:r>
              <a:rPr lang="en-IN" dirty="0">
                <a:latin typeface="Consolas" panose="020B0609020204030204" pitchFamily="49" charset="0"/>
              </a:rPr>
              <a:t>";</a:t>
            </a:r>
          </a:p>
          <a:p>
            <a:r>
              <a:rPr lang="en-IN" dirty="0">
                <a:latin typeface="Consolas" panose="020B0609020204030204" pitchFamily="49" charset="0"/>
              </a:rPr>
              <a:t>    </a:t>
            </a:r>
            <a:r>
              <a:rPr lang="en-IN" dirty="0">
                <a:solidFill>
                  <a:srgbClr val="7F0055"/>
                </a:solidFill>
                <a:latin typeface="Consolas" panose="020B0609020204030204" pitchFamily="49" charset="0"/>
              </a:rPr>
              <a:t>static</a:t>
            </a:r>
            <a:r>
              <a:rPr lang="en-IN" dirty="0">
                <a:latin typeface="Consolas" panose="020B0609020204030204" pitchFamily="49" charset="0"/>
              </a:rPr>
              <a:t> </a:t>
            </a:r>
            <a:r>
              <a:rPr lang="en-IN" dirty="0">
                <a:solidFill>
                  <a:srgbClr val="7F0055"/>
                </a:solidFill>
                <a:latin typeface="Consolas" panose="020B0609020204030204" pitchFamily="49" charset="0"/>
              </a:rPr>
              <a:t>void</a:t>
            </a:r>
            <a:r>
              <a:rPr lang="en-IN" dirty="0">
                <a:latin typeface="Consolas" panose="020B0609020204030204" pitchFamily="49" charset="0"/>
              </a:rPr>
              <a:t> change() {</a:t>
            </a:r>
          </a:p>
          <a:p>
            <a:r>
              <a:rPr lang="en-IN" dirty="0">
                <a:latin typeface="Consolas" panose="020B0609020204030204" pitchFamily="49" charset="0"/>
              </a:rPr>
              <a:t>        </a:t>
            </a:r>
            <a:r>
              <a:rPr lang="en-IN" i="1" dirty="0">
                <a:solidFill>
                  <a:srgbClr val="0000FF"/>
                </a:solidFill>
                <a:latin typeface="Consolas" panose="020B0609020204030204" pitchFamily="49" charset="0"/>
              </a:rPr>
              <a:t>college</a:t>
            </a:r>
            <a:r>
              <a:rPr lang="en-IN" dirty="0">
                <a:latin typeface="Consolas" panose="020B0609020204030204" pitchFamily="49" charset="0"/>
              </a:rPr>
              <a:t> = "</a:t>
            </a:r>
            <a:r>
              <a:rPr lang="en-IN" dirty="0">
                <a:solidFill>
                  <a:srgbClr val="0000FF"/>
                </a:solidFill>
                <a:latin typeface="Consolas" panose="020B0609020204030204" pitchFamily="49" charset="0"/>
              </a:rPr>
              <a:t>DIET</a:t>
            </a:r>
            <a:r>
              <a:rPr lang="en-IN" dirty="0">
                <a:latin typeface="Consolas" panose="020B0609020204030204" pitchFamily="49" charset="0"/>
              </a:rPr>
              <a:t>";</a:t>
            </a:r>
          </a:p>
          <a:p>
            <a:r>
              <a:rPr lang="en-IN" dirty="0">
                <a:latin typeface="Consolas" panose="020B0609020204030204" pitchFamily="49" charset="0"/>
              </a:rPr>
              <a:t>  	 </a:t>
            </a:r>
            <a:r>
              <a:rPr lang="en-IN" dirty="0" err="1">
                <a:solidFill>
                  <a:srgbClr val="0000FF"/>
                </a:solidFill>
                <a:latin typeface="Consolas" panose="020B0609020204030204" pitchFamily="49" charset="0"/>
              </a:rPr>
              <a:t>rollno</a:t>
            </a:r>
            <a:r>
              <a:rPr lang="en-IN" dirty="0">
                <a:solidFill>
                  <a:srgbClr val="0000FF"/>
                </a:solidFill>
                <a:latin typeface="Consolas" panose="020B0609020204030204" pitchFamily="49" charset="0"/>
              </a:rPr>
              <a:t> = 10;</a:t>
            </a:r>
            <a:endParaRPr lang="en-IN" dirty="0">
              <a:latin typeface="Consolas" panose="020B0609020204030204" pitchFamily="49" charset="0"/>
            </a:endParaRPr>
          </a:p>
          <a:p>
            <a:r>
              <a:rPr lang="en-IN" dirty="0">
                <a:latin typeface="Consolas" panose="020B0609020204030204" pitchFamily="49" charset="0"/>
              </a:rPr>
              <a:t>    }  </a:t>
            </a:r>
          </a:p>
          <a:p>
            <a:r>
              <a:rPr lang="en-IN" dirty="0">
                <a:latin typeface="Consolas" panose="020B0609020204030204" pitchFamily="49" charset="0"/>
              </a:rPr>
              <a:t>    Student(</a:t>
            </a:r>
            <a:r>
              <a:rPr lang="en-IN" dirty="0" err="1">
                <a:solidFill>
                  <a:srgbClr val="7F0055"/>
                </a:solidFill>
                <a:latin typeface="Consolas" panose="020B0609020204030204" pitchFamily="49" charset="0"/>
              </a:rPr>
              <a:t>int</a:t>
            </a:r>
            <a:r>
              <a:rPr lang="en-IN" dirty="0">
                <a:latin typeface="Consolas" panose="020B0609020204030204" pitchFamily="49" charset="0"/>
              </a:rPr>
              <a:t> r, String n) {</a:t>
            </a:r>
          </a:p>
          <a:p>
            <a:r>
              <a:rPr lang="en-IN" dirty="0">
                <a:latin typeface="Consolas" panose="020B0609020204030204" pitchFamily="49" charset="0"/>
              </a:rPr>
              <a:t>        </a:t>
            </a:r>
            <a:r>
              <a:rPr lang="en-IN" dirty="0" err="1">
                <a:solidFill>
                  <a:srgbClr val="0000FF"/>
                </a:solidFill>
                <a:latin typeface="Consolas" panose="020B0609020204030204" pitchFamily="49" charset="0"/>
              </a:rPr>
              <a:t>rollno</a:t>
            </a:r>
            <a:r>
              <a:rPr lang="en-IN" dirty="0">
                <a:solidFill>
                  <a:srgbClr val="0000FF"/>
                </a:solidFill>
                <a:latin typeface="Consolas" panose="020B0609020204030204" pitchFamily="49" charset="0"/>
              </a:rPr>
              <a:t> </a:t>
            </a:r>
            <a:r>
              <a:rPr lang="en-IN" dirty="0">
                <a:latin typeface="Consolas" panose="020B0609020204030204" pitchFamily="49" charset="0"/>
              </a:rPr>
              <a:t>= </a:t>
            </a:r>
            <a:r>
              <a:rPr lang="en-IN" dirty="0">
                <a:solidFill>
                  <a:schemeClr val="accent6">
                    <a:lumMod val="50000"/>
                  </a:schemeClr>
                </a:solidFill>
                <a:latin typeface="Consolas" panose="020B0609020204030204" pitchFamily="49" charset="0"/>
              </a:rPr>
              <a:t>r</a:t>
            </a:r>
            <a:r>
              <a:rPr lang="en-IN" dirty="0">
                <a:latin typeface="Consolas" panose="020B0609020204030204" pitchFamily="49" charset="0"/>
              </a:rPr>
              <a:t>;</a:t>
            </a:r>
          </a:p>
          <a:p>
            <a:r>
              <a:rPr lang="en-IN" dirty="0">
                <a:latin typeface="Consolas" panose="020B0609020204030204" pitchFamily="49" charset="0"/>
              </a:rPr>
              <a:t>        </a:t>
            </a:r>
            <a:r>
              <a:rPr lang="en-IN" dirty="0">
                <a:solidFill>
                  <a:srgbClr val="0000FF"/>
                </a:solidFill>
                <a:latin typeface="Consolas" panose="020B0609020204030204" pitchFamily="49" charset="0"/>
              </a:rPr>
              <a:t>name</a:t>
            </a:r>
            <a:r>
              <a:rPr lang="en-IN" dirty="0">
                <a:latin typeface="Consolas" panose="020B0609020204030204" pitchFamily="49" charset="0"/>
              </a:rPr>
              <a:t> = </a:t>
            </a:r>
            <a:r>
              <a:rPr lang="en-IN" dirty="0">
                <a:solidFill>
                  <a:schemeClr val="accent6">
                    <a:lumMod val="50000"/>
                  </a:schemeClr>
                </a:solidFill>
                <a:latin typeface="Consolas" panose="020B0609020204030204" pitchFamily="49" charset="0"/>
              </a:rPr>
              <a:t>n</a:t>
            </a:r>
            <a:r>
              <a:rPr lang="en-IN" dirty="0">
                <a:latin typeface="Consolas" panose="020B0609020204030204" pitchFamily="49" charset="0"/>
              </a:rPr>
              <a:t>;  </a:t>
            </a:r>
          </a:p>
          <a:p>
            <a:r>
              <a:rPr lang="en-IN" dirty="0">
                <a:latin typeface="Consolas" panose="020B0609020204030204" pitchFamily="49" charset="0"/>
              </a:rPr>
              <a:t>    }  </a:t>
            </a:r>
          </a:p>
          <a:p>
            <a:r>
              <a:rPr lang="en-IN" dirty="0">
                <a:latin typeface="Consolas" panose="020B0609020204030204" pitchFamily="49" charset="0"/>
              </a:rPr>
              <a:t>    </a:t>
            </a:r>
            <a:r>
              <a:rPr lang="en-IN" dirty="0">
                <a:solidFill>
                  <a:srgbClr val="7F0055"/>
                </a:solidFill>
                <a:latin typeface="Consolas" panose="020B0609020204030204" pitchFamily="49" charset="0"/>
              </a:rPr>
              <a:t>void</a:t>
            </a:r>
            <a:r>
              <a:rPr lang="en-IN" dirty="0">
                <a:latin typeface="Consolas" panose="020B0609020204030204" pitchFamily="49" charset="0"/>
              </a:rPr>
              <a:t> display() {</a:t>
            </a:r>
          </a:p>
          <a:p>
            <a:r>
              <a:rPr lang="en-IN" dirty="0">
                <a:latin typeface="Consolas" panose="020B0609020204030204" pitchFamily="49" charset="0"/>
              </a:rPr>
              <a:t>        </a:t>
            </a:r>
            <a:r>
              <a:rPr lang="en-IN" dirty="0" err="1">
                <a:latin typeface="Consolas" panose="020B0609020204030204" pitchFamily="49" charset="0"/>
              </a:rPr>
              <a:t>System.</a:t>
            </a:r>
            <a:r>
              <a:rPr lang="en-IN" i="1" dirty="0" err="1">
                <a:solidFill>
                  <a:srgbClr val="0000FF"/>
                </a:solidFill>
                <a:latin typeface="Consolas" panose="020B0609020204030204" pitchFamily="49" charset="0"/>
              </a:rPr>
              <a:t>out</a:t>
            </a:r>
            <a:r>
              <a:rPr lang="en-IN" dirty="0" err="1">
                <a:latin typeface="Consolas" panose="020B0609020204030204" pitchFamily="49" charset="0"/>
              </a:rPr>
              <a:t>.println</a:t>
            </a:r>
            <a:r>
              <a:rPr lang="en-IN" dirty="0">
                <a:latin typeface="Consolas" panose="020B0609020204030204" pitchFamily="49" charset="0"/>
              </a:rPr>
              <a:t>(</a:t>
            </a:r>
            <a:r>
              <a:rPr lang="en-IN" dirty="0" err="1">
                <a:solidFill>
                  <a:srgbClr val="0000FF"/>
                </a:solidFill>
                <a:latin typeface="Consolas" panose="020B0609020204030204" pitchFamily="49" charset="0"/>
              </a:rPr>
              <a:t>rollno</a:t>
            </a:r>
            <a:r>
              <a:rPr lang="en-IN" dirty="0">
                <a:latin typeface="Consolas" panose="020B0609020204030204" pitchFamily="49" charset="0"/>
              </a:rPr>
              <a:t>+" "+</a:t>
            </a:r>
            <a:r>
              <a:rPr lang="en-IN" dirty="0">
                <a:solidFill>
                  <a:srgbClr val="0000FF"/>
                </a:solidFill>
                <a:latin typeface="Consolas" panose="020B0609020204030204" pitchFamily="49" charset="0"/>
              </a:rPr>
              <a:t>name</a:t>
            </a:r>
            <a:r>
              <a:rPr lang="en-IN" dirty="0">
                <a:latin typeface="Consolas" panose="020B0609020204030204" pitchFamily="49" charset="0"/>
              </a:rPr>
              <a:t>+" "+</a:t>
            </a:r>
            <a:r>
              <a:rPr lang="en-IN" i="1" dirty="0">
                <a:solidFill>
                  <a:srgbClr val="0000FF"/>
                </a:solidFill>
                <a:latin typeface="Consolas" panose="020B0609020204030204" pitchFamily="49" charset="0"/>
              </a:rPr>
              <a:t>college</a:t>
            </a:r>
            <a:r>
              <a:rPr lang="en-IN" dirty="0">
                <a:latin typeface="Consolas" panose="020B0609020204030204" pitchFamily="49" charset="0"/>
              </a:rPr>
              <a:t>);</a:t>
            </a:r>
          </a:p>
          <a:p>
            <a:r>
              <a:rPr lang="en-IN" dirty="0">
                <a:latin typeface="Consolas" panose="020B0609020204030204" pitchFamily="49" charset="0"/>
              </a:rPr>
              <a:t>    }  </a:t>
            </a:r>
          </a:p>
          <a:p>
            <a:r>
              <a:rPr lang="en-IN" dirty="0">
                <a:latin typeface="Consolas" panose="020B0609020204030204" pitchFamily="49" charset="0"/>
              </a:rPr>
              <a:t>}</a:t>
            </a:r>
          </a:p>
          <a:p>
            <a:r>
              <a:rPr lang="en-IN" dirty="0">
                <a:solidFill>
                  <a:srgbClr val="7F0055"/>
                </a:solidFill>
                <a:latin typeface="Consolas" panose="020B0609020204030204" pitchFamily="49" charset="0"/>
              </a:rPr>
              <a:t>class</a:t>
            </a:r>
            <a:r>
              <a:rPr lang="en-IN" dirty="0">
                <a:latin typeface="Consolas" panose="020B0609020204030204" pitchFamily="49" charset="0"/>
              </a:rPr>
              <a:t> </a:t>
            </a:r>
            <a:r>
              <a:rPr lang="en-IN" dirty="0" err="1">
                <a:latin typeface="Consolas" panose="020B0609020204030204" pitchFamily="49" charset="0"/>
              </a:rPr>
              <a:t>TestStaticMethod</a:t>
            </a:r>
            <a:r>
              <a:rPr lang="en-IN" dirty="0">
                <a:latin typeface="Consolas" panose="020B0609020204030204" pitchFamily="49" charset="0"/>
              </a:rPr>
              <a:t> {</a:t>
            </a:r>
          </a:p>
          <a:p>
            <a:r>
              <a:rPr lang="en-IN" dirty="0">
                <a:latin typeface="Consolas" panose="020B0609020204030204" pitchFamily="49" charset="0"/>
              </a:rPr>
              <a:t>    </a:t>
            </a:r>
            <a:r>
              <a:rPr lang="en-IN" dirty="0">
                <a:solidFill>
                  <a:srgbClr val="7F0055"/>
                </a:solidFill>
                <a:latin typeface="Consolas" panose="020B0609020204030204" pitchFamily="49" charset="0"/>
              </a:rPr>
              <a:t>public</a:t>
            </a:r>
            <a:r>
              <a:rPr lang="en-IN" dirty="0">
                <a:latin typeface="Consolas" panose="020B0609020204030204" pitchFamily="49" charset="0"/>
              </a:rPr>
              <a:t> </a:t>
            </a:r>
            <a:r>
              <a:rPr lang="en-IN" dirty="0">
                <a:solidFill>
                  <a:srgbClr val="7F0055"/>
                </a:solidFill>
                <a:latin typeface="Consolas" panose="020B0609020204030204" pitchFamily="49" charset="0"/>
              </a:rPr>
              <a:t>static</a:t>
            </a:r>
            <a:r>
              <a:rPr lang="en-IN" dirty="0">
                <a:latin typeface="Consolas" panose="020B0609020204030204" pitchFamily="49" charset="0"/>
              </a:rPr>
              <a:t> </a:t>
            </a:r>
            <a:r>
              <a:rPr lang="en-IN" dirty="0">
                <a:solidFill>
                  <a:srgbClr val="7F0055"/>
                </a:solidFill>
                <a:latin typeface="Consolas" panose="020B0609020204030204" pitchFamily="49" charset="0"/>
              </a:rPr>
              <a:t>void</a:t>
            </a:r>
            <a:r>
              <a:rPr lang="en-IN" dirty="0">
                <a:latin typeface="Consolas" panose="020B0609020204030204" pitchFamily="49" charset="0"/>
              </a:rPr>
              <a:t> main(String </a:t>
            </a:r>
            <a:r>
              <a:rPr lang="en-IN" dirty="0" err="1">
                <a:solidFill>
                  <a:schemeClr val="accent6">
                    <a:lumMod val="50000"/>
                  </a:schemeClr>
                </a:solidFill>
                <a:latin typeface="Consolas" panose="020B0609020204030204" pitchFamily="49" charset="0"/>
              </a:rPr>
              <a:t>args</a:t>
            </a:r>
            <a:r>
              <a:rPr lang="en-IN" dirty="0">
                <a:latin typeface="Consolas" panose="020B0609020204030204" pitchFamily="49" charset="0"/>
              </a:rPr>
              <a:t>[]) {</a:t>
            </a:r>
          </a:p>
          <a:p>
            <a:r>
              <a:rPr lang="en-IN" dirty="0">
                <a:latin typeface="Consolas" panose="020B0609020204030204" pitchFamily="49" charset="0"/>
              </a:rPr>
              <a:t>        </a:t>
            </a:r>
            <a:r>
              <a:rPr lang="en-IN" dirty="0" err="1">
                <a:latin typeface="Consolas" panose="020B0609020204030204" pitchFamily="49" charset="0"/>
              </a:rPr>
              <a:t>Student.</a:t>
            </a:r>
            <a:r>
              <a:rPr lang="en-IN" i="1" dirty="0" err="1">
                <a:latin typeface="Consolas" panose="020B0609020204030204" pitchFamily="49" charset="0"/>
              </a:rPr>
              <a:t>change</a:t>
            </a:r>
            <a:r>
              <a:rPr lang="en-IN" dirty="0">
                <a:latin typeface="Consolas" panose="020B0609020204030204" pitchFamily="49" charset="0"/>
              </a:rPr>
              <a:t>();</a:t>
            </a:r>
          </a:p>
          <a:p>
            <a:r>
              <a:rPr lang="en-IN" dirty="0">
                <a:latin typeface="Consolas" panose="020B0609020204030204" pitchFamily="49" charset="0"/>
              </a:rPr>
              <a:t>        Student </a:t>
            </a:r>
            <a:r>
              <a:rPr lang="en-IN" dirty="0">
                <a:solidFill>
                  <a:schemeClr val="accent6">
                    <a:lumMod val="50000"/>
                  </a:schemeClr>
                </a:solidFill>
                <a:latin typeface="Consolas" panose="020B0609020204030204" pitchFamily="49" charset="0"/>
              </a:rPr>
              <a:t>s1</a:t>
            </a:r>
            <a:r>
              <a:rPr lang="en-IN" dirty="0">
                <a:latin typeface="Consolas" panose="020B0609020204030204" pitchFamily="49" charset="0"/>
              </a:rPr>
              <a:t> = </a:t>
            </a:r>
            <a:r>
              <a:rPr lang="en-IN" dirty="0">
                <a:solidFill>
                  <a:srgbClr val="7F0055"/>
                </a:solidFill>
                <a:latin typeface="Consolas" panose="020B0609020204030204" pitchFamily="49" charset="0"/>
              </a:rPr>
              <a:t>new</a:t>
            </a:r>
            <a:r>
              <a:rPr lang="en-IN" dirty="0">
                <a:latin typeface="Consolas" panose="020B0609020204030204" pitchFamily="49" charset="0"/>
              </a:rPr>
              <a:t> Student(111,"</a:t>
            </a:r>
            <a:r>
              <a:rPr lang="en-IN" dirty="0">
                <a:solidFill>
                  <a:srgbClr val="0000FF"/>
                </a:solidFill>
                <a:latin typeface="Consolas" panose="020B0609020204030204" pitchFamily="49" charset="0"/>
              </a:rPr>
              <a:t>Tom</a:t>
            </a:r>
            <a:r>
              <a:rPr lang="en-IN" dirty="0">
                <a:latin typeface="Consolas" panose="020B0609020204030204" pitchFamily="49" charset="0"/>
              </a:rPr>
              <a:t>");  </a:t>
            </a:r>
          </a:p>
          <a:p>
            <a:r>
              <a:rPr lang="en-IN" dirty="0">
                <a:latin typeface="Consolas" panose="020B0609020204030204" pitchFamily="49" charset="0"/>
              </a:rPr>
              <a:t>        Student </a:t>
            </a:r>
            <a:r>
              <a:rPr lang="en-IN" dirty="0">
                <a:solidFill>
                  <a:schemeClr val="accent6">
                    <a:lumMod val="50000"/>
                  </a:schemeClr>
                </a:solidFill>
                <a:latin typeface="Consolas" panose="020B0609020204030204" pitchFamily="49" charset="0"/>
              </a:rPr>
              <a:t>s2</a:t>
            </a:r>
            <a:r>
              <a:rPr lang="en-IN" dirty="0">
                <a:latin typeface="Consolas" panose="020B0609020204030204" pitchFamily="49" charset="0"/>
              </a:rPr>
              <a:t> = </a:t>
            </a:r>
            <a:r>
              <a:rPr lang="en-IN" dirty="0">
                <a:solidFill>
                  <a:srgbClr val="7F0055"/>
                </a:solidFill>
                <a:latin typeface="Consolas" panose="020B0609020204030204" pitchFamily="49" charset="0"/>
              </a:rPr>
              <a:t>new</a:t>
            </a:r>
            <a:r>
              <a:rPr lang="en-IN" dirty="0">
                <a:latin typeface="Consolas" panose="020B0609020204030204" pitchFamily="49" charset="0"/>
              </a:rPr>
              <a:t> Student(222,"</a:t>
            </a:r>
            <a:r>
              <a:rPr lang="en-IN" dirty="0">
                <a:solidFill>
                  <a:srgbClr val="0000FF"/>
                </a:solidFill>
                <a:latin typeface="Consolas" panose="020B0609020204030204" pitchFamily="49" charset="0"/>
              </a:rPr>
              <a:t>Jerry</a:t>
            </a:r>
            <a:r>
              <a:rPr lang="en-IN" dirty="0">
                <a:latin typeface="Consolas" panose="020B0609020204030204" pitchFamily="49" charset="0"/>
              </a:rPr>
              <a:t>");  </a:t>
            </a:r>
          </a:p>
          <a:p>
            <a:r>
              <a:rPr lang="en-IN" dirty="0">
                <a:latin typeface="Consolas" panose="020B0609020204030204" pitchFamily="49" charset="0"/>
              </a:rPr>
              <a:t>        </a:t>
            </a:r>
            <a:r>
              <a:rPr lang="en-IN" dirty="0">
                <a:solidFill>
                  <a:schemeClr val="accent6">
                    <a:lumMod val="50000"/>
                  </a:schemeClr>
                </a:solidFill>
                <a:latin typeface="Consolas" panose="020B0609020204030204" pitchFamily="49" charset="0"/>
              </a:rPr>
              <a:t>s1</a:t>
            </a:r>
            <a:r>
              <a:rPr lang="en-IN" dirty="0">
                <a:latin typeface="Consolas" panose="020B0609020204030204" pitchFamily="49" charset="0"/>
              </a:rPr>
              <a:t>.display();  </a:t>
            </a:r>
          </a:p>
          <a:p>
            <a:r>
              <a:rPr lang="en-IN" dirty="0">
                <a:latin typeface="Consolas" panose="020B0609020204030204" pitchFamily="49" charset="0"/>
              </a:rPr>
              <a:t>        </a:t>
            </a:r>
            <a:r>
              <a:rPr lang="en-IN" dirty="0">
                <a:solidFill>
                  <a:schemeClr val="accent6">
                    <a:lumMod val="50000"/>
                  </a:schemeClr>
                </a:solidFill>
                <a:latin typeface="Consolas" panose="020B0609020204030204" pitchFamily="49" charset="0"/>
              </a:rPr>
              <a:t>s2</a:t>
            </a:r>
            <a:r>
              <a:rPr lang="en-IN" dirty="0">
                <a:latin typeface="Consolas" panose="020B0609020204030204" pitchFamily="49" charset="0"/>
              </a:rPr>
              <a:t>.display();  </a:t>
            </a:r>
          </a:p>
          <a:p>
            <a:r>
              <a:rPr lang="en-IN" dirty="0">
                <a:latin typeface="Consolas" panose="020B0609020204030204" pitchFamily="49" charset="0"/>
              </a:rPr>
              <a:t>	}  </a:t>
            </a:r>
          </a:p>
          <a:p>
            <a:r>
              <a:rPr lang="en-IN" dirty="0">
                <a:latin typeface="Consolas" panose="020B0609020204030204" pitchFamily="49" charset="0"/>
              </a:rPr>
              <a:t>}</a:t>
            </a:r>
          </a:p>
        </p:txBody>
      </p:sp>
      <p:cxnSp>
        <p:nvCxnSpPr>
          <p:cNvPr id="3" name="Straight Connector 2">
            <a:extLst>
              <a:ext uri="{FF2B5EF4-FFF2-40B4-BE49-F238E27FC236}">
                <a16:creationId xmlns:a16="http://schemas.microsoft.com/office/drawing/2014/main" id="{532E3767-BE53-A441-44EE-D95651F42EE0}"/>
              </a:ext>
            </a:extLst>
          </p:cNvPr>
          <p:cNvCxnSpPr/>
          <p:nvPr/>
        </p:nvCxnSpPr>
        <p:spPr>
          <a:xfrm>
            <a:off x="1066800" y="1828800"/>
            <a:ext cx="1600200"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305B5A53-081A-146A-0885-8F80B8467C0B}"/>
              </a:ext>
            </a:extLst>
          </p:cNvPr>
          <p:cNvPicPr>
            <a:picLocks noChangeAspect="1"/>
          </p:cNvPicPr>
          <p:nvPr/>
        </p:nvPicPr>
        <p:blipFill>
          <a:blip r:embed="rId2"/>
          <a:stretch>
            <a:fillRect/>
          </a:stretch>
        </p:blipFill>
        <p:spPr>
          <a:xfrm>
            <a:off x="4495800" y="2177534"/>
            <a:ext cx="6572250" cy="1438275"/>
          </a:xfrm>
          <a:prstGeom prst="rect">
            <a:avLst/>
          </a:prstGeom>
        </p:spPr>
      </p:pic>
      <p:pic>
        <p:nvPicPr>
          <p:cNvPr id="5" name="Picture 4">
            <a:extLst>
              <a:ext uri="{FF2B5EF4-FFF2-40B4-BE49-F238E27FC236}">
                <a16:creationId xmlns:a16="http://schemas.microsoft.com/office/drawing/2014/main" id="{749BD053-26E5-E379-CE90-D88B112F8E65}"/>
              </a:ext>
            </a:extLst>
          </p:cNvPr>
          <p:cNvPicPr>
            <a:picLocks noChangeAspect="1"/>
          </p:cNvPicPr>
          <p:nvPr/>
        </p:nvPicPr>
        <p:blipFill>
          <a:blip r:embed="rId3"/>
          <a:stretch>
            <a:fillRect/>
          </a:stretch>
        </p:blipFill>
        <p:spPr>
          <a:xfrm>
            <a:off x="4495800" y="0"/>
            <a:ext cx="6572250" cy="1428750"/>
          </a:xfrm>
          <a:prstGeom prst="rect">
            <a:avLst/>
          </a:prstGeom>
        </p:spPr>
      </p:pic>
      <p:sp>
        <p:nvSpPr>
          <p:cNvPr id="6" name="Line Callout 1 9">
            <a:extLst>
              <a:ext uri="{FF2B5EF4-FFF2-40B4-BE49-F238E27FC236}">
                <a16:creationId xmlns:a16="http://schemas.microsoft.com/office/drawing/2014/main" id="{B3847480-6DE7-74E7-9F65-FA76638310E2}"/>
              </a:ext>
            </a:extLst>
          </p:cNvPr>
          <p:cNvSpPr/>
          <p:nvPr/>
        </p:nvSpPr>
        <p:spPr>
          <a:xfrm>
            <a:off x="5403385" y="1505534"/>
            <a:ext cx="3276600" cy="570916"/>
          </a:xfrm>
          <a:prstGeom prst="borderCallout1">
            <a:avLst>
              <a:gd name="adj1" fmla="val 45220"/>
              <a:gd name="adj2" fmla="val -490"/>
              <a:gd name="adj3" fmla="val 59128"/>
              <a:gd name="adj4" fmla="val -7933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We can not use </a:t>
            </a:r>
            <a:r>
              <a:rPr lang="en-IN" dirty="0">
                <a:solidFill>
                  <a:srgbClr val="FF0000"/>
                </a:solidFill>
              </a:rPr>
              <a:t>non-static</a:t>
            </a:r>
            <a:r>
              <a:rPr lang="en-IN" dirty="0">
                <a:solidFill>
                  <a:schemeClr val="tx1"/>
                </a:solidFill>
              </a:rPr>
              <a:t> variables in </a:t>
            </a:r>
            <a:r>
              <a:rPr lang="en-IN" dirty="0">
                <a:solidFill>
                  <a:srgbClr val="FF0000"/>
                </a:solidFill>
              </a:rPr>
              <a:t>static methods</a:t>
            </a:r>
          </a:p>
        </p:txBody>
      </p:sp>
    </p:spTree>
    <p:extLst>
      <p:ext uri="{BB962C8B-B14F-4D97-AF65-F5344CB8AC3E}">
        <p14:creationId xmlns:p14="http://schemas.microsoft.com/office/powerpoint/2010/main" val="3611193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6" end="1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19" end="19"/>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20" end="2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
                                            <p:txEl>
                                              <p:pRg st="21" end="2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
                                            <p:txEl>
                                              <p:pRg st="22" end="2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xEl>
                                              <p:pRg st="23" end="2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
                                            <p:txEl>
                                              <p:pRg st="24" end="2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
                                            <p:txEl>
                                              <p:pRg st="4" end="4"/>
                                            </p:txEl>
                                          </p:spTgt>
                                        </p:tgtEl>
                                        <p:attrNameLst>
                                          <p:attrName>style.visibility</p:attrName>
                                        </p:attrNameLst>
                                      </p:cBhvr>
                                      <p:to>
                                        <p:strVal val="visible"/>
                                      </p:to>
                                    </p:set>
                                    <p:animEffect transition="in" filter="wipe(left)">
                                      <p:cBhvr>
                                        <p:cTn id="59" dur="500"/>
                                        <p:tgtEl>
                                          <p:spTgt spid="2">
                                            <p:txEl>
                                              <p:pRg st="4" end="4"/>
                                            </p:txEl>
                                          </p:spTgt>
                                        </p:tgtEl>
                                      </p:cBhvr>
                                    </p:animEffect>
                                  </p:childTnLst>
                                </p:cTn>
                              </p:par>
                              <p:par>
                                <p:cTn id="60" presetID="22" presetClass="entr" presetSubtype="8" fill="hold" nodeType="withEffect">
                                  <p:stCondLst>
                                    <p:cond delay="0"/>
                                  </p:stCondLst>
                                  <p:childTnLst>
                                    <p:set>
                                      <p:cBhvr>
                                        <p:cTn id="61" dur="1" fill="hold">
                                          <p:stCondLst>
                                            <p:cond delay="0"/>
                                          </p:stCondLst>
                                        </p:cTn>
                                        <p:tgtEl>
                                          <p:spTgt spid="2">
                                            <p:txEl>
                                              <p:pRg st="5" end="5"/>
                                            </p:txEl>
                                          </p:spTgt>
                                        </p:tgtEl>
                                        <p:attrNameLst>
                                          <p:attrName>style.visibility</p:attrName>
                                        </p:attrNameLst>
                                      </p:cBhvr>
                                      <p:to>
                                        <p:strVal val="visible"/>
                                      </p:to>
                                    </p:set>
                                    <p:animEffect transition="in" filter="wipe(left)">
                                      <p:cBhvr>
                                        <p:cTn id="62" dur="500"/>
                                        <p:tgtEl>
                                          <p:spTgt spid="2">
                                            <p:txEl>
                                              <p:pRg st="5" end="5"/>
                                            </p:txEl>
                                          </p:spTgt>
                                        </p:tgtEl>
                                      </p:cBhvr>
                                    </p:animEffect>
                                  </p:childTnLst>
                                </p:cTn>
                              </p:par>
                              <p:par>
                                <p:cTn id="63" presetID="22" presetClass="entr" presetSubtype="8" fill="hold" nodeType="withEffect">
                                  <p:stCondLst>
                                    <p:cond delay="0"/>
                                  </p:stCondLst>
                                  <p:childTnLst>
                                    <p:set>
                                      <p:cBhvr>
                                        <p:cTn id="64" dur="1" fill="hold">
                                          <p:stCondLst>
                                            <p:cond delay="0"/>
                                          </p:stCondLst>
                                        </p:cTn>
                                        <p:tgtEl>
                                          <p:spTgt spid="2">
                                            <p:txEl>
                                              <p:pRg st="6" end="6"/>
                                            </p:txEl>
                                          </p:spTgt>
                                        </p:tgtEl>
                                        <p:attrNameLst>
                                          <p:attrName>style.visibility</p:attrName>
                                        </p:attrNameLst>
                                      </p:cBhvr>
                                      <p:to>
                                        <p:strVal val="visible"/>
                                      </p:to>
                                    </p:set>
                                    <p:animEffect transition="in" filter="wipe(left)">
                                      <p:cBhvr>
                                        <p:cTn id="65" dur="500"/>
                                        <p:tgtEl>
                                          <p:spTgt spid="2">
                                            <p:txEl>
                                              <p:pRg st="6" end="6"/>
                                            </p:txEl>
                                          </p:spTgt>
                                        </p:tgtEl>
                                      </p:cBhvr>
                                    </p:animEffect>
                                  </p:childTnLst>
                                </p:cTn>
                              </p:par>
                              <p:par>
                                <p:cTn id="66" presetID="22" presetClass="entr" presetSubtype="8" fill="hold" nodeType="withEffect">
                                  <p:stCondLst>
                                    <p:cond delay="0"/>
                                  </p:stCondLst>
                                  <p:childTnLst>
                                    <p:set>
                                      <p:cBhvr>
                                        <p:cTn id="67" dur="1" fill="hold">
                                          <p:stCondLst>
                                            <p:cond delay="0"/>
                                          </p:stCondLst>
                                        </p:cTn>
                                        <p:tgtEl>
                                          <p:spTgt spid="2">
                                            <p:txEl>
                                              <p:pRg st="7" end="7"/>
                                            </p:txEl>
                                          </p:spTgt>
                                        </p:tgtEl>
                                        <p:attrNameLst>
                                          <p:attrName>style.visibility</p:attrName>
                                        </p:attrNameLst>
                                      </p:cBhvr>
                                      <p:to>
                                        <p:strVal val="visible"/>
                                      </p:to>
                                    </p:set>
                                    <p:animEffect transition="in" filter="wipe(left)">
                                      <p:cBhvr>
                                        <p:cTn id="68" dur="500"/>
                                        <p:tgtEl>
                                          <p:spTgt spid="2">
                                            <p:txEl>
                                              <p:pRg st="7" end="7"/>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3"/>
                                        </p:tgtEl>
                                        <p:attrNameLst>
                                          <p:attrName>style.visibility</p:attrName>
                                        </p:attrNameLst>
                                      </p:cBhvr>
                                      <p:to>
                                        <p:strVal val="visible"/>
                                      </p:to>
                                    </p:set>
                                    <p:animEffect transition="in" filter="wipe(left)">
                                      <p:cBhvr>
                                        <p:cTn id="73" dur="500"/>
                                        <p:tgtEl>
                                          <p:spTgt spid="3"/>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6"/>
                                        </p:tgtEl>
                                        <p:attrNameLst>
                                          <p:attrName>style.visibility</p:attrName>
                                        </p:attrNameLst>
                                      </p:cBhvr>
                                      <p:to>
                                        <p:strVal val="visible"/>
                                      </p:to>
                                    </p:set>
                                    <p:animEffect transition="in" filter="wipe(left)">
                                      <p:cBhvr>
                                        <p:cTn id="76" dur="500"/>
                                        <p:tgtEl>
                                          <p:spTgt spid="6"/>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6"/>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
                                            <p:txEl>
                                              <p:pRg st="18" end="18"/>
                                            </p:txEl>
                                          </p:spTgt>
                                        </p:tgtEl>
                                        <p:attrNameLst>
                                          <p:attrName>style.visibility</p:attrName>
                                        </p:attrNameLst>
                                      </p:cBhvr>
                                      <p:to>
                                        <p:strVal val="visible"/>
                                      </p:to>
                                    </p:set>
                                    <p:animEffect transition="in" filter="wipe(left)">
                                      <p:cBhvr>
                                        <p:cTn id="85" dur="500"/>
                                        <p:tgtEl>
                                          <p:spTgt spid="2">
                                            <p:txEl>
                                              <p:pRg st="18" end="18"/>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AD04F-B484-82C2-A4AA-EC9BDBACC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91FED-BEFA-F566-5B9E-DF202A8FDDE3}"/>
              </a:ext>
            </a:extLst>
          </p:cNvPr>
          <p:cNvSpPr>
            <a:spLocks noGrp="1"/>
          </p:cNvSpPr>
          <p:nvPr>
            <p:ph type="title"/>
          </p:nvPr>
        </p:nvSpPr>
        <p:spPr>
          <a:xfrm>
            <a:off x="0" y="1"/>
            <a:ext cx="12192000" cy="711200"/>
          </a:xfrm>
        </p:spPr>
        <p:txBody>
          <a:bodyPr/>
          <a:lstStyle/>
          <a:p>
            <a:r>
              <a:rPr lang="en-IN" dirty="0"/>
              <a:t>static block</a:t>
            </a:r>
            <a:endParaRPr lang="en-US" dirty="0"/>
          </a:p>
        </p:txBody>
      </p:sp>
      <p:sp>
        <p:nvSpPr>
          <p:cNvPr id="3" name="Content Placeholder 2">
            <a:extLst>
              <a:ext uri="{FF2B5EF4-FFF2-40B4-BE49-F238E27FC236}">
                <a16:creationId xmlns:a16="http://schemas.microsoft.com/office/drawing/2014/main" id="{7EC89F00-7E60-33CD-2FE6-0265BCB968CD}"/>
              </a:ext>
            </a:extLst>
          </p:cNvPr>
          <p:cNvSpPr>
            <a:spLocks noGrp="1"/>
          </p:cNvSpPr>
          <p:nvPr>
            <p:ph idx="1"/>
          </p:nvPr>
        </p:nvSpPr>
        <p:spPr>
          <a:xfrm>
            <a:off x="131180" y="863444"/>
            <a:ext cx="11929641" cy="5590565"/>
          </a:xfrm>
        </p:spPr>
        <p:txBody>
          <a:bodyPr/>
          <a:lstStyle/>
          <a:p>
            <a:r>
              <a:rPr lang="en-US" dirty="0"/>
              <a:t>static block is executed exactly once, when the class is first loaded.</a:t>
            </a:r>
          </a:p>
          <a:p>
            <a:r>
              <a:rPr lang="en-US" dirty="0"/>
              <a:t>It is used to initialize static variables of the class.</a:t>
            </a:r>
          </a:p>
          <a:p>
            <a:r>
              <a:rPr lang="en-US" dirty="0"/>
              <a:t>It will be executed even before the main method.</a:t>
            </a:r>
          </a:p>
          <a:p>
            <a:r>
              <a:rPr lang="en-US" dirty="0"/>
              <a:t>Syntax:</a:t>
            </a:r>
          </a:p>
          <a:p>
            <a:pPr marL="363538" indent="0">
              <a:buNone/>
            </a:pPr>
            <a:r>
              <a:rPr lang="en-IN" dirty="0">
                <a:latin typeface="Consolas" panose="020B0609020204030204" pitchFamily="49" charset="0"/>
              </a:rPr>
              <a:t>static {</a:t>
            </a:r>
          </a:p>
          <a:p>
            <a:pPr marL="363538" indent="0">
              <a:buNone/>
            </a:pPr>
            <a:r>
              <a:rPr lang="en-IN" dirty="0">
                <a:latin typeface="Consolas" panose="020B0609020204030204" pitchFamily="49" charset="0"/>
              </a:rPr>
              <a:t>	//initialisation of static variables…</a:t>
            </a:r>
          </a:p>
          <a:p>
            <a:pPr marL="363538" indent="0">
              <a:buNone/>
            </a:pPr>
            <a:r>
              <a:rPr lang="en-IN" dirty="0">
                <a:latin typeface="Consolas" panose="020B0609020204030204" pitchFamily="49" charset="0"/>
              </a:rPr>
              <a:t>}</a:t>
            </a:r>
          </a:p>
          <a:p>
            <a:endParaRPr lang="en-US" dirty="0"/>
          </a:p>
        </p:txBody>
      </p:sp>
    </p:spTree>
    <p:extLst>
      <p:ext uri="{BB962C8B-B14F-4D97-AF65-F5344CB8AC3E}">
        <p14:creationId xmlns:p14="http://schemas.microsoft.com/office/powerpoint/2010/main" val="166321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EA87C-5885-6973-D124-A3942F392F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7098F-9B12-F2F4-9D38-78B303D57637}"/>
              </a:ext>
            </a:extLst>
          </p:cNvPr>
          <p:cNvSpPr>
            <a:spLocks noGrp="1"/>
          </p:cNvSpPr>
          <p:nvPr>
            <p:ph type="title"/>
          </p:nvPr>
        </p:nvSpPr>
        <p:spPr>
          <a:xfrm>
            <a:off x="0" y="1"/>
            <a:ext cx="12192000" cy="711200"/>
          </a:xfrm>
        </p:spPr>
        <p:txBody>
          <a:bodyPr/>
          <a:lstStyle/>
          <a:p>
            <a:r>
              <a:rPr lang="en-US" dirty="0"/>
              <a:t>Inheritance </a:t>
            </a:r>
          </a:p>
        </p:txBody>
      </p:sp>
      <p:sp>
        <p:nvSpPr>
          <p:cNvPr id="3" name="Content Placeholder 2">
            <a:extLst>
              <a:ext uri="{FF2B5EF4-FFF2-40B4-BE49-F238E27FC236}">
                <a16:creationId xmlns:a16="http://schemas.microsoft.com/office/drawing/2014/main" id="{643AEC02-C363-504B-8B5D-8F74BFA75B0D}"/>
              </a:ext>
            </a:extLst>
          </p:cNvPr>
          <p:cNvSpPr>
            <a:spLocks noGrp="1"/>
          </p:cNvSpPr>
          <p:nvPr>
            <p:ph idx="1"/>
          </p:nvPr>
        </p:nvSpPr>
        <p:spPr>
          <a:xfrm>
            <a:off x="131180" y="863444"/>
            <a:ext cx="11967776" cy="5590565"/>
          </a:xfrm>
        </p:spPr>
        <p:txBody>
          <a:bodyPr/>
          <a:lstStyle/>
          <a:p>
            <a:r>
              <a:rPr lang="en-US" dirty="0"/>
              <a:t>The mechanism of deriving a </a:t>
            </a:r>
            <a:r>
              <a:rPr lang="en-US" dirty="0">
                <a:solidFill>
                  <a:srgbClr val="C00000"/>
                </a:solidFill>
              </a:rPr>
              <a:t>new class </a:t>
            </a:r>
            <a:r>
              <a:rPr lang="en-US" dirty="0"/>
              <a:t>from an </a:t>
            </a:r>
            <a:r>
              <a:rPr lang="en-US" dirty="0">
                <a:solidFill>
                  <a:srgbClr val="C00000"/>
                </a:solidFill>
              </a:rPr>
              <a:t>old class </a:t>
            </a:r>
            <a:r>
              <a:rPr lang="en-US" dirty="0"/>
              <a:t>is called inheritance or derivation.</a:t>
            </a:r>
          </a:p>
          <a:p>
            <a:r>
              <a:rPr lang="en-US" dirty="0"/>
              <a:t>The old class is known as </a:t>
            </a:r>
            <a:r>
              <a:rPr lang="en-US" dirty="0">
                <a:solidFill>
                  <a:srgbClr val="C00000"/>
                </a:solidFill>
              </a:rPr>
              <a:t>base class </a:t>
            </a:r>
            <a:r>
              <a:rPr lang="en-US" dirty="0"/>
              <a:t>while new class is known as </a:t>
            </a:r>
            <a:r>
              <a:rPr lang="en-US" dirty="0">
                <a:solidFill>
                  <a:srgbClr val="C00000"/>
                </a:solidFill>
              </a:rPr>
              <a:t>derived class </a:t>
            </a:r>
            <a:r>
              <a:rPr lang="en-US" dirty="0"/>
              <a:t>or </a:t>
            </a:r>
            <a:r>
              <a:rPr lang="en-US" dirty="0">
                <a:solidFill>
                  <a:srgbClr val="C00000"/>
                </a:solidFill>
              </a:rPr>
              <a:t>subclass</a:t>
            </a:r>
            <a:r>
              <a:rPr lang="en-US" dirty="0"/>
              <a:t>.</a:t>
            </a:r>
          </a:p>
          <a:p>
            <a:r>
              <a:rPr lang="en-US" dirty="0"/>
              <a:t>It lets programmers create new classes that share some of the attributes of existing classes. </a:t>
            </a:r>
          </a:p>
          <a:p>
            <a:r>
              <a:rPr lang="en-US" dirty="0"/>
              <a:t>Inheritance lets us build on previous work without reinventing the wheel.</a:t>
            </a:r>
          </a:p>
          <a:p>
            <a:r>
              <a:rPr lang="en-US" dirty="0"/>
              <a:t>The inheritance is the most powerful feature of OOP.</a:t>
            </a:r>
          </a:p>
          <a:p>
            <a:r>
              <a:rPr lang="en-US" dirty="0"/>
              <a:t>Through effective use of inheritance, we can save lot of time in programming and also reduce errors, which in turn will increase the quality of work and productivity.</a:t>
            </a:r>
          </a:p>
          <a:p>
            <a:endParaRPr lang="en-US" dirty="0"/>
          </a:p>
        </p:txBody>
      </p:sp>
    </p:spTree>
    <p:extLst>
      <p:ext uri="{BB962C8B-B14F-4D97-AF65-F5344CB8AC3E}">
        <p14:creationId xmlns:p14="http://schemas.microsoft.com/office/powerpoint/2010/main" val="794118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CDE4F-6652-C457-E28F-E67678F1F9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B363AF-349C-61FD-9CC1-3C3B10A10E4D}"/>
              </a:ext>
            </a:extLst>
          </p:cNvPr>
          <p:cNvSpPr>
            <a:spLocks noGrp="1"/>
          </p:cNvSpPr>
          <p:nvPr>
            <p:ph type="title"/>
          </p:nvPr>
        </p:nvSpPr>
        <p:spPr>
          <a:xfrm>
            <a:off x="0" y="1"/>
            <a:ext cx="12192000" cy="711200"/>
          </a:xfrm>
        </p:spPr>
        <p:txBody>
          <a:bodyPr/>
          <a:lstStyle/>
          <a:p>
            <a:r>
              <a:rPr lang="en-US" dirty="0"/>
              <a:t>Inheritance </a:t>
            </a:r>
          </a:p>
        </p:txBody>
      </p:sp>
      <p:sp>
        <p:nvSpPr>
          <p:cNvPr id="3" name="Rectangle 2">
            <a:extLst>
              <a:ext uri="{FF2B5EF4-FFF2-40B4-BE49-F238E27FC236}">
                <a16:creationId xmlns:a16="http://schemas.microsoft.com/office/drawing/2014/main" id="{59512A4C-D905-A5A2-A3F1-752506BBC580}"/>
              </a:ext>
            </a:extLst>
          </p:cNvPr>
          <p:cNvSpPr/>
          <p:nvPr/>
        </p:nvSpPr>
        <p:spPr>
          <a:xfrm>
            <a:off x="3020172" y="4216244"/>
            <a:ext cx="2133600" cy="13716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2000" dirty="0">
                <a:ln w="0"/>
                <a:solidFill>
                  <a:schemeClr val="tx1"/>
                </a:solidFill>
                <a:effectLst>
                  <a:outerShdw blurRad="38100" dist="19050" dir="2700000" algn="tl" rotWithShape="0">
                    <a:schemeClr val="dk1">
                      <a:alpha val="40000"/>
                    </a:schemeClr>
                  </a:outerShdw>
                </a:effectLst>
              </a:rPr>
              <a:t>- ID</a:t>
            </a:r>
          </a:p>
          <a:p>
            <a:r>
              <a:rPr lang="en-IN" sz="2000" dirty="0">
                <a:ln w="0"/>
                <a:solidFill>
                  <a:schemeClr val="tx1"/>
                </a:solidFill>
                <a:effectLst>
                  <a:outerShdw blurRad="38100" dist="19050" dir="2700000" algn="tl" rotWithShape="0">
                    <a:schemeClr val="dk1">
                      <a:alpha val="40000"/>
                    </a:schemeClr>
                  </a:outerShdw>
                </a:effectLst>
              </a:rPr>
              <a:t>- Name</a:t>
            </a:r>
          </a:p>
          <a:p>
            <a:r>
              <a:rPr lang="en-IN" sz="2000" dirty="0">
                <a:ln w="0"/>
                <a:solidFill>
                  <a:schemeClr val="tx1"/>
                </a:solidFill>
                <a:effectLst>
                  <a:outerShdw blurRad="38100" dist="19050" dir="2700000" algn="tl" rotWithShape="0">
                    <a:schemeClr val="dk1">
                      <a:alpha val="40000"/>
                    </a:schemeClr>
                  </a:outerShdw>
                </a:effectLst>
              </a:rPr>
              <a:t>- Address</a:t>
            </a:r>
          </a:p>
          <a:p>
            <a:r>
              <a:rPr lang="en-IN" sz="2000" dirty="0">
                <a:ln w="0"/>
                <a:solidFill>
                  <a:schemeClr val="tx1"/>
                </a:solidFill>
                <a:effectLst>
                  <a:outerShdw blurRad="38100" dist="19050" dir="2700000" algn="tl" rotWithShape="0">
                    <a:schemeClr val="dk1">
                      <a:alpha val="40000"/>
                    </a:schemeClr>
                  </a:outerShdw>
                </a:effectLst>
              </a:rPr>
              <a:t>- Contact</a:t>
            </a:r>
          </a:p>
        </p:txBody>
      </p:sp>
      <p:sp>
        <p:nvSpPr>
          <p:cNvPr id="4" name="Rectangle 3">
            <a:extLst>
              <a:ext uri="{FF2B5EF4-FFF2-40B4-BE49-F238E27FC236}">
                <a16:creationId xmlns:a16="http://schemas.microsoft.com/office/drawing/2014/main" id="{5FDD0109-0107-AB15-7994-62871EDFFC8A}"/>
              </a:ext>
            </a:extLst>
          </p:cNvPr>
          <p:cNvSpPr/>
          <p:nvPr/>
        </p:nvSpPr>
        <p:spPr>
          <a:xfrm>
            <a:off x="3020172" y="3530444"/>
            <a:ext cx="2133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Manager</a:t>
            </a:r>
          </a:p>
        </p:txBody>
      </p:sp>
      <p:sp>
        <p:nvSpPr>
          <p:cNvPr id="5" name="Rectangle 4">
            <a:extLst>
              <a:ext uri="{FF2B5EF4-FFF2-40B4-BE49-F238E27FC236}">
                <a16:creationId xmlns:a16="http://schemas.microsoft.com/office/drawing/2014/main" id="{5E708F8C-C647-74D7-8B91-5862FB2B7F7A}"/>
              </a:ext>
            </a:extLst>
          </p:cNvPr>
          <p:cNvSpPr/>
          <p:nvPr/>
        </p:nvSpPr>
        <p:spPr>
          <a:xfrm>
            <a:off x="3020172" y="4216244"/>
            <a:ext cx="2133600" cy="18288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2000" dirty="0">
                <a:ln w="0"/>
                <a:solidFill>
                  <a:schemeClr val="tx1"/>
                </a:solidFill>
                <a:effectLst>
                  <a:outerShdw blurRad="38100" dist="19050" dir="2700000" algn="tl" rotWithShape="0">
                    <a:schemeClr val="dk1">
                      <a:alpha val="40000"/>
                    </a:schemeClr>
                  </a:outerShdw>
                </a:effectLst>
              </a:rPr>
              <a:t>- ID</a:t>
            </a:r>
          </a:p>
          <a:p>
            <a:r>
              <a:rPr lang="en-IN" sz="2000" dirty="0">
                <a:ln w="0"/>
                <a:solidFill>
                  <a:schemeClr val="tx1"/>
                </a:solidFill>
                <a:effectLst>
                  <a:outerShdw blurRad="38100" dist="19050" dir="2700000" algn="tl" rotWithShape="0">
                    <a:schemeClr val="dk1">
                      <a:alpha val="40000"/>
                    </a:schemeClr>
                  </a:outerShdw>
                </a:effectLst>
              </a:rPr>
              <a:t>- Name</a:t>
            </a:r>
          </a:p>
          <a:p>
            <a:r>
              <a:rPr lang="en-IN" sz="2000" dirty="0">
                <a:ln w="0"/>
                <a:solidFill>
                  <a:schemeClr val="tx1"/>
                </a:solidFill>
                <a:effectLst>
                  <a:outerShdw blurRad="38100" dist="19050" dir="2700000" algn="tl" rotWithShape="0">
                    <a:schemeClr val="dk1">
                      <a:alpha val="40000"/>
                    </a:schemeClr>
                  </a:outerShdw>
                </a:effectLst>
              </a:rPr>
              <a:t>- Address</a:t>
            </a:r>
          </a:p>
          <a:p>
            <a:r>
              <a:rPr lang="en-IN" sz="2000" dirty="0">
                <a:ln w="0"/>
                <a:solidFill>
                  <a:schemeClr val="tx1"/>
                </a:solidFill>
                <a:effectLst>
                  <a:outerShdw blurRad="38100" dist="19050" dir="2700000" algn="tl" rotWithShape="0">
                    <a:schemeClr val="dk1">
                      <a:alpha val="40000"/>
                    </a:schemeClr>
                  </a:outerShdw>
                </a:effectLst>
              </a:rPr>
              <a:t>- Contact</a:t>
            </a:r>
          </a:p>
          <a:p>
            <a:r>
              <a:rPr lang="en-IN" sz="2000" dirty="0">
                <a:ln w="0"/>
                <a:solidFill>
                  <a:schemeClr val="tx1"/>
                </a:solidFill>
                <a:effectLst>
                  <a:outerShdw blurRad="38100" dist="19050" dir="2700000" algn="tl" rotWithShape="0">
                    <a:schemeClr val="dk1">
                      <a:alpha val="40000"/>
                    </a:schemeClr>
                  </a:outerShdw>
                </a:effectLst>
              </a:rPr>
              <a:t>- </a:t>
            </a:r>
            <a:r>
              <a:rPr lang="en-IN" sz="2000" dirty="0" err="1">
                <a:ln w="0"/>
                <a:solidFill>
                  <a:schemeClr val="tx1"/>
                </a:solidFill>
                <a:effectLst>
                  <a:outerShdw blurRad="38100" dist="19050" dir="2700000" algn="tl" rotWithShape="0">
                    <a:schemeClr val="dk1">
                      <a:alpha val="40000"/>
                    </a:schemeClr>
                  </a:outerShdw>
                </a:effectLst>
              </a:rPr>
              <a:t>MonthlySalary</a:t>
            </a:r>
            <a:endParaRPr lang="en-IN" sz="2000"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A4029FD5-418C-6A0E-8198-F9F07566537D}"/>
              </a:ext>
            </a:extLst>
          </p:cNvPr>
          <p:cNvSpPr/>
          <p:nvPr/>
        </p:nvSpPr>
        <p:spPr>
          <a:xfrm>
            <a:off x="6296772" y="3530444"/>
            <a:ext cx="2133600" cy="7481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Worker</a:t>
            </a:r>
          </a:p>
        </p:txBody>
      </p:sp>
      <p:sp>
        <p:nvSpPr>
          <p:cNvPr id="7" name="Rectangle 6">
            <a:extLst>
              <a:ext uri="{FF2B5EF4-FFF2-40B4-BE49-F238E27FC236}">
                <a16:creationId xmlns:a16="http://schemas.microsoft.com/office/drawing/2014/main" id="{A8C25B8B-DF92-C3A0-836A-6AB86A311C99}"/>
              </a:ext>
            </a:extLst>
          </p:cNvPr>
          <p:cNvSpPr/>
          <p:nvPr/>
        </p:nvSpPr>
        <p:spPr>
          <a:xfrm>
            <a:off x="6296772" y="4278589"/>
            <a:ext cx="2133600" cy="1995055"/>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2000" dirty="0">
                <a:ln w="0"/>
                <a:solidFill>
                  <a:schemeClr val="tx1"/>
                </a:solidFill>
                <a:effectLst>
                  <a:outerShdw blurRad="38100" dist="19050" dir="2700000" algn="tl" rotWithShape="0">
                    <a:schemeClr val="dk1">
                      <a:alpha val="40000"/>
                    </a:schemeClr>
                  </a:outerShdw>
                </a:effectLst>
              </a:rPr>
              <a:t>- ID</a:t>
            </a:r>
          </a:p>
          <a:p>
            <a:r>
              <a:rPr lang="en-IN" sz="2000" dirty="0">
                <a:ln w="0"/>
                <a:solidFill>
                  <a:schemeClr val="tx1"/>
                </a:solidFill>
                <a:effectLst>
                  <a:outerShdw blurRad="38100" dist="19050" dir="2700000" algn="tl" rotWithShape="0">
                    <a:schemeClr val="dk1">
                      <a:alpha val="40000"/>
                    </a:schemeClr>
                  </a:outerShdw>
                </a:effectLst>
              </a:rPr>
              <a:t>- Name</a:t>
            </a:r>
          </a:p>
          <a:p>
            <a:r>
              <a:rPr lang="en-IN" sz="2000" dirty="0">
                <a:ln w="0"/>
                <a:solidFill>
                  <a:schemeClr val="tx1"/>
                </a:solidFill>
                <a:effectLst>
                  <a:outerShdw blurRad="38100" dist="19050" dir="2700000" algn="tl" rotWithShape="0">
                    <a:schemeClr val="dk1">
                      <a:alpha val="40000"/>
                    </a:schemeClr>
                  </a:outerShdw>
                </a:effectLst>
              </a:rPr>
              <a:t>- Address</a:t>
            </a:r>
          </a:p>
          <a:p>
            <a:r>
              <a:rPr lang="en-IN" sz="2000" dirty="0">
                <a:ln w="0"/>
                <a:solidFill>
                  <a:schemeClr val="tx1"/>
                </a:solidFill>
                <a:effectLst>
                  <a:outerShdw blurRad="38100" dist="19050" dir="2700000" algn="tl" rotWithShape="0">
                    <a:schemeClr val="dk1">
                      <a:alpha val="40000"/>
                    </a:schemeClr>
                  </a:outerShdw>
                </a:effectLst>
              </a:rPr>
              <a:t>- Contact</a:t>
            </a:r>
          </a:p>
          <a:p>
            <a:r>
              <a:rPr lang="en-IN" sz="2000" dirty="0">
                <a:ln w="0"/>
                <a:solidFill>
                  <a:schemeClr val="tx1"/>
                </a:solidFill>
                <a:effectLst>
                  <a:outerShdw blurRad="38100" dist="19050" dir="2700000" algn="tl" rotWithShape="0">
                    <a:schemeClr val="dk1">
                      <a:alpha val="40000"/>
                    </a:schemeClr>
                  </a:outerShdw>
                </a:effectLst>
              </a:rPr>
              <a:t>- </a:t>
            </a:r>
            <a:r>
              <a:rPr lang="en-IN" sz="2000" dirty="0" err="1">
                <a:ln w="0"/>
                <a:solidFill>
                  <a:schemeClr val="tx1"/>
                </a:solidFill>
                <a:effectLst>
                  <a:outerShdw blurRad="38100" dist="19050" dir="2700000" algn="tl" rotWithShape="0">
                    <a:schemeClr val="dk1">
                      <a:alpha val="40000"/>
                    </a:schemeClr>
                  </a:outerShdw>
                </a:effectLst>
              </a:rPr>
              <a:t>DailySalary</a:t>
            </a:r>
            <a:endParaRPr lang="en-IN" sz="2000" dirty="0">
              <a:ln w="0"/>
              <a:solidFill>
                <a:schemeClr val="tx1"/>
              </a:solidFill>
              <a:effectLst>
                <a:outerShdw blurRad="38100" dist="19050" dir="2700000" algn="tl" rotWithShape="0">
                  <a:schemeClr val="dk1">
                    <a:alpha val="40000"/>
                  </a:schemeClr>
                </a:outerShdw>
              </a:effectLst>
            </a:endParaRPr>
          </a:p>
          <a:p>
            <a:r>
              <a:rPr lang="en-IN" sz="2000" dirty="0">
                <a:ln w="0"/>
                <a:solidFill>
                  <a:schemeClr val="tx1"/>
                </a:solidFill>
                <a:effectLst>
                  <a:outerShdw blurRad="38100" dist="19050" dir="2700000" algn="tl" rotWithShape="0">
                    <a:schemeClr val="dk1">
                      <a:alpha val="40000"/>
                    </a:schemeClr>
                  </a:outerShdw>
                </a:effectLst>
              </a:rPr>
              <a:t>- </a:t>
            </a:r>
            <a:r>
              <a:rPr lang="en-IN" sz="2000" dirty="0" err="1">
                <a:ln w="0"/>
                <a:solidFill>
                  <a:schemeClr val="tx1"/>
                </a:solidFill>
                <a:effectLst>
                  <a:outerShdw blurRad="38100" dist="19050" dir="2700000" algn="tl" rotWithShape="0">
                    <a:schemeClr val="dk1">
                      <a:alpha val="40000"/>
                    </a:schemeClr>
                  </a:outerShdw>
                </a:effectLst>
              </a:rPr>
              <a:t>NoOfHours</a:t>
            </a:r>
            <a:endParaRPr lang="en-IN" sz="2000"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24697CB3-0386-F2F6-6983-4130CB5E9F7B}"/>
              </a:ext>
            </a:extLst>
          </p:cNvPr>
          <p:cNvSpPr/>
          <p:nvPr/>
        </p:nvSpPr>
        <p:spPr>
          <a:xfrm>
            <a:off x="4848972" y="863444"/>
            <a:ext cx="2133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Employee</a:t>
            </a:r>
          </a:p>
        </p:txBody>
      </p:sp>
      <p:sp>
        <p:nvSpPr>
          <p:cNvPr id="9" name="Rectangle 8">
            <a:extLst>
              <a:ext uri="{FF2B5EF4-FFF2-40B4-BE49-F238E27FC236}">
                <a16:creationId xmlns:a16="http://schemas.microsoft.com/office/drawing/2014/main" id="{EFD56F34-43EC-F7C8-FEEA-E868DE0BCC99}"/>
              </a:ext>
            </a:extLst>
          </p:cNvPr>
          <p:cNvSpPr/>
          <p:nvPr/>
        </p:nvSpPr>
        <p:spPr>
          <a:xfrm>
            <a:off x="2867772" y="4278589"/>
            <a:ext cx="1600200" cy="123305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85BBB58-7CCA-13C2-B46A-8E8987EB0D3E}"/>
              </a:ext>
            </a:extLst>
          </p:cNvPr>
          <p:cNvSpPr/>
          <p:nvPr/>
        </p:nvSpPr>
        <p:spPr>
          <a:xfrm>
            <a:off x="6182472" y="4354789"/>
            <a:ext cx="1600200" cy="123305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7ECA1974-07D1-AB58-7CDB-00F881A8715E}"/>
              </a:ext>
            </a:extLst>
          </p:cNvPr>
          <p:cNvSpPr/>
          <p:nvPr/>
        </p:nvSpPr>
        <p:spPr>
          <a:xfrm>
            <a:off x="3077322" y="4278589"/>
            <a:ext cx="1600200" cy="1233055"/>
          </a:xfrm>
          <a:prstGeom prst="rect">
            <a:avLst/>
          </a:prstGeom>
          <a:solidFill>
            <a:srgbClr val="CAE4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F4E9C4DE-9603-62DD-53E2-B031F5FB19AD}"/>
              </a:ext>
            </a:extLst>
          </p:cNvPr>
          <p:cNvSpPr/>
          <p:nvPr/>
        </p:nvSpPr>
        <p:spPr>
          <a:xfrm>
            <a:off x="6372972" y="4354789"/>
            <a:ext cx="1600200" cy="1233055"/>
          </a:xfrm>
          <a:prstGeom prst="rect">
            <a:avLst/>
          </a:prstGeom>
          <a:solidFill>
            <a:srgbClr val="CAE4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50FA9CC2-BF0D-52B5-0ED8-48FC9CB0A6B4}"/>
              </a:ext>
            </a:extLst>
          </p:cNvPr>
          <p:cNvCxnSpPr>
            <a:endCxn id="4" idx="0"/>
          </p:cNvCxnSpPr>
          <p:nvPr/>
        </p:nvCxnSpPr>
        <p:spPr>
          <a:xfrm flipH="1">
            <a:off x="4086972" y="2932624"/>
            <a:ext cx="1327440" cy="569353"/>
          </a:xfrm>
          <a:prstGeom prst="straightConnector1">
            <a:avLst/>
          </a:prstGeom>
          <a:ln w="31750">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54192DB-4957-850C-A9E2-B777B96C698A}"/>
              </a:ext>
            </a:extLst>
          </p:cNvPr>
          <p:cNvCxnSpPr>
            <a:endCxn id="6" idx="0"/>
          </p:cNvCxnSpPr>
          <p:nvPr/>
        </p:nvCxnSpPr>
        <p:spPr>
          <a:xfrm>
            <a:off x="6296772" y="2932624"/>
            <a:ext cx="1066800" cy="597820"/>
          </a:xfrm>
          <a:prstGeom prst="straightConnector1">
            <a:avLst/>
          </a:prstGeom>
          <a:ln w="3175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59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par>
                                <p:cTn id="12" presetID="22" presetClass="entr" presetSubtype="1" fill="hold" grpId="1"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up)">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up)">
                                      <p:cBhvr>
                                        <p:cTn id="28" dur="500"/>
                                        <p:tgtEl>
                                          <p:spTgt spid="9"/>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up)">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0" presetClass="path" presetSubtype="0" accel="50000" decel="50000" fill="hold" grpId="0" nodeType="clickEffect">
                                  <p:stCondLst>
                                    <p:cond delay="0"/>
                                  </p:stCondLst>
                                  <p:childTnLst>
                                    <p:animMotion origin="layout" path="M -2.5E-6 -4.81481E-6 L -2.5E-6 0.00024 C 0.00026 -0.02268 -0.00039 -0.04537 0.00104 -0.06782 C 0.00157 -0.078 0.00612 -0.09745 0.00612 -0.09722 C 0.00886 -0.13634 0.00573 -0.10115 0.00847 -0.12083 C 0.00899 -0.12407 0.00899 -0.12777 0.00964 -0.13125 C 0.01016 -0.13356 0.01146 -0.13541 0.01224 -0.1375 C 0.01393 -0.14305 0.01589 -0.14861 0.01706 -0.15439 C 0.01784 -0.15856 0.01979 -0.16851 0.02097 -0.17152 C 0.02175 -0.17384 0.02344 -0.17546 0.02461 -0.17777 C 0.02591 -0.18055 0.02696 -0.18356 0.02826 -0.18611 C 0.03151 -0.19259 0.0319 -0.19236 0.03568 -0.19675 C 0.03607 -0.19907 0.0362 -0.20138 0.03698 -0.20324 C 0.03828 -0.20648 0.04037 -0.20856 0.04193 -0.21157 C 0.04336 -0.21412 0.04453 -0.21712 0.04571 -0.22013 L 0.053 -0.23912 C 0.05391 -0.2412 0.05456 -0.24375 0.05573 -0.24537 C 0.0569 -0.24745 0.05808 -0.2493 0.05925 -0.25185 C 0.06029 -0.2537 0.06081 -0.25601 0.06185 -0.25787 C 0.06302 -0.26087 0.06433 -0.26365 0.0655 -0.26666 C 0.06628 -0.26851 0.06706 -0.27106 0.0681 -0.27291 C 0.06901 -0.27523 0.07058 -0.27685 0.07162 -0.27916 C 0.08373 -0.30578 0.06849 -0.278 0.08412 -0.30462 L 0.08776 -0.31087 L 0.09154 -0.31712 C 0.09193 -0.32013 0.0918 -0.32337 0.09284 -0.32569 C 0.09362 -0.32777 0.09532 -0.32824 0.09649 -0.33009 C 0.09792 -0.33171 0.09909 -0.33425 0.10026 -0.33634 C 0.10065 -0.33842 0.10065 -0.34074 0.10143 -0.34259 C 0.10729 -0.35555 0.10651 -0.35393 0.11263 -0.3574 C 0.12058 -0.37106 0.11784 -0.37083 0.125 -0.3743 C 0.1267 -0.37523 0.12826 -0.37569 0.12995 -0.37638 C 0.13203 -0.37708 0.13412 -0.37754 0.1362 -0.3787 C 0.13828 -0.37962 0.14024 -0.38148 0.14245 -0.38287 C 0.14362 -0.38356 0.14492 -0.38402 0.1461 -0.38472 C 0.14753 -0.38587 0.15 -0.38888 0.15 -0.38865 " pathEditMode="relative" rAng="0" ptsTypes="AAAAAAAAAAAAAAAAAAAAAAAAAAAAAAAAAAAA">
                                      <p:cBhvr>
                                        <p:cTn id="39" dur="2000" fill="hold"/>
                                        <p:tgtEl>
                                          <p:spTgt spid="3"/>
                                        </p:tgtEl>
                                        <p:attrNameLst>
                                          <p:attrName>ppt_x</p:attrName>
                                          <p:attrName>ppt_y</p:attrName>
                                        </p:attrNameLst>
                                      </p:cBhvr>
                                      <p:rCtr x="7500" y="-19444"/>
                                    </p:animMotion>
                                  </p:childTnLst>
                                </p:cTn>
                              </p:par>
                              <p:par>
                                <p:cTn id="40" presetID="1" presetClass="exit" presetSubtype="0" fill="hold" grpId="1" nodeType="withEffect">
                                  <p:stCondLst>
                                    <p:cond delay="0"/>
                                  </p:stCondLst>
                                  <p:childTnLst>
                                    <p:set>
                                      <p:cBhvr>
                                        <p:cTn id="41" dur="1" fill="hold">
                                          <p:stCondLst>
                                            <p:cond delay="0"/>
                                          </p:stCondLst>
                                        </p:cTn>
                                        <p:tgtEl>
                                          <p:spTgt spid="9"/>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10"/>
                                        </p:tgtEl>
                                        <p:attrNameLst>
                                          <p:attrName>style.visibility</p:attrName>
                                        </p:attrNameLst>
                                      </p:cBhvr>
                                      <p:to>
                                        <p:strVal val="hidden"/>
                                      </p:to>
                                    </p:set>
                                  </p:childTnLst>
                                </p:cTn>
                              </p:par>
                              <p:par>
                                <p:cTn id="44" presetID="1"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up)">
                                      <p:cBhvr>
                                        <p:cTn id="52" dur="500"/>
                                        <p:tgtEl>
                                          <p:spTgt spid="13"/>
                                        </p:tgtEl>
                                      </p:cBhvr>
                                    </p:animEffect>
                                  </p:childTnLst>
                                </p:cTn>
                              </p:par>
                              <p:par>
                                <p:cTn id="53" presetID="22" presetClass="entr" presetSubtype="1"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up)">
                                      <p:cBhvr>
                                        <p:cTn id="5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5" grpId="0" animBg="1"/>
      <p:bldP spid="6" grpId="0" animBg="1"/>
      <p:bldP spid="7" grpId="0" animBg="1"/>
      <p:bldP spid="8" grpId="0" animBg="1"/>
      <p:bldP spid="9" grpId="0" animBg="1"/>
      <p:bldP spid="9" grpId="1" animBg="1"/>
      <p:bldP spid="10" grpId="0" animBg="1"/>
      <p:bldP spid="10" grpId="1" animBg="1"/>
      <p:bldP spid="11"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3CE7-0901-504E-D271-9C500546F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AEC59-2460-6EEC-A885-B6286F9565D4}"/>
              </a:ext>
            </a:extLst>
          </p:cNvPr>
          <p:cNvSpPr>
            <a:spLocks noGrp="1"/>
          </p:cNvSpPr>
          <p:nvPr>
            <p:ph type="title"/>
          </p:nvPr>
        </p:nvSpPr>
        <p:spPr>
          <a:xfrm>
            <a:off x="0" y="1"/>
            <a:ext cx="12192000" cy="711200"/>
          </a:xfrm>
        </p:spPr>
        <p:txBody>
          <a:bodyPr/>
          <a:lstStyle/>
          <a:p>
            <a:r>
              <a:rPr lang="en-US" dirty="0"/>
              <a:t>Inheritance using extends keyword</a:t>
            </a:r>
          </a:p>
        </p:txBody>
      </p:sp>
      <p:sp>
        <p:nvSpPr>
          <p:cNvPr id="3" name="Content Placeholder 2">
            <a:extLst>
              <a:ext uri="{FF2B5EF4-FFF2-40B4-BE49-F238E27FC236}">
                <a16:creationId xmlns:a16="http://schemas.microsoft.com/office/drawing/2014/main" id="{C1F9D5C6-4F16-6C50-640B-7844B3BA786D}"/>
              </a:ext>
            </a:extLst>
          </p:cNvPr>
          <p:cNvSpPr>
            <a:spLocks noGrp="1"/>
          </p:cNvSpPr>
          <p:nvPr>
            <p:ph idx="1"/>
          </p:nvPr>
        </p:nvSpPr>
        <p:spPr>
          <a:xfrm>
            <a:off x="131180" y="863444"/>
            <a:ext cx="11929641" cy="5590565"/>
          </a:xfrm>
        </p:spPr>
        <p:txBody>
          <a:bodyPr/>
          <a:lstStyle/>
          <a:p>
            <a:r>
              <a:rPr lang="en-US" dirty="0"/>
              <a:t>When a Class </a:t>
            </a:r>
            <a:r>
              <a:rPr lang="en-US" dirty="0">
                <a:solidFill>
                  <a:srgbClr val="C00000"/>
                </a:solidFill>
              </a:rPr>
              <a:t>extends</a:t>
            </a:r>
            <a:r>
              <a:rPr lang="en-US" dirty="0"/>
              <a:t> another class it inherits all </a:t>
            </a:r>
            <a:r>
              <a:rPr lang="en-US" dirty="0">
                <a:solidFill>
                  <a:srgbClr val="C00000"/>
                </a:solidFill>
              </a:rPr>
              <a:t>non-private</a:t>
            </a:r>
            <a:r>
              <a:rPr lang="en-US" dirty="0"/>
              <a:t> </a:t>
            </a:r>
            <a:r>
              <a:rPr lang="en-US" dirty="0">
                <a:solidFill>
                  <a:srgbClr val="C00000"/>
                </a:solidFill>
              </a:rPr>
              <a:t>members</a:t>
            </a:r>
            <a:r>
              <a:rPr lang="en-US" dirty="0"/>
              <a:t> including </a:t>
            </a:r>
            <a:r>
              <a:rPr lang="en-US" dirty="0">
                <a:solidFill>
                  <a:srgbClr val="C00000"/>
                </a:solidFill>
              </a:rPr>
              <a:t>fields</a:t>
            </a:r>
            <a:r>
              <a:rPr lang="en-US" dirty="0"/>
              <a:t> and </a:t>
            </a:r>
            <a:r>
              <a:rPr lang="en-US" dirty="0">
                <a:solidFill>
                  <a:srgbClr val="C00000"/>
                </a:solidFill>
              </a:rPr>
              <a:t>methods</a:t>
            </a:r>
            <a:r>
              <a:rPr lang="en-US" dirty="0"/>
              <a:t>.</a:t>
            </a:r>
          </a:p>
          <a:p>
            <a:r>
              <a:rPr lang="en-US" dirty="0"/>
              <a:t>Inheritance in Java can be best understood in terms of </a:t>
            </a:r>
            <a:r>
              <a:rPr lang="en-US" dirty="0">
                <a:solidFill>
                  <a:srgbClr val="C00000"/>
                </a:solidFill>
              </a:rPr>
              <a:t>Parent</a:t>
            </a:r>
            <a:r>
              <a:rPr lang="en-US" dirty="0"/>
              <a:t> and </a:t>
            </a:r>
            <a:r>
              <a:rPr lang="en-US" dirty="0">
                <a:solidFill>
                  <a:srgbClr val="C00000"/>
                </a:solidFill>
              </a:rPr>
              <a:t>Child</a:t>
            </a:r>
            <a:r>
              <a:rPr lang="en-US" dirty="0"/>
              <a:t> relationship, also known as </a:t>
            </a:r>
            <a:r>
              <a:rPr lang="en-US" dirty="0">
                <a:solidFill>
                  <a:srgbClr val="C00000"/>
                </a:solidFill>
              </a:rPr>
              <a:t>Super</a:t>
            </a:r>
            <a:r>
              <a:rPr lang="en-US" dirty="0"/>
              <a:t> </a:t>
            </a:r>
            <a:r>
              <a:rPr lang="en-US" dirty="0">
                <a:solidFill>
                  <a:srgbClr val="C00000"/>
                </a:solidFill>
              </a:rPr>
              <a:t>class</a:t>
            </a:r>
            <a:r>
              <a:rPr lang="en-US" dirty="0"/>
              <a:t>(Parent) and </a:t>
            </a:r>
            <a:r>
              <a:rPr lang="en-US" dirty="0">
                <a:solidFill>
                  <a:srgbClr val="C00000"/>
                </a:solidFill>
              </a:rPr>
              <a:t>Sub</a:t>
            </a:r>
            <a:r>
              <a:rPr lang="en-US" dirty="0"/>
              <a:t> </a:t>
            </a:r>
            <a:r>
              <a:rPr lang="en-US" dirty="0">
                <a:solidFill>
                  <a:srgbClr val="C00000"/>
                </a:solidFill>
              </a:rPr>
              <a:t>class</a:t>
            </a:r>
            <a:r>
              <a:rPr lang="en-US" dirty="0"/>
              <a:t>(Child).</a:t>
            </a:r>
          </a:p>
          <a:p>
            <a:r>
              <a:rPr lang="en-US" dirty="0"/>
              <a:t>Inheritance defines </a:t>
            </a:r>
            <a:r>
              <a:rPr lang="en-US" dirty="0">
                <a:solidFill>
                  <a:srgbClr val="C00000"/>
                </a:solidFill>
              </a:rPr>
              <a:t>IS-A</a:t>
            </a:r>
            <a:r>
              <a:rPr lang="en-US" dirty="0"/>
              <a:t> relationship between a </a:t>
            </a:r>
            <a:r>
              <a:rPr lang="en-US" dirty="0">
                <a:solidFill>
                  <a:srgbClr val="C00000"/>
                </a:solidFill>
              </a:rPr>
              <a:t>Super</a:t>
            </a:r>
            <a:r>
              <a:rPr lang="en-US" dirty="0"/>
              <a:t> </a:t>
            </a:r>
            <a:r>
              <a:rPr lang="en-US" dirty="0">
                <a:solidFill>
                  <a:srgbClr val="C00000"/>
                </a:solidFill>
              </a:rPr>
              <a:t>class</a:t>
            </a:r>
            <a:r>
              <a:rPr lang="en-US" dirty="0"/>
              <a:t> and its </a:t>
            </a:r>
            <a:r>
              <a:rPr lang="en-US" dirty="0">
                <a:solidFill>
                  <a:srgbClr val="C00000"/>
                </a:solidFill>
              </a:rPr>
              <a:t>Sub</a:t>
            </a:r>
            <a:r>
              <a:rPr lang="en-US" dirty="0"/>
              <a:t> </a:t>
            </a:r>
            <a:r>
              <a:rPr lang="en-US" dirty="0">
                <a:solidFill>
                  <a:srgbClr val="C00000"/>
                </a:solidFill>
              </a:rPr>
              <a:t>class</a:t>
            </a:r>
            <a:r>
              <a:rPr lang="en-US" dirty="0"/>
              <a:t>.</a:t>
            </a:r>
          </a:p>
          <a:p>
            <a:r>
              <a:rPr lang="en-US" dirty="0"/>
              <a:t>For Example :</a:t>
            </a:r>
          </a:p>
          <a:p>
            <a:pPr lvl="1"/>
            <a:r>
              <a:rPr lang="en-US" sz="2200" dirty="0"/>
              <a:t>Car </a:t>
            </a:r>
            <a:r>
              <a:rPr lang="en-US" sz="2200" dirty="0">
                <a:solidFill>
                  <a:srgbClr val="C00000"/>
                </a:solidFill>
              </a:rPr>
              <a:t>IS</a:t>
            </a:r>
            <a:r>
              <a:rPr lang="en-US" sz="2200" dirty="0"/>
              <a:t> </a:t>
            </a:r>
            <a:r>
              <a:rPr lang="en-US" sz="2200" dirty="0">
                <a:solidFill>
                  <a:srgbClr val="C00000"/>
                </a:solidFill>
              </a:rPr>
              <a:t>A</a:t>
            </a:r>
            <a:r>
              <a:rPr lang="en-US" sz="2200" dirty="0"/>
              <a:t> Vehicle</a:t>
            </a:r>
          </a:p>
          <a:p>
            <a:pPr lvl="1"/>
            <a:r>
              <a:rPr lang="en-US" sz="2200" dirty="0"/>
              <a:t>Bike </a:t>
            </a:r>
            <a:r>
              <a:rPr lang="en-US" sz="2200" dirty="0">
                <a:solidFill>
                  <a:srgbClr val="C00000"/>
                </a:solidFill>
              </a:rPr>
              <a:t>IS</a:t>
            </a:r>
            <a:r>
              <a:rPr lang="en-US" sz="2200" dirty="0"/>
              <a:t> </a:t>
            </a:r>
            <a:r>
              <a:rPr lang="en-US" sz="2200" dirty="0">
                <a:solidFill>
                  <a:srgbClr val="C00000"/>
                </a:solidFill>
              </a:rPr>
              <a:t>A</a:t>
            </a:r>
            <a:r>
              <a:rPr lang="en-US" sz="2200" dirty="0"/>
              <a:t> Vehicle </a:t>
            </a:r>
          </a:p>
          <a:p>
            <a:pPr lvl="1"/>
            <a:r>
              <a:rPr lang="en-US" sz="2200" dirty="0" err="1"/>
              <a:t>EngineeringCollege</a:t>
            </a:r>
            <a:r>
              <a:rPr lang="en-US" sz="2200" dirty="0"/>
              <a:t> </a:t>
            </a:r>
            <a:r>
              <a:rPr lang="en-US" sz="2200" dirty="0">
                <a:solidFill>
                  <a:srgbClr val="C00000"/>
                </a:solidFill>
              </a:rPr>
              <a:t>IS</a:t>
            </a:r>
            <a:r>
              <a:rPr lang="en-US" sz="2200" dirty="0"/>
              <a:t> </a:t>
            </a:r>
            <a:r>
              <a:rPr lang="en-US" sz="2200" dirty="0">
                <a:solidFill>
                  <a:srgbClr val="C00000"/>
                </a:solidFill>
              </a:rPr>
              <a:t>A</a:t>
            </a:r>
            <a:r>
              <a:rPr lang="en-US" sz="2200" dirty="0"/>
              <a:t> College</a:t>
            </a:r>
          </a:p>
          <a:p>
            <a:pPr lvl="1"/>
            <a:r>
              <a:rPr lang="en-US" sz="2200" dirty="0" err="1"/>
              <a:t>MedicalCollege</a:t>
            </a:r>
            <a:r>
              <a:rPr lang="en-US" sz="2200" dirty="0"/>
              <a:t> </a:t>
            </a:r>
            <a:r>
              <a:rPr lang="en-US" sz="2200" dirty="0">
                <a:solidFill>
                  <a:srgbClr val="C00000"/>
                </a:solidFill>
              </a:rPr>
              <a:t>IS</a:t>
            </a:r>
            <a:r>
              <a:rPr lang="en-US" sz="2200" dirty="0"/>
              <a:t> </a:t>
            </a:r>
            <a:r>
              <a:rPr lang="en-US" sz="2200" dirty="0">
                <a:solidFill>
                  <a:srgbClr val="C00000"/>
                </a:solidFill>
              </a:rPr>
              <a:t>A</a:t>
            </a:r>
            <a:r>
              <a:rPr lang="en-US" sz="2200" dirty="0"/>
              <a:t> College</a:t>
            </a:r>
          </a:p>
          <a:p>
            <a:pPr lvl="1"/>
            <a:r>
              <a:rPr lang="en-US" sz="2200" dirty="0" err="1"/>
              <a:t>MCACollege</a:t>
            </a:r>
            <a:r>
              <a:rPr lang="en-US" sz="2200" dirty="0"/>
              <a:t> </a:t>
            </a:r>
            <a:r>
              <a:rPr lang="en-US" sz="2200" dirty="0">
                <a:solidFill>
                  <a:srgbClr val="C00000"/>
                </a:solidFill>
              </a:rPr>
              <a:t>IS</a:t>
            </a:r>
            <a:r>
              <a:rPr lang="en-US" sz="2200" dirty="0"/>
              <a:t> </a:t>
            </a:r>
            <a:r>
              <a:rPr lang="en-US" sz="2200" dirty="0">
                <a:solidFill>
                  <a:srgbClr val="C00000"/>
                </a:solidFill>
              </a:rPr>
              <a:t>A</a:t>
            </a:r>
            <a:r>
              <a:rPr lang="en-US" sz="2200" dirty="0"/>
              <a:t> College</a:t>
            </a:r>
          </a:p>
          <a:p>
            <a:r>
              <a:rPr lang="en-US" i="1" dirty="0">
                <a:solidFill>
                  <a:srgbClr val="C00000"/>
                </a:solidFill>
              </a:rPr>
              <a:t>extends</a:t>
            </a:r>
            <a:r>
              <a:rPr lang="en-US" dirty="0"/>
              <a:t> is the keyword used to implement inheritance.</a:t>
            </a:r>
          </a:p>
          <a:p>
            <a:endParaRPr lang="en-US" dirty="0"/>
          </a:p>
        </p:txBody>
      </p:sp>
    </p:spTree>
    <p:extLst>
      <p:ext uri="{BB962C8B-B14F-4D97-AF65-F5344CB8AC3E}">
        <p14:creationId xmlns:p14="http://schemas.microsoft.com/office/powerpoint/2010/main" val="1620469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96730-E2D6-1DAC-7C10-A82E0E597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13314-984C-6BE7-200D-27D43C5E8C11}"/>
              </a:ext>
            </a:extLst>
          </p:cNvPr>
          <p:cNvSpPr>
            <a:spLocks noGrp="1"/>
          </p:cNvSpPr>
          <p:nvPr>
            <p:ph type="title"/>
          </p:nvPr>
        </p:nvSpPr>
        <p:spPr>
          <a:xfrm>
            <a:off x="0" y="1"/>
            <a:ext cx="12192000" cy="711200"/>
          </a:xfrm>
        </p:spPr>
        <p:txBody>
          <a:bodyPr/>
          <a:lstStyle/>
          <a:p>
            <a:r>
              <a:rPr lang="en-US" dirty="0"/>
              <a:t>extends </a:t>
            </a:r>
          </a:p>
        </p:txBody>
      </p:sp>
      <p:sp>
        <p:nvSpPr>
          <p:cNvPr id="3" name="Rectangle 2">
            <a:extLst>
              <a:ext uri="{FF2B5EF4-FFF2-40B4-BE49-F238E27FC236}">
                <a16:creationId xmlns:a16="http://schemas.microsoft.com/office/drawing/2014/main" id="{4599161A-378E-DA27-6E7C-A97C3494E934}"/>
              </a:ext>
            </a:extLst>
          </p:cNvPr>
          <p:cNvSpPr/>
          <p:nvPr/>
        </p:nvSpPr>
        <p:spPr>
          <a:xfrm>
            <a:off x="288175" y="1381298"/>
            <a:ext cx="3657600" cy="1754326"/>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A {</a:t>
            </a:r>
            <a:endParaRPr lang="en-US" dirty="0">
              <a:latin typeface="Consolas"/>
            </a:endParaRPr>
          </a:p>
          <a:p>
            <a:r>
              <a:rPr lang="en-US" dirty="0">
                <a:latin typeface="Consolas"/>
              </a:rPr>
              <a:t>	// code</a:t>
            </a:r>
          </a:p>
          <a:p>
            <a:r>
              <a:rPr lang="en-US" dirty="0">
                <a:solidFill>
                  <a:srgbClr val="000000"/>
                </a:solidFill>
                <a:latin typeface="Consolas"/>
              </a:rPr>
              <a:t>}</a:t>
            </a:r>
            <a:endParaRPr lang="en-US" dirty="0">
              <a:latin typeface="Consolas"/>
            </a:endParaRPr>
          </a:p>
          <a:p>
            <a:r>
              <a:rPr lang="en-US" b="1" dirty="0">
                <a:solidFill>
                  <a:srgbClr val="7F0055"/>
                </a:solidFill>
                <a:latin typeface="Consolas"/>
              </a:rPr>
              <a:t>class</a:t>
            </a:r>
            <a:r>
              <a:rPr lang="en-US" b="1" dirty="0">
                <a:solidFill>
                  <a:srgbClr val="000000"/>
                </a:solidFill>
                <a:latin typeface="Consolas"/>
              </a:rPr>
              <a:t> B </a:t>
            </a:r>
            <a:r>
              <a:rPr lang="en-US" b="1" dirty="0">
                <a:solidFill>
                  <a:srgbClr val="7F0055"/>
                </a:solidFill>
                <a:latin typeface="Consolas"/>
              </a:rPr>
              <a:t>extends</a:t>
            </a:r>
            <a:r>
              <a:rPr lang="en-US" b="1" dirty="0">
                <a:solidFill>
                  <a:srgbClr val="000000"/>
                </a:solidFill>
                <a:latin typeface="Consolas"/>
              </a:rPr>
              <a:t> A{</a:t>
            </a:r>
            <a:endParaRPr lang="en-US" dirty="0">
              <a:latin typeface="Consolas"/>
            </a:endParaRPr>
          </a:p>
          <a:p>
            <a:r>
              <a:rPr lang="en-US" dirty="0">
                <a:latin typeface="Consolas"/>
              </a:rPr>
              <a:t>	// code</a:t>
            </a:r>
          </a:p>
          <a:p>
            <a:r>
              <a:rPr lang="en-US" dirty="0">
                <a:solidFill>
                  <a:srgbClr val="000000"/>
                </a:solidFill>
                <a:latin typeface="Consolas"/>
              </a:rPr>
              <a:t>}</a:t>
            </a:r>
            <a:endParaRPr lang="en-US" dirty="0"/>
          </a:p>
        </p:txBody>
      </p:sp>
      <p:sp>
        <p:nvSpPr>
          <p:cNvPr id="4" name="Rectangle 3">
            <a:extLst>
              <a:ext uri="{FF2B5EF4-FFF2-40B4-BE49-F238E27FC236}">
                <a16:creationId xmlns:a16="http://schemas.microsoft.com/office/drawing/2014/main" id="{D1B8ED2C-DC6C-3244-9F74-AC4EECBABB8C}"/>
              </a:ext>
            </a:extLst>
          </p:cNvPr>
          <p:cNvSpPr/>
          <p:nvPr/>
        </p:nvSpPr>
        <p:spPr>
          <a:xfrm>
            <a:off x="288175" y="3726067"/>
            <a:ext cx="3657600" cy="2585323"/>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Vehicle {</a:t>
            </a:r>
            <a:endParaRPr lang="en-US" dirty="0">
              <a:latin typeface="Consolas"/>
            </a:endParaRPr>
          </a:p>
          <a:p>
            <a:r>
              <a:rPr lang="en-US" dirty="0">
                <a:latin typeface="Consolas"/>
              </a:rPr>
              <a:t>	. . . . . .</a:t>
            </a:r>
          </a:p>
          <a:p>
            <a:r>
              <a:rPr lang="en-US" dirty="0">
                <a:solidFill>
                  <a:srgbClr val="000000"/>
                </a:solidFill>
                <a:latin typeface="Consolas"/>
              </a:rPr>
              <a:t>}</a:t>
            </a:r>
            <a:endParaRPr lang="en-US" dirty="0">
              <a:latin typeface="Consolas"/>
            </a:endParaRPr>
          </a:p>
          <a:p>
            <a:r>
              <a:rPr lang="en-US" b="1" dirty="0">
                <a:solidFill>
                  <a:srgbClr val="7F0055"/>
                </a:solidFill>
                <a:latin typeface="Consolas"/>
              </a:rPr>
              <a:t>class</a:t>
            </a:r>
            <a:r>
              <a:rPr lang="en-US" b="1" dirty="0">
                <a:solidFill>
                  <a:srgbClr val="000000"/>
                </a:solidFill>
                <a:latin typeface="Consolas"/>
              </a:rPr>
              <a:t> Bike </a:t>
            </a:r>
            <a:r>
              <a:rPr lang="en-US" b="1" dirty="0">
                <a:solidFill>
                  <a:srgbClr val="7F0055"/>
                </a:solidFill>
                <a:latin typeface="Consolas"/>
              </a:rPr>
              <a:t>extends</a:t>
            </a:r>
            <a:r>
              <a:rPr lang="en-US" b="1" dirty="0">
                <a:solidFill>
                  <a:srgbClr val="000000"/>
                </a:solidFill>
                <a:latin typeface="Consolas"/>
              </a:rPr>
              <a:t> Vehicle{</a:t>
            </a:r>
            <a:endParaRPr lang="en-US" dirty="0">
              <a:latin typeface="Consolas"/>
            </a:endParaRPr>
          </a:p>
          <a:p>
            <a:r>
              <a:rPr lang="en-US" dirty="0">
                <a:latin typeface="Consolas"/>
              </a:rPr>
              <a:t>	. . . . . .</a:t>
            </a:r>
          </a:p>
          <a:p>
            <a:r>
              <a:rPr lang="en-US" dirty="0">
                <a:solidFill>
                  <a:srgbClr val="000000"/>
                </a:solidFill>
                <a:latin typeface="Consolas"/>
              </a:rPr>
              <a:t>}</a:t>
            </a:r>
          </a:p>
          <a:p>
            <a:r>
              <a:rPr lang="en-US" b="1" dirty="0">
                <a:solidFill>
                  <a:srgbClr val="7F0055"/>
                </a:solidFill>
                <a:latin typeface="Consolas"/>
              </a:rPr>
              <a:t>class</a:t>
            </a:r>
            <a:r>
              <a:rPr lang="en-US" b="1" dirty="0">
                <a:solidFill>
                  <a:srgbClr val="000000"/>
                </a:solidFill>
                <a:latin typeface="Consolas"/>
              </a:rPr>
              <a:t> Car </a:t>
            </a:r>
            <a:r>
              <a:rPr lang="en-US" b="1" dirty="0">
                <a:solidFill>
                  <a:srgbClr val="7F0055"/>
                </a:solidFill>
                <a:latin typeface="Consolas"/>
              </a:rPr>
              <a:t>extends</a:t>
            </a:r>
            <a:r>
              <a:rPr lang="en-US" b="1" dirty="0">
                <a:solidFill>
                  <a:srgbClr val="000000"/>
                </a:solidFill>
                <a:latin typeface="Consolas"/>
              </a:rPr>
              <a:t> Vehicle{</a:t>
            </a:r>
            <a:endParaRPr lang="en-US" dirty="0">
              <a:latin typeface="Consolas"/>
            </a:endParaRPr>
          </a:p>
          <a:p>
            <a:r>
              <a:rPr lang="en-US" dirty="0">
                <a:latin typeface="Consolas"/>
              </a:rPr>
              <a:t>	. . . . . .</a:t>
            </a:r>
          </a:p>
          <a:p>
            <a:r>
              <a:rPr lang="en-US" dirty="0">
                <a:solidFill>
                  <a:srgbClr val="000000"/>
                </a:solidFill>
                <a:latin typeface="Consolas"/>
              </a:rPr>
              <a:t>}</a:t>
            </a:r>
            <a:endParaRPr lang="en-US" dirty="0"/>
          </a:p>
        </p:txBody>
      </p:sp>
      <p:sp>
        <p:nvSpPr>
          <p:cNvPr id="5" name="TextBox 4">
            <a:extLst>
              <a:ext uri="{FF2B5EF4-FFF2-40B4-BE49-F238E27FC236}">
                <a16:creationId xmlns:a16="http://schemas.microsoft.com/office/drawing/2014/main" id="{A4CB5C74-7607-EDB6-1C39-BC0E13D890A1}"/>
              </a:ext>
            </a:extLst>
          </p:cNvPr>
          <p:cNvSpPr txBox="1"/>
          <p:nvPr/>
        </p:nvSpPr>
        <p:spPr>
          <a:xfrm>
            <a:off x="288175" y="847898"/>
            <a:ext cx="1099212" cy="430887"/>
          </a:xfrm>
          <a:prstGeom prst="rect">
            <a:avLst/>
          </a:prstGeom>
          <a:noFill/>
        </p:spPr>
        <p:txBody>
          <a:bodyPr wrap="none" rtlCol="0">
            <a:spAutoFit/>
          </a:bodyPr>
          <a:lstStyle/>
          <a:p>
            <a:r>
              <a:rPr lang="en-IN" sz="2200" b="1" dirty="0"/>
              <a:t>Syntax :</a:t>
            </a:r>
            <a:endParaRPr lang="en-US" sz="2200" b="1" dirty="0"/>
          </a:p>
        </p:txBody>
      </p:sp>
      <p:sp>
        <p:nvSpPr>
          <p:cNvPr id="6" name="TextBox 5">
            <a:extLst>
              <a:ext uri="{FF2B5EF4-FFF2-40B4-BE49-F238E27FC236}">
                <a16:creationId xmlns:a16="http://schemas.microsoft.com/office/drawing/2014/main" id="{435A5A5F-592E-9E3D-64C3-9DF745A2C513}"/>
              </a:ext>
            </a:extLst>
          </p:cNvPr>
          <p:cNvSpPr txBox="1"/>
          <p:nvPr/>
        </p:nvSpPr>
        <p:spPr>
          <a:xfrm>
            <a:off x="288175" y="3192667"/>
            <a:ext cx="1215397" cy="430887"/>
          </a:xfrm>
          <a:prstGeom prst="rect">
            <a:avLst/>
          </a:prstGeom>
          <a:noFill/>
        </p:spPr>
        <p:txBody>
          <a:bodyPr wrap="none" rtlCol="0">
            <a:spAutoFit/>
          </a:bodyPr>
          <a:lstStyle/>
          <a:p>
            <a:r>
              <a:rPr lang="en-IN" sz="2200" b="1" dirty="0"/>
              <a:t>Example:</a:t>
            </a:r>
            <a:endParaRPr lang="en-US" sz="2200" b="1" dirty="0"/>
          </a:p>
        </p:txBody>
      </p:sp>
      <p:sp>
        <p:nvSpPr>
          <p:cNvPr id="7" name="Rectangle 6">
            <a:extLst>
              <a:ext uri="{FF2B5EF4-FFF2-40B4-BE49-F238E27FC236}">
                <a16:creationId xmlns:a16="http://schemas.microsoft.com/office/drawing/2014/main" id="{8D762F6C-6862-98CF-208A-32923D436FC9}"/>
              </a:ext>
            </a:extLst>
          </p:cNvPr>
          <p:cNvSpPr/>
          <p:nvPr/>
        </p:nvSpPr>
        <p:spPr>
          <a:xfrm>
            <a:off x="7144789" y="782782"/>
            <a:ext cx="1981200"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Vehicle</a:t>
            </a:r>
            <a:endParaRPr lang="en-IN" sz="2000" b="1" dirty="0"/>
          </a:p>
          <a:p>
            <a:pPr lvl="0" algn="ctr"/>
            <a:endParaRPr lang="en-US" sz="2000" b="1" dirty="0"/>
          </a:p>
        </p:txBody>
      </p:sp>
      <p:sp>
        <p:nvSpPr>
          <p:cNvPr id="8" name="Rectangle 7">
            <a:extLst>
              <a:ext uri="{FF2B5EF4-FFF2-40B4-BE49-F238E27FC236}">
                <a16:creationId xmlns:a16="http://schemas.microsoft.com/office/drawing/2014/main" id="{3F9FA44F-3A13-BC70-2768-BA19A6BE0E57}"/>
              </a:ext>
            </a:extLst>
          </p:cNvPr>
          <p:cNvSpPr/>
          <p:nvPr/>
        </p:nvSpPr>
        <p:spPr>
          <a:xfrm>
            <a:off x="4325389" y="3221182"/>
            <a:ext cx="1981200"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Bike</a:t>
            </a:r>
          </a:p>
          <a:p>
            <a:pPr lvl="0" algn="ctr"/>
            <a:r>
              <a:rPr lang="en-US" sz="2000" dirty="0" err="1">
                <a:solidFill>
                  <a:srgbClr val="FFFF00"/>
                </a:solidFill>
              </a:rPr>
              <a:t>cubicCapacity</a:t>
            </a:r>
            <a:endParaRPr lang="en-US" sz="2000" dirty="0">
              <a:solidFill>
                <a:srgbClr val="FFFF00"/>
              </a:solidFill>
            </a:endParaRPr>
          </a:p>
          <a:p>
            <a:pPr lvl="0" algn="ctr"/>
            <a:r>
              <a:rPr lang="en-US" sz="2000" dirty="0" err="1">
                <a:solidFill>
                  <a:srgbClr val="FFFF00"/>
                </a:solidFill>
              </a:rPr>
              <a:t>isMoped</a:t>
            </a:r>
            <a:endParaRPr lang="en-US" sz="2000" dirty="0">
              <a:solidFill>
                <a:srgbClr val="FFFF00"/>
              </a:solidFill>
            </a:endParaRPr>
          </a:p>
        </p:txBody>
      </p:sp>
      <p:sp>
        <p:nvSpPr>
          <p:cNvPr id="9" name="Rectangle 8">
            <a:extLst>
              <a:ext uri="{FF2B5EF4-FFF2-40B4-BE49-F238E27FC236}">
                <a16:creationId xmlns:a16="http://schemas.microsoft.com/office/drawing/2014/main" id="{69AAC922-0F9D-9910-A1FA-2C4AD89DD2E9}"/>
              </a:ext>
            </a:extLst>
          </p:cNvPr>
          <p:cNvSpPr/>
          <p:nvPr/>
        </p:nvSpPr>
        <p:spPr>
          <a:xfrm>
            <a:off x="7220989" y="3221182"/>
            <a:ext cx="1981200"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Car</a:t>
            </a:r>
            <a:endParaRPr lang="en-IN" sz="2000" b="1" dirty="0"/>
          </a:p>
          <a:p>
            <a:pPr lvl="0" algn="ctr"/>
            <a:r>
              <a:rPr lang="en-US" sz="2000" dirty="0" err="1">
                <a:solidFill>
                  <a:srgbClr val="FFFF00"/>
                </a:solidFill>
              </a:rPr>
              <a:t>horsePower</a:t>
            </a:r>
            <a:endParaRPr lang="en-US" sz="2000" dirty="0">
              <a:solidFill>
                <a:srgbClr val="FFFF00"/>
              </a:solidFill>
            </a:endParaRPr>
          </a:p>
          <a:p>
            <a:pPr lvl="0" algn="ctr"/>
            <a:r>
              <a:rPr lang="en-US" sz="2000" dirty="0" err="1">
                <a:solidFill>
                  <a:srgbClr val="FFFF00"/>
                </a:solidFill>
              </a:rPr>
              <a:t>noOfAirBags</a:t>
            </a:r>
            <a:endParaRPr lang="en-US" sz="2000" dirty="0">
              <a:solidFill>
                <a:srgbClr val="FFFF00"/>
              </a:solidFill>
            </a:endParaRPr>
          </a:p>
          <a:p>
            <a:pPr lvl="0" algn="ctr"/>
            <a:r>
              <a:rPr lang="en-US" sz="2000" dirty="0" err="1">
                <a:solidFill>
                  <a:srgbClr val="FFFF00"/>
                </a:solidFill>
              </a:rPr>
              <a:t>tollTaxAmount</a:t>
            </a:r>
            <a:r>
              <a:rPr lang="en-US" sz="2000" dirty="0">
                <a:solidFill>
                  <a:srgbClr val="FFFF00"/>
                </a:solidFill>
              </a:rPr>
              <a:t>()</a:t>
            </a:r>
          </a:p>
          <a:p>
            <a:pPr lvl="0" algn="ctr"/>
            <a:endParaRPr lang="en-US" dirty="0"/>
          </a:p>
        </p:txBody>
      </p:sp>
      <p:sp>
        <p:nvSpPr>
          <p:cNvPr id="10" name="Rectangle 9">
            <a:extLst>
              <a:ext uri="{FF2B5EF4-FFF2-40B4-BE49-F238E27FC236}">
                <a16:creationId xmlns:a16="http://schemas.microsoft.com/office/drawing/2014/main" id="{E7C5812B-C3E3-17EC-882F-9FC3736C0CFD}"/>
              </a:ext>
            </a:extLst>
          </p:cNvPr>
          <p:cNvSpPr/>
          <p:nvPr/>
        </p:nvSpPr>
        <p:spPr>
          <a:xfrm>
            <a:off x="10040389" y="3221182"/>
            <a:ext cx="1981200"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Truck</a:t>
            </a:r>
            <a:endParaRPr lang="en-IN" sz="2000" b="1" dirty="0"/>
          </a:p>
          <a:p>
            <a:pPr lvl="0" algn="ctr"/>
            <a:r>
              <a:rPr lang="en-US" sz="2000" dirty="0" err="1">
                <a:solidFill>
                  <a:srgbClr val="FFFF00"/>
                </a:solidFill>
              </a:rPr>
              <a:t>horsePower</a:t>
            </a:r>
            <a:endParaRPr lang="en-US" sz="2000" dirty="0">
              <a:solidFill>
                <a:srgbClr val="FFFF00"/>
              </a:solidFill>
            </a:endParaRPr>
          </a:p>
          <a:p>
            <a:pPr lvl="0" algn="ctr"/>
            <a:r>
              <a:rPr lang="en-US" sz="2000" dirty="0" err="1">
                <a:solidFill>
                  <a:srgbClr val="FFFF00"/>
                </a:solidFill>
              </a:rPr>
              <a:t>loadingCapacity</a:t>
            </a:r>
            <a:endParaRPr lang="en-US" sz="2000" dirty="0">
              <a:solidFill>
                <a:srgbClr val="FFFF00"/>
              </a:solidFill>
            </a:endParaRPr>
          </a:p>
          <a:p>
            <a:pPr lvl="0" algn="ctr"/>
            <a:r>
              <a:rPr lang="en-US" sz="2000" dirty="0" err="1">
                <a:solidFill>
                  <a:srgbClr val="FFFF00"/>
                </a:solidFill>
              </a:rPr>
              <a:t>payTollTax</a:t>
            </a:r>
            <a:r>
              <a:rPr lang="en-US" sz="2000" dirty="0">
                <a:solidFill>
                  <a:srgbClr val="FFFF00"/>
                </a:solidFill>
              </a:rPr>
              <a:t>()</a:t>
            </a:r>
          </a:p>
        </p:txBody>
      </p:sp>
      <p:sp>
        <p:nvSpPr>
          <p:cNvPr id="11" name="Rectangle 10">
            <a:extLst>
              <a:ext uri="{FF2B5EF4-FFF2-40B4-BE49-F238E27FC236}">
                <a16:creationId xmlns:a16="http://schemas.microsoft.com/office/drawing/2014/main" id="{DD1521B9-5906-A558-5C7C-A96C42F91289}"/>
              </a:ext>
            </a:extLst>
          </p:cNvPr>
          <p:cNvSpPr/>
          <p:nvPr/>
        </p:nvSpPr>
        <p:spPr>
          <a:xfrm>
            <a:off x="4325389" y="3221182"/>
            <a:ext cx="1981200" cy="297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Bike</a:t>
            </a:r>
          </a:p>
          <a:p>
            <a:pPr lvl="0" algn="ctr"/>
            <a:r>
              <a:rPr lang="en-US" sz="2000" dirty="0" err="1">
                <a:solidFill>
                  <a:srgbClr val="FFFF00"/>
                </a:solidFill>
              </a:rPr>
              <a:t>cubicCapacity</a:t>
            </a:r>
            <a:endParaRPr lang="en-US" sz="2000" dirty="0">
              <a:solidFill>
                <a:srgbClr val="FFFF00"/>
              </a:solidFill>
            </a:endParaRPr>
          </a:p>
          <a:p>
            <a:pPr lvl="0" algn="ctr"/>
            <a:r>
              <a:rPr lang="en-US" sz="2000" dirty="0" err="1">
                <a:solidFill>
                  <a:srgbClr val="FFFF00"/>
                </a:solidFill>
              </a:rPr>
              <a:t>isMoped</a:t>
            </a:r>
            <a:endParaRPr lang="en-US" sz="2000" dirty="0">
              <a:solidFill>
                <a:srgbClr val="FFFF00"/>
              </a:solidFill>
            </a:endParaRPr>
          </a:p>
        </p:txBody>
      </p:sp>
      <p:sp>
        <p:nvSpPr>
          <p:cNvPr id="12" name="Rectangle 10.1">
            <a:extLst>
              <a:ext uri="{FF2B5EF4-FFF2-40B4-BE49-F238E27FC236}">
                <a16:creationId xmlns:a16="http://schemas.microsoft.com/office/drawing/2014/main" id="{2CA066E6-1D64-9381-1D3B-60E7654B801D}"/>
              </a:ext>
            </a:extLst>
          </p:cNvPr>
          <p:cNvSpPr/>
          <p:nvPr/>
        </p:nvSpPr>
        <p:spPr>
          <a:xfrm>
            <a:off x="7220989" y="1239982"/>
            <a:ext cx="1828800" cy="1200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dirty="0" err="1">
                <a:solidFill>
                  <a:schemeClr val="bg1"/>
                </a:solidFill>
              </a:rPr>
              <a:t>noOfPassanger</a:t>
            </a:r>
            <a:endParaRPr lang="en-US" dirty="0">
              <a:solidFill>
                <a:schemeClr val="bg1"/>
              </a:solidFill>
            </a:endParaRPr>
          </a:p>
          <a:p>
            <a:pPr lvl="0" algn="ctr"/>
            <a:r>
              <a:rPr lang="en-US" dirty="0" err="1">
                <a:solidFill>
                  <a:schemeClr val="bg1"/>
                </a:solidFill>
              </a:rPr>
              <a:t>maxSpeed</a:t>
            </a:r>
            <a:endParaRPr lang="en-US" dirty="0">
              <a:solidFill>
                <a:schemeClr val="bg1"/>
              </a:solidFill>
            </a:endParaRPr>
          </a:p>
          <a:p>
            <a:pPr lvl="0" algn="ctr"/>
            <a:r>
              <a:rPr lang="en-US" dirty="0" err="1">
                <a:solidFill>
                  <a:schemeClr val="bg1"/>
                </a:solidFill>
              </a:rPr>
              <a:t>noOfWheels</a:t>
            </a:r>
            <a:endParaRPr lang="en-US" dirty="0">
              <a:solidFill>
                <a:schemeClr val="bg1"/>
              </a:solidFill>
            </a:endParaRPr>
          </a:p>
          <a:p>
            <a:pPr lvl="0" algn="ctr"/>
            <a:r>
              <a:rPr lang="en-US" dirty="0" err="1">
                <a:solidFill>
                  <a:schemeClr val="bg1"/>
                </a:solidFill>
              </a:rPr>
              <a:t>noOfGears</a:t>
            </a:r>
            <a:endParaRPr lang="en-US" dirty="0">
              <a:solidFill>
                <a:schemeClr val="bg1"/>
              </a:solidFill>
            </a:endParaRPr>
          </a:p>
        </p:txBody>
      </p:sp>
      <p:sp>
        <p:nvSpPr>
          <p:cNvPr id="13" name="Rectangle 12">
            <a:extLst>
              <a:ext uri="{FF2B5EF4-FFF2-40B4-BE49-F238E27FC236}">
                <a16:creationId xmlns:a16="http://schemas.microsoft.com/office/drawing/2014/main" id="{AAADDB6E-26FD-F0A8-99A0-A74BE69890E6}"/>
              </a:ext>
            </a:extLst>
          </p:cNvPr>
          <p:cNvSpPr/>
          <p:nvPr/>
        </p:nvSpPr>
        <p:spPr>
          <a:xfrm>
            <a:off x="7220989" y="3221182"/>
            <a:ext cx="1981200" cy="297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Car</a:t>
            </a:r>
            <a:endParaRPr lang="en-IN" sz="2000" b="1" dirty="0"/>
          </a:p>
          <a:p>
            <a:pPr lvl="0" algn="ctr"/>
            <a:r>
              <a:rPr lang="en-US" sz="2000" dirty="0" err="1">
                <a:solidFill>
                  <a:srgbClr val="FFFF00"/>
                </a:solidFill>
              </a:rPr>
              <a:t>horsePower</a:t>
            </a:r>
            <a:endParaRPr lang="en-US" sz="2000" dirty="0">
              <a:solidFill>
                <a:srgbClr val="FFFF00"/>
              </a:solidFill>
            </a:endParaRPr>
          </a:p>
          <a:p>
            <a:pPr lvl="0" algn="ctr"/>
            <a:r>
              <a:rPr lang="en-US" sz="2000" dirty="0" err="1">
                <a:solidFill>
                  <a:srgbClr val="FFFF00"/>
                </a:solidFill>
              </a:rPr>
              <a:t>noOfAirBags</a:t>
            </a:r>
            <a:endParaRPr lang="en-US" sz="2000" dirty="0">
              <a:solidFill>
                <a:srgbClr val="FFFF00"/>
              </a:solidFill>
            </a:endParaRPr>
          </a:p>
          <a:p>
            <a:pPr lvl="0" algn="ctr"/>
            <a:r>
              <a:rPr lang="en-US" sz="2000" dirty="0" err="1">
                <a:solidFill>
                  <a:srgbClr val="FFFF00"/>
                </a:solidFill>
              </a:rPr>
              <a:t>tollTaxAmount</a:t>
            </a:r>
            <a:r>
              <a:rPr lang="en-US" sz="2000" dirty="0">
                <a:solidFill>
                  <a:srgbClr val="FFFF00"/>
                </a:solidFill>
              </a:rPr>
              <a:t>()</a:t>
            </a:r>
          </a:p>
          <a:p>
            <a:pPr lvl="0" algn="ctr"/>
            <a:endParaRPr lang="en-US" dirty="0"/>
          </a:p>
        </p:txBody>
      </p:sp>
      <p:sp>
        <p:nvSpPr>
          <p:cNvPr id="14" name="Rectangle 10.2">
            <a:extLst>
              <a:ext uri="{FF2B5EF4-FFF2-40B4-BE49-F238E27FC236}">
                <a16:creationId xmlns:a16="http://schemas.microsoft.com/office/drawing/2014/main" id="{5DB0857D-78FB-A695-FBF4-08808E9A1841}"/>
              </a:ext>
            </a:extLst>
          </p:cNvPr>
          <p:cNvSpPr/>
          <p:nvPr/>
        </p:nvSpPr>
        <p:spPr>
          <a:xfrm>
            <a:off x="7220989" y="1239982"/>
            <a:ext cx="1828800" cy="1200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dirty="0" err="1">
                <a:solidFill>
                  <a:schemeClr val="bg1"/>
                </a:solidFill>
              </a:rPr>
              <a:t>noOfPassanger</a:t>
            </a:r>
            <a:endParaRPr lang="en-US" dirty="0">
              <a:solidFill>
                <a:schemeClr val="bg1"/>
              </a:solidFill>
            </a:endParaRPr>
          </a:p>
          <a:p>
            <a:pPr lvl="0" algn="ctr"/>
            <a:r>
              <a:rPr lang="en-US" dirty="0" err="1">
                <a:solidFill>
                  <a:schemeClr val="bg1"/>
                </a:solidFill>
              </a:rPr>
              <a:t>maxSpeed</a:t>
            </a:r>
            <a:endParaRPr lang="en-US" dirty="0">
              <a:solidFill>
                <a:schemeClr val="bg1"/>
              </a:solidFill>
            </a:endParaRPr>
          </a:p>
          <a:p>
            <a:pPr lvl="0" algn="ctr"/>
            <a:r>
              <a:rPr lang="en-US" dirty="0" err="1">
                <a:solidFill>
                  <a:schemeClr val="bg1"/>
                </a:solidFill>
              </a:rPr>
              <a:t>noOfWheels</a:t>
            </a:r>
            <a:endParaRPr lang="en-US" dirty="0">
              <a:solidFill>
                <a:schemeClr val="bg1"/>
              </a:solidFill>
            </a:endParaRPr>
          </a:p>
          <a:p>
            <a:pPr lvl="0" algn="ctr"/>
            <a:r>
              <a:rPr lang="en-US" dirty="0" err="1">
                <a:solidFill>
                  <a:schemeClr val="bg1"/>
                </a:solidFill>
              </a:rPr>
              <a:t>noOfGears</a:t>
            </a:r>
            <a:endParaRPr lang="en-US" dirty="0">
              <a:solidFill>
                <a:schemeClr val="bg1"/>
              </a:solidFill>
            </a:endParaRPr>
          </a:p>
        </p:txBody>
      </p:sp>
      <p:sp>
        <p:nvSpPr>
          <p:cNvPr id="15" name="Rectangle 14">
            <a:extLst>
              <a:ext uri="{FF2B5EF4-FFF2-40B4-BE49-F238E27FC236}">
                <a16:creationId xmlns:a16="http://schemas.microsoft.com/office/drawing/2014/main" id="{7CB616F0-E1FC-ACB0-B101-63F721991B88}"/>
              </a:ext>
            </a:extLst>
          </p:cNvPr>
          <p:cNvSpPr/>
          <p:nvPr/>
        </p:nvSpPr>
        <p:spPr>
          <a:xfrm>
            <a:off x="9856269" y="3221182"/>
            <a:ext cx="2165320" cy="297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Truck</a:t>
            </a:r>
            <a:endParaRPr lang="en-IN" sz="2000" b="1" dirty="0"/>
          </a:p>
          <a:p>
            <a:pPr lvl="0" algn="ctr"/>
            <a:r>
              <a:rPr lang="en-US" sz="2000" dirty="0" err="1">
                <a:solidFill>
                  <a:srgbClr val="FFFF00"/>
                </a:solidFill>
              </a:rPr>
              <a:t>horsePower</a:t>
            </a:r>
            <a:endParaRPr lang="en-US" sz="2000" dirty="0">
              <a:solidFill>
                <a:srgbClr val="FFFF00"/>
              </a:solidFill>
            </a:endParaRPr>
          </a:p>
          <a:p>
            <a:pPr lvl="0" algn="ctr"/>
            <a:r>
              <a:rPr lang="en-US" sz="2000" dirty="0" err="1">
                <a:solidFill>
                  <a:srgbClr val="FFFF00"/>
                </a:solidFill>
              </a:rPr>
              <a:t>loadingCapacity</a:t>
            </a:r>
            <a:endParaRPr lang="en-US" sz="2000" dirty="0">
              <a:solidFill>
                <a:srgbClr val="FFFF00"/>
              </a:solidFill>
            </a:endParaRPr>
          </a:p>
          <a:p>
            <a:pPr lvl="0" algn="ctr"/>
            <a:r>
              <a:rPr lang="en-US" sz="2000" dirty="0" err="1">
                <a:solidFill>
                  <a:srgbClr val="FFFF00"/>
                </a:solidFill>
              </a:rPr>
              <a:t>payTollTax</a:t>
            </a:r>
            <a:r>
              <a:rPr lang="en-US" sz="2000" dirty="0">
                <a:solidFill>
                  <a:srgbClr val="FFFF00"/>
                </a:solidFill>
              </a:rPr>
              <a:t>()</a:t>
            </a:r>
          </a:p>
        </p:txBody>
      </p:sp>
      <p:sp>
        <p:nvSpPr>
          <p:cNvPr id="16" name="Rectangle 10.3">
            <a:extLst>
              <a:ext uri="{FF2B5EF4-FFF2-40B4-BE49-F238E27FC236}">
                <a16:creationId xmlns:a16="http://schemas.microsoft.com/office/drawing/2014/main" id="{2851A01D-4EE1-84FB-8DA6-9EDC2C3642E4}"/>
              </a:ext>
            </a:extLst>
          </p:cNvPr>
          <p:cNvSpPr/>
          <p:nvPr/>
        </p:nvSpPr>
        <p:spPr>
          <a:xfrm>
            <a:off x="7220989" y="1239982"/>
            <a:ext cx="1828800" cy="1200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dirty="0" err="1">
                <a:solidFill>
                  <a:schemeClr val="bg1"/>
                </a:solidFill>
              </a:rPr>
              <a:t>noOfPassanger</a:t>
            </a:r>
            <a:endParaRPr lang="en-US" dirty="0">
              <a:solidFill>
                <a:schemeClr val="bg1"/>
              </a:solidFill>
            </a:endParaRPr>
          </a:p>
          <a:p>
            <a:pPr lvl="0" algn="ctr"/>
            <a:r>
              <a:rPr lang="en-US" dirty="0" err="1">
                <a:solidFill>
                  <a:schemeClr val="bg1"/>
                </a:solidFill>
              </a:rPr>
              <a:t>maxSpeed</a:t>
            </a:r>
            <a:endParaRPr lang="en-US" dirty="0">
              <a:solidFill>
                <a:schemeClr val="bg1"/>
              </a:solidFill>
            </a:endParaRPr>
          </a:p>
          <a:p>
            <a:pPr lvl="0" algn="ctr"/>
            <a:r>
              <a:rPr lang="en-US" dirty="0" err="1">
                <a:solidFill>
                  <a:schemeClr val="bg1"/>
                </a:solidFill>
              </a:rPr>
              <a:t>noOfWheels</a:t>
            </a:r>
            <a:endParaRPr lang="en-US" dirty="0">
              <a:solidFill>
                <a:schemeClr val="bg1"/>
              </a:solidFill>
            </a:endParaRPr>
          </a:p>
          <a:p>
            <a:pPr lvl="0" algn="ctr"/>
            <a:r>
              <a:rPr lang="en-US" dirty="0" err="1">
                <a:solidFill>
                  <a:schemeClr val="bg1"/>
                </a:solidFill>
              </a:rPr>
              <a:t>noOfGears</a:t>
            </a:r>
            <a:endParaRPr lang="en-US" dirty="0">
              <a:solidFill>
                <a:schemeClr val="bg1"/>
              </a:solidFill>
            </a:endParaRPr>
          </a:p>
        </p:txBody>
      </p:sp>
      <p:cxnSp>
        <p:nvCxnSpPr>
          <p:cNvPr id="17" name="Elbow Connector 19">
            <a:extLst>
              <a:ext uri="{FF2B5EF4-FFF2-40B4-BE49-F238E27FC236}">
                <a16:creationId xmlns:a16="http://schemas.microsoft.com/office/drawing/2014/main" id="{0BEA8F60-AFAA-F9DE-60DB-13688FDF6028}"/>
              </a:ext>
            </a:extLst>
          </p:cNvPr>
          <p:cNvCxnSpPr>
            <a:stCxn id="7" idx="2"/>
            <a:endCxn id="11" idx="0"/>
          </p:cNvCxnSpPr>
          <p:nvPr/>
        </p:nvCxnSpPr>
        <p:spPr>
          <a:xfrm rot="5400000">
            <a:off x="6344689" y="1430482"/>
            <a:ext cx="762000" cy="281940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E373574-EEDE-3C41-5D1C-3A22E17EE1AC}"/>
              </a:ext>
            </a:extLst>
          </p:cNvPr>
          <p:cNvSpPr txBox="1"/>
          <p:nvPr/>
        </p:nvSpPr>
        <p:spPr>
          <a:xfrm>
            <a:off x="5773189" y="2459182"/>
            <a:ext cx="1071127" cy="369332"/>
          </a:xfrm>
          <a:prstGeom prst="rect">
            <a:avLst/>
          </a:prstGeom>
          <a:noFill/>
        </p:spPr>
        <p:txBody>
          <a:bodyPr wrap="none" rtlCol="0">
            <a:spAutoFit/>
          </a:bodyPr>
          <a:lstStyle/>
          <a:p>
            <a:r>
              <a:rPr lang="en-IN" b="1" dirty="0">
                <a:solidFill>
                  <a:srgbClr val="7F0055"/>
                </a:solidFill>
                <a:latin typeface="Consolas"/>
              </a:rPr>
              <a:t>extends</a:t>
            </a:r>
            <a:endParaRPr lang="en-US" b="1" dirty="0">
              <a:solidFill>
                <a:srgbClr val="7F0055"/>
              </a:solidFill>
              <a:latin typeface="Consolas"/>
            </a:endParaRPr>
          </a:p>
        </p:txBody>
      </p:sp>
      <p:cxnSp>
        <p:nvCxnSpPr>
          <p:cNvPr id="19" name="Elbow Connector 21">
            <a:extLst>
              <a:ext uri="{FF2B5EF4-FFF2-40B4-BE49-F238E27FC236}">
                <a16:creationId xmlns:a16="http://schemas.microsoft.com/office/drawing/2014/main" id="{77258ACB-406D-FA76-6B7E-BDC1B7D0E873}"/>
              </a:ext>
            </a:extLst>
          </p:cNvPr>
          <p:cNvCxnSpPr>
            <a:stCxn id="16" idx="2"/>
            <a:endCxn id="13" idx="0"/>
          </p:cNvCxnSpPr>
          <p:nvPr/>
        </p:nvCxnSpPr>
        <p:spPr>
          <a:xfrm rot="16200000" flipH="1">
            <a:off x="7782964" y="2792557"/>
            <a:ext cx="781050" cy="76200"/>
          </a:xfrm>
          <a:prstGeom prst="bentConnector3">
            <a:avLst>
              <a:gd name="adj1" fmla="val 51038"/>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0" name="Elbow Connector 22">
            <a:extLst>
              <a:ext uri="{FF2B5EF4-FFF2-40B4-BE49-F238E27FC236}">
                <a16:creationId xmlns:a16="http://schemas.microsoft.com/office/drawing/2014/main" id="{9EFD3EDC-CB9F-9ED2-EEFC-8238BFF2F9F2}"/>
              </a:ext>
            </a:extLst>
          </p:cNvPr>
          <p:cNvCxnSpPr>
            <a:stCxn id="7" idx="2"/>
            <a:endCxn id="15" idx="0"/>
          </p:cNvCxnSpPr>
          <p:nvPr/>
        </p:nvCxnSpPr>
        <p:spPr>
          <a:xfrm rot="16200000" flipH="1">
            <a:off x="9156159" y="1438412"/>
            <a:ext cx="762000" cy="280354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8D4C600-6FFC-792A-A284-016D9CEC8822}"/>
              </a:ext>
            </a:extLst>
          </p:cNvPr>
          <p:cNvSpPr txBox="1"/>
          <p:nvPr/>
        </p:nvSpPr>
        <p:spPr>
          <a:xfrm>
            <a:off x="8211589" y="2840182"/>
            <a:ext cx="1071127" cy="369332"/>
          </a:xfrm>
          <a:prstGeom prst="rect">
            <a:avLst/>
          </a:prstGeom>
          <a:noFill/>
        </p:spPr>
        <p:txBody>
          <a:bodyPr wrap="none" rtlCol="0">
            <a:spAutoFit/>
          </a:bodyPr>
          <a:lstStyle/>
          <a:p>
            <a:r>
              <a:rPr lang="en-IN" b="1" dirty="0">
                <a:solidFill>
                  <a:srgbClr val="7F0055"/>
                </a:solidFill>
                <a:latin typeface="Consolas"/>
              </a:rPr>
              <a:t>extends</a:t>
            </a:r>
            <a:endParaRPr lang="en-US" b="1" dirty="0">
              <a:solidFill>
                <a:srgbClr val="7F0055"/>
              </a:solidFill>
              <a:latin typeface="Consolas"/>
            </a:endParaRPr>
          </a:p>
        </p:txBody>
      </p:sp>
      <p:sp>
        <p:nvSpPr>
          <p:cNvPr id="22" name="TextBox 21">
            <a:extLst>
              <a:ext uri="{FF2B5EF4-FFF2-40B4-BE49-F238E27FC236}">
                <a16:creationId xmlns:a16="http://schemas.microsoft.com/office/drawing/2014/main" id="{FD0BA961-0BA0-5454-01B3-F7FB953BB846}"/>
              </a:ext>
            </a:extLst>
          </p:cNvPr>
          <p:cNvSpPr txBox="1"/>
          <p:nvPr/>
        </p:nvSpPr>
        <p:spPr>
          <a:xfrm>
            <a:off x="9659389" y="2459182"/>
            <a:ext cx="1071127" cy="369332"/>
          </a:xfrm>
          <a:prstGeom prst="rect">
            <a:avLst/>
          </a:prstGeom>
          <a:noFill/>
        </p:spPr>
        <p:txBody>
          <a:bodyPr wrap="none" rtlCol="0">
            <a:spAutoFit/>
          </a:bodyPr>
          <a:lstStyle/>
          <a:p>
            <a:r>
              <a:rPr lang="en-IN" b="1" dirty="0">
                <a:solidFill>
                  <a:srgbClr val="7F0055"/>
                </a:solidFill>
                <a:latin typeface="Consolas"/>
              </a:rPr>
              <a:t>extends</a:t>
            </a:r>
            <a:endParaRPr lang="en-US" b="1" dirty="0">
              <a:solidFill>
                <a:srgbClr val="7F0055"/>
              </a:solidFill>
              <a:latin typeface="Consolas"/>
            </a:endParaRPr>
          </a:p>
        </p:txBody>
      </p:sp>
      <p:sp>
        <p:nvSpPr>
          <p:cNvPr id="23" name="Rectangle 10.0">
            <a:extLst>
              <a:ext uri="{FF2B5EF4-FFF2-40B4-BE49-F238E27FC236}">
                <a16:creationId xmlns:a16="http://schemas.microsoft.com/office/drawing/2014/main" id="{4107B3C3-C6F1-D4EC-4110-ABDBACC95B07}"/>
              </a:ext>
            </a:extLst>
          </p:cNvPr>
          <p:cNvSpPr/>
          <p:nvPr/>
        </p:nvSpPr>
        <p:spPr>
          <a:xfrm>
            <a:off x="7220989" y="1239982"/>
            <a:ext cx="1828800" cy="1200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dirty="0" err="1">
                <a:solidFill>
                  <a:srgbClr val="FFFF00"/>
                </a:solidFill>
              </a:rPr>
              <a:t>noOfPassanger</a:t>
            </a:r>
            <a:endParaRPr lang="en-US" dirty="0">
              <a:solidFill>
                <a:srgbClr val="FFFF00"/>
              </a:solidFill>
            </a:endParaRPr>
          </a:p>
          <a:p>
            <a:pPr lvl="0" algn="ctr"/>
            <a:r>
              <a:rPr lang="en-US" dirty="0" err="1">
                <a:solidFill>
                  <a:srgbClr val="FFFF00"/>
                </a:solidFill>
              </a:rPr>
              <a:t>maxSpeed</a:t>
            </a:r>
            <a:endParaRPr lang="en-US" dirty="0">
              <a:solidFill>
                <a:srgbClr val="FFFF00"/>
              </a:solidFill>
            </a:endParaRPr>
          </a:p>
          <a:p>
            <a:pPr lvl="0" algn="ctr"/>
            <a:r>
              <a:rPr lang="en-US" dirty="0" err="1">
                <a:solidFill>
                  <a:srgbClr val="FFFF00"/>
                </a:solidFill>
              </a:rPr>
              <a:t>noOfWheels</a:t>
            </a:r>
            <a:endParaRPr lang="en-US" dirty="0">
              <a:solidFill>
                <a:srgbClr val="FFFF00"/>
              </a:solidFill>
            </a:endParaRPr>
          </a:p>
          <a:p>
            <a:pPr lvl="0" algn="ctr"/>
            <a:r>
              <a:rPr lang="en-US" dirty="0" err="1">
                <a:solidFill>
                  <a:srgbClr val="FFFF00"/>
                </a:solidFill>
              </a:rPr>
              <a:t>noOfGears</a:t>
            </a:r>
            <a:endParaRPr lang="en-US" dirty="0"/>
          </a:p>
        </p:txBody>
      </p:sp>
    </p:spTree>
    <p:extLst>
      <p:ext uri="{BB962C8B-B14F-4D97-AF65-F5344CB8AC3E}">
        <p14:creationId xmlns:p14="http://schemas.microsoft.com/office/powerpoint/2010/main" val="1647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grpId="0" nodeType="clickEffect">
                                  <p:stCondLst>
                                    <p:cond delay="0"/>
                                  </p:stCondLst>
                                  <p:childTnLst>
                                    <p:animMotion origin="layout" path="M 2.29167E-6 2.96296E-6 L -0.23125 0.48518 " pathEditMode="relative" rAng="0" ptsTypes="AA">
                                      <p:cBhvr>
                                        <p:cTn id="32" dur="2000" fill="hold"/>
                                        <p:tgtEl>
                                          <p:spTgt spid="12"/>
                                        </p:tgtEl>
                                        <p:attrNameLst>
                                          <p:attrName>ppt_x</p:attrName>
                                          <p:attrName>ppt_y</p:attrName>
                                        </p:attrNameLst>
                                      </p:cBhvr>
                                      <p:rCtr x="-11563" y="24259"/>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grpId="0" nodeType="clickEffect">
                                  <p:stCondLst>
                                    <p:cond delay="0"/>
                                  </p:stCondLst>
                                  <p:childTnLst>
                                    <p:animMotion origin="layout" path="M -3.33333E-6 -1.11111E-6 L 0.00834 0.5125 " pathEditMode="relative" rAng="0" ptsTypes="AA">
                                      <p:cBhvr>
                                        <p:cTn id="46" dur="2000" fill="hold"/>
                                        <p:tgtEl>
                                          <p:spTgt spid="14"/>
                                        </p:tgtEl>
                                        <p:attrNameLst>
                                          <p:attrName>ppt_x</p:attrName>
                                          <p:attrName>ppt_y</p:attrName>
                                        </p:attrNameLst>
                                      </p:cBhvr>
                                      <p:rCtr x="400" y="25600"/>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0" presetClass="path" presetSubtype="0" accel="50000" decel="50000" fill="hold" grpId="0" nodeType="clickEffect">
                                  <p:stCondLst>
                                    <p:cond delay="0"/>
                                  </p:stCondLst>
                                  <p:childTnLst>
                                    <p:animMotion origin="layout" path="M 2.29167E-6 2.96296E-6 L 0.2375 0.51944 " pathEditMode="relative" rAng="0" ptsTypes="AA">
                                      <p:cBhvr>
                                        <p:cTn id="60" dur="2000" fill="hold"/>
                                        <p:tgtEl>
                                          <p:spTgt spid="16"/>
                                        </p:tgtEl>
                                        <p:attrNameLst>
                                          <p:attrName>ppt_x</p:attrName>
                                          <p:attrName>ppt_y</p:attrName>
                                        </p:attrNameLst>
                                      </p:cBhvr>
                                      <p:rCtr x="11875" y="2597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p:bldP spid="11" grpId="0" animBg="1"/>
      <p:bldP spid="12" grpId="0" animBg="1"/>
      <p:bldP spid="14" grpId="0" animBg="1"/>
      <p:bldP spid="16" grpId="0" animBg="1"/>
      <p:bldP spid="18" grpId="0"/>
      <p:bldP spid="21" grpId="0"/>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E6641-E710-58F2-2F32-D302BC9D5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F13A7-A389-63F9-6113-CCD7A58E60F8}"/>
              </a:ext>
            </a:extLst>
          </p:cNvPr>
          <p:cNvSpPr>
            <a:spLocks noGrp="1"/>
          </p:cNvSpPr>
          <p:nvPr>
            <p:ph type="title"/>
          </p:nvPr>
        </p:nvSpPr>
        <p:spPr>
          <a:xfrm>
            <a:off x="0" y="1"/>
            <a:ext cx="12192000" cy="711200"/>
          </a:xfrm>
        </p:spPr>
        <p:txBody>
          <a:bodyPr/>
          <a:lstStyle/>
          <a:p>
            <a:r>
              <a:rPr lang="en-US" dirty="0"/>
              <a:t>Example (Inheritance)</a:t>
            </a:r>
          </a:p>
        </p:txBody>
      </p:sp>
      <p:sp>
        <p:nvSpPr>
          <p:cNvPr id="3" name="Rectangle 2">
            <a:extLst>
              <a:ext uri="{FF2B5EF4-FFF2-40B4-BE49-F238E27FC236}">
                <a16:creationId xmlns:a16="http://schemas.microsoft.com/office/drawing/2014/main" id="{516F23DC-AB18-2F7C-0F41-9962D5BD523F}"/>
              </a:ext>
            </a:extLst>
          </p:cNvPr>
          <p:cNvSpPr/>
          <p:nvPr/>
        </p:nvSpPr>
        <p:spPr>
          <a:xfrm>
            <a:off x="152400" y="947678"/>
            <a:ext cx="8763000" cy="2585323"/>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Vehicle {</a:t>
            </a:r>
          </a:p>
          <a:p>
            <a:pPr lvl="1"/>
            <a:r>
              <a:rPr lang="en-US" b="1" dirty="0" err="1">
                <a:solidFill>
                  <a:srgbClr val="7F0055"/>
                </a:solidFill>
                <a:latin typeface="Consolas"/>
              </a:rPr>
              <a:t>int</a:t>
            </a:r>
            <a:r>
              <a:rPr lang="en-US" b="1" dirty="0">
                <a:solidFill>
                  <a:srgbClr val="000000"/>
                </a:solidFill>
                <a:latin typeface="Consolas"/>
              </a:rPr>
              <a:t> </a:t>
            </a:r>
            <a:r>
              <a:rPr lang="en-US" b="1" dirty="0" err="1">
                <a:solidFill>
                  <a:srgbClr val="0000C0"/>
                </a:solidFill>
                <a:latin typeface="Consolas"/>
              </a:rPr>
              <a:t>noOfPassanger</a:t>
            </a:r>
            <a:r>
              <a:rPr lang="en-US" b="1" dirty="0">
                <a:solidFill>
                  <a:srgbClr val="000000"/>
                </a:solidFill>
                <a:latin typeface="Consolas"/>
              </a:rPr>
              <a:t>;</a:t>
            </a:r>
          </a:p>
          <a:p>
            <a:pPr lvl="1"/>
            <a:r>
              <a:rPr lang="en-US" b="1" dirty="0" err="1">
                <a:solidFill>
                  <a:srgbClr val="7F0055"/>
                </a:solidFill>
                <a:latin typeface="Consolas"/>
              </a:rPr>
              <a:t>int</a:t>
            </a:r>
            <a:r>
              <a:rPr lang="en-US" b="1" dirty="0">
                <a:solidFill>
                  <a:srgbClr val="000000"/>
                </a:solidFill>
                <a:latin typeface="Consolas"/>
              </a:rPr>
              <a:t> </a:t>
            </a:r>
            <a:r>
              <a:rPr lang="en-US" b="1" dirty="0" err="1">
                <a:solidFill>
                  <a:srgbClr val="0000C0"/>
                </a:solidFill>
                <a:latin typeface="Consolas"/>
              </a:rPr>
              <a:t>maxSpeed</a:t>
            </a:r>
            <a:r>
              <a:rPr lang="en-US" b="1" dirty="0">
                <a:solidFill>
                  <a:srgbClr val="000000"/>
                </a:solidFill>
                <a:latin typeface="Consolas"/>
              </a:rPr>
              <a:t>;</a:t>
            </a:r>
          </a:p>
          <a:p>
            <a:pPr lvl="1"/>
            <a:endParaRPr lang="en-US" dirty="0">
              <a:latin typeface="Consolas"/>
            </a:endParaRP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display() {</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a:t>
            </a:r>
            <a:r>
              <a:rPr lang="en-US" b="1" i="1" dirty="0" err="1">
                <a:solidFill>
                  <a:srgbClr val="2A00FF"/>
                </a:solidFill>
                <a:latin typeface="Consolas"/>
              </a:rPr>
              <a:t>Passangers</a:t>
            </a:r>
            <a:r>
              <a:rPr lang="en-US" b="1" i="1" dirty="0">
                <a:solidFill>
                  <a:srgbClr val="2A00FF"/>
                </a:solidFill>
                <a:latin typeface="Consolas"/>
              </a:rPr>
              <a:t> = "</a:t>
            </a:r>
            <a:r>
              <a:rPr lang="en-US" b="1" i="1" dirty="0">
                <a:solidFill>
                  <a:srgbClr val="000000"/>
                </a:solidFill>
                <a:latin typeface="Consolas"/>
              </a:rPr>
              <a:t> + </a:t>
            </a:r>
            <a:r>
              <a:rPr lang="en-US" b="1" i="1" dirty="0" err="1">
                <a:solidFill>
                  <a:srgbClr val="0000C0"/>
                </a:solidFill>
                <a:latin typeface="Consolas"/>
              </a:rPr>
              <a:t>noOfPassanger</a:t>
            </a:r>
            <a:r>
              <a:rPr lang="en-US" b="1" i="1" dirty="0">
                <a:solidFill>
                  <a:srgbClr val="000000"/>
                </a:solidFill>
                <a:latin typeface="Consolas"/>
              </a:rPr>
              <a:t>);</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"Max Speed = "</a:t>
            </a:r>
            <a:r>
              <a:rPr lang="en-US" b="1" i="1" dirty="0">
                <a:solidFill>
                  <a:srgbClr val="000000"/>
                </a:solidFill>
                <a:latin typeface="Consolas"/>
              </a:rPr>
              <a:t> + </a:t>
            </a:r>
            <a:r>
              <a:rPr lang="en-US" b="1" i="1" dirty="0" err="1">
                <a:solidFill>
                  <a:srgbClr val="0000C0"/>
                </a:solidFill>
                <a:latin typeface="Consolas"/>
              </a:rPr>
              <a:t>maxSpeed</a:t>
            </a:r>
            <a:r>
              <a:rPr lang="en-US" b="1" i="1"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sp>
        <p:nvSpPr>
          <p:cNvPr id="4" name="Rectangle 3">
            <a:extLst>
              <a:ext uri="{FF2B5EF4-FFF2-40B4-BE49-F238E27FC236}">
                <a16:creationId xmlns:a16="http://schemas.microsoft.com/office/drawing/2014/main" id="{360200E2-2B3E-E227-2A7B-29101F32701B}"/>
              </a:ext>
            </a:extLst>
          </p:cNvPr>
          <p:cNvSpPr/>
          <p:nvPr/>
        </p:nvSpPr>
        <p:spPr>
          <a:xfrm>
            <a:off x="152400" y="3614678"/>
            <a:ext cx="8763000" cy="2862322"/>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Car </a:t>
            </a:r>
            <a:r>
              <a:rPr lang="en-US" b="1" dirty="0">
                <a:solidFill>
                  <a:srgbClr val="7F0055"/>
                </a:solidFill>
                <a:latin typeface="Consolas"/>
              </a:rPr>
              <a:t>extends</a:t>
            </a:r>
            <a:r>
              <a:rPr lang="en-US" b="1" dirty="0">
                <a:solidFill>
                  <a:srgbClr val="000000"/>
                </a:solidFill>
                <a:latin typeface="Consolas"/>
              </a:rPr>
              <a:t> Vehicle {</a:t>
            </a:r>
          </a:p>
          <a:p>
            <a:pPr lvl="1"/>
            <a:r>
              <a:rPr lang="en-US" b="1" dirty="0">
                <a:solidFill>
                  <a:srgbClr val="7F0055"/>
                </a:solidFill>
                <a:latin typeface="Consolas"/>
              </a:rPr>
              <a:t>double</a:t>
            </a:r>
            <a:r>
              <a:rPr lang="en-US" b="1" dirty="0">
                <a:solidFill>
                  <a:srgbClr val="000000"/>
                </a:solidFill>
                <a:latin typeface="Consolas"/>
              </a:rPr>
              <a:t> </a:t>
            </a:r>
            <a:r>
              <a:rPr lang="en-US" b="1" dirty="0" err="1">
                <a:solidFill>
                  <a:srgbClr val="0000C0"/>
                </a:solidFill>
                <a:latin typeface="Consolas"/>
              </a:rPr>
              <a:t>horsePower</a:t>
            </a:r>
            <a:r>
              <a:rPr lang="en-US" b="1" dirty="0">
                <a:solidFill>
                  <a:srgbClr val="000000"/>
                </a:solidFill>
                <a:latin typeface="Consolas"/>
              </a:rPr>
              <a:t>;</a:t>
            </a:r>
          </a:p>
          <a:p>
            <a:pPr lvl="1"/>
            <a:r>
              <a:rPr lang="en-US" b="1" dirty="0" err="1">
                <a:solidFill>
                  <a:srgbClr val="7F0055"/>
                </a:solidFill>
                <a:latin typeface="Consolas"/>
              </a:rPr>
              <a:t>int</a:t>
            </a:r>
            <a:r>
              <a:rPr lang="en-US" b="1" dirty="0">
                <a:solidFill>
                  <a:srgbClr val="000000"/>
                </a:solidFill>
                <a:latin typeface="Consolas"/>
              </a:rPr>
              <a:t> </a:t>
            </a:r>
            <a:r>
              <a:rPr lang="en-US" b="1" dirty="0" err="1">
                <a:solidFill>
                  <a:srgbClr val="0000C0"/>
                </a:solidFill>
                <a:latin typeface="Consolas"/>
              </a:rPr>
              <a:t>noOfAirbags</a:t>
            </a:r>
            <a:r>
              <a:rPr lang="en-US" b="1" dirty="0">
                <a:solidFill>
                  <a:srgbClr val="000000"/>
                </a:solidFill>
                <a:latin typeface="Consolas"/>
              </a:rPr>
              <a:t>;</a:t>
            </a:r>
            <a:endParaRPr lang="en-US" dirty="0">
              <a:latin typeface="Consolas"/>
            </a:endParaRP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display() {</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a:t>
            </a:r>
            <a:r>
              <a:rPr lang="en-US" b="1" i="1" dirty="0" err="1">
                <a:solidFill>
                  <a:srgbClr val="2A00FF"/>
                </a:solidFill>
                <a:latin typeface="Consolas"/>
              </a:rPr>
              <a:t>Passangers</a:t>
            </a:r>
            <a:r>
              <a:rPr lang="en-US" b="1" i="1" dirty="0">
                <a:solidFill>
                  <a:srgbClr val="2A00FF"/>
                </a:solidFill>
                <a:latin typeface="Consolas"/>
              </a:rPr>
              <a:t> = "</a:t>
            </a:r>
            <a:r>
              <a:rPr lang="en-US" b="1" i="1" dirty="0">
                <a:solidFill>
                  <a:srgbClr val="000000"/>
                </a:solidFill>
                <a:latin typeface="Consolas"/>
              </a:rPr>
              <a:t> + </a:t>
            </a:r>
            <a:r>
              <a:rPr lang="en-US" b="1" i="1" dirty="0" err="1">
                <a:solidFill>
                  <a:schemeClr val="accent2">
                    <a:lumMod val="75000"/>
                  </a:schemeClr>
                </a:solidFill>
                <a:latin typeface="Consolas"/>
              </a:rPr>
              <a:t>noOfPassanger</a:t>
            </a:r>
            <a:r>
              <a:rPr lang="en-US" b="1" i="1" dirty="0">
                <a:solidFill>
                  <a:srgbClr val="000000"/>
                </a:solidFill>
                <a:latin typeface="Consolas"/>
              </a:rPr>
              <a:t>);</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"Max Speed = "</a:t>
            </a:r>
            <a:r>
              <a:rPr lang="en-US" b="1" i="1" dirty="0">
                <a:solidFill>
                  <a:srgbClr val="000000"/>
                </a:solidFill>
                <a:latin typeface="Consolas"/>
              </a:rPr>
              <a:t> + </a:t>
            </a:r>
            <a:r>
              <a:rPr lang="en-US" b="1" i="1" dirty="0" err="1">
                <a:solidFill>
                  <a:schemeClr val="accent2">
                    <a:lumMod val="75000"/>
                  </a:schemeClr>
                </a:solidFill>
                <a:latin typeface="Consolas"/>
              </a:rPr>
              <a:t>maxSpeed</a:t>
            </a:r>
            <a:r>
              <a:rPr lang="en-US" b="1" i="1" dirty="0">
                <a:solidFill>
                  <a:srgbClr val="000000"/>
                </a:solidFill>
                <a:latin typeface="Consolas"/>
              </a:rPr>
              <a:t>);</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a:t>
            </a:r>
            <a:r>
              <a:rPr lang="en-US" b="1" i="1" dirty="0" err="1">
                <a:solidFill>
                  <a:srgbClr val="2A00FF"/>
                </a:solidFill>
                <a:latin typeface="Consolas"/>
              </a:rPr>
              <a:t>Hourse</a:t>
            </a:r>
            <a:r>
              <a:rPr lang="en-US" b="1" i="1" dirty="0">
                <a:solidFill>
                  <a:srgbClr val="2A00FF"/>
                </a:solidFill>
                <a:latin typeface="Consolas"/>
              </a:rPr>
              <a:t> Power = "</a:t>
            </a:r>
            <a:r>
              <a:rPr lang="en-US" b="1" i="1" dirty="0">
                <a:solidFill>
                  <a:srgbClr val="000000"/>
                </a:solidFill>
                <a:latin typeface="Consolas"/>
              </a:rPr>
              <a:t> + </a:t>
            </a:r>
            <a:r>
              <a:rPr lang="en-US" b="1" i="1" dirty="0" err="1">
                <a:solidFill>
                  <a:srgbClr val="0000C0"/>
                </a:solidFill>
                <a:latin typeface="Consolas"/>
              </a:rPr>
              <a:t>horsePower</a:t>
            </a:r>
            <a:r>
              <a:rPr lang="en-US" b="1" i="1" dirty="0">
                <a:solidFill>
                  <a:srgbClr val="000000"/>
                </a:solidFill>
                <a:latin typeface="Consolas"/>
              </a:rPr>
              <a:t>);</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"Airbags = "</a:t>
            </a:r>
            <a:r>
              <a:rPr lang="en-US" b="1" i="1" dirty="0">
                <a:solidFill>
                  <a:srgbClr val="000000"/>
                </a:solidFill>
                <a:latin typeface="Consolas"/>
              </a:rPr>
              <a:t> + </a:t>
            </a:r>
            <a:r>
              <a:rPr lang="en-US" b="1" i="1" dirty="0" err="1">
                <a:solidFill>
                  <a:srgbClr val="0000C0"/>
                </a:solidFill>
                <a:latin typeface="Consolas"/>
              </a:rPr>
              <a:t>noOfAirbags</a:t>
            </a:r>
            <a:r>
              <a:rPr lang="en-US" b="1" i="1"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spTree>
    <p:extLst>
      <p:ext uri="{BB962C8B-B14F-4D97-AF65-F5344CB8AC3E}">
        <p14:creationId xmlns:p14="http://schemas.microsoft.com/office/powerpoint/2010/main" val="1386662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9FC8B-72D1-EC01-0AE1-6960E4776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7D76A-8889-5260-DF72-F617DFDE087B}"/>
              </a:ext>
            </a:extLst>
          </p:cNvPr>
          <p:cNvSpPr>
            <a:spLocks noGrp="1"/>
          </p:cNvSpPr>
          <p:nvPr>
            <p:ph type="title"/>
          </p:nvPr>
        </p:nvSpPr>
        <p:spPr>
          <a:xfrm>
            <a:off x="0" y="1"/>
            <a:ext cx="12192000" cy="711200"/>
          </a:xfrm>
        </p:spPr>
        <p:txBody>
          <a:bodyPr/>
          <a:lstStyle/>
          <a:p>
            <a:r>
              <a:rPr lang="en-US" dirty="0"/>
              <a:t>Example (Inheritance) (Cont.)</a:t>
            </a:r>
          </a:p>
        </p:txBody>
      </p:sp>
      <p:sp>
        <p:nvSpPr>
          <p:cNvPr id="3" name="Rectangle 2">
            <a:extLst>
              <a:ext uri="{FF2B5EF4-FFF2-40B4-BE49-F238E27FC236}">
                <a16:creationId xmlns:a16="http://schemas.microsoft.com/office/drawing/2014/main" id="{AD72D1C5-360A-BEF5-6E5D-B35650291A32}"/>
              </a:ext>
            </a:extLst>
          </p:cNvPr>
          <p:cNvSpPr/>
          <p:nvPr/>
        </p:nvSpPr>
        <p:spPr>
          <a:xfrm>
            <a:off x="304800" y="990600"/>
            <a:ext cx="8534400" cy="4801314"/>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DemoInheritance</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a:t>
            </a:r>
            <a:r>
              <a:rPr lang="en-US" b="1" dirty="0">
                <a:solidFill>
                  <a:srgbClr val="000000"/>
                </a:solidFill>
                <a:latin typeface="Consolas"/>
              </a:rPr>
              <a:t>[]) {</a:t>
            </a:r>
          </a:p>
          <a:p>
            <a:pPr lvl="2"/>
            <a:r>
              <a:rPr lang="en-US" dirty="0">
                <a:solidFill>
                  <a:srgbClr val="000000"/>
                </a:solidFill>
                <a:latin typeface="Consolas"/>
              </a:rPr>
              <a:t>Vehicle </a:t>
            </a:r>
            <a:r>
              <a:rPr lang="en-US" dirty="0">
                <a:solidFill>
                  <a:srgbClr val="6A3E3E"/>
                </a:solidFill>
                <a:latin typeface="Consolas"/>
              </a:rPr>
              <a:t>v</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Vehicle();</a:t>
            </a:r>
          </a:p>
          <a:p>
            <a:pPr lvl="2"/>
            <a:r>
              <a:rPr lang="en-US" dirty="0" err="1">
                <a:solidFill>
                  <a:srgbClr val="6A3E3E"/>
                </a:solidFill>
                <a:latin typeface="Consolas"/>
              </a:rPr>
              <a:t>v</a:t>
            </a:r>
            <a:r>
              <a:rPr lang="en-US" dirty="0" err="1">
                <a:solidFill>
                  <a:srgbClr val="000000"/>
                </a:solidFill>
                <a:latin typeface="Consolas"/>
              </a:rPr>
              <a:t>.</a:t>
            </a:r>
            <a:r>
              <a:rPr lang="en-US" dirty="0" err="1">
                <a:solidFill>
                  <a:srgbClr val="0000C0"/>
                </a:solidFill>
                <a:latin typeface="Consolas"/>
              </a:rPr>
              <a:t>maxSpeed</a:t>
            </a:r>
            <a:r>
              <a:rPr lang="en-US" dirty="0">
                <a:solidFill>
                  <a:srgbClr val="000000"/>
                </a:solidFill>
                <a:latin typeface="Consolas"/>
              </a:rPr>
              <a:t> = 80;</a:t>
            </a:r>
          </a:p>
          <a:p>
            <a:pPr lvl="2"/>
            <a:r>
              <a:rPr lang="en-US" dirty="0" err="1">
                <a:solidFill>
                  <a:srgbClr val="6A3E3E"/>
                </a:solidFill>
                <a:latin typeface="Consolas"/>
              </a:rPr>
              <a:t>v</a:t>
            </a:r>
            <a:r>
              <a:rPr lang="en-US" dirty="0" err="1">
                <a:solidFill>
                  <a:srgbClr val="000000"/>
                </a:solidFill>
                <a:latin typeface="Consolas"/>
              </a:rPr>
              <a:t>.</a:t>
            </a:r>
            <a:r>
              <a:rPr lang="en-US" dirty="0" err="1">
                <a:solidFill>
                  <a:srgbClr val="0000C0"/>
                </a:solidFill>
                <a:latin typeface="Consolas"/>
              </a:rPr>
              <a:t>noOfPassanger</a:t>
            </a:r>
            <a:r>
              <a:rPr lang="en-US" dirty="0">
                <a:solidFill>
                  <a:srgbClr val="000000"/>
                </a:solidFill>
                <a:latin typeface="Consolas"/>
              </a:rPr>
              <a:t> = 2;</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 Vehicle ----"</a:t>
            </a:r>
            <a:r>
              <a:rPr lang="en-US" b="1" i="1" dirty="0">
                <a:solidFill>
                  <a:srgbClr val="000000"/>
                </a:solidFill>
                <a:latin typeface="Consolas"/>
              </a:rPr>
              <a:t>);</a:t>
            </a:r>
          </a:p>
          <a:p>
            <a:pPr lvl="2"/>
            <a:r>
              <a:rPr lang="en-US" dirty="0" err="1">
                <a:solidFill>
                  <a:srgbClr val="6A3E3E"/>
                </a:solidFill>
                <a:latin typeface="Consolas"/>
              </a:rPr>
              <a:t>v</a:t>
            </a:r>
            <a:r>
              <a:rPr lang="en-US" dirty="0" err="1">
                <a:solidFill>
                  <a:srgbClr val="000000"/>
                </a:solidFill>
                <a:latin typeface="Consolas"/>
              </a:rPr>
              <a:t>.display</a:t>
            </a:r>
            <a:r>
              <a:rPr lang="en-US" dirty="0">
                <a:solidFill>
                  <a:srgbClr val="000000"/>
                </a:solidFill>
                <a:latin typeface="Consolas"/>
              </a:rPr>
              <a:t>();</a:t>
            </a:r>
          </a:p>
          <a:p>
            <a:pPr lvl="2"/>
            <a:endParaRPr lang="en-US" dirty="0">
              <a:latin typeface="Consolas"/>
            </a:endParaRPr>
          </a:p>
          <a:p>
            <a:pPr lvl="2"/>
            <a:r>
              <a:rPr lang="en-US" dirty="0">
                <a:solidFill>
                  <a:srgbClr val="000000"/>
                </a:solidFill>
                <a:latin typeface="Consolas"/>
              </a:rPr>
              <a:t>Car </a:t>
            </a:r>
            <a:r>
              <a:rPr lang="en-US" dirty="0">
                <a:solidFill>
                  <a:srgbClr val="6A3E3E"/>
                </a:solidFill>
                <a:latin typeface="Consolas"/>
              </a:rPr>
              <a:t>c</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Car();</a:t>
            </a:r>
          </a:p>
          <a:p>
            <a:pPr lvl="2"/>
            <a:r>
              <a:rPr lang="en-US" dirty="0" err="1">
                <a:solidFill>
                  <a:srgbClr val="6A3E3E"/>
                </a:solidFill>
                <a:latin typeface="Consolas"/>
              </a:rPr>
              <a:t>c</a:t>
            </a:r>
            <a:r>
              <a:rPr lang="en-US" dirty="0" err="1">
                <a:solidFill>
                  <a:srgbClr val="000000"/>
                </a:solidFill>
                <a:latin typeface="Consolas"/>
              </a:rPr>
              <a:t>.</a:t>
            </a:r>
            <a:r>
              <a:rPr lang="en-US" dirty="0" err="1">
                <a:solidFill>
                  <a:srgbClr val="0000C0"/>
                </a:solidFill>
                <a:latin typeface="Consolas"/>
              </a:rPr>
              <a:t>maxSpeed</a:t>
            </a:r>
            <a:r>
              <a:rPr lang="en-US" dirty="0">
                <a:solidFill>
                  <a:srgbClr val="000000"/>
                </a:solidFill>
                <a:latin typeface="Consolas"/>
              </a:rPr>
              <a:t> = 200;</a:t>
            </a:r>
          </a:p>
          <a:p>
            <a:pPr lvl="2"/>
            <a:r>
              <a:rPr lang="en-US" dirty="0" err="1">
                <a:solidFill>
                  <a:srgbClr val="6A3E3E"/>
                </a:solidFill>
                <a:latin typeface="Consolas"/>
              </a:rPr>
              <a:t>c</a:t>
            </a:r>
            <a:r>
              <a:rPr lang="en-US" dirty="0" err="1">
                <a:solidFill>
                  <a:srgbClr val="000000"/>
                </a:solidFill>
                <a:latin typeface="Consolas"/>
              </a:rPr>
              <a:t>.</a:t>
            </a:r>
            <a:r>
              <a:rPr lang="en-US" dirty="0" err="1">
                <a:solidFill>
                  <a:srgbClr val="0000C0"/>
                </a:solidFill>
                <a:latin typeface="Consolas"/>
              </a:rPr>
              <a:t>noOfPassanger</a:t>
            </a:r>
            <a:r>
              <a:rPr lang="en-US" dirty="0">
                <a:solidFill>
                  <a:srgbClr val="000000"/>
                </a:solidFill>
                <a:latin typeface="Consolas"/>
              </a:rPr>
              <a:t> = 5;</a:t>
            </a:r>
          </a:p>
          <a:p>
            <a:pPr lvl="2"/>
            <a:r>
              <a:rPr lang="en-US" dirty="0" err="1">
                <a:solidFill>
                  <a:srgbClr val="6A3E3E"/>
                </a:solidFill>
                <a:latin typeface="Consolas"/>
              </a:rPr>
              <a:t>c</a:t>
            </a:r>
            <a:r>
              <a:rPr lang="en-US" dirty="0" err="1">
                <a:solidFill>
                  <a:srgbClr val="000000"/>
                </a:solidFill>
                <a:latin typeface="Consolas"/>
              </a:rPr>
              <a:t>.</a:t>
            </a:r>
            <a:r>
              <a:rPr lang="en-US" dirty="0" err="1">
                <a:solidFill>
                  <a:srgbClr val="0000C0"/>
                </a:solidFill>
                <a:latin typeface="Consolas"/>
              </a:rPr>
              <a:t>horsePower</a:t>
            </a:r>
            <a:r>
              <a:rPr lang="en-US" dirty="0">
                <a:solidFill>
                  <a:srgbClr val="000000"/>
                </a:solidFill>
                <a:latin typeface="Consolas"/>
              </a:rPr>
              <a:t> = 1.2;</a:t>
            </a:r>
          </a:p>
          <a:p>
            <a:pPr lvl="2"/>
            <a:r>
              <a:rPr lang="en-US" dirty="0" err="1">
                <a:solidFill>
                  <a:srgbClr val="6A3E3E"/>
                </a:solidFill>
                <a:latin typeface="Consolas"/>
              </a:rPr>
              <a:t>c</a:t>
            </a:r>
            <a:r>
              <a:rPr lang="en-US" dirty="0" err="1">
                <a:solidFill>
                  <a:srgbClr val="000000"/>
                </a:solidFill>
                <a:latin typeface="Consolas"/>
              </a:rPr>
              <a:t>.</a:t>
            </a:r>
            <a:r>
              <a:rPr lang="en-US" dirty="0" err="1">
                <a:solidFill>
                  <a:srgbClr val="0000C0"/>
                </a:solidFill>
                <a:latin typeface="Consolas"/>
              </a:rPr>
              <a:t>noOfAirbags</a:t>
            </a:r>
            <a:r>
              <a:rPr lang="en-US" dirty="0">
                <a:solidFill>
                  <a:srgbClr val="000000"/>
                </a:solidFill>
                <a:latin typeface="Consolas"/>
              </a:rPr>
              <a:t> = 2;</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 Car ----"</a:t>
            </a:r>
            <a:r>
              <a:rPr lang="en-US" b="1" i="1" dirty="0">
                <a:solidFill>
                  <a:srgbClr val="000000"/>
                </a:solidFill>
                <a:latin typeface="Consolas"/>
              </a:rPr>
              <a:t>);</a:t>
            </a:r>
          </a:p>
          <a:p>
            <a:pPr lvl="2"/>
            <a:r>
              <a:rPr lang="en-US" dirty="0" err="1">
                <a:solidFill>
                  <a:srgbClr val="6A3E3E"/>
                </a:solidFill>
                <a:latin typeface="Consolas"/>
              </a:rPr>
              <a:t>c</a:t>
            </a:r>
            <a:r>
              <a:rPr lang="en-US" dirty="0" err="1">
                <a:solidFill>
                  <a:srgbClr val="000000"/>
                </a:solidFill>
                <a:latin typeface="Consolas"/>
              </a:rPr>
              <a:t>.display</a:t>
            </a:r>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p>
        </p:txBody>
      </p:sp>
      <p:pic>
        <p:nvPicPr>
          <p:cNvPr id="4" name="Picture 2">
            <a:extLst>
              <a:ext uri="{FF2B5EF4-FFF2-40B4-BE49-F238E27FC236}">
                <a16:creationId xmlns:a16="http://schemas.microsoft.com/office/drawing/2014/main" id="{6EEEDAFB-0DD4-0B5A-15EB-DCC01BF46A01}"/>
              </a:ext>
            </a:extLst>
          </p:cNvPr>
          <p:cNvPicPr>
            <a:picLocks noChangeAspect="1" noChangeArrowheads="1"/>
          </p:cNvPicPr>
          <p:nvPr/>
        </p:nvPicPr>
        <p:blipFill>
          <a:blip r:embed="rId2" cstate="print"/>
          <a:srcRect/>
          <a:stretch>
            <a:fillRect/>
          </a:stretch>
        </p:blipFill>
        <p:spPr bwMode="auto">
          <a:xfrm>
            <a:off x="5910262" y="2801923"/>
            <a:ext cx="6281738" cy="3742608"/>
          </a:xfrm>
          <a:prstGeom prst="rect">
            <a:avLst/>
          </a:prstGeom>
          <a:noFill/>
          <a:ln w="9525">
            <a:noFill/>
            <a:miter lim="800000"/>
            <a:headEnd/>
            <a:tailEnd/>
          </a:ln>
        </p:spPr>
      </p:pic>
    </p:spTree>
    <p:extLst>
      <p:ext uri="{BB962C8B-B14F-4D97-AF65-F5344CB8AC3E}">
        <p14:creationId xmlns:p14="http://schemas.microsoft.com/office/powerpoint/2010/main" val="84402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wipe(down)">
                                      <p:cBhvr>
                                        <p:cTn id="7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8DBB3-A742-6C98-6561-0015E824AB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F0F52-465F-7B85-75FC-6816263CED9C}"/>
              </a:ext>
            </a:extLst>
          </p:cNvPr>
          <p:cNvSpPr>
            <a:spLocks noGrp="1"/>
          </p:cNvSpPr>
          <p:nvPr>
            <p:ph type="title"/>
          </p:nvPr>
        </p:nvSpPr>
        <p:spPr>
          <a:xfrm>
            <a:off x="0" y="1"/>
            <a:ext cx="12192000" cy="711200"/>
          </a:xfrm>
        </p:spPr>
        <p:txBody>
          <a:bodyPr/>
          <a:lstStyle/>
          <a:p>
            <a:r>
              <a:rPr lang="en-US" dirty="0"/>
              <a:t>Types of Inheritance in Java</a:t>
            </a:r>
          </a:p>
        </p:txBody>
      </p:sp>
      <p:sp>
        <p:nvSpPr>
          <p:cNvPr id="3" name="Rectangle 2">
            <a:extLst>
              <a:ext uri="{FF2B5EF4-FFF2-40B4-BE49-F238E27FC236}">
                <a16:creationId xmlns:a16="http://schemas.microsoft.com/office/drawing/2014/main" id="{4D2CE216-0888-E9D1-5EA0-50A98966C736}"/>
              </a:ext>
            </a:extLst>
          </p:cNvPr>
          <p:cNvSpPr/>
          <p:nvPr/>
        </p:nvSpPr>
        <p:spPr>
          <a:xfrm>
            <a:off x="1518789" y="1354024"/>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4" name="Rectangle 3">
            <a:extLst>
              <a:ext uri="{FF2B5EF4-FFF2-40B4-BE49-F238E27FC236}">
                <a16:creationId xmlns:a16="http://schemas.microsoft.com/office/drawing/2014/main" id="{FA538E54-5A97-6916-D9D9-D99444A89994}"/>
              </a:ext>
            </a:extLst>
          </p:cNvPr>
          <p:cNvSpPr/>
          <p:nvPr/>
        </p:nvSpPr>
        <p:spPr>
          <a:xfrm>
            <a:off x="1518789" y="2276891"/>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5" name="Down Arrow 7">
            <a:extLst>
              <a:ext uri="{FF2B5EF4-FFF2-40B4-BE49-F238E27FC236}">
                <a16:creationId xmlns:a16="http://schemas.microsoft.com/office/drawing/2014/main" id="{1D40E348-196C-7AF5-DCC6-3E24C2370567}"/>
              </a:ext>
            </a:extLst>
          </p:cNvPr>
          <p:cNvSpPr/>
          <p:nvPr/>
        </p:nvSpPr>
        <p:spPr>
          <a:xfrm flipH="1" flipV="1">
            <a:off x="1942122" y="1752113"/>
            <a:ext cx="169333" cy="524778"/>
          </a:xfrm>
          <a:prstGeom prst="downArrow">
            <a:avLst>
              <a:gd name="adj1" fmla="val 50000"/>
              <a:gd name="adj2" fmla="val 10437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B3F6EA8-9D4A-30ED-35E3-75410075627E}"/>
              </a:ext>
            </a:extLst>
          </p:cNvPr>
          <p:cNvSpPr/>
          <p:nvPr/>
        </p:nvSpPr>
        <p:spPr>
          <a:xfrm>
            <a:off x="513345" y="861093"/>
            <a:ext cx="3090334" cy="2093774"/>
          </a:xfrm>
          <a:prstGeom prst="rect">
            <a:avLst/>
          </a:prstGeom>
          <a:noFill/>
          <a:ln w="5715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1. Single Inheritance</a:t>
            </a:r>
          </a:p>
        </p:txBody>
      </p:sp>
      <p:sp>
        <p:nvSpPr>
          <p:cNvPr id="7" name="Rectangle 6">
            <a:extLst>
              <a:ext uri="{FF2B5EF4-FFF2-40B4-BE49-F238E27FC236}">
                <a16:creationId xmlns:a16="http://schemas.microsoft.com/office/drawing/2014/main" id="{ACBCA5E9-B37D-E375-D044-6E1EFFD9A994}"/>
              </a:ext>
            </a:extLst>
          </p:cNvPr>
          <p:cNvSpPr/>
          <p:nvPr/>
        </p:nvSpPr>
        <p:spPr>
          <a:xfrm>
            <a:off x="9729260" y="1354024"/>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8" name="Rectangle 7">
            <a:extLst>
              <a:ext uri="{FF2B5EF4-FFF2-40B4-BE49-F238E27FC236}">
                <a16:creationId xmlns:a16="http://schemas.microsoft.com/office/drawing/2014/main" id="{6D57F6CD-89DB-DCA4-7B09-227F50BD4AD3}"/>
              </a:ext>
            </a:extLst>
          </p:cNvPr>
          <p:cNvSpPr/>
          <p:nvPr/>
        </p:nvSpPr>
        <p:spPr>
          <a:xfrm>
            <a:off x="9729260" y="2150202"/>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9" name="Down Arrow 10">
            <a:extLst>
              <a:ext uri="{FF2B5EF4-FFF2-40B4-BE49-F238E27FC236}">
                <a16:creationId xmlns:a16="http://schemas.microsoft.com/office/drawing/2014/main" id="{CD3297D4-0081-5955-741B-2C37A4EC4B2A}"/>
              </a:ext>
            </a:extLst>
          </p:cNvPr>
          <p:cNvSpPr/>
          <p:nvPr/>
        </p:nvSpPr>
        <p:spPr>
          <a:xfrm flipV="1">
            <a:off x="10152593" y="1752113"/>
            <a:ext cx="169333" cy="391099"/>
          </a:xfrm>
          <a:prstGeom prst="downArrow">
            <a:avLst>
              <a:gd name="adj1" fmla="val 50000"/>
              <a:gd name="adj2" fmla="val 10437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8684EB-BCC1-347E-8EDE-3F8EE13CD43C}"/>
              </a:ext>
            </a:extLst>
          </p:cNvPr>
          <p:cNvSpPr/>
          <p:nvPr/>
        </p:nvSpPr>
        <p:spPr>
          <a:xfrm>
            <a:off x="9729260" y="2946380"/>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11" name="Down Arrow 12">
            <a:extLst>
              <a:ext uri="{FF2B5EF4-FFF2-40B4-BE49-F238E27FC236}">
                <a16:creationId xmlns:a16="http://schemas.microsoft.com/office/drawing/2014/main" id="{55724969-1F79-3363-8EEE-D9027E18BB43}"/>
              </a:ext>
            </a:extLst>
          </p:cNvPr>
          <p:cNvSpPr/>
          <p:nvPr/>
        </p:nvSpPr>
        <p:spPr>
          <a:xfrm flipV="1">
            <a:off x="10152593" y="2548291"/>
            <a:ext cx="169333" cy="391099"/>
          </a:xfrm>
          <a:prstGeom prst="downArrow">
            <a:avLst>
              <a:gd name="adj1" fmla="val 50000"/>
              <a:gd name="adj2" fmla="val 10437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3A90310-E3CD-160D-CBEE-DD3B634D4F33}"/>
              </a:ext>
            </a:extLst>
          </p:cNvPr>
          <p:cNvSpPr/>
          <p:nvPr/>
        </p:nvSpPr>
        <p:spPr>
          <a:xfrm>
            <a:off x="8673482" y="861094"/>
            <a:ext cx="3090334" cy="2788118"/>
          </a:xfrm>
          <a:prstGeom prst="rect">
            <a:avLst/>
          </a:prstGeom>
          <a:noFill/>
          <a:ln w="5715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3. Multilevel Inheritance</a:t>
            </a:r>
          </a:p>
        </p:txBody>
      </p:sp>
      <p:sp>
        <p:nvSpPr>
          <p:cNvPr id="13" name="Rectangle 12">
            <a:extLst>
              <a:ext uri="{FF2B5EF4-FFF2-40B4-BE49-F238E27FC236}">
                <a16:creationId xmlns:a16="http://schemas.microsoft.com/office/drawing/2014/main" id="{08478A65-B524-5946-4AB0-2F0755D0E114}"/>
              </a:ext>
            </a:extLst>
          </p:cNvPr>
          <p:cNvSpPr/>
          <p:nvPr/>
        </p:nvSpPr>
        <p:spPr>
          <a:xfrm>
            <a:off x="5666160" y="1354024"/>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14" name="Rectangle 13">
            <a:extLst>
              <a:ext uri="{FF2B5EF4-FFF2-40B4-BE49-F238E27FC236}">
                <a16:creationId xmlns:a16="http://schemas.microsoft.com/office/drawing/2014/main" id="{260C22C5-E824-2CF4-39EA-4A0FEA06C223}"/>
              </a:ext>
            </a:extLst>
          </p:cNvPr>
          <p:cNvSpPr/>
          <p:nvPr/>
        </p:nvSpPr>
        <p:spPr>
          <a:xfrm>
            <a:off x="6258826" y="2176495"/>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15" name="Down Arrow 15">
            <a:extLst>
              <a:ext uri="{FF2B5EF4-FFF2-40B4-BE49-F238E27FC236}">
                <a16:creationId xmlns:a16="http://schemas.microsoft.com/office/drawing/2014/main" id="{BB4347F5-ABA2-1DF9-86B4-D170BDFE7B55}"/>
              </a:ext>
            </a:extLst>
          </p:cNvPr>
          <p:cNvSpPr/>
          <p:nvPr/>
        </p:nvSpPr>
        <p:spPr>
          <a:xfrm flipV="1">
            <a:off x="6391497" y="1768754"/>
            <a:ext cx="169333" cy="391099"/>
          </a:xfrm>
          <a:prstGeom prst="downArrow">
            <a:avLst>
              <a:gd name="adj1" fmla="val 50000"/>
              <a:gd name="adj2" fmla="val 10437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923CA29-2923-A025-F7F3-4180DA39D640}"/>
              </a:ext>
            </a:extLst>
          </p:cNvPr>
          <p:cNvSpPr/>
          <p:nvPr/>
        </p:nvSpPr>
        <p:spPr>
          <a:xfrm>
            <a:off x="5088336" y="2176495"/>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17" name="Down Arrow 17">
            <a:extLst>
              <a:ext uri="{FF2B5EF4-FFF2-40B4-BE49-F238E27FC236}">
                <a16:creationId xmlns:a16="http://schemas.microsoft.com/office/drawing/2014/main" id="{8FB6B5EF-BBB8-13C2-E667-7AF38B195A8B}"/>
              </a:ext>
            </a:extLst>
          </p:cNvPr>
          <p:cNvSpPr/>
          <p:nvPr/>
        </p:nvSpPr>
        <p:spPr>
          <a:xfrm flipV="1">
            <a:off x="5828517" y="1768754"/>
            <a:ext cx="169333" cy="391099"/>
          </a:xfrm>
          <a:prstGeom prst="downArrow">
            <a:avLst>
              <a:gd name="adj1" fmla="val 50000"/>
              <a:gd name="adj2" fmla="val 10437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1350341-856C-FFC1-AA6D-47827D21878A}"/>
              </a:ext>
            </a:extLst>
          </p:cNvPr>
          <p:cNvSpPr/>
          <p:nvPr/>
        </p:nvSpPr>
        <p:spPr>
          <a:xfrm>
            <a:off x="4593414" y="861093"/>
            <a:ext cx="3090334" cy="2093774"/>
          </a:xfrm>
          <a:prstGeom prst="rect">
            <a:avLst/>
          </a:prstGeom>
          <a:noFill/>
          <a:ln w="5715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2. Hierarchical Inheritance</a:t>
            </a:r>
          </a:p>
        </p:txBody>
      </p:sp>
      <p:sp>
        <p:nvSpPr>
          <p:cNvPr id="19" name="Rectangle 18">
            <a:extLst>
              <a:ext uri="{FF2B5EF4-FFF2-40B4-BE49-F238E27FC236}">
                <a16:creationId xmlns:a16="http://schemas.microsoft.com/office/drawing/2014/main" id="{30E6169C-F179-5B1A-BF31-EA0E853A6673}"/>
              </a:ext>
            </a:extLst>
          </p:cNvPr>
          <p:cNvSpPr/>
          <p:nvPr/>
        </p:nvSpPr>
        <p:spPr>
          <a:xfrm>
            <a:off x="822347" y="4023853"/>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20" name="Rectangle 19">
            <a:extLst>
              <a:ext uri="{FF2B5EF4-FFF2-40B4-BE49-F238E27FC236}">
                <a16:creationId xmlns:a16="http://schemas.microsoft.com/office/drawing/2014/main" id="{59FC52D1-7157-F111-C0AA-D36441C397CF}"/>
              </a:ext>
            </a:extLst>
          </p:cNvPr>
          <p:cNvSpPr/>
          <p:nvPr/>
        </p:nvSpPr>
        <p:spPr>
          <a:xfrm>
            <a:off x="2345150" y="4021503"/>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21" name="Rectangle 20">
            <a:extLst>
              <a:ext uri="{FF2B5EF4-FFF2-40B4-BE49-F238E27FC236}">
                <a16:creationId xmlns:a16="http://schemas.microsoft.com/office/drawing/2014/main" id="{FE3E6E13-718B-5984-09EA-8B7CF734D4CE}"/>
              </a:ext>
            </a:extLst>
          </p:cNvPr>
          <p:cNvSpPr/>
          <p:nvPr/>
        </p:nvSpPr>
        <p:spPr>
          <a:xfrm>
            <a:off x="1616287" y="4810865"/>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22" name="Down Arrow 21">
            <a:extLst>
              <a:ext uri="{FF2B5EF4-FFF2-40B4-BE49-F238E27FC236}">
                <a16:creationId xmlns:a16="http://schemas.microsoft.com/office/drawing/2014/main" id="{A67271E1-E8EC-A3B2-C87E-C4EB30C22E44}"/>
              </a:ext>
            </a:extLst>
          </p:cNvPr>
          <p:cNvSpPr/>
          <p:nvPr/>
        </p:nvSpPr>
        <p:spPr>
          <a:xfrm flipV="1">
            <a:off x="1623161" y="4419844"/>
            <a:ext cx="169333" cy="391099"/>
          </a:xfrm>
          <a:prstGeom prst="downArrow">
            <a:avLst>
              <a:gd name="adj1" fmla="val 50000"/>
              <a:gd name="adj2" fmla="val 10437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a:extLst>
              <a:ext uri="{FF2B5EF4-FFF2-40B4-BE49-F238E27FC236}">
                <a16:creationId xmlns:a16="http://schemas.microsoft.com/office/drawing/2014/main" id="{66E26D4A-B236-8067-E788-E3C4ED890666}"/>
              </a:ext>
            </a:extLst>
          </p:cNvPr>
          <p:cNvSpPr/>
          <p:nvPr/>
        </p:nvSpPr>
        <p:spPr>
          <a:xfrm flipV="1">
            <a:off x="2401024" y="4419844"/>
            <a:ext cx="169333" cy="391099"/>
          </a:xfrm>
          <a:prstGeom prst="downArrow">
            <a:avLst>
              <a:gd name="adj1" fmla="val 50000"/>
              <a:gd name="adj2" fmla="val 10437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BFECA2B-4C34-6B68-1646-287BFD123FCF}"/>
              </a:ext>
            </a:extLst>
          </p:cNvPr>
          <p:cNvSpPr/>
          <p:nvPr/>
        </p:nvSpPr>
        <p:spPr>
          <a:xfrm>
            <a:off x="539297" y="3447568"/>
            <a:ext cx="3090334" cy="209377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trike="sngStrike" dirty="0">
                <a:solidFill>
                  <a:schemeClr val="tx1"/>
                </a:solidFill>
              </a:rPr>
              <a:t>4. Multiple Inheritance</a:t>
            </a:r>
          </a:p>
        </p:txBody>
      </p:sp>
      <p:sp>
        <p:nvSpPr>
          <p:cNvPr id="25" name="Rectangle 24">
            <a:extLst>
              <a:ext uri="{FF2B5EF4-FFF2-40B4-BE49-F238E27FC236}">
                <a16:creationId xmlns:a16="http://schemas.microsoft.com/office/drawing/2014/main" id="{5C372A92-AB05-5D4F-7D6C-30DF84DA97C2}"/>
              </a:ext>
            </a:extLst>
          </p:cNvPr>
          <p:cNvSpPr/>
          <p:nvPr/>
        </p:nvSpPr>
        <p:spPr>
          <a:xfrm>
            <a:off x="5703965" y="3949117"/>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26" name="Rectangle 25">
            <a:extLst>
              <a:ext uri="{FF2B5EF4-FFF2-40B4-BE49-F238E27FC236}">
                <a16:creationId xmlns:a16="http://schemas.microsoft.com/office/drawing/2014/main" id="{AA098B55-9A81-B69D-886F-530BAF67CC38}"/>
              </a:ext>
            </a:extLst>
          </p:cNvPr>
          <p:cNvSpPr/>
          <p:nvPr/>
        </p:nvSpPr>
        <p:spPr>
          <a:xfrm>
            <a:off x="6296631" y="4771588"/>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27" name="Down Arrow 25">
            <a:extLst>
              <a:ext uri="{FF2B5EF4-FFF2-40B4-BE49-F238E27FC236}">
                <a16:creationId xmlns:a16="http://schemas.microsoft.com/office/drawing/2014/main" id="{523C58A1-13BB-FB03-EF3E-7C5A86A27A69}"/>
              </a:ext>
            </a:extLst>
          </p:cNvPr>
          <p:cNvSpPr/>
          <p:nvPr/>
        </p:nvSpPr>
        <p:spPr>
          <a:xfrm flipV="1">
            <a:off x="6429302" y="4363847"/>
            <a:ext cx="169333" cy="391099"/>
          </a:xfrm>
          <a:prstGeom prst="downArrow">
            <a:avLst>
              <a:gd name="adj1" fmla="val 50000"/>
              <a:gd name="adj2" fmla="val 10437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57F7560-EF48-2D25-1090-EB54A06A311F}"/>
              </a:ext>
            </a:extLst>
          </p:cNvPr>
          <p:cNvSpPr/>
          <p:nvPr/>
        </p:nvSpPr>
        <p:spPr>
          <a:xfrm>
            <a:off x="5126141" y="4771588"/>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29" name="Down Arrow 27">
            <a:extLst>
              <a:ext uri="{FF2B5EF4-FFF2-40B4-BE49-F238E27FC236}">
                <a16:creationId xmlns:a16="http://schemas.microsoft.com/office/drawing/2014/main" id="{3BDB6F6D-0780-63D3-C8C3-59E4B116D5B6}"/>
              </a:ext>
            </a:extLst>
          </p:cNvPr>
          <p:cNvSpPr/>
          <p:nvPr/>
        </p:nvSpPr>
        <p:spPr>
          <a:xfrm flipV="1">
            <a:off x="5866322" y="4363847"/>
            <a:ext cx="169333" cy="391099"/>
          </a:xfrm>
          <a:prstGeom prst="downArrow">
            <a:avLst>
              <a:gd name="adj1" fmla="val 50000"/>
              <a:gd name="adj2" fmla="val 10437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86B4399-A174-531E-E9A3-152E52AC7401}"/>
              </a:ext>
            </a:extLst>
          </p:cNvPr>
          <p:cNvSpPr/>
          <p:nvPr/>
        </p:nvSpPr>
        <p:spPr>
          <a:xfrm>
            <a:off x="5703965" y="5570221"/>
            <a:ext cx="1016000" cy="39808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31" name="Down Arrow 29">
            <a:extLst>
              <a:ext uri="{FF2B5EF4-FFF2-40B4-BE49-F238E27FC236}">
                <a16:creationId xmlns:a16="http://schemas.microsoft.com/office/drawing/2014/main" id="{09C52769-E7A1-AB40-AD17-69F92F99431C}"/>
              </a:ext>
            </a:extLst>
          </p:cNvPr>
          <p:cNvSpPr/>
          <p:nvPr/>
        </p:nvSpPr>
        <p:spPr>
          <a:xfrm flipV="1">
            <a:off x="5873298" y="5169677"/>
            <a:ext cx="169333" cy="391099"/>
          </a:xfrm>
          <a:prstGeom prst="downArrow">
            <a:avLst>
              <a:gd name="adj1" fmla="val 50000"/>
              <a:gd name="adj2" fmla="val 10437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own Arrow 30">
            <a:extLst>
              <a:ext uri="{FF2B5EF4-FFF2-40B4-BE49-F238E27FC236}">
                <a16:creationId xmlns:a16="http://schemas.microsoft.com/office/drawing/2014/main" id="{B3B35014-047F-77FE-717A-9F502E6405E5}"/>
              </a:ext>
            </a:extLst>
          </p:cNvPr>
          <p:cNvSpPr/>
          <p:nvPr/>
        </p:nvSpPr>
        <p:spPr>
          <a:xfrm flipV="1">
            <a:off x="6429302" y="5162939"/>
            <a:ext cx="169333" cy="391099"/>
          </a:xfrm>
          <a:prstGeom prst="downArrow">
            <a:avLst>
              <a:gd name="adj1" fmla="val 50000"/>
              <a:gd name="adj2" fmla="val 10437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F848F30-9BF4-A590-6C98-86ADBE662098}"/>
              </a:ext>
            </a:extLst>
          </p:cNvPr>
          <p:cNvSpPr/>
          <p:nvPr/>
        </p:nvSpPr>
        <p:spPr>
          <a:xfrm>
            <a:off x="4635075" y="3447568"/>
            <a:ext cx="3090334" cy="282546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trike="sngStrike" dirty="0">
                <a:solidFill>
                  <a:schemeClr val="tx1"/>
                </a:solidFill>
              </a:rPr>
              <a:t>5. Hybrid Inheritance</a:t>
            </a:r>
          </a:p>
        </p:txBody>
      </p:sp>
      <p:sp>
        <p:nvSpPr>
          <p:cNvPr id="34" name="Rectangle 33">
            <a:extLst>
              <a:ext uri="{FF2B5EF4-FFF2-40B4-BE49-F238E27FC236}">
                <a16:creationId xmlns:a16="http://schemas.microsoft.com/office/drawing/2014/main" id="{5672DB33-7BD5-1A42-F985-650526E27220}"/>
              </a:ext>
            </a:extLst>
          </p:cNvPr>
          <p:cNvSpPr/>
          <p:nvPr/>
        </p:nvSpPr>
        <p:spPr>
          <a:xfrm>
            <a:off x="8447714" y="4021503"/>
            <a:ext cx="3598877" cy="174776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Note: </a:t>
            </a:r>
            <a:r>
              <a:rPr lang="en-US" dirty="0">
                <a:solidFill>
                  <a:schemeClr val="tx1"/>
                </a:solidFill>
              </a:rPr>
              <a:t>Multiple and Hybrid Inheritance is </a:t>
            </a:r>
            <a:r>
              <a:rPr lang="en-US" b="1" dirty="0">
                <a:solidFill>
                  <a:schemeClr val="tx1"/>
                </a:solidFill>
              </a:rPr>
              <a:t>not supported </a:t>
            </a:r>
            <a:r>
              <a:rPr lang="en-US" dirty="0">
                <a:solidFill>
                  <a:schemeClr val="tx1"/>
                </a:solidFill>
              </a:rPr>
              <a:t>in </a:t>
            </a:r>
            <a:r>
              <a:rPr lang="en-US" b="1" dirty="0">
                <a:solidFill>
                  <a:schemeClr val="tx1"/>
                </a:solidFill>
              </a:rPr>
              <a:t>Java</a:t>
            </a:r>
            <a:r>
              <a:rPr lang="en-US" dirty="0">
                <a:solidFill>
                  <a:schemeClr val="tx1"/>
                </a:solidFill>
              </a:rPr>
              <a:t> with the Class Inheritance, we can still use those Inheritance with Interface which we will learn in later part of the Unit</a:t>
            </a:r>
          </a:p>
        </p:txBody>
      </p:sp>
    </p:spTree>
    <p:extLst>
      <p:ext uri="{BB962C8B-B14F-4D97-AF65-F5344CB8AC3E}">
        <p14:creationId xmlns:p14="http://schemas.microsoft.com/office/powerpoint/2010/main" val="673566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8AC90-13E8-B2E5-C6A1-4E63EF64B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64299-ED28-354C-DF1B-6029B2DD92A3}"/>
              </a:ext>
            </a:extLst>
          </p:cNvPr>
          <p:cNvSpPr>
            <a:spLocks noGrp="1"/>
          </p:cNvSpPr>
          <p:nvPr>
            <p:ph type="title"/>
          </p:nvPr>
        </p:nvSpPr>
        <p:spPr>
          <a:xfrm>
            <a:off x="0" y="1"/>
            <a:ext cx="12192000" cy="711200"/>
          </a:xfrm>
        </p:spPr>
        <p:txBody>
          <a:bodyPr/>
          <a:lstStyle/>
          <a:p>
            <a:r>
              <a:rPr lang="en-US" dirty="0"/>
              <a:t>Inheritance (Cont.)</a:t>
            </a:r>
          </a:p>
        </p:txBody>
      </p:sp>
      <p:sp>
        <p:nvSpPr>
          <p:cNvPr id="3" name="Content Placeholder 2">
            <a:extLst>
              <a:ext uri="{FF2B5EF4-FFF2-40B4-BE49-F238E27FC236}">
                <a16:creationId xmlns:a16="http://schemas.microsoft.com/office/drawing/2014/main" id="{D0036E7A-FCBF-5432-55DF-8F1A54763A2A}"/>
              </a:ext>
            </a:extLst>
          </p:cNvPr>
          <p:cNvSpPr>
            <a:spLocks noGrp="1"/>
          </p:cNvSpPr>
          <p:nvPr>
            <p:ph idx="1"/>
          </p:nvPr>
        </p:nvSpPr>
        <p:spPr>
          <a:xfrm>
            <a:off x="131180" y="863444"/>
            <a:ext cx="11929641" cy="5590565"/>
          </a:xfrm>
        </p:spPr>
        <p:txBody>
          <a:bodyPr/>
          <a:lstStyle/>
          <a:p>
            <a:r>
              <a:rPr lang="en-GB" dirty="0"/>
              <a:t>Each Java class has </a:t>
            </a:r>
            <a:r>
              <a:rPr lang="en-GB" dirty="0">
                <a:solidFill>
                  <a:srgbClr val="C00000"/>
                </a:solidFill>
              </a:rPr>
              <a:t>one (and only one) </a:t>
            </a:r>
            <a:r>
              <a:rPr lang="en-GB" dirty="0"/>
              <a:t>superclass.</a:t>
            </a:r>
          </a:p>
          <a:p>
            <a:pPr lvl="1">
              <a:buNone/>
            </a:pPr>
            <a:r>
              <a:rPr lang="en-US" sz="2400" dirty="0">
                <a:solidFill>
                  <a:srgbClr val="C00000"/>
                </a:solidFill>
              </a:rPr>
              <a:t>C++ allows </a:t>
            </a:r>
            <a:r>
              <a:rPr lang="en-US" sz="2400" dirty="0"/>
              <a:t>multiple inheritance  </a:t>
            </a:r>
          </a:p>
          <a:p>
            <a:pPr lvl="1">
              <a:buNone/>
            </a:pPr>
            <a:r>
              <a:rPr lang="en-US" sz="2400" dirty="0"/>
              <a:t>			BUT </a:t>
            </a:r>
          </a:p>
          <a:p>
            <a:pPr lvl="1">
              <a:buNone/>
            </a:pPr>
            <a:r>
              <a:rPr lang="en-US" sz="2400" dirty="0">
                <a:solidFill>
                  <a:srgbClr val="C00000"/>
                </a:solidFill>
              </a:rPr>
              <a:t>Java</a:t>
            </a:r>
            <a:r>
              <a:rPr lang="en-US" sz="2400" dirty="0"/>
              <a:t> does </a:t>
            </a:r>
            <a:r>
              <a:rPr lang="en-US" sz="2400" dirty="0">
                <a:solidFill>
                  <a:srgbClr val="C00000"/>
                </a:solidFill>
              </a:rPr>
              <a:t>not support </a:t>
            </a:r>
            <a:r>
              <a:rPr lang="en-US" sz="2400" dirty="0"/>
              <a:t>multiple inheritance</a:t>
            </a:r>
          </a:p>
          <a:p>
            <a:r>
              <a:rPr lang="en-GB" dirty="0"/>
              <a:t>There is </a:t>
            </a:r>
            <a:r>
              <a:rPr lang="en-GB" dirty="0">
                <a:solidFill>
                  <a:srgbClr val="C00000"/>
                </a:solidFill>
              </a:rPr>
              <a:t>no limit </a:t>
            </a:r>
            <a:r>
              <a:rPr lang="en-GB" dirty="0"/>
              <a:t>to the </a:t>
            </a:r>
            <a:r>
              <a:rPr lang="en-GB" dirty="0">
                <a:solidFill>
                  <a:srgbClr val="C00000"/>
                </a:solidFill>
              </a:rPr>
              <a:t>number of subclasses </a:t>
            </a:r>
            <a:r>
              <a:rPr lang="en-GB" dirty="0"/>
              <a:t>a class can have</a:t>
            </a:r>
          </a:p>
          <a:p>
            <a:r>
              <a:rPr lang="en-GB" dirty="0"/>
              <a:t>Inheritance creates a </a:t>
            </a:r>
            <a:r>
              <a:rPr lang="en-GB" dirty="0">
                <a:solidFill>
                  <a:srgbClr val="C00000"/>
                </a:solidFill>
              </a:rPr>
              <a:t>class hierarchy</a:t>
            </a:r>
          </a:p>
          <a:p>
            <a:pPr lvl="1"/>
            <a:r>
              <a:rPr lang="en-US" sz="2200" dirty="0"/>
              <a:t>Classes </a:t>
            </a:r>
            <a:r>
              <a:rPr lang="en-US" sz="2200" dirty="0">
                <a:solidFill>
                  <a:srgbClr val="C00000"/>
                </a:solidFill>
              </a:rPr>
              <a:t>higher</a:t>
            </a:r>
            <a:r>
              <a:rPr lang="en-US" sz="2200" dirty="0"/>
              <a:t> in the </a:t>
            </a:r>
            <a:r>
              <a:rPr lang="en-US" sz="2200" dirty="0">
                <a:solidFill>
                  <a:srgbClr val="C00000"/>
                </a:solidFill>
              </a:rPr>
              <a:t>hierarchy</a:t>
            </a:r>
            <a:r>
              <a:rPr lang="en-US" sz="2200" dirty="0"/>
              <a:t> are </a:t>
            </a:r>
            <a:r>
              <a:rPr lang="en-US" sz="2200" dirty="0">
                <a:solidFill>
                  <a:srgbClr val="C00000"/>
                </a:solidFill>
              </a:rPr>
              <a:t>more </a:t>
            </a:r>
          </a:p>
          <a:p>
            <a:pPr lvl="1">
              <a:buNone/>
            </a:pPr>
            <a:r>
              <a:rPr lang="en-US" sz="2200" dirty="0"/>
              <a:t>	</a:t>
            </a:r>
            <a:r>
              <a:rPr lang="en-US" sz="2200" dirty="0">
                <a:solidFill>
                  <a:srgbClr val="C00000"/>
                </a:solidFill>
              </a:rPr>
              <a:t>general</a:t>
            </a:r>
            <a:r>
              <a:rPr lang="en-US" sz="2200" dirty="0"/>
              <a:t> and </a:t>
            </a:r>
            <a:r>
              <a:rPr lang="en-US" sz="2200" dirty="0">
                <a:solidFill>
                  <a:srgbClr val="C00000"/>
                </a:solidFill>
              </a:rPr>
              <a:t>more abstract</a:t>
            </a:r>
          </a:p>
          <a:p>
            <a:pPr lvl="1"/>
            <a:r>
              <a:rPr lang="en-US" sz="2200" dirty="0"/>
              <a:t>Classes </a:t>
            </a:r>
            <a:r>
              <a:rPr lang="en-US" sz="2200" dirty="0">
                <a:solidFill>
                  <a:srgbClr val="C00000"/>
                </a:solidFill>
              </a:rPr>
              <a:t>lower</a:t>
            </a:r>
            <a:r>
              <a:rPr lang="en-US" sz="2200" dirty="0"/>
              <a:t> in the</a:t>
            </a:r>
            <a:r>
              <a:rPr lang="en-US" sz="2200" dirty="0">
                <a:solidFill>
                  <a:srgbClr val="C00000"/>
                </a:solidFill>
              </a:rPr>
              <a:t> hierarchy</a:t>
            </a:r>
            <a:r>
              <a:rPr lang="en-US" sz="2200" dirty="0"/>
              <a:t> are </a:t>
            </a:r>
            <a:r>
              <a:rPr lang="en-US" sz="2200" dirty="0">
                <a:solidFill>
                  <a:srgbClr val="C00000"/>
                </a:solidFill>
              </a:rPr>
              <a:t>more </a:t>
            </a:r>
          </a:p>
          <a:p>
            <a:pPr lvl="1">
              <a:buNone/>
            </a:pPr>
            <a:r>
              <a:rPr lang="en-US" sz="2200" dirty="0"/>
              <a:t>	</a:t>
            </a:r>
            <a:r>
              <a:rPr lang="en-US" sz="2200" dirty="0">
                <a:solidFill>
                  <a:srgbClr val="C00000"/>
                </a:solidFill>
              </a:rPr>
              <a:t>specific</a:t>
            </a:r>
            <a:r>
              <a:rPr lang="en-US" sz="2200" dirty="0"/>
              <a:t> and </a:t>
            </a:r>
            <a:r>
              <a:rPr lang="en-US" sz="2200" dirty="0">
                <a:solidFill>
                  <a:srgbClr val="C00000"/>
                </a:solidFill>
              </a:rPr>
              <a:t>concrete</a:t>
            </a:r>
          </a:p>
          <a:p>
            <a:r>
              <a:rPr lang="en-US" dirty="0"/>
              <a:t>There is no limit to the depth of the class tree.</a:t>
            </a:r>
          </a:p>
          <a:p>
            <a:endParaRPr lang="en-US" dirty="0"/>
          </a:p>
          <a:p>
            <a:pPr lvl="1"/>
            <a:endParaRPr lang="en-US" dirty="0"/>
          </a:p>
          <a:p>
            <a:endParaRPr lang="en-US" dirty="0"/>
          </a:p>
        </p:txBody>
      </p:sp>
      <p:sp>
        <p:nvSpPr>
          <p:cNvPr id="4" name="AutoShape 4">
            <a:extLst>
              <a:ext uri="{FF2B5EF4-FFF2-40B4-BE49-F238E27FC236}">
                <a16:creationId xmlns:a16="http://schemas.microsoft.com/office/drawing/2014/main" id="{F75B834F-B2E8-2CDC-CC42-F13E8E168AE8}"/>
              </a:ext>
            </a:extLst>
          </p:cNvPr>
          <p:cNvSpPr>
            <a:spLocks noChangeArrowheads="1"/>
          </p:cNvSpPr>
          <p:nvPr/>
        </p:nvSpPr>
        <p:spPr bwMode="auto">
          <a:xfrm>
            <a:off x="9060802" y="2694709"/>
            <a:ext cx="1022527" cy="443049"/>
          </a:xfrm>
          <a:prstGeom prst="roundRect">
            <a:avLst>
              <a:gd name="adj" fmla="val 315"/>
            </a:avLst>
          </a:prstGeom>
          <a:solidFill>
            <a:schemeClr val="accent2">
              <a:lumMod val="20000"/>
              <a:lumOff val="80000"/>
            </a:schemeClr>
          </a:solidFill>
          <a:ln w="9525">
            <a:solidFill>
              <a:srgbClr val="000000"/>
            </a:solidFill>
            <a:round/>
            <a:headEnd/>
            <a:tailEnd/>
          </a:ln>
        </p:spPr>
        <p:txBody>
          <a:bodyPr lIns="0" tIns="0" rIns="0" bIns="0" anchor="ctr" anchorCtr="1">
            <a:spAutoFit/>
          </a:bodyPr>
          <a:lstStyle/>
          <a:p>
            <a:pPr>
              <a:buClr>
                <a:srgbClr val="000000"/>
              </a:buClr>
              <a:buSzPct val="67000"/>
              <a:buFont typeface="StarBats" charset="0"/>
              <a:buNone/>
              <a:tabLst>
                <a:tab pos="723900" algn="l"/>
              </a:tabLst>
            </a:pPr>
            <a:r>
              <a:rPr lang="en-GB" sz="1600">
                <a:latin typeface="Times" charset="0"/>
              </a:rPr>
              <a:t>Class</a:t>
            </a:r>
          </a:p>
        </p:txBody>
      </p:sp>
      <p:sp>
        <p:nvSpPr>
          <p:cNvPr id="5" name="AutoShape 6">
            <a:extLst>
              <a:ext uri="{FF2B5EF4-FFF2-40B4-BE49-F238E27FC236}">
                <a16:creationId xmlns:a16="http://schemas.microsoft.com/office/drawing/2014/main" id="{3120961F-E88B-B1F3-B3AA-67AE94203B82}"/>
              </a:ext>
            </a:extLst>
          </p:cNvPr>
          <p:cNvSpPr>
            <a:spLocks noChangeArrowheads="1"/>
          </p:cNvSpPr>
          <p:nvPr/>
        </p:nvSpPr>
        <p:spPr bwMode="auto">
          <a:xfrm>
            <a:off x="8083282" y="3368424"/>
            <a:ext cx="1022528" cy="443048"/>
          </a:xfrm>
          <a:prstGeom prst="roundRect">
            <a:avLst>
              <a:gd name="adj" fmla="val 315"/>
            </a:avLst>
          </a:prstGeom>
          <a:solidFill>
            <a:schemeClr val="accent2">
              <a:lumMod val="20000"/>
              <a:lumOff val="80000"/>
            </a:schemeClr>
          </a:solidFill>
          <a:ln w="9525">
            <a:solidFill>
              <a:srgbClr val="000000"/>
            </a:solidFill>
            <a:round/>
            <a:headEnd/>
            <a:tailEnd/>
          </a:ln>
        </p:spPr>
        <p:txBody>
          <a:bodyPr lIns="0" tIns="0" rIns="0" bIns="0" anchor="ctr" anchorCtr="1">
            <a:spAutoFit/>
          </a:bodyPr>
          <a:lstStyle/>
          <a:p>
            <a:pPr>
              <a:buClr>
                <a:srgbClr val="000000"/>
              </a:buClr>
              <a:buSzPct val="67000"/>
              <a:buFont typeface="StarBats" charset="0"/>
              <a:buNone/>
              <a:tabLst>
                <a:tab pos="723900" algn="l"/>
              </a:tabLst>
            </a:pPr>
            <a:r>
              <a:rPr lang="en-GB" sz="1600">
                <a:latin typeface="Times" charset="0"/>
              </a:rPr>
              <a:t>Class</a:t>
            </a:r>
          </a:p>
        </p:txBody>
      </p:sp>
      <p:sp>
        <p:nvSpPr>
          <p:cNvPr id="6" name="AutoShape 7">
            <a:extLst>
              <a:ext uri="{FF2B5EF4-FFF2-40B4-BE49-F238E27FC236}">
                <a16:creationId xmlns:a16="http://schemas.microsoft.com/office/drawing/2014/main" id="{B397DF9B-D9AC-47DF-A83E-8F9B0C2F0762}"/>
              </a:ext>
            </a:extLst>
          </p:cNvPr>
          <p:cNvSpPr>
            <a:spLocks noChangeArrowheads="1"/>
          </p:cNvSpPr>
          <p:nvPr/>
        </p:nvSpPr>
        <p:spPr bwMode="auto">
          <a:xfrm>
            <a:off x="9205671" y="3368424"/>
            <a:ext cx="1022528" cy="443048"/>
          </a:xfrm>
          <a:prstGeom prst="roundRect">
            <a:avLst>
              <a:gd name="adj" fmla="val 315"/>
            </a:avLst>
          </a:prstGeom>
          <a:solidFill>
            <a:schemeClr val="accent2">
              <a:lumMod val="20000"/>
              <a:lumOff val="80000"/>
            </a:schemeClr>
          </a:solidFill>
          <a:ln w="9525">
            <a:solidFill>
              <a:srgbClr val="000000"/>
            </a:solidFill>
            <a:round/>
            <a:headEnd/>
            <a:tailEnd/>
          </a:ln>
        </p:spPr>
        <p:txBody>
          <a:bodyPr lIns="0" tIns="0" rIns="0" bIns="0" anchor="ctr" anchorCtr="1">
            <a:spAutoFit/>
          </a:bodyPr>
          <a:lstStyle/>
          <a:p>
            <a:pPr>
              <a:buClr>
                <a:srgbClr val="000000"/>
              </a:buClr>
              <a:buSzPct val="67000"/>
              <a:buFont typeface="StarBats" charset="0"/>
              <a:buNone/>
              <a:tabLst>
                <a:tab pos="723900" algn="l"/>
              </a:tabLst>
            </a:pPr>
            <a:r>
              <a:rPr lang="en-GB" sz="1600">
                <a:latin typeface="Times" charset="0"/>
              </a:rPr>
              <a:t>Class</a:t>
            </a:r>
          </a:p>
        </p:txBody>
      </p:sp>
      <p:sp>
        <p:nvSpPr>
          <p:cNvPr id="7" name="AutoShape 8">
            <a:extLst>
              <a:ext uri="{FF2B5EF4-FFF2-40B4-BE49-F238E27FC236}">
                <a16:creationId xmlns:a16="http://schemas.microsoft.com/office/drawing/2014/main" id="{F50F4E41-E6D3-C679-3858-A6A94DC49584}"/>
              </a:ext>
            </a:extLst>
          </p:cNvPr>
          <p:cNvSpPr>
            <a:spLocks noChangeArrowheads="1"/>
          </p:cNvSpPr>
          <p:nvPr/>
        </p:nvSpPr>
        <p:spPr bwMode="auto">
          <a:xfrm>
            <a:off x="10311182" y="3368424"/>
            <a:ext cx="1022528" cy="443048"/>
          </a:xfrm>
          <a:prstGeom prst="roundRect">
            <a:avLst>
              <a:gd name="adj" fmla="val 315"/>
            </a:avLst>
          </a:prstGeom>
          <a:solidFill>
            <a:schemeClr val="accent2">
              <a:lumMod val="20000"/>
              <a:lumOff val="80000"/>
            </a:schemeClr>
          </a:solidFill>
          <a:ln w="9525">
            <a:solidFill>
              <a:srgbClr val="000000"/>
            </a:solidFill>
            <a:round/>
            <a:headEnd/>
            <a:tailEnd/>
          </a:ln>
        </p:spPr>
        <p:txBody>
          <a:bodyPr lIns="0" tIns="0" rIns="0" bIns="0" anchor="ctr" anchorCtr="1">
            <a:spAutoFit/>
          </a:bodyPr>
          <a:lstStyle/>
          <a:p>
            <a:pPr>
              <a:buClr>
                <a:srgbClr val="000000"/>
              </a:buClr>
              <a:buSzPct val="67000"/>
              <a:buFont typeface="StarBats" charset="0"/>
              <a:buNone/>
              <a:tabLst>
                <a:tab pos="723900" algn="l"/>
              </a:tabLst>
            </a:pPr>
            <a:r>
              <a:rPr lang="en-GB" sz="1600">
                <a:latin typeface="Times" charset="0"/>
              </a:rPr>
              <a:t>Class</a:t>
            </a:r>
          </a:p>
        </p:txBody>
      </p:sp>
      <p:sp>
        <p:nvSpPr>
          <p:cNvPr id="8" name="AutoShape 9">
            <a:extLst>
              <a:ext uri="{FF2B5EF4-FFF2-40B4-BE49-F238E27FC236}">
                <a16:creationId xmlns:a16="http://schemas.microsoft.com/office/drawing/2014/main" id="{B4917D90-537A-9721-546F-C95FF2FCD02F}"/>
              </a:ext>
            </a:extLst>
          </p:cNvPr>
          <p:cNvSpPr>
            <a:spLocks noChangeArrowheads="1"/>
          </p:cNvSpPr>
          <p:nvPr/>
        </p:nvSpPr>
        <p:spPr bwMode="auto">
          <a:xfrm>
            <a:off x="9290797" y="5212348"/>
            <a:ext cx="1022527" cy="443049"/>
          </a:xfrm>
          <a:prstGeom prst="roundRect">
            <a:avLst>
              <a:gd name="adj" fmla="val 315"/>
            </a:avLst>
          </a:prstGeom>
          <a:solidFill>
            <a:schemeClr val="accent2">
              <a:lumMod val="20000"/>
              <a:lumOff val="80000"/>
            </a:schemeClr>
          </a:solidFill>
          <a:ln w="9525">
            <a:solidFill>
              <a:srgbClr val="000000"/>
            </a:solidFill>
            <a:round/>
            <a:headEnd/>
            <a:tailEnd/>
          </a:ln>
        </p:spPr>
        <p:txBody>
          <a:bodyPr lIns="0" tIns="0" rIns="0" bIns="0" anchor="ctr" anchorCtr="1">
            <a:spAutoFit/>
          </a:bodyPr>
          <a:lstStyle/>
          <a:p>
            <a:pPr>
              <a:buClr>
                <a:srgbClr val="000000"/>
              </a:buClr>
              <a:buSzPct val="67000"/>
              <a:buFont typeface="StarBats" charset="0"/>
              <a:buNone/>
              <a:tabLst>
                <a:tab pos="723900" algn="l"/>
              </a:tabLst>
            </a:pPr>
            <a:r>
              <a:rPr lang="en-GB" sz="1600">
                <a:latin typeface="Times" charset="0"/>
              </a:rPr>
              <a:t>Class</a:t>
            </a:r>
          </a:p>
        </p:txBody>
      </p:sp>
      <p:sp>
        <p:nvSpPr>
          <p:cNvPr id="9" name="AutoShape 10">
            <a:extLst>
              <a:ext uri="{FF2B5EF4-FFF2-40B4-BE49-F238E27FC236}">
                <a16:creationId xmlns:a16="http://schemas.microsoft.com/office/drawing/2014/main" id="{79F77B1C-BC12-57C7-2404-DDB44EF76FA3}"/>
              </a:ext>
            </a:extLst>
          </p:cNvPr>
          <p:cNvSpPr>
            <a:spLocks noChangeArrowheads="1"/>
          </p:cNvSpPr>
          <p:nvPr/>
        </p:nvSpPr>
        <p:spPr bwMode="auto">
          <a:xfrm>
            <a:off x="7628982" y="4209513"/>
            <a:ext cx="1022527" cy="434609"/>
          </a:xfrm>
          <a:prstGeom prst="roundRect">
            <a:avLst>
              <a:gd name="adj" fmla="val 319"/>
            </a:avLst>
          </a:prstGeom>
          <a:solidFill>
            <a:schemeClr val="accent2">
              <a:lumMod val="20000"/>
              <a:lumOff val="80000"/>
            </a:schemeClr>
          </a:solidFill>
          <a:ln w="9525">
            <a:solidFill>
              <a:srgbClr val="000000"/>
            </a:solidFill>
            <a:round/>
            <a:headEnd/>
            <a:tailEnd/>
          </a:ln>
        </p:spPr>
        <p:txBody>
          <a:bodyPr lIns="0" tIns="0" rIns="0" bIns="0" anchor="ctr" anchorCtr="1">
            <a:spAutoFit/>
          </a:bodyPr>
          <a:lstStyle/>
          <a:p>
            <a:pPr>
              <a:buClr>
                <a:srgbClr val="000000"/>
              </a:buClr>
              <a:buSzPct val="67000"/>
              <a:buFont typeface="StarBats" charset="0"/>
              <a:buNone/>
              <a:tabLst>
                <a:tab pos="723900" algn="l"/>
              </a:tabLst>
            </a:pPr>
            <a:r>
              <a:rPr lang="en-GB" sz="1600">
                <a:latin typeface="Times" charset="0"/>
              </a:rPr>
              <a:t>Class</a:t>
            </a:r>
          </a:p>
        </p:txBody>
      </p:sp>
      <p:sp>
        <p:nvSpPr>
          <p:cNvPr id="10" name="AutoShape 11">
            <a:extLst>
              <a:ext uri="{FF2B5EF4-FFF2-40B4-BE49-F238E27FC236}">
                <a16:creationId xmlns:a16="http://schemas.microsoft.com/office/drawing/2014/main" id="{4E4A1358-A1AA-1B34-2474-93D1ED823FF9}"/>
              </a:ext>
            </a:extLst>
          </p:cNvPr>
          <p:cNvSpPr>
            <a:spLocks noChangeArrowheads="1"/>
          </p:cNvSpPr>
          <p:nvPr/>
        </p:nvSpPr>
        <p:spPr bwMode="auto">
          <a:xfrm>
            <a:off x="10357597" y="4209513"/>
            <a:ext cx="1022527" cy="443048"/>
          </a:xfrm>
          <a:prstGeom prst="roundRect">
            <a:avLst>
              <a:gd name="adj" fmla="val 315"/>
            </a:avLst>
          </a:prstGeom>
          <a:solidFill>
            <a:schemeClr val="accent2">
              <a:lumMod val="20000"/>
              <a:lumOff val="80000"/>
            </a:schemeClr>
          </a:solidFill>
          <a:ln w="9525">
            <a:solidFill>
              <a:srgbClr val="000000"/>
            </a:solidFill>
            <a:round/>
            <a:headEnd/>
            <a:tailEnd/>
          </a:ln>
        </p:spPr>
        <p:txBody>
          <a:bodyPr lIns="0" tIns="0" rIns="0" bIns="0" anchor="ctr" anchorCtr="1">
            <a:spAutoFit/>
          </a:bodyPr>
          <a:lstStyle/>
          <a:p>
            <a:pPr>
              <a:buClr>
                <a:srgbClr val="000000"/>
              </a:buClr>
              <a:buSzPct val="67000"/>
              <a:buFont typeface="StarBats" charset="0"/>
              <a:buNone/>
              <a:tabLst>
                <a:tab pos="723900" algn="l"/>
              </a:tabLst>
            </a:pPr>
            <a:r>
              <a:rPr lang="en-GB" sz="1600">
                <a:latin typeface="Times" charset="0"/>
              </a:rPr>
              <a:t>Class</a:t>
            </a:r>
          </a:p>
        </p:txBody>
      </p:sp>
      <p:sp>
        <p:nvSpPr>
          <p:cNvPr id="11" name="AutoShape 12">
            <a:extLst>
              <a:ext uri="{FF2B5EF4-FFF2-40B4-BE49-F238E27FC236}">
                <a16:creationId xmlns:a16="http://schemas.microsoft.com/office/drawing/2014/main" id="{02F9E62D-3523-B18E-BE5C-85AD14E4DA8C}"/>
              </a:ext>
            </a:extLst>
          </p:cNvPr>
          <p:cNvSpPr>
            <a:spLocks noChangeArrowheads="1"/>
          </p:cNvSpPr>
          <p:nvPr/>
        </p:nvSpPr>
        <p:spPr bwMode="auto">
          <a:xfrm>
            <a:off x="9183167" y="4209513"/>
            <a:ext cx="1022528" cy="443048"/>
          </a:xfrm>
          <a:prstGeom prst="roundRect">
            <a:avLst>
              <a:gd name="adj" fmla="val 315"/>
            </a:avLst>
          </a:prstGeom>
          <a:solidFill>
            <a:schemeClr val="accent2">
              <a:lumMod val="20000"/>
              <a:lumOff val="80000"/>
            </a:schemeClr>
          </a:solidFill>
          <a:ln w="9525">
            <a:solidFill>
              <a:srgbClr val="000000"/>
            </a:solidFill>
            <a:round/>
            <a:headEnd/>
            <a:tailEnd/>
          </a:ln>
        </p:spPr>
        <p:txBody>
          <a:bodyPr lIns="0" tIns="0" rIns="0" bIns="0" anchor="ctr" anchorCtr="1">
            <a:spAutoFit/>
          </a:bodyPr>
          <a:lstStyle/>
          <a:p>
            <a:pPr>
              <a:buClr>
                <a:srgbClr val="000000"/>
              </a:buClr>
              <a:buSzPct val="67000"/>
              <a:buFont typeface="StarBats" charset="0"/>
              <a:buNone/>
              <a:tabLst>
                <a:tab pos="723900" algn="l"/>
              </a:tabLst>
            </a:pPr>
            <a:r>
              <a:rPr lang="en-GB" sz="1600">
                <a:latin typeface="Times" charset="0"/>
              </a:rPr>
              <a:t>Class</a:t>
            </a:r>
          </a:p>
        </p:txBody>
      </p:sp>
      <p:sp>
        <p:nvSpPr>
          <p:cNvPr id="12" name="Line 13">
            <a:extLst>
              <a:ext uri="{FF2B5EF4-FFF2-40B4-BE49-F238E27FC236}">
                <a16:creationId xmlns:a16="http://schemas.microsoft.com/office/drawing/2014/main" id="{8DC6A8FB-E415-AD1B-18C6-FFE9B38E9855}"/>
              </a:ext>
            </a:extLst>
          </p:cNvPr>
          <p:cNvSpPr>
            <a:spLocks noChangeShapeType="1"/>
          </p:cNvSpPr>
          <p:nvPr/>
        </p:nvSpPr>
        <p:spPr bwMode="auto">
          <a:xfrm>
            <a:off x="9771642" y="4644122"/>
            <a:ext cx="20751" cy="568226"/>
          </a:xfrm>
          <a:prstGeom prst="line">
            <a:avLst/>
          </a:prstGeom>
          <a:noFill/>
          <a:ln w="28575">
            <a:solidFill>
              <a:schemeClr val="tx2"/>
            </a:solidFill>
            <a:round/>
            <a:headEnd/>
            <a:tailEnd type="triangle" w="lg" len="lg"/>
          </a:ln>
        </p:spPr>
        <p:txBody>
          <a:bodyPr/>
          <a:lstStyle/>
          <a:p>
            <a:endParaRPr lang="en-US"/>
          </a:p>
        </p:txBody>
      </p:sp>
      <p:sp>
        <p:nvSpPr>
          <p:cNvPr id="13" name="Line 14">
            <a:extLst>
              <a:ext uri="{FF2B5EF4-FFF2-40B4-BE49-F238E27FC236}">
                <a16:creationId xmlns:a16="http://schemas.microsoft.com/office/drawing/2014/main" id="{1C95B156-0C66-6644-F789-7258979AF348}"/>
              </a:ext>
            </a:extLst>
          </p:cNvPr>
          <p:cNvSpPr>
            <a:spLocks noChangeShapeType="1"/>
          </p:cNvSpPr>
          <p:nvPr/>
        </p:nvSpPr>
        <p:spPr bwMode="auto">
          <a:xfrm flipH="1">
            <a:off x="8212974" y="3811472"/>
            <a:ext cx="236744" cy="398041"/>
          </a:xfrm>
          <a:prstGeom prst="line">
            <a:avLst/>
          </a:prstGeom>
          <a:noFill/>
          <a:ln w="28575">
            <a:solidFill>
              <a:schemeClr val="tx2"/>
            </a:solidFill>
            <a:round/>
            <a:headEnd/>
            <a:tailEnd type="triangle" w="lg" len="lg"/>
          </a:ln>
        </p:spPr>
        <p:txBody>
          <a:bodyPr/>
          <a:lstStyle/>
          <a:p>
            <a:endParaRPr lang="en-US"/>
          </a:p>
        </p:txBody>
      </p:sp>
      <p:sp>
        <p:nvSpPr>
          <p:cNvPr id="14" name="Line 15">
            <a:extLst>
              <a:ext uri="{FF2B5EF4-FFF2-40B4-BE49-F238E27FC236}">
                <a16:creationId xmlns:a16="http://schemas.microsoft.com/office/drawing/2014/main" id="{CBE72B17-29F5-1F44-6838-EBAD36E86788}"/>
              </a:ext>
            </a:extLst>
          </p:cNvPr>
          <p:cNvSpPr>
            <a:spLocks noChangeShapeType="1"/>
          </p:cNvSpPr>
          <p:nvPr/>
        </p:nvSpPr>
        <p:spPr bwMode="auto">
          <a:xfrm flipH="1">
            <a:off x="9925852" y="3811472"/>
            <a:ext cx="465881" cy="398041"/>
          </a:xfrm>
          <a:prstGeom prst="line">
            <a:avLst/>
          </a:prstGeom>
          <a:noFill/>
          <a:ln w="28575">
            <a:solidFill>
              <a:schemeClr val="tx2"/>
            </a:solidFill>
            <a:round/>
            <a:headEnd/>
            <a:tailEnd type="triangle" w="lg" len="lg"/>
          </a:ln>
        </p:spPr>
        <p:txBody>
          <a:bodyPr/>
          <a:lstStyle/>
          <a:p>
            <a:endParaRPr lang="en-US"/>
          </a:p>
        </p:txBody>
      </p:sp>
      <p:sp>
        <p:nvSpPr>
          <p:cNvPr id="15" name="Line 16">
            <a:extLst>
              <a:ext uri="{FF2B5EF4-FFF2-40B4-BE49-F238E27FC236}">
                <a16:creationId xmlns:a16="http://schemas.microsoft.com/office/drawing/2014/main" id="{B303A0F6-7E8E-C421-DEE2-0AF8E90B1357}"/>
              </a:ext>
            </a:extLst>
          </p:cNvPr>
          <p:cNvSpPr>
            <a:spLocks noChangeShapeType="1"/>
          </p:cNvSpPr>
          <p:nvPr/>
        </p:nvSpPr>
        <p:spPr bwMode="auto">
          <a:xfrm>
            <a:off x="10696702" y="3811472"/>
            <a:ext cx="172386" cy="398041"/>
          </a:xfrm>
          <a:prstGeom prst="line">
            <a:avLst/>
          </a:prstGeom>
          <a:noFill/>
          <a:ln w="28575">
            <a:solidFill>
              <a:schemeClr val="tx2"/>
            </a:solidFill>
            <a:round/>
            <a:headEnd/>
            <a:tailEnd type="triangle" w="lg" len="lg"/>
          </a:ln>
        </p:spPr>
        <p:txBody>
          <a:bodyPr/>
          <a:lstStyle/>
          <a:p>
            <a:endParaRPr lang="en-US"/>
          </a:p>
        </p:txBody>
      </p:sp>
      <p:sp>
        <p:nvSpPr>
          <p:cNvPr id="16" name="Line 17">
            <a:extLst>
              <a:ext uri="{FF2B5EF4-FFF2-40B4-BE49-F238E27FC236}">
                <a16:creationId xmlns:a16="http://schemas.microsoft.com/office/drawing/2014/main" id="{8A11DFAF-69A0-3407-DFC4-E0149C253D42}"/>
              </a:ext>
            </a:extLst>
          </p:cNvPr>
          <p:cNvSpPr>
            <a:spLocks noChangeShapeType="1"/>
          </p:cNvSpPr>
          <p:nvPr/>
        </p:nvSpPr>
        <p:spPr bwMode="auto">
          <a:xfrm>
            <a:off x="10094060" y="3023831"/>
            <a:ext cx="467530" cy="352070"/>
          </a:xfrm>
          <a:prstGeom prst="line">
            <a:avLst/>
          </a:prstGeom>
          <a:noFill/>
          <a:ln w="28575">
            <a:solidFill>
              <a:schemeClr val="tx2"/>
            </a:solidFill>
            <a:round/>
            <a:headEnd/>
            <a:tailEnd type="triangle" w="lg" len="lg"/>
          </a:ln>
        </p:spPr>
        <p:txBody>
          <a:bodyPr/>
          <a:lstStyle/>
          <a:p>
            <a:endParaRPr lang="en-US"/>
          </a:p>
        </p:txBody>
      </p:sp>
      <p:sp>
        <p:nvSpPr>
          <p:cNvPr id="17" name="Line 18">
            <a:extLst>
              <a:ext uri="{FF2B5EF4-FFF2-40B4-BE49-F238E27FC236}">
                <a16:creationId xmlns:a16="http://schemas.microsoft.com/office/drawing/2014/main" id="{4F69A719-406A-252D-6F0A-F08CE258CAD9}"/>
              </a:ext>
            </a:extLst>
          </p:cNvPr>
          <p:cNvSpPr>
            <a:spLocks noChangeShapeType="1"/>
          </p:cNvSpPr>
          <p:nvPr/>
        </p:nvSpPr>
        <p:spPr bwMode="auto">
          <a:xfrm flipH="1">
            <a:off x="9584071" y="3153229"/>
            <a:ext cx="0" cy="222672"/>
          </a:xfrm>
          <a:prstGeom prst="line">
            <a:avLst/>
          </a:prstGeom>
          <a:noFill/>
          <a:ln w="28575">
            <a:solidFill>
              <a:schemeClr val="tx2"/>
            </a:solidFill>
            <a:round/>
            <a:headEnd/>
            <a:tailEnd type="triangle" w="lg" len="lg"/>
          </a:ln>
        </p:spPr>
        <p:txBody>
          <a:bodyPr/>
          <a:lstStyle/>
          <a:p>
            <a:endParaRPr lang="en-US"/>
          </a:p>
        </p:txBody>
      </p:sp>
      <p:sp>
        <p:nvSpPr>
          <p:cNvPr id="18" name="Line 19">
            <a:extLst>
              <a:ext uri="{FF2B5EF4-FFF2-40B4-BE49-F238E27FC236}">
                <a16:creationId xmlns:a16="http://schemas.microsoft.com/office/drawing/2014/main" id="{E3F38C07-E03B-2C99-FFFC-0377527E1BBC}"/>
              </a:ext>
            </a:extLst>
          </p:cNvPr>
          <p:cNvSpPr>
            <a:spLocks noChangeShapeType="1"/>
          </p:cNvSpPr>
          <p:nvPr/>
        </p:nvSpPr>
        <p:spPr bwMode="auto">
          <a:xfrm flipH="1">
            <a:off x="8709748" y="3061661"/>
            <a:ext cx="340323" cy="314240"/>
          </a:xfrm>
          <a:prstGeom prst="line">
            <a:avLst/>
          </a:prstGeom>
          <a:noFill/>
          <a:ln w="28575">
            <a:solidFill>
              <a:schemeClr val="tx2"/>
            </a:solidFill>
            <a:round/>
            <a:headEnd/>
            <a:tailEnd type="triangle" w="lg" len="lg"/>
          </a:ln>
        </p:spPr>
        <p:txBody>
          <a:bodyPr/>
          <a:lstStyle/>
          <a:p>
            <a:endParaRPr lang="en-US"/>
          </a:p>
        </p:txBody>
      </p:sp>
      <p:sp>
        <p:nvSpPr>
          <p:cNvPr id="19" name="AutoShape 4">
            <a:extLst>
              <a:ext uri="{FF2B5EF4-FFF2-40B4-BE49-F238E27FC236}">
                <a16:creationId xmlns:a16="http://schemas.microsoft.com/office/drawing/2014/main" id="{FFA54700-B693-1C5C-3BC2-FA2A26342176}"/>
              </a:ext>
            </a:extLst>
          </p:cNvPr>
          <p:cNvSpPr>
            <a:spLocks noChangeArrowheads="1"/>
          </p:cNvSpPr>
          <p:nvPr/>
        </p:nvSpPr>
        <p:spPr bwMode="auto">
          <a:xfrm>
            <a:off x="8081032" y="913516"/>
            <a:ext cx="1154112" cy="500063"/>
          </a:xfrm>
          <a:prstGeom prst="roundRect">
            <a:avLst>
              <a:gd name="adj" fmla="val 315"/>
            </a:avLst>
          </a:prstGeom>
          <a:solidFill>
            <a:schemeClr val="accent2">
              <a:lumMod val="20000"/>
              <a:lumOff val="80000"/>
            </a:schemeClr>
          </a:solidFill>
          <a:ln w="9525">
            <a:solidFill>
              <a:schemeClr val="tx2"/>
            </a:solidFill>
            <a:round/>
            <a:headEnd/>
            <a:tailEnd/>
          </a:ln>
        </p:spPr>
        <p:txBody>
          <a:bodyPr lIns="0" tIns="0" rIns="0" bIns="0" anchor="ctr" anchorCtr="1">
            <a:spAutoFit/>
          </a:bodyPr>
          <a:lstStyle/>
          <a:p>
            <a:pPr>
              <a:buClr>
                <a:srgbClr val="000000"/>
              </a:buClr>
              <a:buSzPct val="67000"/>
              <a:buFont typeface="StarBats" charset="0"/>
              <a:buNone/>
              <a:tabLst>
                <a:tab pos="723900" algn="l"/>
              </a:tabLst>
            </a:pPr>
            <a:r>
              <a:rPr lang="en-GB" sz="1600" dirty="0">
                <a:latin typeface="Times" charset="0"/>
              </a:rPr>
              <a:t>Class</a:t>
            </a:r>
          </a:p>
        </p:txBody>
      </p:sp>
      <p:sp>
        <p:nvSpPr>
          <p:cNvPr id="20" name="AutoShape 6">
            <a:extLst>
              <a:ext uri="{FF2B5EF4-FFF2-40B4-BE49-F238E27FC236}">
                <a16:creationId xmlns:a16="http://schemas.microsoft.com/office/drawing/2014/main" id="{BBF920D6-0060-03D2-B641-0CD8CE1C0344}"/>
              </a:ext>
            </a:extLst>
          </p:cNvPr>
          <p:cNvSpPr>
            <a:spLocks noChangeArrowheads="1"/>
          </p:cNvSpPr>
          <p:nvPr/>
        </p:nvSpPr>
        <p:spPr bwMode="auto">
          <a:xfrm>
            <a:off x="9071632" y="1675516"/>
            <a:ext cx="1154113" cy="500062"/>
          </a:xfrm>
          <a:prstGeom prst="roundRect">
            <a:avLst>
              <a:gd name="adj" fmla="val 315"/>
            </a:avLst>
          </a:prstGeom>
          <a:solidFill>
            <a:schemeClr val="accent2">
              <a:lumMod val="20000"/>
              <a:lumOff val="80000"/>
            </a:schemeClr>
          </a:solidFill>
          <a:ln w="9525">
            <a:solidFill>
              <a:srgbClr val="000000"/>
            </a:solidFill>
            <a:round/>
            <a:headEnd/>
            <a:tailEnd/>
          </a:ln>
        </p:spPr>
        <p:txBody>
          <a:bodyPr lIns="0" tIns="0" rIns="0" bIns="0" anchor="ctr" anchorCtr="1">
            <a:spAutoFit/>
          </a:bodyPr>
          <a:lstStyle/>
          <a:p>
            <a:pPr>
              <a:buClr>
                <a:srgbClr val="000000"/>
              </a:buClr>
              <a:buSzPct val="67000"/>
              <a:buFont typeface="StarBats" charset="0"/>
              <a:buNone/>
              <a:tabLst>
                <a:tab pos="723900" algn="l"/>
              </a:tabLst>
            </a:pPr>
            <a:r>
              <a:rPr lang="en-GB" sz="1600" dirty="0">
                <a:latin typeface="Times" charset="0"/>
              </a:rPr>
              <a:t>Class</a:t>
            </a:r>
          </a:p>
        </p:txBody>
      </p:sp>
      <p:sp>
        <p:nvSpPr>
          <p:cNvPr id="21" name="AutoShape 7">
            <a:extLst>
              <a:ext uri="{FF2B5EF4-FFF2-40B4-BE49-F238E27FC236}">
                <a16:creationId xmlns:a16="http://schemas.microsoft.com/office/drawing/2014/main" id="{5622D7CC-3ADE-90ED-87B8-83D00CBF870B}"/>
              </a:ext>
            </a:extLst>
          </p:cNvPr>
          <p:cNvSpPr>
            <a:spLocks noChangeArrowheads="1"/>
          </p:cNvSpPr>
          <p:nvPr/>
        </p:nvSpPr>
        <p:spPr bwMode="auto">
          <a:xfrm>
            <a:off x="10062232" y="913516"/>
            <a:ext cx="1154113" cy="500062"/>
          </a:xfrm>
          <a:prstGeom prst="roundRect">
            <a:avLst>
              <a:gd name="adj" fmla="val 315"/>
            </a:avLst>
          </a:prstGeom>
          <a:solidFill>
            <a:schemeClr val="accent2">
              <a:lumMod val="20000"/>
              <a:lumOff val="80000"/>
            </a:schemeClr>
          </a:solidFill>
          <a:ln w="9525">
            <a:solidFill>
              <a:srgbClr val="000000"/>
            </a:solidFill>
            <a:round/>
            <a:headEnd/>
            <a:tailEnd/>
          </a:ln>
        </p:spPr>
        <p:txBody>
          <a:bodyPr lIns="0" tIns="0" rIns="0" bIns="0" anchor="ctr" anchorCtr="1">
            <a:spAutoFit/>
          </a:bodyPr>
          <a:lstStyle/>
          <a:p>
            <a:pPr>
              <a:buClr>
                <a:srgbClr val="000000"/>
              </a:buClr>
              <a:buSzPct val="67000"/>
              <a:buFont typeface="StarBats" charset="0"/>
              <a:buNone/>
              <a:tabLst>
                <a:tab pos="723900" algn="l"/>
              </a:tabLst>
            </a:pPr>
            <a:r>
              <a:rPr lang="en-GB" sz="1600" dirty="0">
                <a:latin typeface="Times" charset="0"/>
              </a:rPr>
              <a:t>Class</a:t>
            </a:r>
          </a:p>
        </p:txBody>
      </p:sp>
      <p:cxnSp>
        <p:nvCxnSpPr>
          <p:cNvPr id="22" name="Elbow Connector 21">
            <a:extLst>
              <a:ext uri="{FF2B5EF4-FFF2-40B4-BE49-F238E27FC236}">
                <a16:creationId xmlns:a16="http://schemas.microsoft.com/office/drawing/2014/main" id="{856F2B49-247D-8A63-8323-9A605DFE968F}"/>
              </a:ext>
            </a:extLst>
          </p:cNvPr>
          <p:cNvCxnSpPr>
            <a:stCxn id="19" idx="2"/>
            <a:endCxn id="20" idx="1"/>
          </p:cNvCxnSpPr>
          <p:nvPr/>
        </p:nvCxnSpPr>
        <p:spPr>
          <a:xfrm rot="16200000" flipH="1">
            <a:off x="8608876" y="1462791"/>
            <a:ext cx="511968" cy="413544"/>
          </a:xfrm>
          <a:prstGeom prst="bentConnector2">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3" name="Shape 13">
            <a:extLst>
              <a:ext uri="{FF2B5EF4-FFF2-40B4-BE49-F238E27FC236}">
                <a16:creationId xmlns:a16="http://schemas.microsoft.com/office/drawing/2014/main" id="{AE059CD4-65BC-B14B-0F26-696B4AC66E50}"/>
              </a:ext>
            </a:extLst>
          </p:cNvPr>
          <p:cNvCxnSpPr>
            <a:stCxn id="21" idx="2"/>
            <a:endCxn id="20" idx="3"/>
          </p:cNvCxnSpPr>
          <p:nvPr/>
        </p:nvCxnSpPr>
        <p:spPr>
          <a:xfrm rot="5400000">
            <a:off x="10176533" y="1462790"/>
            <a:ext cx="511969" cy="413544"/>
          </a:xfrm>
          <a:prstGeom prst="bentConnector2">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24" name="Multiply 23">
            <a:extLst>
              <a:ext uri="{FF2B5EF4-FFF2-40B4-BE49-F238E27FC236}">
                <a16:creationId xmlns:a16="http://schemas.microsoft.com/office/drawing/2014/main" id="{49D53567-F7E1-10D3-BFC6-BFCDFF934AD0}"/>
              </a:ext>
            </a:extLst>
          </p:cNvPr>
          <p:cNvSpPr/>
          <p:nvPr/>
        </p:nvSpPr>
        <p:spPr>
          <a:xfrm>
            <a:off x="8428196" y="1446916"/>
            <a:ext cx="457200" cy="381000"/>
          </a:xfrm>
          <a:prstGeom prst="mathMultiply">
            <a:avLst/>
          </a:prstGeom>
          <a:solidFill>
            <a:srgbClr val="ED52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ultiply 24">
            <a:extLst>
              <a:ext uri="{FF2B5EF4-FFF2-40B4-BE49-F238E27FC236}">
                <a16:creationId xmlns:a16="http://schemas.microsoft.com/office/drawing/2014/main" id="{803624F5-B32D-2664-A75A-C67CC526F504}"/>
              </a:ext>
            </a:extLst>
          </p:cNvPr>
          <p:cNvSpPr/>
          <p:nvPr/>
        </p:nvSpPr>
        <p:spPr>
          <a:xfrm>
            <a:off x="10411888" y="1446916"/>
            <a:ext cx="457200" cy="381000"/>
          </a:xfrm>
          <a:prstGeom prst="mathMultiply">
            <a:avLst/>
          </a:prstGeom>
          <a:solidFill>
            <a:srgbClr val="ED52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4799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uiExpand="1" animBg="1"/>
      <p:bldP spid="20" grpId="0" uiExpand="1" animBg="1"/>
      <p:bldP spid="21" grpId="0" uiExpand="1" animBg="1"/>
      <p:bldP spid="24" grpId="0" uiExpand="1" animBg="1"/>
      <p:bldP spid="25" grpId="0" uiExpan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600C9-5B8E-C181-BE18-A603A4E2B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D471A-D051-369E-A7A8-6CABEE21FEB1}"/>
              </a:ext>
            </a:extLst>
          </p:cNvPr>
          <p:cNvSpPr>
            <a:spLocks noGrp="1"/>
          </p:cNvSpPr>
          <p:nvPr>
            <p:ph type="title"/>
          </p:nvPr>
        </p:nvSpPr>
        <p:spPr>
          <a:xfrm>
            <a:off x="0" y="1"/>
            <a:ext cx="12192000" cy="711200"/>
          </a:xfrm>
        </p:spPr>
        <p:txBody>
          <a:bodyPr/>
          <a:lstStyle/>
          <a:p>
            <a:r>
              <a:rPr lang="en-US" dirty="0"/>
              <a:t>Object class</a:t>
            </a:r>
          </a:p>
        </p:txBody>
      </p:sp>
      <p:sp>
        <p:nvSpPr>
          <p:cNvPr id="3" name="Content Placeholder 2">
            <a:extLst>
              <a:ext uri="{FF2B5EF4-FFF2-40B4-BE49-F238E27FC236}">
                <a16:creationId xmlns:a16="http://schemas.microsoft.com/office/drawing/2014/main" id="{A9E71A8F-ED52-F781-4ADE-166F0A21687F}"/>
              </a:ext>
            </a:extLst>
          </p:cNvPr>
          <p:cNvSpPr>
            <a:spLocks noGrp="1"/>
          </p:cNvSpPr>
          <p:nvPr>
            <p:ph idx="1"/>
          </p:nvPr>
        </p:nvSpPr>
        <p:spPr>
          <a:xfrm>
            <a:off x="131180" y="863444"/>
            <a:ext cx="11929641" cy="5590565"/>
          </a:xfrm>
        </p:spPr>
        <p:txBody>
          <a:bodyPr/>
          <a:lstStyle/>
          <a:p>
            <a:r>
              <a:rPr lang="en-GB" dirty="0">
                <a:solidFill>
                  <a:srgbClr val="C00000"/>
                </a:solidFill>
              </a:rPr>
              <a:t>Object</a:t>
            </a:r>
            <a:r>
              <a:rPr lang="en-GB" dirty="0"/>
              <a:t> </a:t>
            </a:r>
            <a:r>
              <a:rPr lang="en-GB" dirty="0">
                <a:solidFill>
                  <a:srgbClr val="C00000"/>
                </a:solidFill>
              </a:rPr>
              <a:t>class</a:t>
            </a:r>
            <a:r>
              <a:rPr lang="en-GB" dirty="0"/>
              <a:t> is </a:t>
            </a:r>
            <a:r>
              <a:rPr lang="en-GB" dirty="0">
                <a:solidFill>
                  <a:srgbClr val="C00000"/>
                </a:solidFill>
              </a:rPr>
              <a:t>super</a:t>
            </a:r>
            <a:r>
              <a:rPr lang="en-GB" dirty="0"/>
              <a:t> class of all the classes.</a:t>
            </a:r>
          </a:p>
          <a:p>
            <a:r>
              <a:rPr lang="en-GB" dirty="0"/>
              <a:t>The </a:t>
            </a:r>
            <a:r>
              <a:rPr lang="en-GB" dirty="0">
                <a:solidFill>
                  <a:srgbClr val="C00000"/>
                </a:solidFill>
              </a:rPr>
              <a:t>Object</a:t>
            </a:r>
            <a:r>
              <a:rPr lang="en-GB" dirty="0"/>
              <a:t> class is defined in the </a:t>
            </a:r>
            <a:r>
              <a:rPr lang="en-GB" dirty="0" err="1">
                <a:solidFill>
                  <a:srgbClr val="C00000"/>
                </a:solidFill>
              </a:rPr>
              <a:t>java.lang</a:t>
            </a:r>
            <a:r>
              <a:rPr lang="en-GB" dirty="0"/>
              <a:t> package</a:t>
            </a:r>
          </a:p>
          <a:p>
            <a:endParaRPr lang="en-US" dirty="0"/>
          </a:p>
          <a:p>
            <a:endParaRPr lang="en-US" dirty="0"/>
          </a:p>
        </p:txBody>
      </p:sp>
      <p:cxnSp>
        <p:nvCxnSpPr>
          <p:cNvPr id="4" name="Straight Arrow Connector 3">
            <a:extLst>
              <a:ext uri="{FF2B5EF4-FFF2-40B4-BE49-F238E27FC236}">
                <a16:creationId xmlns:a16="http://schemas.microsoft.com/office/drawing/2014/main" id="{B5CB3179-7679-F5B0-1EF3-F4BC35BBA61F}"/>
              </a:ext>
            </a:extLst>
          </p:cNvPr>
          <p:cNvCxnSpPr>
            <a:stCxn id="6" idx="1"/>
          </p:cNvCxnSpPr>
          <p:nvPr/>
        </p:nvCxnSpPr>
        <p:spPr>
          <a:xfrm flipH="1">
            <a:off x="3517084" y="2617441"/>
            <a:ext cx="1714500" cy="60960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7C13E6B5-CFE6-016D-EA5E-A8C0BB2BB60A}"/>
              </a:ext>
            </a:extLst>
          </p:cNvPr>
          <p:cNvCxnSpPr>
            <a:stCxn id="6" idx="1"/>
          </p:cNvCxnSpPr>
          <p:nvPr/>
        </p:nvCxnSpPr>
        <p:spPr>
          <a:xfrm flipH="1">
            <a:off x="3898084" y="2617441"/>
            <a:ext cx="1333500" cy="60960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6" name="Rounded Rectangle 5">
            <a:extLst>
              <a:ext uri="{FF2B5EF4-FFF2-40B4-BE49-F238E27FC236}">
                <a16:creationId xmlns:a16="http://schemas.microsoft.com/office/drawing/2014/main" id="{603E4E49-2FA5-2B67-3482-08305A391F2F}"/>
              </a:ext>
            </a:extLst>
          </p:cNvPr>
          <p:cNvSpPr/>
          <p:nvPr/>
        </p:nvSpPr>
        <p:spPr>
          <a:xfrm>
            <a:off x="5231584" y="2388841"/>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Object</a:t>
            </a:r>
            <a:endParaRPr lang="en-US" dirty="0">
              <a:solidFill>
                <a:schemeClr val="tx1"/>
              </a:solidFill>
            </a:endParaRPr>
          </a:p>
        </p:txBody>
      </p:sp>
      <p:sp>
        <p:nvSpPr>
          <p:cNvPr id="7" name="Rounded Rectangle 6">
            <a:extLst>
              <a:ext uri="{FF2B5EF4-FFF2-40B4-BE49-F238E27FC236}">
                <a16:creationId xmlns:a16="http://schemas.microsoft.com/office/drawing/2014/main" id="{C4EBE370-7191-FF22-C383-B17DE840CD03}"/>
              </a:ext>
            </a:extLst>
          </p:cNvPr>
          <p:cNvSpPr/>
          <p:nvPr/>
        </p:nvSpPr>
        <p:spPr>
          <a:xfrm>
            <a:off x="2831284" y="3311554"/>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8" name="Rounded Rectangle 7">
            <a:extLst>
              <a:ext uri="{FF2B5EF4-FFF2-40B4-BE49-F238E27FC236}">
                <a16:creationId xmlns:a16="http://schemas.microsoft.com/office/drawing/2014/main" id="{FF0E5491-D414-4C2A-FB72-850233652D73}"/>
              </a:ext>
            </a:extLst>
          </p:cNvPr>
          <p:cNvSpPr/>
          <p:nvPr/>
        </p:nvSpPr>
        <p:spPr>
          <a:xfrm>
            <a:off x="1840684" y="4302154"/>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9" name="Rounded Rectangle 8">
            <a:extLst>
              <a:ext uri="{FF2B5EF4-FFF2-40B4-BE49-F238E27FC236}">
                <a16:creationId xmlns:a16="http://schemas.microsoft.com/office/drawing/2014/main" id="{487CB54E-3326-CF5D-E9EB-B7F3B3166F50}"/>
              </a:ext>
            </a:extLst>
          </p:cNvPr>
          <p:cNvSpPr/>
          <p:nvPr/>
        </p:nvSpPr>
        <p:spPr>
          <a:xfrm>
            <a:off x="4660084" y="3311554"/>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10" name="Rounded Rectangle 9">
            <a:extLst>
              <a:ext uri="{FF2B5EF4-FFF2-40B4-BE49-F238E27FC236}">
                <a16:creationId xmlns:a16="http://schemas.microsoft.com/office/drawing/2014/main" id="{0BBDEA65-1B5E-30C9-F2ED-06B28C45BB99}"/>
              </a:ext>
            </a:extLst>
          </p:cNvPr>
          <p:cNvSpPr/>
          <p:nvPr/>
        </p:nvSpPr>
        <p:spPr>
          <a:xfrm>
            <a:off x="3669484" y="4302154"/>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11" name="Rounded Rectangle 10">
            <a:extLst>
              <a:ext uri="{FF2B5EF4-FFF2-40B4-BE49-F238E27FC236}">
                <a16:creationId xmlns:a16="http://schemas.microsoft.com/office/drawing/2014/main" id="{1F2FA00B-C765-7A3A-1B36-5BFA596D1852}"/>
              </a:ext>
            </a:extLst>
          </p:cNvPr>
          <p:cNvSpPr/>
          <p:nvPr/>
        </p:nvSpPr>
        <p:spPr>
          <a:xfrm>
            <a:off x="6412684" y="3311554"/>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12" name="Rounded Rectangle 11">
            <a:extLst>
              <a:ext uri="{FF2B5EF4-FFF2-40B4-BE49-F238E27FC236}">
                <a16:creationId xmlns:a16="http://schemas.microsoft.com/office/drawing/2014/main" id="{CDC7953A-AA55-B363-C8E0-BA98479DDCF3}"/>
              </a:ext>
            </a:extLst>
          </p:cNvPr>
          <p:cNvSpPr/>
          <p:nvPr/>
        </p:nvSpPr>
        <p:spPr>
          <a:xfrm>
            <a:off x="5422084" y="4302154"/>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13" name="Rounded Rectangle 12">
            <a:extLst>
              <a:ext uri="{FF2B5EF4-FFF2-40B4-BE49-F238E27FC236}">
                <a16:creationId xmlns:a16="http://schemas.microsoft.com/office/drawing/2014/main" id="{364392AA-7DEE-13BC-7771-4FB0469E4E4A}"/>
              </a:ext>
            </a:extLst>
          </p:cNvPr>
          <p:cNvSpPr/>
          <p:nvPr/>
        </p:nvSpPr>
        <p:spPr>
          <a:xfrm>
            <a:off x="8165284" y="3311554"/>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14" name="Rounded Rectangle 13">
            <a:extLst>
              <a:ext uri="{FF2B5EF4-FFF2-40B4-BE49-F238E27FC236}">
                <a16:creationId xmlns:a16="http://schemas.microsoft.com/office/drawing/2014/main" id="{FA3F290F-D294-C1DB-C8B1-30CD9AAD7C84}"/>
              </a:ext>
            </a:extLst>
          </p:cNvPr>
          <p:cNvSpPr/>
          <p:nvPr/>
        </p:nvSpPr>
        <p:spPr>
          <a:xfrm>
            <a:off x="7174684" y="4302154"/>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15" name="Rounded Rectangle 14">
            <a:extLst>
              <a:ext uri="{FF2B5EF4-FFF2-40B4-BE49-F238E27FC236}">
                <a16:creationId xmlns:a16="http://schemas.microsoft.com/office/drawing/2014/main" id="{478F1157-355A-9C5F-2862-C2F1CBA88E1D}"/>
              </a:ext>
            </a:extLst>
          </p:cNvPr>
          <p:cNvSpPr/>
          <p:nvPr/>
        </p:nvSpPr>
        <p:spPr>
          <a:xfrm>
            <a:off x="8927284" y="4302154"/>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16" name="Rounded Rectangle 15">
            <a:extLst>
              <a:ext uri="{FF2B5EF4-FFF2-40B4-BE49-F238E27FC236}">
                <a16:creationId xmlns:a16="http://schemas.microsoft.com/office/drawing/2014/main" id="{C3266483-B324-41DA-0AD9-AA57AAD0CAC5}"/>
              </a:ext>
            </a:extLst>
          </p:cNvPr>
          <p:cNvSpPr/>
          <p:nvPr/>
        </p:nvSpPr>
        <p:spPr>
          <a:xfrm>
            <a:off x="2755084" y="3227041"/>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17" name="Rounded Rectangle 16">
            <a:extLst>
              <a:ext uri="{FF2B5EF4-FFF2-40B4-BE49-F238E27FC236}">
                <a16:creationId xmlns:a16="http://schemas.microsoft.com/office/drawing/2014/main" id="{78F96053-66F8-4D81-EDFA-3F79841F10DD}"/>
              </a:ext>
            </a:extLst>
          </p:cNvPr>
          <p:cNvSpPr/>
          <p:nvPr/>
        </p:nvSpPr>
        <p:spPr>
          <a:xfrm>
            <a:off x="8851084" y="4217641"/>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18" name="Rounded Rectangle 17">
            <a:extLst>
              <a:ext uri="{FF2B5EF4-FFF2-40B4-BE49-F238E27FC236}">
                <a16:creationId xmlns:a16="http://schemas.microsoft.com/office/drawing/2014/main" id="{D789DE39-92E8-AE86-58C0-8427E567273D}"/>
              </a:ext>
            </a:extLst>
          </p:cNvPr>
          <p:cNvSpPr/>
          <p:nvPr/>
        </p:nvSpPr>
        <p:spPr>
          <a:xfrm>
            <a:off x="2678884" y="3150841"/>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sp>
        <p:nvSpPr>
          <p:cNvPr id="19" name="Rounded Rectangle 18">
            <a:extLst>
              <a:ext uri="{FF2B5EF4-FFF2-40B4-BE49-F238E27FC236}">
                <a16:creationId xmlns:a16="http://schemas.microsoft.com/office/drawing/2014/main" id="{0B3E76BC-A062-7D5A-0276-502F3C11D137}"/>
              </a:ext>
            </a:extLst>
          </p:cNvPr>
          <p:cNvSpPr/>
          <p:nvPr/>
        </p:nvSpPr>
        <p:spPr>
          <a:xfrm>
            <a:off x="8774884" y="4141441"/>
            <a:ext cx="14478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
            </a:r>
            <a:endParaRPr lang="en-US" dirty="0">
              <a:solidFill>
                <a:schemeClr val="tx1"/>
              </a:solidFill>
            </a:endParaRPr>
          </a:p>
        </p:txBody>
      </p:sp>
      <p:cxnSp>
        <p:nvCxnSpPr>
          <p:cNvPr id="20" name="Straight Arrow Connector 19">
            <a:extLst>
              <a:ext uri="{FF2B5EF4-FFF2-40B4-BE49-F238E27FC236}">
                <a16:creationId xmlns:a16="http://schemas.microsoft.com/office/drawing/2014/main" id="{74D604FC-BC1E-05CE-34A2-54308F34116B}"/>
              </a:ext>
            </a:extLst>
          </p:cNvPr>
          <p:cNvCxnSpPr>
            <a:stCxn id="6" idx="1"/>
            <a:endCxn id="18" idx="0"/>
          </p:cNvCxnSpPr>
          <p:nvPr/>
        </p:nvCxnSpPr>
        <p:spPr>
          <a:xfrm flipH="1">
            <a:off x="3402784" y="2617441"/>
            <a:ext cx="1828800" cy="53340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D27DDBE-B460-1FC5-59CA-4819AB5E2D2F}"/>
              </a:ext>
            </a:extLst>
          </p:cNvPr>
          <p:cNvCxnSpPr>
            <a:stCxn id="6" idx="2"/>
            <a:endCxn id="9" idx="0"/>
          </p:cNvCxnSpPr>
          <p:nvPr/>
        </p:nvCxnSpPr>
        <p:spPr>
          <a:xfrm flipH="1">
            <a:off x="5383984" y="2846041"/>
            <a:ext cx="571500" cy="465513"/>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0561AB3-D708-36E1-CB73-5275C4EEF27C}"/>
              </a:ext>
            </a:extLst>
          </p:cNvPr>
          <p:cNvCxnSpPr>
            <a:stCxn id="6" idx="2"/>
            <a:endCxn id="11" idx="0"/>
          </p:cNvCxnSpPr>
          <p:nvPr/>
        </p:nvCxnSpPr>
        <p:spPr>
          <a:xfrm>
            <a:off x="5955484" y="2846041"/>
            <a:ext cx="1181100" cy="465513"/>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F4425F5-62A9-257E-D214-212D46AC5412}"/>
              </a:ext>
            </a:extLst>
          </p:cNvPr>
          <p:cNvCxnSpPr>
            <a:stCxn id="6" idx="2"/>
            <a:endCxn id="13" idx="0"/>
          </p:cNvCxnSpPr>
          <p:nvPr/>
        </p:nvCxnSpPr>
        <p:spPr>
          <a:xfrm>
            <a:off x="5955484" y="2846041"/>
            <a:ext cx="2933700" cy="465513"/>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0CECDE9-8B83-C8E1-6B7D-B44EC4AB2E44}"/>
              </a:ext>
            </a:extLst>
          </p:cNvPr>
          <p:cNvCxnSpPr>
            <a:stCxn id="7" idx="2"/>
            <a:endCxn id="8" idx="0"/>
          </p:cNvCxnSpPr>
          <p:nvPr/>
        </p:nvCxnSpPr>
        <p:spPr>
          <a:xfrm flipH="1">
            <a:off x="2564584" y="3768754"/>
            <a:ext cx="990600" cy="53340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D2E1201-3555-4896-4E3E-490AEA788C42}"/>
              </a:ext>
            </a:extLst>
          </p:cNvPr>
          <p:cNvCxnSpPr>
            <a:stCxn id="9" idx="2"/>
            <a:endCxn id="10" idx="0"/>
          </p:cNvCxnSpPr>
          <p:nvPr/>
        </p:nvCxnSpPr>
        <p:spPr>
          <a:xfrm flipH="1">
            <a:off x="4393384" y="3768754"/>
            <a:ext cx="990600" cy="53340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BCEE97F-BD68-029A-C4D6-EE62A28AFFB1}"/>
              </a:ext>
            </a:extLst>
          </p:cNvPr>
          <p:cNvCxnSpPr>
            <a:stCxn id="9" idx="2"/>
            <a:endCxn id="12" idx="0"/>
          </p:cNvCxnSpPr>
          <p:nvPr/>
        </p:nvCxnSpPr>
        <p:spPr>
          <a:xfrm>
            <a:off x="5383984" y="3768754"/>
            <a:ext cx="762000" cy="53340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52E9D0B-83AF-D779-1072-4DFA86ACE70D}"/>
              </a:ext>
            </a:extLst>
          </p:cNvPr>
          <p:cNvCxnSpPr>
            <a:stCxn id="11" idx="2"/>
            <a:endCxn id="14" idx="0"/>
          </p:cNvCxnSpPr>
          <p:nvPr/>
        </p:nvCxnSpPr>
        <p:spPr>
          <a:xfrm>
            <a:off x="7136584" y="3768754"/>
            <a:ext cx="762000" cy="53340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1DD2B64-B194-0150-7B03-DE5404F53067}"/>
              </a:ext>
            </a:extLst>
          </p:cNvPr>
          <p:cNvCxnSpPr>
            <a:stCxn id="13" idx="2"/>
            <a:endCxn id="19" idx="0"/>
          </p:cNvCxnSpPr>
          <p:nvPr/>
        </p:nvCxnSpPr>
        <p:spPr>
          <a:xfrm>
            <a:off x="8889184" y="3768754"/>
            <a:ext cx="609600" cy="372687"/>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239F1E7-B283-0A77-CC4D-CB0B9F8A2AB9}"/>
              </a:ext>
            </a:extLst>
          </p:cNvPr>
          <p:cNvCxnSpPr>
            <a:stCxn id="13" idx="2"/>
          </p:cNvCxnSpPr>
          <p:nvPr/>
        </p:nvCxnSpPr>
        <p:spPr>
          <a:xfrm>
            <a:off x="8889184" y="3768754"/>
            <a:ext cx="495300" cy="372687"/>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0B3B5E1-CE74-2C5B-0F2D-6214676A5589}"/>
              </a:ext>
            </a:extLst>
          </p:cNvPr>
          <p:cNvCxnSpPr>
            <a:stCxn id="13" idx="2"/>
          </p:cNvCxnSpPr>
          <p:nvPr/>
        </p:nvCxnSpPr>
        <p:spPr>
          <a:xfrm>
            <a:off x="8889184" y="3768754"/>
            <a:ext cx="342900" cy="372687"/>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0343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D5378-5523-A075-FBC7-95DBBE310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F0364A-79DB-5810-D4BD-96D5428AA8F8}"/>
              </a:ext>
            </a:extLst>
          </p:cNvPr>
          <p:cNvSpPr>
            <a:spLocks noGrp="1"/>
          </p:cNvSpPr>
          <p:nvPr>
            <p:ph type="title"/>
          </p:nvPr>
        </p:nvSpPr>
        <p:spPr>
          <a:xfrm>
            <a:off x="0" y="1"/>
            <a:ext cx="12192000" cy="711200"/>
          </a:xfrm>
        </p:spPr>
        <p:txBody>
          <a:bodyPr/>
          <a:lstStyle/>
          <a:p>
            <a:r>
              <a:rPr lang="en-US" dirty="0"/>
              <a:t>Overriding methods</a:t>
            </a:r>
          </a:p>
        </p:txBody>
      </p:sp>
      <p:sp>
        <p:nvSpPr>
          <p:cNvPr id="3" name="Content Placeholder 2">
            <a:extLst>
              <a:ext uri="{FF2B5EF4-FFF2-40B4-BE49-F238E27FC236}">
                <a16:creationId xmlns:a16="http://schemas.microsoft.com/office/drawing/2014/main" id="{C88B9F64-6C86-1323-6CD5-FB7E7BD056CB}"/>
              </a:ext>
            </a:extLst>
          </p:cNvPr>
          <p:cNvSpPr>
            <a:spLocks noGrp="1"/>
          </p:cNvSpPr>
          <p:nvPr>
            <p:ph idx="1"/>
          </p:nvPr>
        </p:nvSpPr>
        <p:spPr>
          <a:xfrm>
            <a:off x="131180" y="863444"/>
            <a:ext cx="11929641" cy="5590565"/>
          </a:xfrm>
        </p:spPr>
        <p:txBody>
          <a:bodyPr/>
          <a:lstStyle/>
          <a:p>
            <a:r>
              <a:rPr lang="en-US" dirty="0"/>
              <a:t>Subclasses </a:t>
            </a:r>
            <a:r>
              <a:rPr lang="en-US" dirty="0">
                <a:solidFill>
                  <a:srgbClr val="C00000"/>
                </a:solidFill>
              </a:rPr>
              <a:t>inherit</a:t>
            </a:r>
            <a:r>
              <a:rPr lang="en-US" dirty="0"/>
              <a:t> all </a:t>
            </a:r>
            <a:r>
              <a:rPr lang="en-US" dirty="0">
                <a:solidFill>
                  <a:srgbClr val="C00000"/>
                </a:solidFill>
              </a:rPr>
              <a:t>methods</a:t>
            </a:r>
            <a:r>
              <a:rPr lang="en-US" dirty="0"/>
              <a:t> from their </a:t>
            </a:r>
            <a:r>
              <a:rPr lang="en-US" dirty="0">
                <a:solidFill>
                  <a:srgbClr val="C00000"/>
                </a:solidFill>
              </a:rPr>
              <a:t>superclass</a:t>
            </a:r>
          </a:p>
          <a:p>
            <a:pPr lvl="1"/>
            <a:r>
              <a:rPr lang="en-US" sz="2200" dirty="0"/>
              <a:t>Sometimes, the implementation of the method in the superclass </a:t>
            </a:r>
            <a:r>
              <a:rPr lang="en-US" sz="2200" dirty="0">
                <a:solidFill>
                  <a:srgbClr val="C00000"/>
                </a:solidFill>
              </a:rPr>
              <a:t>does</a:t>
            </a:r>
            <a:r>
              <a:rPr lang="en-US" sz="2200" dirty="0"/>
              <a:t> </a:t>
            </a:r>
            <a:r>
              <a:rPr lang="en-US" sz="2200" dirty="0">
                <a:solidFill>
                  <a:srgbClr val="C00000"/>
                </a:solidFill>
              </a:rPr>
              <a:t>not</a:t>
            </a:r>
            <a:r>
              <a:rPr lang="en-US" sz="2200" dirty="0"/>
              <a:t> provide the </a:t>
            </a:r>
            <a:r>
              <a:rPr lang="en-US" sz="2200" dirty="0">
                <a:solidFill>
                  <a:srgbClr val="C00000"/>
                </a:solidFill>
              </a:rPr>
              <a:t>functionality</a:t>
            </a:r>
            <a:r>
              <a:rPr lang="en-US" sz="2200" dirty="0"/>
              <a:t> required by the </a:t>
            </a:r>
            <a:r>
              <a:rPr lang="en-US" sz="2200" dirty="0">
                <a:solidFill>
                  <a:srgbClr val="C00000"/>
                </a:solidFill>
              </a:rPr>
              <a:t>subclass</a:t>
            </a:r>
            <a:r>
              <a:rPr lang="en-US" sz="2200" dirty="0"/>
              <a:t>.</a:t>
            </a:r>
          </a:p>
          <a:p>
            <a:pPr lvl="1"/>
            <a:r>
              <a:rPr lang="en-US" sz="2200" dirty="0"/>
              <a:t>In these cases, the method must be </a:t>
            </a:r>
            <a:r>
              <a:rPr lang="en-US" sz="2200" dirty="0">
                <a:solidFill>
                  <a:srgbClr val="C00000"/>
                </a:solidFill>
              </a:rPr>
              <a:t>overridden</a:t>
            </a:r>
            <a:r>
              <a:rPr lang="en-US" sz="2200" dirty="0"/>
              <a:t>.</a:t>
            </a:r>
          </a:p>
          <a:p>
            <a:r>
              <a:rPr lang="en-US" dirty="0"/>
              <a:t>Rules for Method overriding</a:t>
            </a:r>
          </a:p>
          <a:p>
            <a:pPr lvl="1"/>
            <a:r>
              <a:rPr lang="en-US" sz="2200" dirty="0">
                <a:solidFill>
                  <a:srgbClr val="C00000"/>
                </a:solidFill>
              </a:rPr>
              <a:t>Method</a:t>
            </a:r>
            <a:r>
              <a:rPr lang="en-US" sz="2200" dirty="0"/>
              <a:t> </a:t>
            </a:r>
            <a:r>
              <a:rPr lang="en-US" sz="2200" dirty="0">
                <a:solidFill>
                  <a:srgbClr val="C00000"/>
                </a:solidFill>
              </a:rPr>
              <a:t>signature</a:t>
            </a:r>
            <a:r>
              <a:rPr lang="en-US" sz="2200" dirty="0"/>
              <a:t> must be same as of Super Class method.</a:t>
            </a:r>
          </a:p>
          <a:p>
            <a:pPr lvl="1"/>
            <a:r>
              <a:rPr lang="en-US" sz="2200" dirty="0"/>
              <a:t>The </a:t>
            </a:r>
            <a:r>
              <a:rPr lang="en-US" sz="2200" dirty="0">
                <a:solidFill>
                  <a:srgbClr val="C00000"/>
                </a:solidFill>
              </a:rPr>
              <a:t>return</a:t>
            </a:r>
            <a:r>
              <a:rPr lang="en-US" sz="2200" dirty="0"/>
              <a:t> </a:t>
            </a:r>
            <a:r>
              <a:rPr lang="en-US" sz="2200" dirty="0">
                <a:solidFill>
                  <a:srgbClr val="C00000"/>
                </a:solidFill>
              </a:rPr>
              <a:t>type</a:t>
            </a:r>
            <a:r>
              <a:rPr lang="en-US" sz="2200" dirty="0"/>
              <a:t> should be the </a:t>
            </a:r>
            <a:r>
              <a:rPr lang="en-US" sz="2200" dirty="0">
                <a:solidFill>
                  <a:srgbClr val="C00000"/>
                </a:solidFill>
              </a:rPr>
              <a:t>same</a:t>
            </a:r>
            <a:r>
              <a:rPr lang="en-US" sz="2200" dirty="0"/>
              <a:t>.</a:t>
            </a:r>
          </a:p>
          <a:p>
            <a:pPr lvl="1"/>
            <a:r>
              <a:rPr lang="en-US" sz="2200" dirty="0"/>
              <a:t>The </a:t>
            </a:r>
            <a:r>
              <a:rPr lang="en-US" sz="2200" dirty="0">
                <a:solidFill>
                  <a:srgbClr val="C00000"/>
                </a:solidFill>
              </a:rPr>
              <a:t>access</a:t>
            </a:r>
            <a:r>
              <a:rPr lang="en-US" sz="2200" dirty="0"/>
              <a:t> </a:t>
            </a:r>
            <a:r>
              <a:rPr lang="en-US" sz="2200" dirty="0">
                <a:solidFill>
                  <a:srgbClr val="C00000"/>
                </a:solidFill>
              </a:rPr>
              <a:t>level</a:t>
            </a:r>
            <a:r>
              <a:rPr lang="en-US" sz="2200" dirty="0"/>
              <a:t> cannot be more </a:t>
            </a:r>
            <a:r>
              <a:rPr lang="en-US" sz="2200" dirty="0">
                <a:solidFill>
                  <a:srgbClr val="C00000"/>
                </a:solidFill>
              </a:rPr>
              <a:t>restrictive</a:t>
            </a:r>
            <a:r>
              <a:rPr lang="en-US" sz="2200" dirty="0"/>
              <a:t> than the </a:t>
            </a:r>
            <a:r>
              <a:rPr lang="en-US" sz="2200" dirty="0">
                <a:solidFill>
                  <a:srgbClr val="C00000"/>
                </a:solidFill>
              </a:rPr>
              <a:t>overridden</a:t>
            </a:r>
            <a:r>
              <a:rPr lang="en-US" sz="2200" dirty="0"/>
              <a:t> method's access level.</a:t>
            </a:r>
          </a:p>
          <a:p>
            <a:pPr lvl="2"/>
            <a:r>
              <a:rPr lang="en-IN" sz="2000" dirty="0"/>
              <a:t>Example : </a:t>
            </a:r>
          </a:p>
          <a:p>
            <a:pPr lvl="3"/>
            <a:r>
              <a:rPr lang="en-IN" sz="2000" dirty="0"/>
              <a:t>protected -&gt; public   	</a:t>
            </a:r>
            <a:r>
              <a:rPr lang="en-IN" sz="2000" dirty="0">
                <a:solidFill>
                  <a:srgbClr val="00B050"/>
                </a:solidFill>
              </a:rPr>
              <a:t>// is allowed</a:t>
            </a:r>
          </a:p>
          <a:p>
            <a:pPr lvl="3"/>
            <a:r>
              <a:rPr lang="en-IN" sz="2000" dirty="0"/>
              <a:t>protected -&gt; private  	</a:t>
            </a:r>
            <a:r>
              <a:rPr lang="en-IN" sz="2000" dirty="0">
                <a:solidFill>
                  <a:srgbClr val="FF0000"/>
                </a:solidFill>
              </a:rPr>
              <a:t>// is not allowed</a:t>
            </a:r>
            <a:endParaRPr lang="en-US" sz="2000" dirty="0">
              <a:solidFill>
                <a:srgbClr val="FF0000"/>
              </a:solidFill>
            </a:endParaRPr>
          </a:p>
          <a:p>
            <a:pPr lvl="1"/>
            <a:endParaRPr lang="en-US" dirty="0"/>
          </a:p>
          <a:p>
            <a:endParaRPr lang="en-US" dirty="0"/>
          </a:p>
        </p:txBody>
      </p:sp>
    </p:spTree>
    <p:extLst>
      <p:ext uri="{BB962C8B-B14F-4D97-AF65-F5344CB8AC3E}">
        <p14:creationId xmlns:p14="http://schemas.microsoft.com/office/powerpoint/2010/main" val="115366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1042E-BC9F-E3EE-5DBF-6515B9473A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0FDC8E-798E-CC16-FF61-8D7A309843AF}"/>
              </a:ext>
            </a:extLst>
          </p:cNvPr>
          <p:cNvSpPr>
            <a:spLocks noGrp="1"/>
          </p:cNvSpPr>
          <p:nvPr>
            <p:ph type="title"/>
          </p:nvPr>
        </p:nvSpPr>
        <p:spPr>
          <a:xfrm>
            <a:off x="0" y="1"/>
            <a:ext cx="12192000" cy="711200"/>
          </a:xfrm>
        </p:spPr>
        <p:txBody>
          <a:bodyPr/>
          <a:lstStyle/>
          <a:p>
            <a:r>
              <a:rPr lang="en-US" dirty="0"/>
              <a:t>Overriding (Example)</a:t>
            </a:r>
          </a:p>
        </p:txBody>
      </p:sp>
      <p:sp>
        <p:nvSpPr>
          <p:cNvPr id="3" name="Rectangle 2">
            <a:extLst>
              <a:ext uri="{FF2B5EF4-FFF2-40B4-BE49-F238E27FC236}">
                <a16:creationId xmlns:a16="http://schemas.microsoft.com/office/drawing/2014/main" id="{E1D0449A-D332-36CA-07CB-1CB8434F3566}"/>
              </a:ext>
            </a:extLst>
          </p:cNvPr>
          <p:cNvSpPr/>
          <p:nvPr/>
        </p:nvSpPr>
        <p:spPr>
          <a:xfrm>
            <a:off x="237065" y="953155"/>
            <a:ext cx="5147733" cy="2308324"/>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SmartPhone</a:t>
            </a:r>
            <a:r>
              <a:rPr lang="en-US"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a:t>
            </a:r>
            <a:r>
              <a:rPr lang="en-US" b="1" dirty="0" err="1">
                <a:solidFill>
                  <a:srgbClr val="000000"/>
                </a:solidFill>
                <a:latin typeface="Consolas"/>
              </a:rPr>
              <a:t>setAlarm</a:t>
            </a:r>
            <a:r>
              <a:rPr lang="en-US" b="1" dirty="0">
                <a:solidFill>
                  <a:srgbClr val="000000"/>
                </a:solidFill>
                <a:latin typeface="Consolas"/>
              </a:rPr>
              <a:t>()</a:t>
            </a:r>
            <a:r>
              <a:rPr lang="en-US" dirty="0">
                <a:solidFill>
                  <a:srgbClr val="000000"/>
                </a:solidFill>
                <a:latin typeface="Consolas"/>
              </a:rPr>
              <a:t>{</a:t>
            </a:r>
          </a:p>
          <a:p>
            <a:pPr lvl="1"/>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endParaRPr lang="en-US" b="1" i="1" dirty="0">
              <a:solidFill>
                <a:srgbClr val="000000"/>
              </a:solidFill>
              <a:latin typeface="Consolas"/>
            </a:endParaRPr>
          </a:p>
          <a:p>
            <a:pPr lvl="1"/>
            <a:r>
              <a:rPr lang="en-US" b="1" i="1" dirty="0">
                <a:solidFill>
                  <a:srgbClr val="000000"/>
                </a:solidFill>
                <a:latin typeface="Consolas"/>
              </a:rPr>
              <a:t>	(</a:t>
            </a:r>
            <a:r>
              <a:rPr lang="en-US" b="1" i="1" dirty="0">
                <a:solidFill>
                  <a:srgbClr val="2A00FF"/>
                </a:solidFill>
                <a:latin typeface="Consolas"/>
              </a:rPr>
              <a:t>"</a:t>
            </a:r>
            <a:r>
              <a:rPr lang="en-US" b="1" i="1" dirty="0" err="1">
                <a:solidFill>
                  <a:srgbClr val="2A00FF"/>
                </a:solidFill>
                <a:latin typeface="Consolas"/>
              </a:rPr>
              <a:t>Goto</a:t>
            </a:r>
            <a:r>
              <a:rPr lang="en-US" b="1" i="1" dirty="0">
                <a:solidFill>
                  <a:srgbClr val="2A00FF"/>
                </a:solidFill>
                <a:latin typeface="Consolas"/>
              </a:rPr>
              <a:t> 	Apps\n</a:t>
            </a:r>
          </a:p>
          <a:p>
            <a:pPr lvl="1"/>
            <a:r>
              <a:rPr lang="en-US" b="1" i="1" dirty="0">
                <a:solidFill>
                  <a:srgbClr val="2A00FF"/>
                </a:solidFill>
                <a:latin typeface="Consolas"/>
              </a:rPr>
              <a:t>	Open Clock\n</a:t>
            </a:r>
          </a:p>
          <a:p>
            <a:pPr lvl="1"/>
            <a:r>
              <a:rPr lang="en-US" b="1" i="1" dirty="0">
                <a:solidFill>
                  <a:srgbClr val="2A00FF"/>
                </a:solidFill>
                <a:latin typeface="Consolas"/>
              </a:rPr>
              <a:t>	Set Alarm"</a:t>
            </a:r>
            <a:r>
              <a:rPr lang="en-US" b="1" i="1"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sp>
        <p:nvSpPr>
          <p:cNvPr id="4" name="Rectangle 3">
            <a:extLst>
              <a:ext uri="{FF2B5EF4-FFF2-40B4-BE49-F238E27FC236}">
                <a16:creationId xmlns:a16="http://schemas.microsoft.com/office/drawing/2014/main" id="{38925298-3B1C-FE31-2E5B-EF69B44D38FB}"/>
              </a:ext>
            </a:extLst>
          </p:cNvPr>
          <p:cNvSpPr/>
          <p:nvPr/>
        </p:nvSpPr>
        <p:spPr>
          <a:xfrm>
            <a:off x="6261100" y="953155"/>
            <a:ext cx="5520267" cy="2308324"/>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IPhone</a:t>
            </a:r>
            <a:r>
              <a:rPr lang="en-US" b="1" dirty="0">
                <a:solidFill>
                  <a:srgbClr val="000000"/>
                </a:solidFill>
                <a:latin typeface="Consolas"/>
              </a:rPr>
              <a:t> </a:t>
            </a:r>
            <a:r>
              <a:rPr lang="en-US" b="1" dirty="0">
                <a:solidFill>
                  <a:srgbClr val="7F0055"/>
                </a:solidFill>
                <a:latin typeface="Consolas"/>
              </a:rPr>
              <a:t>extends</a:t>
            </a:r>
            <a:r>
              <a:rPr lang="en-US" b="1" dirty="0">
                <a:solidFill>
                  <a:srgbClr val="000000"/>
                </a:solidFill>
                <a:latin typeface="Consolas"/>
              </a:rPr>
              <a:t> </a:t>
            </a:r>
            <a:r>
              <a:rPr lang="en-US" b="1" dirty="0" err="1">
                <a:solidFill>
                  <a:srgbClr val="000000"/>
                </a:solidFill>
                <a:latin typeface="Consolas"/>
              </a:rPr>
              <a:t>SmartPhone</a:t>
            </a:r>
            <a:endParaRPr lang="en-US" b="1" dirty="0">
              <a:solidFill>
                <a:srgbClr val="000000"/>
              </a:solidFill>
              <a:latin typeface="Consolas"/>
            </a:endParaRPr>
          </a:p>
          <a:p>
            <a:r>
              <a:rPr lang="en-US"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a:t>
            </a:r>
            <a:r>
              <a:rPr lang="en-US" b="1" dirty="0" err="1">
                <a:solidFill>
                  <a:srgbClr val="000000"/>
                </a:solidFill>
                <a:latin typeface="Consolas"/>
              </a:rPr>
              <a:t>setAlarm</a:t>
            </a:r>
            <a:r>
              <a:rPr lang="en-US" b="1" dirty="0">
                <a:solidFill>
                  <a:srgbClr val="000000"/>
                </a:solidFill>
                <a:latin typeface="Consolas"/>
              </a:rPr>
              <a:t>()</a:t>
            </a:r>
          </a:p>
          <a:p>
            <a:pPr lvl="1"/>
            <a:r>
              <a:rPr lang="en-US" dirty="0">
                <a:solidFill>
                  <a:srgbClr val="000000"/>
                </a:solidFill>
                <a:latin typeface="Consolas"/>
              </a:rPr>
              <a:t>{</a:t>
            </a:r>
          </a:p>
          <a:p>
            <a:pPr lvl="1"/>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endParaRPr lang="en-US" b="1" i="1" dirty="0">
              <a:solidFill>
                <a:srgbClr val="000000"/>
              </a:solidFill>
              <a:latin typeface="Consolas"/>
            </a:endParaRPr>
          </a:p>
          <a:p>
            <a:pPr lvl="1"/>
            <a:r>
              <a:rPr lang="en-US" b="1" i="1" dirty="0">
                <a:solidFill>
                  <a:srgbClr val="000000"/>
                </a:solidFill>
                <a:latin typeface="Consolas"/>
              </a:rPr>
              <a:t>	(</a:t>
            </a:r>
            <a:r>
              <a:rPr lang="en-US" b="1" i="1" dirty="0">
                <a:solidFill>
                  <a:srgbClr val="2A00FF"/>
                </a:solidFill>
                <a:latin typeface="Consolas"/>
              </a:rPr>
              <a:t>"Tell </a:t>
            </a:r>
            <a:r>
              <a:rPr lang="en-US" b="1" i="1" dirty="0" err="1">
                <a:solidFill>
                  <a:srgbClr val="2A00FF"/>
                </a:solidFill>
                <a:latin typeface="Consolas"/>
              </a:rPr>
              <a:t>Siri</a:t>
            </a:r>
            <a:r>
              <a:rPr lang="en-US" b="1" i="1" dirty="0">
                <a:solidFill>
                  <a:srgbClr val="2A00FF"/>
                </a:solidFill>
                <a:latin typeface="Consolas"/>
              </a:rPr>
              <a:t> to Set Alarm"</a:t>
            </a:r>
            <a:r>
              <a:rPr lang="en-US" b="1" i="1"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sp>
        <p:nvSpPr>
          <p:cNvPr id="5" name="Rectangle 4">
            <a:extLst>
              <a:ext uri="{FF2B5EF4-FFF2-40B4-BE49-F238E27FC236}">
                <a16:creationId xmlns:a16="http://schemas.microsoft.com/office/drawing/2014/main" id="{CEE7C1BD-1839-A1E9-EDDF-3369105AE601}"/>
              </a:ext>
            </a:extLst>
          </p:cNvPr>
          <p:cNvSpPr/>
          <p:nvPr/>
        </p:nvSpPr>
        <p:spPr>
          <a:xfrm>
            <a:off x="228600" y="3337679"/>
            <a:ext cx="9220200" cy="3139321"/>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OverrideDemo</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a:t>
            </a:r>
            <a:r>
              <a:rPr lang="en-US" b="1" dirty="0">
                <a:solidFill>
                  <a:srgbClr val="000000"/>
                </a:solidFill>
                <a:latin typeface="Consolas"/>
              </a:rPr>
              <a:t>) {</a:t>
            </a:r>
          </a:p>
          <a:p>
            <a:pPr lvl="2"/>
            <a:r>
              <a:rPr lang="en-US" dirty="0" err="1">
                <a:solidFill>
                  <a:srgbClr val="000000"/>
                </a:solidFill>
                <a:latin typeface="Consolas"/>
              </a:rPr>
              <a:t>SmartPhone</a:t>
            </a:r>
            <a:r>
              <a:rPr lang="en-US" dirty="0">
                <a:solidFill>
                  <a:srgbClr val="000000"/>
                </a:solidFill>
                <a:latin typeface="Consolas"/>
              </a:rPr>
              <a:t> </a:t>
            </a:r>
            <a:r>
              <a:rPr lang="en-US" dirty="0">
                <a:solidFill>
                  <a:srgbClr val="6A3E3E"/>
                </a:solidFill>
                <a:latin typeface="Consolas"/>
              </a:rPr>
              <a:t>s</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SmartPhone</a:t>
            </a:r>
            <a:r>
              <a:rPr lang="en-US" b="1" dirty="0">
                <a:solidFill>
                  <a:srgbClr val="000000"/>
                </a:solidFill>
                <a:latin typeface="Consolas"/>
              </a:rPr>
              <a:t>();</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 </a:t>
            </a:r>
            <a:r>
              <a:rPr lang="en-US" b="1" i="1" dirty="0" err="1">
                <a:solidFill>
                  <a:srgbClr val="2A00FF"/>
                </a:solidFill>
                <a:latin typeface="Consolas"/>
              </a:rPr>
              <a:t>SmartPhone</a:t>
            </a:r>
            <a:r>
              <a:rPr lang="en-US" b="1" i="1" dirty="0">
                <a:solidFill>
                  <a:srgbClr val="2A00FF"/>
                </a:solidFill>
                <a:latin typeface="Consolas"/>
              </a:rPr>
              <a:t> ---"</a:t>
            </a:r>
            <a:r>
              <a:rPr lang="en-US" b="1" i="1" dirty="0">
                <a:solidFill>
                  <a:srgbClr val="000000"/>
                </a:solidFill>
                <a:latin typeface="Consolas"/>
              </a:rPr>
              <a:t>);</a:t>
            </a:r>
          </a:p>
          <a:p>
            <a:pPr lvl="2"/>
            <a:r>
              <a:rPr lang="en-US" dirty="0" err="1">
                <a:solidFill>
                  <a:srgbClr val="6A3E3E"/>
                </a:solidFill>
                <a:latin typeface="Consolas"/>
              </a:rPr>
              <a:t>s</a:t>
            </a:r>
            <a:r>
              <a:rPr lang="en-US" dirty="0" err="1">
                <a:solidFill>
                  <a:srgbClr val="000000"/>
                </a:solidFill>
                <a:latin typeface="Consolas"/>
              </a:rPr>
              <a:t>.setAlarm</a:t>
            </a:r>
            <a:r>
              <a:rPr lang="en-US" dirty="0">
                <a:solidFill>
                  <a:srgbClr val="000000"/>
                </a:solidFill>
                <a:latin typeface="Consolas"/>
              </a:rPr>
              <a:t>();</a:t>
            </a:r>
          </a:p>
          <a:p>
            <a:pPr lvl="2"/>
            <a:endParaRPr lang="en-US" dirty="0">
              <a:latin typeface="Consolas"/>
            </a:endParaRPr>
          </a:p>
          <a:p>
            <a:pPr lvl="2"/>
            <a:r>
              <a:rPr lang="en-US" dirty="0" err="1">
                <a:solidFill>
                  <a:srgbClr val="000000"/>
                </a:solidFill>
                <a:latin typeface="Consolas"/>
              </a:rPr>
              <a:t>IPhone</a:t>
            </a:r>
            <a:r>
              <a:rPr lang="en-US" dirty="0">
                <a:solidFill>
                  <a:srgbClr val="000000"/>
                </a:solidFill>
                <a:latin typeface="Consolas"/>
              </a:rPr>
              <a:t> </a:t>
            </a:r>
            <a:r>
              <a:rPr lang="en-US" dirty="0" err="1">
                <a:solidFill>
                  <a:srgbClr val="6A3E3E"/>
                </a:solidFill>
                <a:latin typeface="Consolas"/>
              </a:rPr>
              <a:t>i</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IPhone</a:t>
            </a:r>
            <a:r>
              <a:rPr lang="en-US" b="1" dirty="0">
                <a:solidFill>
                  <a:srgbClr val="000000"/>
                </a:solidFill>
                <a:latin typeface="Consolas"/>
              </a:rPr>
              <a:t>();</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 </a:t>
            </a:r>
            <a:r>
              <a:rPr lang="en-US" b="1" i="1" dirty="0" err="1">
                <a:solidFill>
                  <a:srgbClr val="2A00FF"/>
                </a:solidFill>
                <a:latin typeface="Consolas"/>
              </a:rPr>
              <a:t>IPhone</a:t>
            </a:r>
            <a:r>
              <a:rPr lang="en-US" b="1" i="1" dirty="0">
                <a:solidFill>
                  <a:srgbClr val="2A00FF"/>
                </a:solidFill>
                <a:latin typeface="Consolas"/>
              </a:rPr>
              <a:t> ---"</a:t>
            </a:r>
            <a:r>
              <a:rPr lang="en-US" b="1" i="1" dirty="0">
                <a:solidFill>
                  <a:srgbClr val="000000"/>
                </a:solidFill>
                <a:latin typeface="Consolas"/>
              </a:rPr>
              <a:t>);</a:t>
            </a:r>
          </a:p>
          <a:p>
            <a:pPr lvl="2"/>
            <a:r>
              <a:rPr lang="en-US" dirty="0" err="1">
                <a:solidFill>
                  <a:srgbClr val="6A3E3E"/>
                </a:solidFill>
                <a:latin typeface="Consolas"/>
              </a:rPr>
              <a:t>i</a:t>
            </a:r>
            <a:r>
              <a:rPr lang="en-US" dirty="0" err="1">
                <a:solidFill>
                  <a:srgbClr val="000000"/>
                </a:solidFill>
                <a:latin typeface="Consolas"/>
              </a:rPr>
              <a:t>.setAlarm</a:t>
            </a:r>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pic>
        <p:nvPicPr>
          <p:cNvPr id="6" name="Picture 2">
            <a:extLst>
              <a:ext uri="{FF2B5EF4-FFF2-40B4-BE49-F238E27FC236}">
                <a16:creationId xmlns:a16="http://schemas.microsoft.com/office/drawing/2014/main" id="{F3AF05D1-BFF1-C18A-FC25-89EFBE372D11}"/>
              </a:ext>
            </a:extLst>
          </p:cNvPr>
          <p:cNvPicPr>
            <a:picLocks noChangeAspect="1" noChangeArrowheads="1"/>
          </p:cNvPicPr>
          <p:nvPr/>
        </p:nvPicPr>
        <p:blipFill>
          <a:blip r:embed="rId2" cstate="print"/>
          <a:srcRect/>
          <a:stretch>
            <a:fillRect/>
          </a:stretch>
        </p:blipFill>
        <p:spPr bwMode="auto">
          <a:xfrm>
            <a:off x="6421967" y="3503433"/>
            <a:ext cx="5359400" cy="2162662"/>
          </a:xfrm>
          <a:prstGeom prst="rect">
            <a:avLst/>
          </a:prstGeom>
          <a:noFill/>
          <a:ln w="9525">
            <a:noFill/>
            <a:miter lim="800000"/>
            <a:headEnd/>
            <a:tailEnd/>
          </a:ln>
        </p:spPr>
      </p:pic>
    </p:spTree>
    <p:extLst>
      <p:ext uri="{BB962C8B-B14F-4D97-AF65-F5344CB8AC3E}">
        <p14:creationId xmlns:p14="http://schemas.microsoft.com/office/powerpoint/2010/main" val="4131286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bg/>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
                                            <p:txEl>
                                              <p:pRg st="8" end="8"/>
                                            </p:tx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
                                            <p:txEl>
                                              <p:pRg st="9" end="9"/>
                                            </p:tx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nodeType="click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wipe(down)">
                                      <p:cBhvr>
                                        <p:cTn id="85" dur="500"/>
                                        <p:tgtEl>
                                          <p:spTgt spid="6"/>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nodeType="clickEffect">
                                  <p:stCondLst>
                                    <p:cond delay="0"/>
                                  </p:stCondLst>
                                  <p:childTnLst>
                                    <p:set>
                                      <p:cBhvr>
                                        <p:cTn id="89"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uiExpand="1" build="p" bldLvl="4" animBg="1"/>
      <p:bldP spid="5" grpId="0" uiExpand="1" build="p" bldLvl="5"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FD050-44A2-3504-22F3-9152E1603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760658-8046-57AD-F6D1-EF8347757A3F}"/>
              </a:ext>
            </a:extLst>
          </p:cNvPr>
          <p:cNvSpPr>
            <a:spLocks noGrp="1"/>
          </p:cNvSpPr>
          <p:nvPr>
            <p:ph type="title"/>
          </p:nvPr>
        </p:nvSpPr>
        <p:spPr>
          <a:xfrm>
            <a:off x="0" y="1"/>
            <a:ext cx="12192000" cy="711200"/>
          </a:xfrm>
        </p:spPr>
        <p:txBody>
          <a:bodyPr/>
          <a:lstStyle/>
          <a:p>
            <a:r>
              <a:rPr lang="en-US" dirty="0"/>
              <a:t>super keyword</a:t>
            </a:r>
          </a:p>
        </p:txBody>
      </p:sp>
      <p:sp>
        <p:nvSpPr>
          <p:cNvPr id="3" name="Content Placeholder 2">
            <a:extLst>
              <a:ext uri="{FF2B5EF4-FFF2-40B4-BE49-F238E27FC236}">
                <a16:creationId xmlns:a16="http://schemas.microsoft.com/office/drawing/2014/main" id="{6E7E8399-2CEF-092A-22DA-8E83A0AE3822}"/>
              </a:ext>
            </a:extLst>
          </p:cNvPr>
          <p:cNvSpPr>
            <a:spLocks noGrp="1"/>
          </p:cNvSpPr>
          <p:nvPr>
            <p:ph idx="1"/>
          </p:nvPr>
        </p:nvSpPr>
        <p:spPr>
          <a:xfrm>
            <a:off x="131180" y="863444"/>
            <a:ext cx="11929641" cy="5590565"/>
          </a:xfrm>
        </p:spPr>
        <p:txBody>
          <a:bodyPr/>
          <a:lstStyle/>
          <a:p>
            <a:r>
              <a:rPr lang="en-US" dirty="0"/>
              <a:t>The super keyword in Java is a reference variable which is used to refer immediate parent class object.</a:t>
            </a:r>
          </a:p>
          <a:p>
            <a:r>
              <a:rPr lang="en-US" dirty="0"/>
              <a:t>The most common use of the super keyword is to eliminate the confusion between super classes and subclasses that have methods with the same name.</a:t>
            </a:r>
          </a:p>
          <a:p>
            <a:r>
              <a:rPr lang="en-US" dirty="0"/>
              <a:t>Usage of Java super Keyword</a:t>
            </a:r>
          </a:p>
          <a:p>
            <a:pPr lvl="1"/>
            <a:r>
              <a:rPr lang="en-US" sz="2200" dirty="0"/>
              <a:t>super can be used to refer immediate parent class instance variable.</a:t>
            </a:r>
          </a:p>
          <a:p>
            <a:pPr lvl="1"/>
            <a:r>
              <a:rPr lang="en-US" sz="2200" dirty="0"/>
              <a:t>super can be used to invoke immediate parent class method.</a:t>
            </a:r>
          </a:p>
          <a:p>
            <a:pPr lvl="1"/>
            <a:r>
              <a:rPr lang="en-US" sz="2200" dirty="0"/>
              <a:t>super() can be used to invoke immediate parent class constructor.</a:t>
            </a:r>
          </a:p>
        </p:txBody>
      </p:sp>
    </p:spTree>
    <p:extLst>
      <p:ext uri="{BB962C8B-B14F-4D97-AF65-F5344CB8AC3E}">
        <p14:creationId xmlns:p14="http://schemas.microsoft.com/office/powerpoint/2010/main" val="230195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D6AA8-1BFB-23D1-8E04-8F96A9EADE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9CD9C1-F2FF-1A59-C365-CB898B0C17AA}"/>
              </a:ext>
            </a:extLst>
          </p:cNvPr>
          <p:cNvSpPr>
            <a:spLocks noGrp="1"/>
          </p:cNvSpPr>
          <p:nvPr>
            <p:ph type="title"/>
          </p:nvPr>
        </p:nvSpPr>
        <p:spPr>
          <a:xfrm>
            <a:off x="0" y="1"/>
            <a:ext cx="12192000" cy="711200"/>
          </a:xfrm>
        </p:spPr>
        <p:txBody>
          <a:bodyPr/>
          <a:lstStyle/>
          <a:p>
            <a:r>
              <a:rPr lang="en-US" dirty="0"/>
              <a:t>super keyword</a:t>
            </a:r>
          </a:p>
        </p:txBody>
      </p:sp>
      <p:sp>
        <p:nvSpPr>
          <p:cNvPr id="3" name="Content Placeholder 2">
            <a:extLst>
              <a:ext uri="{FF2B5EF4-FFF2-40B4-BE49-F238E27FC236}">
                <a16:creationId xmlns:a16="http://schemas.microsoft.com/office/drawing/2014/main" id="{D57F9462-1151-8281-5A05-D70479462878}"/>
              </a:ext>
            </a:extLst>
          </p:cNvPr>
          <p:cNvSpPr>
            <a:spLocks noGrp="1"/>
          </p:cNvSpPr>
          <p:nvPr>
            <p:ph idx="1"/>
          </p:nvPr>
        </p:nvSpPr>
        <p:spPr>
          <a:xfrm>
            <a:off x="131181" y="711202"/>
            <a:ext cx="5621920" cy="5742808"/>
          </a:xfrm>
        </p:spPr>
        <p:txBody>
          <a:bodyPr/>
          <a:lstStyle/>
          <a:p>
            <a:pPr marL="0" indent="0">
              <a:buNone/>
            </a:pPr>
            <a:r>
              <a:rPr lang="en-US" sz="2000" dirty="0"/>
              <a:t>class A</a:t>
            </a:r>
          </a:p>
          <a:p>
            <a:pPr marL="0" indent="0">
              <a:buNone/>
            </a:pPr>
            <a:r>
              <a:rPr lang="en-US" sz="2000" dirty="0"/>
              <a:t>{ int </a:t>
            </a:r>
            <a:r>
              <a:rPr lang="en-US" sz="2000" dirty="0" err="1"/>
              <a:t>i</a:t>
            </a:r>
            <a:r>
              <a:rPr lang="en-US" sz="2000" dirty="0"/>
              <a:t>=10;</a:t>
            </a:r>
          </a:p>
          <a:p>
            <a:pPr marL="0" indent="0">
              <a:buNone/>
            </a:pPr>
            <a:r>
              <a:rPr lang="en-US" sz="2000" dirty="0"/>
              <a:t>  A()</a:t>
            </a:r>
          </a:p>
          <a:p>
            <a:pPr marL="0" indent="0">
              <a:buNone/>
            </a:pPr>
            <a:r>
              <a:rPr lang="en-US" sz="2000" dirty="0"/>
              <a:t>  { </a:t>
            </a:r>
            <a:r>
              <a:rPr lang="en-US" sz="2000" dirty="0" err="1"/>
              <a:t>System.out.println</a:t>
            </a:r>
            <a:r>
              <a:rPr lang="en-US" sz="2000" dirty="0"/>
              <a:t>("hi");}</a:t>
            </a:r>
          </a:p>
          <a:p>
            <a:pPr marL="0" indent="0">
              <a:buNone/>
            </a:pPr>
            <a:r>
              <a:rPr lang="en-US" sz="2000" dirty="0"/>
              <a:t>  void f1() </a:t>
            </a:r>
          </a:p>
          <a:p>
            <a:pPr marL="0" indent="0">
              <a:buNone/>
            </a:pPr>
            <a:r>
              <a:rPr lang="en-US" sz="2000" dirty="0"/>
              <a:t>  { </a:t>
            </a:r>
            <a:r>
              <a:rPr lang="en-US" sz="2000" dirty="0" err="1"/>
              <a:t>System.out.println</a:t>
            </a:r>
            <a:r>
              <a:rPr lang="en-US" sz="2000" dirty="0"/>
              <a:t>("hello"); }</a:t>
            </a:r>
          </a:p>
          <a:p>
            <a:pPr marL="0" indent="0">
              <a:buNone/>
            </a:pPr>
            <a:r>
              <a:rPr lang="en-US" sz="2000" dirty="0"/>
              <a:t>}</a:t>
            </a:r>
          </a:p>
          <a:p>
            <a:pPr marL="0" indent="0">
              <a:buNone/>
            </a:pPr>
            <a:r>
              <a:rPr lang="en-US" sz="2000" dirty="0"/>
              <a:t>class B extends A</a:t>
            </a:r>
          </a:p>
          <a:p>
            <a:pPr marL="0" indent="0">
              <a:buNone/>
            </a:pPr>
            <a:r>
              <a:rPr lang="en-US" sz="2000" dirty="0"/>
              <a:t>{  int </a:t>
            </a:r>
            <a:r>
              <a:rPr lang="en-US" sz="2000" dirty="0" err="1"/>
              <a:t>i</a:t>
            </a:r>
            <a:r>
              <a:rPr lang="en-US" sz="2000" dirty="0"/>
              <a:t>=20;</a:t>
            </a:r>
          </a:p>
          <a:p>
            <a:pPr marL="0" indent="0">
              <a:buNone/>
            </a:pPr>
            <a:r>
              <a:rPr lang="en-US" sz="2000" dirty="0"/>
              <a:t>	B()</a:t>
            </a:r>
          </a:p>
          <a:p>
            <a:pPr marL="0" indent="0">
              <a:buNone/>
            </a:pPr>
            <a:r>
              <a:rPr lang="en-US" sz="2000" dirty="0"/>
              <a:t>   {</a:t>
            </a:r>
          </a:p>
          <a:p>
            <a:pPr marL="0" indent="0">
              <a:buNone/>
            </a:pPr>
            <a:r>
              <a:rPr lang="en-US" sz="2000" dirty="0"/>
              <a:t>	super();</a:t>
            </a:r>
          </a:p>
          <a:p>
            <a:pPr marL="0" indent="0">
              <a:buNone/>
            </a:pPr>
            <a:r>
              <a:rPr lang="en-US" sz="2000" dirty="0"/>
              <a:t>	</a:t>
            </a:r>
          </a:p>
          <a:p>
            <a:pPr marL="0" indent="0">
              <a:buNone/>
            </a:pPr>
            <a:r>
              <a:rPr lang="en-US" sz="2000" dirty="0"/>
              <a:t>   }</a:t>
            </a:r>
          </a:p>
        </p:txBody>
      </p:sp>
      <p:sp>
        <p:nvSpPr>
          <p:cNvPr id="4" name="Content Placeholder 2">
            <a:extLst>
              <a:ext uri="{FF2B5EF4-FFF2-40B4-BE49-F238E27FC236}">
                <a16:creationId xmlns:a16="http://schemas.microsoft.com/office/drawing/2014/main" id="{6CFAE6F6-A585-9001-783D-FC00A3E6A031}"/>
              </a:ext>
            </a:extLst>
          </p:cNvPr>
          <p:cNvSpPr txBox="1">
            <a:spLocks/>
          </p:cNvSpPr>
          <p:nvPr/>
        </p:nvSpPr>
        <p:spPr>
          <a:xfrm>
            <a:off x="5674731" y="711202"/>
            <a:ext cx="5621920" cy="574280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B71B1C"/>
              </a:buClr>
              <a:buFont typeface="Wingdings 3" panose="05040102010807070707" pitchFamily="18" charset="2"/>
              <a:buChar char=""/>
              <a:defRPr lang="en-US" sz="2400" kern="1200" dirty="0" smtClean="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B71B1C"/>
              </a:buClr>
              <a:buFont typeface="Wingdings 3" panose="05040102010807070707" pitchFamily="18" charset="2"/>
              <a:buChar char=""/>
              <a:defRPr lang="en-US" sz="2400" kern="1200" dirty="0" smtClean="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B71B1C"/>
              </a:buClr>
              <a:buFont typeface="Wingdings" panose="05000000000000000000" pitchFamily="2" charset="2"/>
              <a:buChar char="§"/>
              <a:defRPr lang="en-US" sz="2400" kern="1200" dirty="0" smtClean="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B71B1C"/>
              </a:buClr>
              <a:buFont typeface="Arial" panose="020B0604020202020204" pitchFamily="34" charset="0"/>
              <a:buChar char="•"/>
              <a:defRPr lang="en-US" sz="2400" kern="1200" dirty="0" smtClean="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B71B1C"/>
              </a:buClr>
              <a:buFont typeface="Arial" panose="020B0604020202020204" pitchFamily="34" charset="0"/>
              <a:buChar char="•"/>
              <a:defRPr lang="en-US" sz="2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3" panose="05040102010807070707" pitchFamily="18" charset="2"/>
              <a:buNone/>
            </a:pPr>
            <a:r>
              <a:rPr lang="en-IN" sz="3200" dirty="0"/>
              <a:t>void f2()</a:t>
            </a:r>
          </a:p>
          <a:p>
            <a:pPr marL="0" indent="0">
              <a:buFont typeface="Wingdings 3" panose="05040102010807070707" pitchFamily="18" charset="2"/>
              <a:buNone/>
            </a:pPr>
            <a:r>
              <a:rPr lang="en-IN" sz="3200" dirty="0"/>
              <a:t>   { super.f1();</a:t>
            </a:r>
          </a:p>
          <a:p>
            <a:pPr marL="0" indent="0">
              <a:buFont typeface="Wingdings 3" panose="05040102010807070707" pitchFamily="18" charset="2"/>
              <a:buNone/>
            </a:pPr>
            <a:r>
              <a:rPr lang="en-IN" sz="3200" dirty="0"/>
              <a:t>	</a:t>
            </a:r>
            <a:r>
              <a:rPr lang="en-IN" sz="3200" dirty="0" err="1"/>
              <a:t>System.out.println</a:t>
            </a:r>
            <a:r>
              <a:rPr lang="en-IN" sz="3200" dirty="0"/>
              <a:t>(</a:t>
            </a:r>
            <a:r>
              <a:rPr lang="en-IN" sz="3200" dirty="0" err="1"/>
              <a:t>super.i+this.i</a:t>
            </a:r>
            <a:r>
              <a:rPr lang="en-IN" sz="3200" dirty="0"/>
              <a:t>);</a:t>
            </a:r>
          </a:p>
          <a:p>
            <a:pPr marL="0" indent="0">
              <a:buFont typeface="Wingdings 3" panose="05040102010807070707" pitchFamily="18" charset="2"/>
              <a:buNone/>
            </a:pPr>
            <a:r>
              <a:rPr lang="en-IN" sz="3200" dirty="0"/>
              <a:t>   }</a:t>
            </a:r>
          </a:p>
          <a:p>
            <a:pPr marL="0" indent="0">
              <a:buFont typeface="Wingdings 3" panose="05040102010807070707" pitchFamily="18" charset="2"/>
              <a:buNone/>
            </a:pPr>
            <a:r>
              <a:rPr lang="en-IN" sz="3200" dirty="0"/>
              <a:t>public static void main(String </a:t>
            </a:r>
            <a:r>
              <a:rPr lang="en-IN" sz="3200" dirty="0" err="1"/>
              <a:t>args</a:t>
            </a:r>
            <a:r>
              <a:rPr lang="en-IN" sz="3200" dirty="0"/>
              <a:t>[])</a:t>
            </a:r>
          </a:p>
          <a:p>
            <a:pPr marL="0" indent="0">
              <a:buFont typeface="Wingdings 3" panose="05040102010807070707" pitchFamily="18" charset="2"/>
              <a:buNone/>
            </a:pPr>
            <a:r>
              <a:rPr lang="en-IN" sz="3200" dirty="0"/>
              <a:t>{ B </a:t>
            </a:r>
            <a:r>
              <a:rPr lang="en-IN" sz="3200" dirty="0" err="1"/>
              <a:t>obj</a:t>
            </a:r>
            <a:r>
              <a:rPr lang="en-IN" sz="3200" dirty="0"/>
              <a:t>=new B();</a:t>
            </a:r>
          </a:p>
          <a:p>
            <a:pPr marL="0" indent="0">
              <a:buFont typeface="Wingdings 3" panose="05040102010807070707" pitchFamily="18" charset="2"/>
              <a:buNone/>
            </a:pPr>
            <a:r>
              <a:rPr lang="en-IN" sz="3200" dirty="0"/>
              <a:t>  obj.f2();</a:t>
            </a:r>
          </a:p>
          <a:p>
            <a:pPr marL="0" indent="0">
              <a:buFont typeface="Wingdings 3" panose="05040102010807070707" pitchFamily="18" charset="2"/>
              <a:buNone/>
            </a:pPr>
            <a:r>
              <a:rPr lang="en-IN" sz="3200" dirty="0"/>
              <a:t>}</a:t>
            </a:r>
          </a:p>
          <a:p>
            <a:pPr marL="0" indent="0">
              <a:buFont typeface="Wingdings 3" panose="05040102010807070707" pitchFamily="18" charset="2"/>
              <a:buNone/>
            </a:pPr>
            <a:r>
              <a:rPr lang="en-IN" sz="3200" dirty="0"/>
              <a:t>}</a:t>
            </a:r>
          </a:p>
        </p:txBody>
      </p:sp>
    </p:spTree>
    <p:extLst>
      <p:ext uri="{BB962C8B-B14F-4D97-AF65-F5344CB8AC3E}">
        <p14:creationId xmlns:p14="http://schemas.microsoft.com/office/powerpoint/2010/main" val="7462299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A6C6A-B68D-93B6-E616-096AC10E6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FFF2AB-AB6D-7777-C0A1-1C4E54961947}"/>
              </a:ext>
            </a:extLst>
          </p:cNvPr>
          <p:cNvSpPr>
            <a:spLocks noGrp="1"/>
          </p:cNvSpPr>
          <p:nvPr>
            <p:ph type="title"/>
          </p:nvPr>
        </p:nvSpPr>
        <p:spPr>
          <a:xfrm>
            <a:off x="0" y="1"/>
            <a:ext cx="12192000" cy="711200"/>
          </a:xfrm>
        </p:spPr>
        <p:txBody>
          <a:bodyPr/>
          <a:lstStyle/>
          <a:p>
            <a:r>
              <a:rPr lang="en-US" dirty="0"/>
              <a:t>Constructors in Inheritance</a:t>
            </a:r>
          </a:p>
        </p:txBody>
      </p:sp>
      <p:sp>
        <p:nvSpPr>
          <p:cNvPr id="3" name="Content Placeholder 2">
            <a:extLst>
              <a:ext uri="{FF2B5EF4-FFF2-40B4-BE49-F238E27FC236}">
                <a16:creationId xmlns:a16="http://schemas.microsoft.com/office/drawing/2014/main" id="{4A309A17-A1B3-ED5A-FD4B-E111FE5C745C}"/>
              </a:ext>
            </a:extLst>
          </p:cNvPr>
          <p:cNvSpPr>
            <a:spLocks noGrp="1"/>
          </p:cNvSpPr>
          <p:nvPr>
            <p:ph idx="1"/>
          </p:nvPr>
        </p:nvSpPr>
        <p:spPr>
          <a:xfrm>
            <a:off x="131180" y="863444"/>
            <a:ext cx="11929641" cy="5590565"/>
          </a:xfrm>
        </p:spPr>
        <p:txBody>
          <a:bodyPr/>
          <a:lstStyle/>
          <a:p>
            <a:r>
              <a:rPr lang="en-GB" dirty="0"/>
              <a:t>Classes use </a:t>
            </a:r>
            <a:r>
              <a:rPr lang="en-GB" dirty="0">
                <a:solidFill>
                  <a:srgbClr val="C00000"/>
                </a:solidFill>
              </a:rPr>
              <a:t>constructors</a:t>
            </a:r>
            <a:r>
              <a:rPr lang="en-GB" dirty="0"/>
              <a:t> to </a:t>
            </a:r>
            <a:r>
              <a:rPr lang="en-GB" dirty="0">
                <a:solidFill>
                  <a:srgbClr val="C00000"/>
                </a:solidFill>
              </a:rPr>
              <a:t>initialize</a:t>
            </a:r>
            <a:r>
              <a:rPr lang="en-GB" dirty="0"/>
              <a:t> </a:t>
            </a:r>
            <a:r>
              <a:rPr lang="en-GB" dirty="0">
                <a:solidFill>
                  <a:srgbClr val="C00000"/>
                </a:solidFill>
              </a:rPr>
              <a:t>instance</a:t>
            </a:r>
            <a:r>
              <a:rPr lang="en-GB" dirty="0"/>
              <a:t> </a:t>
            </a:r>
            <a:r>
              <a:rPr lang="en-GB" dirty="0">
                <a:solidFill>
                  <a:srgbClr val="C00000"/>
                </a:solidFill>
              </a:rPr>
              <a:t>variables</a:t>
            </a:r>
          </a:p>
          <a:p>
            <a:pPr lvl="1"/>
            <a:r>
              <a:rPr lang="en-US" sz="2200" dirty="0"/>
              <a:t>When a </a:t>
            </a:r>
            <a:r>
              <a:rPr lang="en-US" sz="2200" dirty="0">
                <a:solidFill>
                  <a:srgbClr val="C00000"/>
                </a:solidFill>
              </a:rPr>
              <a:t>subclass</a:t>
            </a:r>
            <a:r>
              <a:rPr lang="en-US" sz="2200" dirty="0"/>
              <a:t> object is </a:t>
            </a:r>
            <a:r>
              <a:rPr lang="en-US" sz="2200" dirty="0">
                <a:solidFill>
                  <a:srgbClr val="C00000"/>
                </a:solidFill>
              </a:rPr>
              <a:t>created</a:t>
            </a:r>
            <a:r>
              <a:rPr lang="en-US" sz="2200" dirty="0"/>
              <a:t>, its </a:t>
            </a:r>
            <a:r>
              <a:rPr lang="en-US" sz="2200" dirty="0">
                <a:solidFill>
                  <a:srgbClr val="C00000"/>
                </a:solidFill>
              </a:rPr>
              <a:t>constructor</a:t>
            </a:r>
            <a:r>
              <a:rPr lang="en-US" sz="2200" dirty="0"/>
              <a:t> is </a:t>
            </a:r>
            <a:r>
              <a:rPr lang="en-US" sz="2200" dirty="0">
                <a:solidFill>
                  <a:srgbClr val="C00000"/>
                </a:solidFill>
              </a:rPr>
              <a:t>called</a:t>
            </a:r>
            <a:r>
              <a:rPr lang="en-US" sz="2200" dirty="0"/>
              <a:t> after the </a:t>
            </a:r>
            <a:r>
              <a:rPr lang="en-US" sz="2200" dirty="0">
                <a:solidFill>
                  <a:srgbClr val="C00000"/>
                </a:solidFill>
              </a:rPr>
              <a:t>superclass</a:t>
            </a:r>
            <a:r>
              <a:rPr lang="en-US" sz="2200" dirty="0"/>
              <a:t> default </a:t>
            </a:r>
            <a:r>
              <a:rPr lang="en-US" sz="2200" dirty="0">
                <a:solidFill>
                  <a:srgbClr val="C00000"/>
                </a:solidFill>
              </a:rPr>
              <a:t>constructor</a:t>
            </a:r>
            <a:r>
              <a:rPr lang="en-US" sz="2200" dirty="0"/>
              <a:t>.</a:t>
            </a:r>
          </a:p>
          <a:p>
            <a:pPr lvl="1"/>
            <a:r>
              <a:rPr lang="en-US" sz="2200" dirty="0"/>
              <a:t>It is the </a:t>
            </a:r>
            <a:r>
              <a:rPr lang="en-US" sz="2200" dirty="0">
                <a:solidFill>
                  <a:srgbClr val="C00000"/>
                </a:solidFill>
              </a:rPr>
              <a:t>responsibility</a:t>
            </a:r>
            <a:r>
              <a:rPr lang="en-US" sz="2200" dirty="0"/>
              <a:t> of the </a:t>
            </a:r>
            <a:r>
              <a:rPr lang="en-US" sz="2200" dirty="0">
                <a:solidFill>
                  <a:srgbClr val="C00000"/>
                </a:solidFill>
              </a:rPr>
              <a:t>subclass</a:t>
            </a:r>
            <a:r>
              <a:rPr lang="en-US" sz="2200" dirty="0"/>
              <a:t> constructor to </a:t>
            </a:r>
            <a:r>
              <a:rPr lang="en-US" sz="2200" dirty="0">
                <a:solidFill>
                  <a:srgbClr val="C00000"/>
                </a:solidFill>
              </a:rPr>
              <a:t>invoke</a:t>
            </a:r>
            <a:r>
              <a:rPr lang="en-US" sz="2200" dirty="0"/>
              <a:t> the appropriate </a:t>
            </a:r>
            <a:r>
              <a:rPr lang="en-US" sz="2200" dirty="0">
                <a:solidFill>
                  <a:srgbClr val="C00000"/>
                </a:solidFill>
              </a:rPr>
              <a:t>superclass</a:t>
            </a:r>
            <a:r>
              <a:rPr lang="en-US" sz="2200" dirty="0"/>
              <a:t> </a:t>
            </a:r>
            <a:r>
              <a:rPr lang="en-US" sz="2200" dirty="0">
                <a:solidFill>
                  <a:srgbClr val="C00000"/>
                </a:solidFill>
              </a:rPr>
              <a:t>constructors</a:t>
            </a:r>
            <a:r>
              <a:rPr lang="en-US" sz="2200" dirty="0"/>
              <a:t> so that the instance variables defined in the superclass are properly initialized</a:t>
            </a:r>
          </a:p>
          <a:p>
            <a:r>
              <a:rPr lang="en-GB" dirty="0"/>
              <a:t>Superclass constructors can be called using the "</a:t>
            </a:r>
            <a:r>
              <a:rPr lang="en-GB" dirty="0">
                <a:solidFill>
                  <a:srgbClr val="C00000"/>
                </a:solidFill>
              </a:rPr>
              <a:t>super</a:t>
            </a:r>
            <a:r>
              <a:rPr lang="en-GB" dirty="0"/>
              <a:t>" keyword in a manner </a:t>
            </a:r>
            <a:r>
              <a:rPr lang="en-GB" dirty="0">
                <a:solidFill>
                  <a:srgbClr val="C00000"/>
                </a:solidFill>
              </a:rPr>
              <a:t>similar</a:t>
            </a:r>
            <a:r>
              <a:rPr lang="en-GB" dirty="0"/>
              <a:t> </a:t>
            </a:r>
            <a:r>
              <a:rPr lang="en-GB" dirty="0">
                <a:solidFill>
                  <a:srgbClr val="C00000"/>
                </a:solidFill>
              </a:rPr>
              <a:t>to</a:t>
            </a:r>
            <a:r>
              <a:rPr lang="en-GB" dirty="0"/>
              <a:t> "</a:t>
            </a:r>
            <a:r>
              <a:rPr lang="en-GB" dirty="0">
                <a:solidFill>
                  <a:srgbClr val="C00000"/>
                </a:solidFill>
              </a:rPr>
              <a:t>this</a:t>
            </a:r>
            <a:r>
              <a:rPr lang="en-GB" dirty="0"/>
              <a:t>"</a:t>
            </a:r>
          </a:p>
          <a:p>
            <a:pPr lvl="1"/>
            <a:r>
              <a:rPr lang="en-US" sz="2200" dirty="0"/>
              <a:t>It </a:t>
            </a:r>
            <a:r>
              <a:rPr lang="en-US" sz="2200" dirty="0">
                <a:solidFill>
                  <a:srgbClr val="C00000"/>
                </a:solidFill>
              </a:rPr>
              <a:t>must</a:t>
            </a:r>
            <a:r>
              <a:rPr lang="en-US" sz="2200" dirty="0"/>
              <a:t> be the </a:t>
            </a:r>
            <a:r>
              <a:rPr lang="en-US" sz="2200" dirty="0">
                <a:solidFill>
                  <a:srgbClr val="C00000"/>
                </a:solidFill>
              </a:rPr>
              <a:t>first</a:t>
            </a:r>
            <a:r>
              <a:rPr lang="en-US" sz="2200" dirty="0"/>
              <a:t> </a:t>
            </a:r>
            <a:r>
              <a:rPr lang="en-US" sz="2200" dirty="0">
                <a:solidFill>
                  <a:srgbClr val="C00000"/>
                </a:solidFill>
              </a:rPr>
              <a:t>line</a:t>
            </a:r>
            <a:r>
              <a:rPr lang="en-US" sz="2200" dirty="0"/>
              <a:t> of code in the </a:t>
            </a:r>
            <a:r>
              <a:rPr lang="en-US" sz="2200" dirty="0">
                <a:solidFill>
                  <a:srgbClr val="C00000"/>
                </a:solidFill>
              </a:rPr>
              <a:t>constructor</a:t>
            </a:r>
          </a:p>
          <a:p>
            <a:r>
              <a:rPr lang="en-US" dirty="0"/>
              <a:t>If a call to super is not made, the system will automatically invoke the no-argument constructor of the superclass.</a:t>
            </a:r>
          </a:p>
          <a:p>
            <a:endParaRPr lang="en-US" dirty="0"/>
          </a:p>
          <a:p>
            <a:endParaRPr lang="en-US" dirty="0"/>
          </a:p>
        </p:txBody>
      </p:sp>
    </p:spTree>
    <p:extLst>
      <p:ext uri="{BB962C8B-B14F-4D97-AF65-F5344CB8AC3E}">
        <p14:creationId xmlns:p14="http://schemas.microsoft.com/office/powerpoint/2010/main" val="3194682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2C187-E284-60BC-40A3-0DDAA88B0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CECAA-A373-C221-AB00-82F62C7E479A}"/>
              </a:ext>
            </a:extLst>
          </p:cNvPr>
          <p:cNvSpPr>
            <a:spLocks noGrp="1"/>
          </p:cNvSpPr>
          <p:nvPr>
            <p:ph type="title"/>
          </p:nvPr>
        </p:nvSpPr>
        <p:spPr>
          <a:xfrm>
            <a:off x="0" y="1"/>
            <a:ext cx="12192000" cy="711200"/>
          </a:xfrm>
        </p:spPr>
        <p:txBody>
          <a:bodyPr/>
          <a:lstStyle/>
          <a:p>
            <a:r>
              <a:rPr lang="en-US" dirty="0"/>
              <a:t>“final” keyword</a:t>
            </a:r>
          </a:p>
        </p:txBody>
      </p:sp>
      <p:sp>
        <p:nvSpPr>
          <p:cNvPr id="3" name="Content Placeholder 2">
            <a:extLst>
              <a:ext uri="{FF2B5EF4-FFF2-40B4-BE49-F238E27FC236}">
                <a16:creationId xmlns:a16="http://schemas.microsoft.com/office/drawing/2014/main" id="{AFCC1734-FDDD-5915-01E9-357F334A1D63}"/>
              </a:ext>
            </a:extLst>
          </p:cNvPr>
          <p:cNvSpPr>
            <a:spLocks noGrp="1"/>
          </p:cNvSpPr>
          <p:nvPr>
            <p:ph idx="1"/>
          </p:nvPr>
        </p:nvSpPr>
        <p:spPr>
          <a:xfrm>
            <a:off x="131180" y="863444"/>
            <a:ext cx="11929641" cy="5590565"/>
          </a:xfrm>
        </p:spPr>
        <p:txBody>
          <a:bodyPr/>
          <a:lstStyle/>
          <a:p>
            <a:r>
              <a:rPr lang="en-US" dirty="0"/>
              <a:t>The final keyword is used for </a:t>
            </a:r>
            <a:r>
              <a:rPr lang="en-US" dirty="0">
                <a:solidFill>
                  <a:srgbClr val="C00000"/>
                </a:solidFill>
              </a:rPr>
              <a:t>restriction</a:t>
            </a:r>
            <a:r>
              <a:rPr lang="en-US" dirty="0"/>
              <a:t>. </a:t>
            </a:r>
          </a:p>
          <a:p>
            <a:r>
              <a:rPr lang="en-US" dirty="0"/>
              <a:t>final keyword can be used in many context </a:t>
            </a:r>
          </a:p>
          <a:p>
            <a:r>
              <a:rPr lang="en-US" dirty="0"/>
              <a:t>Final can be:</a:t>
            </a:r>
          </a:p>
          <a:p>
            <a:pPr marL="857250" lvl="1" indent="-457200">
              <a:buFont typeface="+mj-lt"/>
              <a:buAutoNum type="arabicPeriod"/>
            </a:pPr>
            <a:r>
              <a:rPr lang="en-US" sz="2400" dirty="0"/>
              <a:t>Variable</a:t>
            </a:r>
          </a:p>
          <a:p>
            <a:pPr marL="1257300" lvl="2" indent="-457200">
              <a:buNone/>
            </a:pPr>
            <a:r>
              <a:rPr lang="en-US" sz="2400" dirty="0"/>
              <a:t>	If you make any variable as final, you </a:t>
            </a:r>
            <a:r>
              <a:rPr lang="en-US" sz="2400" dirty="0">
                <a:solidFill>
                  <a:srgbClr val="C00000"/>
                </a:solidFill>
              </a:rPr>
              <a:t>cannot</a:t>
            </a:r>
            <a:r>
              <a:rPr lang="en-US" sz="2400" dirty="0"/>
              <a:t> </a:t>
            </a:r>
            <a:r>
              <a:rPr lang="en-US" sz="2400" dirty="0">
                <a:solidFill>
                  <a:srgbClr val="C00000"/>
                </a:solidFill>
              </a:rPr>
              <a:t>change</a:t>
            </a:r>
            <a:r>
              <a:rPr lang="en-US" sz="2400" dirty="0"/>
              <a:t> </a:t>
            </a:r>
            <a:r>
              <a:rPr lang="en-US" sz="2400" dirty="0">
                <a:solidFill>
                  <a:srgbClr val="C00000"/>
                </a:solidFill>
              </a:rPr>
              <a:t>the</a:t>
            </a:r>
            <a:r>
              <a:rPr lang="en-US" sz="2400" dirty="0"/>
              <a:t> </a:t>
            </a:r>
            <a:r>
              <a:rPr lang="en-US" sz="2400" dirty="0">
                <a:solidFill>
                  <a:srgbClr val="C00000"/>
                </a:solidFill>
              </a:rPr>
              <a:t>value</a:t>
            </a:r>
            <a:r>
              <a:rPr lang="en-US" sz="2400" dirty="0"/>
              <a:t> of final variable(It will be constant).</a:t>
            </a:r>
          </a:p>
          <a:p>
            <a:pPr marL="857250" lvl="1" indent="-457200">
              <a:buFont typeface="+mj-lt"/>
              <a:buAutoNum type="arabicPeriod"/>
            </a:pPr>
            <a:r>
              <a:rPr lang="en-US" sz="2400" dirty="0"/>
              <a:t>Method</a:t>
            </a:r>
          </a:p>
          <a:p>
            <a:pPr marL="1257300" lvl="2" indent="-457200">
              <a:buNone/>
            </a:pPr>
            <a:r>
              <a:rPr lang="en-US" sz="2400" dirty="0"/>
              <a:t>	If you make any method as final, you </a:t>
            </a:r>
            <a:r>
              <a:rPr lang="en-US" sz="2400" dirty="0">
                <a:solidFill>
                  <a:srgbClr val="C00000"/>
                </a:solidFill>
              </a:rPr>
              <a:t>cannot</a:t>
            </a:r>
            <a:r>
              <a:rPr lang="en-US" sz="2400" dirty="0"/>
              <a:t> </a:t>
            </a:r>
            <a:r>
              <a:rPr lang="en-US" sz="2400" dirty="0">
                <a:solidFill>
                  <a:srgbClr val="C00000"/>
                </a:solidFill>
              </a:rPr>
              <a:t>override</a:t>
            </a:r>
            <a:r>
              <a:rPr lang="en-US" sz="2400" dirty="0"/>
              <a:t> it.</a:t>
            </a:r>
          </a:p>
          <a:p>
            <a:pPr marL="857250" lvl="1" indent="-457200">
              <a:buFont typeface="+mj-lt"/>
              <a:buAutoNum type="arabicPeriod"/>
            </a:pPr>
            <a:r>
              <a:rPr lang="en-US" sz="2400" dirty="0"/>
              <a:t>Class</a:t>
            </a:r>
          </a:p>
          <a:p>
            <a:pPr marL="1257300" lvl="2" indent="-457200">
              <a:buNone/>
            </a:pPr>
            <a:r>
              <a:rPr lang="en-US" sz="2400" dirty="0"/>
              <a:t>	If you make any class as final, you </a:t>
            </a:r>
            <a:r>
              <a:rPr lang="en-US" sz="2400" dirty="0">
                <a:solidFill>
                  <a:srgbClr val="C00000"/>
                </a:solidFill>
              </a:rPr>
              <a:t>cannot</a:t>
            </a:r>
            <a:r>
              <a:rPr lang="en-US" sz="2400" dirty="0"/>
              <a:t> </a:t>
            </a:r>
            <a:r>
              <a:rPr lang="en-US" sz="2400" dirty="0">
                <a:solidFill>
                  <a:srgbClr val="C00000"/>
                </a:solidFill>
              </a:rPr>
              <a:t>extend</a:t>
            </a:r>
            <a:r>
              <a:rPr lang="en-US" sz="2400" dirty="0"/>
              <a:t> it.</a:t>
            </a:r>
          </a:p>
          <a:p>
            <a:endParaRPr lang="en-US" dirty="0"/>
          </a:p>
        </p:txBody>
      </p:sp>
    </p:spTree>
    <p:extLst>
      <p:ext uri="{BB962C8B-B14F-4D97-AF65-F5344CB8AC3E}">
        <p14:creationId xmlns:p14="http://schemas.microsoft.com/office/powerpoint/2010/main" val="1968689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7F36B-CCCA-BA21-A61C-393B2B2EF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8C05EB-BCB3-6C7E-C37A-AE532CB6F2F1}"/>
              </a:ext>
            </a:extLst>
          </p:cNvPr>
          <p:cNvSpPr>
            <a:spLocks noGrp="1"/>
          </p:cNvSpPr>
          <p:nvPr>
            <p:ph type="title"/>
          </p:nvPr>
        </p:nvSpPr>
        <p:spPr>
          <a:xfrm>
            <a:off x="0" y="1"/>
            <a:ext cx="12192000" cy="711200"/>
          </a:xfrm>
        </p:spPr>
        <p:txBody>
          <a:bodyPr/>
          <a:lstStyle/>
          <a:p>
            <a:r>
              <a:rPr lang="en-US" dirty="0"/>
              <a:t>1) “final” as a variable</a:t>
            </a:r>
          </a:p>
        </p:txBody>
      </p:sp>
      <p:sp>
        <p:nvSpPr>
          <p:cNvPr id="3" name="Content Placeholder 2">
            <a:extLst>
              <a:ext uri="{FF2B5EF4-FFF2-40B4-BE49-F238E27FC236}">
                <a16:creationId xmlns:a16="http://schemas.microsoft.com/office/drawing/2014/main" id="{EABA84D2-904A-3D64-B73F-93E8EB2F65C8}"/>
              </a:ext>
            </a:extLst>
          </p:cNvPr>
          <p:cNvSpPr>
            <a:spLocks noGrp="1"/>
          </p:cNvSpPr>
          <p:nvPr>
            <p:ph idx="1"/>
          </p:nvPr>
        </p:nvSpPr>
        <p:spPr>
          <a:xfrm>
            <a:off x="131180" y="863444"/>
            <a:ext cx="11929641" cy="5590565"/>
          </a:xfrm>
        </p:spPr>
        <p:txBody>
          <a:bodyPr/>
          <a:lstStyle/>
          <a:p>
            <a:r>
              <a:rPr lang="en-US" dirty="0"/>
              <a:t>Can </a:t>
            </a:r>
            <a:r>
              <a:rPr lang="en-US" dirty="0">
                <a:solidFill>
                  <a:srgbClr val="C00000"/>
                </a:solidFill>
              </a:rPr>
              <a:t>not</a:t>
            </a:r>
            <a:r>
              <a:rPr lang="en-US" b="1" dirty="0"/>
              <a:t> </a:t>
            </a:r>
            <a:r>
              <a:rPr lang="en-US" dirty="0">
                <a:solidFill>
                  <a:srgbClr val="C00000"/>
                </a:solidFill>
              </a:rPr>
              <a:t>change</a:t>
            </a:r>
            <a:r>
              <a:rPr lang="en-US" b="1" dirty="0"/>
              <a:t> </a:t>
            </a:r>
            <a:r>
              <a:rPr lang="en-US" dirty="0"/>
              <a:t>the </a:t>
            </a:r>
            <a:r>
              <a:rPr lang="en-US" dirty="0">
                <a:solidFill>
                  <a:srgbClr val="C00000"/>
                </a:solidFill>
              </a:rPr>
              <a:t>value</a:t>
            </a:r>
            <a:r>
              <a:rPr lang="en-US" dirty="0"/>
              <a:t> of final </a:t>
            </a:r>
            <a:r>
              <a:rPr lang="en-US" dirty="0">
                <a:solidFill>
                  <a:srgbClr val="C00000"/>
                </a:solidFill>
              </a:rPr>
              <a:t>variable</a:t>
            </a:r>
            <a:r>
              <a:rPr lang="en-US" dirty="0"/>
              <a:t>.</a:t>
            </a:r>
          </a:p>
          <a:p>
            <a:endParaRPr lang="en-US" dirty="0"/>
          </a:p>
        </p:txBody>
      </p:sp>
      <p:sp>
        <p:nvSpPr>
          <p:cNvPr id="4" name="Rectangle 3">
            <a:extLst>
              <a:ext uri="{FF2B5EF4-FFF2-40B4-BE49-F238E27FC236}">
                <a16:creationId xmlns:a16="http://schemas.microsoft.com/office/drawing/2014/main" id="{5766FCD5-5B61-44E2-FD1F-666F87CA7145}"/>
              </a:ext>
            </a:extLst>
          </p:cNvPr>
          <p:cNvSpPr/>
          <p:nvPr/>
        </p:nvSpPr>
        <p:spPr>
          <a:xfrm>
            <a:off x="533400" y="1515533"/>
            <a:ext cx="7315200" cy="3139321"/>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FinalDemo {</a:t>
            </a:r>
          </a:p>
          <a:p>
            <a:endParaRPr lang="en-US" dirty="0">
              <a:latin typeface="Consolas"/>
            </a:endParaRPr>
          </a:p>
          <a:p>
            <a:r>
              <a:rPr lang="en-US" dirty="0">
                <a:solidFill>
                  <a:srgbClr val="000000"/>
                </a:solidFill>
                <a:latin typeface="Consolas"/>
              </a:rPr>
              <a:t> </a:t>
            </a:r>
            <a:r>
              <a:rPr lang="en-US" b="1" dirty="0">
                <a:solidFill>
                  <a:srgbClr val="7F0055"/>
                </a:solidFill>
                <a:latin typeface="Consolas"/>
              </a:rPr>
              <a:t>final</a:t>
            </a:r>
            <a:r>
              <a:rPr lang="en-US"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 </a:t>
            </a:r>
            <a:r>
              <a:rPr lang="en-US" b="1" dirty="0">
                <a:solidFill>
                  <a:srgbClr val="0000C0"/>
                </a:solidFill>
                <a:latin typeface="Consolas"/>
              </a:rPr>
              <a:t>speedlimit</a:t>
            </a:r>
            <a:r>
              <a:rPr lang="en-US" b="1" dirty="0">
                <a:solidFill>
                  <a:srgbClr val="000000"/>
                </a:solidFill>
                <a:latin typeface="Consolas"/>
              </a:rPr>
              <a:t>=90;</a:t>
            </a:r>
            <a:r>
              <a:rPr lang="en-US" b="1" dirty="0">
                <a:solidFill>
                  <a:srgbClr val="3F7F5F"/>
                </a:solidFill>
                <a:latin typeface="Consolas"/>
              </a:rPr>
              <a:t>//final variable  </a:t>
            </a:r>
          </a:p>
          <a:p>
            <a:r>
              <a:rPr lang="en-US"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run(){  </a:t>
            </a:r>
          </a:p>
          <a:p>
            <a:r>
              <a:rPr lang="en-US" dirty="0">
                <a:solidFill>
                  <a:srgbClr val="0000C0"/>
                </a:solidFill>
                <a:latin typeface="Consolas"/>
              </a:rPr>
              <a:t>	speedlimit</a:t>
            </a:r>
            <a:r>
              <a:rPr lang="en-US" dirty="0">
                <a:solidFill>
                  <a:srgbClr val="000000"/>
                </a:solidFill>
                <a:latin typeface="Consolas"/>
              </a:rPr>
              <a:t>=400;  </a:t>
            </a:r>
          </a:p>
          <a:p>
            <a:r>
              <a:rPr lang="en-US" dirty="0">
                <a:solidFill>
                  <a:srgbClr val="000000"/>
                </a:solidFill>
                <a:latin typeface="Consolas"/>
              </a:rPr>
              <a:t> }  </a:t>
            </a:r>
          </a:p>
          <a:p>
            <a:r>
              <a:rPr lang="en-US" dirty="0">
                <a:solidFill>
                  <a:srgbClr val="000000"/>
                </a:solidFill>
                <a:latin typeface="Consolas"/>
              </a:rPr>
              <a:t> </a:t>
            </a:r>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2"/>
            <a:r>
              <a:rPr lang="en-US" dirty="0">
                <a:solidFill>
                  <a:srgbClr val="000000"/>
                </a:solidFill>
                <a:latin typeface="Consolas"/>
              </a:rPr>
              <a:t>FinalDemo </a:t>
            </a:r>
            <a:r>
              <a:rPr lang="en-US" dirty="0" err="1">
                <a:solidFill>
                  <a:srgbClr val="6A3E3E"/>
                </a:solidFill>
                <a:latin typeface="Consolas"/>
              </a:rPr>
              <a:t>obj</a:t>
            </a:r>
            <a:r>
              <a:rPr lang="en-US" dirty="0">
                <a:solidFill>
                  <a:srgbClr val="000000"/>
                </a:solidFill>
                <a:latin typeface="Consolas"/>
              </a:rPr>
              <a:t>=</a:t>
            </a:r>
            <a:r>
              <a:rPr lang="en-US" b="1" dirty="0">
                <a:solidFill>
                  <a:srgbClr val="7F0055"/>
                </a:solidFill>
                <a:latin typeface="Consolas"/>
              </a:rPr>
              <a:t>new</a:t>
            </a:r>
            <a:r>
              <a:rPr lang="en-US" b="1" dirty="0">
                <a:solidFill>
                  <a:srgbClr val="000000"/>
                </a:solidFill>
                <a:latin typeface="Consolas"/>
              </a:rPr>
              <a:t>  FinalDemo();  </a:t>
            </a:r>
          </a:p>
          <a:p>
            <a:pPr lvl="1"/>
            <a:r>
              <a:rPr lang="en-US" dirty="0">
                <a:solidFill>
                  <a:srgbClr val="000000"/>
                </a:solidFill>
                <a:latin typeface="Consolas"/>
              </a:rPr>
              <a:t> 	</a:t>
            </a:r>
            <a:r>
              <a:rPr lang="en-US" dirty="0" err="1">
                <a:solidFill>
                  <a:srgbClr val="6A3E3E"/>
                </a:solidFill>
                <a:latin typeface="Consolas"/>
              </a:rPr>
              <a:t>obj</a:t>
            </a:r>
            <a:r>
              <a:rPr lang="en-US" dirty="0" err="1">
                <a:solidFill>
                  <a:srgbClr val="000000"/>
                </a:solidFill>
                <a:latin typeface="Consolas"/>
              </a:rPr>
              <a:t>.run</a:t>
            </a:r>
            <a:r>
              <a:rPr lang="en-US" dirty="0">
                <a:solidFill>
                  <a:srgbClr val="000000"/>
                </a:solidFill>
                <a:latin typeface="Consolas"/>
              </a:rPr>
              <a:t>();  </a:t>
            </a:r>
          </a:p>
          <a:p>
            <a:r>
              <a:rPr lang="en-US" dirty="0">
                <a:solidFill>
                  <a:srgbClr val="000000"/>
                </a:solidFill>
                <a:latin typeface="Consolas"/>
              </a:rPr>
              <a:t> }  </a:t>
            </a:r>
            <a:endParaRPr lang="en-US" dirty="0">
              <a:latin typeface="Consolas"/>
            </a:endParaRPr>
          </a:p>
          <a:p>
            <a:r>
              <a:rPr lang="en-US" dirty="0">
                <a:solidFill>
                  <a:srgbClr val="000000"/>
                </a:solidFill>
                <a:latin typeface="Consolas"/>
              </a:rPr>
              <a:t>}</a:t>
            </a:r>
          </a:p>
        </p:txBody>
      </p:sp>
      <p:sp>
        <p:nvSpPr>
          <p:cNvPr id="5" name="Multiply 4">
            <a:extLst>
              <a:ext uri="{FF2B5EF4-FFF2-40B4-BE49-F238E27FC236}">
                <a16:creationId xmlns:a16="http://schemas.microsoft.com/office/drawing/2014/main" id="{D9030983-E6EE-0C7E-725B-A358E6082E84}"/>
              </a:ext>
            </a:extLst>
          </p:cNvPr>
          <p:cNvSpPr/>
          <p:nvPr/>
        </p:nvSpPr>
        <p:spPr>
          <a:xfrm>
            <a:off x="2362200" y="2582333"/>
            <a:ext cx="457200" cy="457200"/>
          </a:xfrm>
          <a:prstGeom prst="mathMultiply">
            <a:avLst>
              <a:gd name="adj1" fmla="val 893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49DCCAD-0A60-C310-0C2E-9F3960AB5414}"/>
              </a:ext>
            </a:extLst>
          </p:cNvPr>
          <p:cNvSpPr/>
          <p:nvPr/>
        </p:nvSpPr>
        <p:spPr>
          <a:xfrm>
            <a:off x="655711" y="2060601"/>
            <a:ext cx="868289" cy="369332"/>
          </a:xfrm>
          <a:prstGeom prst="rect">
            <a:avLst/>
          </a:prstGeom>
          <a:noFill/>
          <a:ln>
            <a:solidFill>
              <a:srgbClr val="FF0000"/>
            </a:solidFill>
          </a:ln>
        </p:spPr>
        <p:txBody>
          <a:bodyPr wrap="square">
            <a:spAutoFit/>
          </a:bodyPr>
          <a:lstStyle/>
          <a:p>
            <a:r>
              <a:rPr lang="en-US" b="1" dirty="0">
                <a:solidFill>
                  <a:srgbClr val="7F0055"/>
                </a:solidFill>
                <a:latin typeface="Consolas"/>
              </a:rPr>
              <a:t>final</a:t>
            </a:r>
            <a:r>
              <a:rPr lang="en-US" b="1" dirty="0">
                <a:solidFill>
                  <a:srgbClr val="000000"/>
                </a:solidFill>
                <a:latin typeface="Consolas"/>
              </a:rPr>
              <a:t> </a:t>
            </a:r>
            <a:endParaRPr lang="en-US" dirty="0"/>
          </a:p>
        </p:txBody>
      </p:sp>
    </p:spTree>
    <p:extLst>
      <p:ext uri="{BB962C8B-B14F-4D97-AF65-F5344CB8AC3E}">
        <p14:creationId xmlns:p14="http://schemas.microsoft.com/office/powerpoint/2010/main" val="2680358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4" animBg="1"/>
      <p:bldP spid="5"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C3C31-2792-DFF8-22D4-407165E01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A6F36-78CA-BDC5-E267-0A6DB49B4335}"/>
              </a:ext>
            </a:extLst>
          </p:cNvPr>
          <p:cNvSpPr>
            <a:spLocks noGrp="1"/>
          </p:cNvSpPr>
          <p:nvPr>
            <p:ph type="title"/>
          </p:nvPr>
        </p:nvSpPr>
        <p:spPr>
          <a:xfrm>
            <a:off x="0" y="1"/>
            <a:ext cx="12192000" cy="711200"/>
          </a:xfrm>
        </p:spPr>
        <p:txBody>
          <a:bodyPr/>
          <a:lstStyle/>
          <a:p>
            <a:r>
              <a:rPr lang="en-US" dirty="0"/>
              <a:t>2) “final” as a method</a:t>
            </a:r>
          </a:p>
        </p:txBody>
      </p:sp>
      <p:sp>
        <p:nvSpPr>
          <p:cNvPr id="3" name="Content Placeholder 2">
            <a:extLst>
              <a:ext uri="{FF2B5EF4-FFF2-40B4-BE49-F238E27FC236}">
                <a16:creationId xmlns:a16="http://schemas.microsoft.com/office/drawing/2014/main" id="{9E04CBB4-E236-6792-170E-E0B97409782E}"/>
              </a:ext>
            </a:extLst>
          </p:cNvPr>
          <p:cNvSpPr>
            <a:spLocks noGrp="1"/>
          </p:cNvSpPr>
          <p:nvPr>
            <p:ph idx="1"/>
          </p:nvPr>
        </p:nvSpPr>
        <p:spPr>
          <a:xfrm>
            <a:off x="131180" y="863444"/>
            <a:ext cx="11929641" cy="5590565"/>
          </a:xfrm>
        </p:spPr>
        <p:txBody>
          <a:bodyPr/>
          <a:lstStyle/>
          <a:p>
            <a:r>
              <a:rPr lang="en-US" dirty="0"/>
              <a:t>If you make any </a:t>
            </a:r>
            <a:r>
              <a:rPr lang="en-US" dirty="0">
                <a:solidFill>
                  <a:srgbClr val="C00000"/>
                </a:solidFill>
              </a:rPr>
              <a:t>method</a:t>
            </a:r>
            <a:r>
              <a:rPr lang="en-US" dirty="0"/>
              <a:t> as </a:t>
            </a:r>
            <a:r>
              <a:rPr lang="en-US" dirty="0">
                <a:solidFill>
                  <a:srgbClr val="C00000"/>
                </a:solidFill>
              </a:rPr>
              <a:t>final</a:t>
            </a:r>
            <a:r>
              <a:rPr lang="en-US" dirty="0"/>
              <a:t>, you </a:t>
            </a:r>
            <a:r>
              <a:rPr lang="en-US" dirty="0">
                <a:solidFill>
                  <a:srgbClr val="C00000"/>
                </a:solidFill>
              </a:rPr>
              <a:t>cannot</a:t>
            </a:r>
            <a:r>
              <a:rPr lang="en-US" dirty="0"/>
              <a:t> </a:t>
            </a:r>
            <a:r>
              <a:rPr lang="en-US" dirty="0">
                <a:solidFill>
                  <a:srgbClr val="C00000"/>
                </a:solidFill>
              </a:rPr>
              <a:t>override</a:t>
            </a:r>
            <a:r>
              <a:rPr lang="en-US" dirty="0"/>
              <a:t> it.</a:t>
            </a:r>
          </a:p>
          <a:p>
            <a:endParaRPr lang="en-US" dirty="0"/>
          </a:p>
        </p:txBody>
      </p:sp>
      <p:sp>
        <p:nvSpPr>
          <p:cNvPr id="4" name="Rectangle 3">
            <a:extLst>
              <a:ext uri="{FF2B5EF4-FFF2-40B4-BE49-F238E27FC236}">
                <a16:creationId xmlns:a16="http://schemas.microsoft.com/office/drawing/2014/main" id="{FE1478B4-C52D-48FA-2AC5-F7286F0505B5}"/>
              </a:ext>
            </a:extLst>
          </p:cNvPr>
          <p:cNvSpPr/>
          <p:nvPr/>
        </p:nvSpPr>
        <p:spPr>
          <a:xfrm>
            <a:off x="550333" y="1501550"/>
            <a:ext cx="7391400" cy="4524315"/>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BikeClass</a:t>
            </a:r>
            <a:r>
              <a:rPr lang="en-US" b="1" dirty="0">
                <a:solidFill>
                  <a:srgbClr val="000000"/>
                </a:solidFill>
                <a:latin typeface="Consolas"/>
              </a:rPr>
              <a:t>{  </a:t>
            </a:r>
          </a:p>
          <a:p>
            <a:r>
              <a:rPr lang="en-US" dirty="0">
                <a:solidFill>
                  <a:srgbClr val="000000"/>
                </a:solidFill>
                <a:latin typeface="Consolas"/>
              </a:rPr>
              <a:t>  </a:t>
            </a:r>
            <a:r>
              <a:rPr lang="en-US" b="1" dirty="0">
                <a:solidFill>
                  <a:srgbClr val="7F0055"/>
                </a:solidFill>
                <a:latin typeface="Consolas"/>
              </a:rPr>
              <a:t>final</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run(){</a:t>
            </a:r>
          </a:p>
          <a:p>
            <a:r>
              <a:rPr lang="en-US" b="1" dirty="0">
                <a:solidFill>
                  <a:srgbClr val="000000"/>
                </a:solidFill>
                <a:latin typeface="Consolas"/>
              </a:rPr>
              <a:t>	</a:t>
            </a:r>
            <a:r>
              <a:rPr lang="en-US" b="1" dirty="0" err="1">
                <a:solidFill>
                  <a:srgbClr val="000000"/>
                </a:solidFill>
                <a:latin typeface="Consolas"/>
              </a:rPr>
              <a:t>System.</a:t>
            </a:r>
            <a:r>
              <a:rPr lang="en-US" b="1" i="1" dirty="0" err="1">
                <a:solidFill>
                  <a:srgbClr val="0000C0"/>
                </a:solidFill>
                <a:latin typeface="Consolas"/>
              </a:rPr>
              <a:t>out</a:t>
            </a:r>
            <a:r>
              <a:rPr lang="en-US" b="1" dirty="0" err="1">
                <a:solidFill>
                  <a:srgbClr val="000000"/>
                </a:solidFill>
                <a:latin typeface="Consolas"/>
              </a:rPr>
              <a:t>.println</a:t>
            </a:r>
            <a:r>
              <a:rPr lang="en-US" b="1" dirty="0">
                <a:solidFill>
                  <a:srgbClr val="000000"/>
                </a:solidFill>
                <a:latin typeface="Consolas"/>
              </a:rPr>
              <a:t>("</a:t>
            </a:r>
            <a:r>
              <a:rPr lang="en-US" b="1" i="1" dirty="0">
                <a:solidFill>
                  <a:srgbClr val="2A00FF"/>
                </a:solidFill>
                <a:latin typeface="Consolas"/>
              </a:rPr>
              <a:t>Running Bike</a:t>
            </a:r>
            <a:r>
              <a:rPr lang="en-US" b="1" dirty="0">
                <a:solidFill>
                  <a:srgbClr val="000000"/>
                </a:solidFill>
                <a:latin typeface="Consolas"/>
              </a:rPr>
              <a:t>");</a:t>
            </a:r>
          </a:p>
          <a:p>
            <a:r>
              <a:rPr lang="en-US" b="1" dirty="0">
                <a:solidFill>
                  <a:srgbClr val="000000"/>
                </a:solidFill>
                <a:latin typeface="Consolas"/>
              </a:rPr>
              <a:t>  }  </a:t>
            </a:r>
          </a:p>
          <a:p>
            <a:r>
              <a:rPr lang="en-US" dirty="0">
                <a:solidFill>
                  <a:srgbClr val="000000"/>
                </a:solidFill>
                <a:latin typeface="Consolas"/>
              </a:rPr>
              <a:t>}  </a:t>
            </a:r>
          </a:p>
          <a:p>
            <a:r>
              <a:rPr lang="en-US" dirty="0">
                <a:solidFill>
                  <a:srgbClr val="000000"/>
                </a:solidFill>
                <a:latin typeface="Consolas"/>
              </a:rPr>
              <a:t>     </a:t>
            </a:r>
          </a:p>
          <a:p>
            <a:r>
              <a:rPr lang="en-US" b="1" dirty="0">
                <a:solidFill>
                  <a:srgbClr val="7F0055"/>
                </a:solidFill>
                <a:latin typeface="Consolas"/>
              </a:rPr>
              <a:t>class</a:t>
            </a:r>
            <a:r>
              <a:rPr lang="en-US" b="1" dirty="0">
                <a:solidFill>
                  <a:srgbClr val="000000"/>
                </a:solidFill>
                <a:latin typeface="Consolas"/>
              </a:rPr>
              <a:t> Pulsar </a:t>
            </a:r>
            <a:r>
              <a:rPr lang="en-US" b="1" dirty="0">
                <a:solidFill>
                  <a:srgbClr val="7F0055"/>
                </a:solidFill>
                <a:latin typeface="Consolas"/>
              </a:rPr>
              <a:t>extends</a:t>
            </a:r>
            <a:r>
              <a:rPr lang="en-US" b="1" dirty="0">
                <a:solidFill>
                  <a:srgbClr val="000000"/>
                </a:solidFill>
                <a:latin typeface="Consolas"/>
              </a:rPr>
              <a:t> </a:t>
            </a:r>
            <a:r>
              <a:rPr lang="en-US" b="1" dirty="0" err="1">
                <a:solidFill>
                  <a:srgbClr val="000000"/>
                </a:solidFill>
                <a:latin typeface="Consolas"/>
              </a:rPr>
              <a:t>BikeClass</a:t>
            </a:r>
            <a:r>
              <a:rPr lang="en-US" b="1" dirty="0">
                <a:solidFill>
                  <a:srgbClr val="000000"/>
                </a:solidFill>
                <a:latin typeface="Consolas"/>
              </a:rPr>
              <a:t>{  </a:t>
            </a:r>
          </a:p>
          <a:p>
            <a:r>
              <a:rPr lang="en-US"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run(){</a:t>
            </a:r>
          </a:p>
          <a:p>
            <a:r>
              <a:rPr lang="en-US" b="1" dirty="0">
                <a:solidFill>
                  <a:srgbClr val="000000"/>
                </a:solidFill>
                <a:latin typeface="Consolas"/>
              </a:rPr>
              <a:t>	</a:t>
            </a:r>
            <a:r>
              <a:rPr lang="en-US" b="1"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"Running Pulsar"</a:t>
            </a:r>
            <a:r>
              <a:rPr lang="en-US" b="1" i="1" dirty="0">
                <a:solidFill>
                  <a:srgbClr val="000000"/>
                </a:solidFill>
                <a:latin typeface="Consolas"/>
              </a:rPr>
              <a:t>);</a:t>
            </a:r>
          </a:p>
          <a:p>
            <a:r>
              <a:rPr lang="en-US" b="1" i="1" dirty="0">
                <a:solidFill>
                  <a:srgbClr val="000000"/>
                </a:solidFill>
                <a:latin typeface="Consolas"/>
              </a:rPr>
              <a:t>   }</a:t>
            </a:r>
            <a:r>
              <a:rPr lang="en-US" b="1" i="1" u="sng" dirty="0">
                <a:solidFill>
                  <a:srgbClr val="000000"/>
                </a:solidFill>
                <a:latin typeface="Consolas"/>
              </a:rPr>
              <a:t>  </a:t>
            </a:r>
          </a:p>
          <a:p>
            <a:r>
              <a:rPr lang="en-US" dirty="0">
                <a:solidFill>
                  <a:srgbClr val="000000"/>
                </a:solidFill>
                <a:latin typeface="Consolas"/>
              </a:rPr>
              <a:t>     </a:t>
            </a:r>
          </a:p>
          <a:p>
            <a:r>
              <a:rPr lang="en-US" dirty="0">
                <a:solidFill>
                  <a:srgbClr val="000000"/>
                </a:solidFill>
                <a:latin typeface="Consolas"/>
              </a:rPr>
              <a:t>   </a:t>
            </a:r>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r>
              <a:rPr lang="en-US" dirty="0">
                <a:solidFill>
                  <a:srgbClr val="000000"/>
                </a:solidFill>
                <a:latin typeface="Consolas"/>
              </a:rPr>
              <a:t>   	Pulsar </a:t>
            </a:r>
            <a:r>
              <a:rPr lang="en-US" dirty="0">
                <a:solidFill>
                  <a:srgbClr val="6A3E3E"/>
                </a:solidFill>
                <a:latin typeface="Consolas"/>
              </a:rPr>
              <a:t>p</a:t>
            </a:r>
            <a:r>
              <a:rPr lang="en-US" dirty="0">
                <a:solidFill>
                  <a:srgbClr val="000000"/>
                </a:solidFill>
                <a:latin typeface="Consolas"/>
              </a:rPr>
              <a:t>= </a:t>
            </a:r>
            <a:r>
              <a:rPr lang="en-US" b="1" dirty="0">
                <a:solidFill>
                  <a:srgbClr val="7F0055"/>
                </a:solidFill>
                <a:latin typeface="Consolas"/>
              </a:rPr>
              <a:t>new</a:t>
            </a:r>
            <a:r>
              <a:rPr lang="en-US" b="1" dirty="0">
                <a:solidFill>
                  <a:srgbClr val="000000"/>
                </a:solidFill>
                <a:latin typeface="Consolas"/>
              </a:rPr>
              <a:t> Pulsar();  </a:t>
            </a:r>
          </a:p>
          <a:p>
            <a:r>
              <a:rPr lang="en-US" dirty="0">
                <a:solidFill>
                  <a:srgbClr val="000000"/>
                </a:solidFill>
                <a:latin typeface="Consolas"/>
              </a:rPr>
              <a:t>   	</a:t>
            </a:r>
            <a:r>
              <a:rPr lang="en-US" dirty="0" err="1">
                <a:solidFill>
                  <a:srgbClr val="6A3E3E"/>
                </a:solidFill>
                <a:latin typeface="Consolas"/>
              </a:rPr>
              <a:t>p</a:t>
            </a:r>
            <a:r>
              <a:rPr lang="en-US" dirty="0" err="1">
                <a:solidFill>
                  <a:srgbClr val="000000"/>
                </a:solidFill>
                <a:latin typeface="Consolas"/>
              </a:rPr>
              <a:t>.run</a:t>
            </a:r>
            <a:r>
              <a:rPr lang="en-US" dirty="0">
                <a:solidFill>
                  <a:srgbClr val="000000"/>
                </a:solidFill>
                <a:latin typeface="Consolas"/>
              </a:rPr>
              <a:t>();  </a:t>
            </a:r>
          </a:p>
          <a:p>
            <a:r>
              <a:rPr lang="en-US" dirty="0">
                <a:solidFill>
                  <a:srgbClr val="000000"/>
                </a:solidFill>
                <a:latin typeface="Consolas"/>
              </a:rPr>
              <a:t>   }  </a:t>
            </a:r>
          </a:p>
          <a:p>
            <a:r>
              <a:rPr lang="en-US" dirty="0">
                <a:solidFill>
                  <a:srgbClr val="000000"/>
                </a:solidFill>
                <a:latin typeface="Consolas"/>
              </a:rPr>
              <a:t>} </a:t>
            </a:r>
          </a:p>
        </p:txBody>
      </p:sp>
      <p:sp>
        <p:nvSpPr>
          <p:cNvPr id="5" name="Multiply 4">
            <a:extLst>
              <a:ext uri="{FF2B5EF4-FFF2-40B4-BE49-F238E27FC236}">
                <a16:creationId xmlns:a16="http://schemas.microsoft.com/office/drawing/2014/main" id="{AED523D3-4041-3584-A486-C798ABA2FA8F}"/>
              </a:ext>
            </a:extLst>
          </p:cNvPr>
          <p:cNvSpPr/>
          <p:nvPr/>
        </p:nvSpPr>
        <p:spPr>
          <a:xfrm>
            <a:off x="1905000" y="3658726"/>
            <a:ext cx="457200" cy="457200"/>
          </a:xfrm>
          <a:prstGeom prst="mathMultiply">
            <a:avLst>
              <a:gd name="adj1" fmla="val 1102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EF5F6C6-FECB-8AB9-CD18-89181DF2824B}"/>
              </a:ext>
            </a:extLst>
          </p:cNvPr>
          <p:cNvSpPr/>
          <p:nvPr/>
        </p:nvSpPr>
        <p:spPr>
          <a:xfrm>
            <a:off x="801914" y="1787676"/>
            <a:ext cx="868289" cy="369332"/>
          </a:xfrm>
          <a:prstGeom prst="rect">
            <a:avLst/>
          </a:prstGeom>
          <a:noFill/>
          <a:ln>
            <a:solidFill>
              <a:srgbClr val="FF0000"/>
            </a:solidFill>
          </a:ln>
        </p:spPr>
        <p:txBody>
          <a:bodyPr wrap="square">
            <a:spAutoFit/>
          </a:bodyPr>
          <a:lstStyle/>
          <a:p>
            <a:r>
              <a:rPr lang="en-US" b="1" dirty="0">
                <a:solidFill>
                  <a:srgbClr val="7F0055"/>
                </a:solidFill>
                <a:latin typeface="Consolas"/>
              </a:rPr>
              <a:t>final</a:t>
            </a:r>
            <a:r>
              <a:rPr lang="en-US" b="1" dirty="0">
                <a:solidFill>
                  <a:srgbClr val="000000"/>
                </a:solidFill>
                <a:latin typeface="Consolas"/>
              </a:rPr>
              <a:t> </a:t>
            </a:r>
            <a:endParaRPr lang="en-US" dirty="0"/>
          </a:p>
        </p:txBody>
      </p:sp>
      <p:sp>
        <p:nvSpPr>
          <p:cNvPr id="7" name="Multiply 6">
            <a:extLst>
              <a:ext uri="{FF2B5EF4-FFF2-40B4-BE49-F238E27FC236}">
                <a16:creationId xmlns:a16="http://schemas.microsoft.com/office/drawing/2014/main" id="{46BB978F-70CA-942F-9E2A-D6E37017C900}"/>
              </a:ext>
            </a:extLst>
          </p:cNvPr>
          <p:cNvSpPr/>
          <p:nvPr/>
        </p:nvSpPr>
        <p:spPr>
          <a:xfrm>
            <a:off x="3657600" y="3658726"/>
            <a:ext cx="457200" cy="457200"/>
          </a:xfrm>
          <a:prstGeom prst="mathMultiply">
            <a:avLst>
              <a:gd name="adj1" fmla="val 1102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ultiply 7">
            <a:extLst>
              <a:ext uri="{FF2B5EF4-FFF2-40B4-BE49-F238E27FC236}">
                <a16:creationId xmlns:a16="http://schemas.microsoft.com/office/drawing/2014/main" id="{ABB047F5-46B6-2C78-F7B6-CC9B783A1FCB}"/>
              </a:ext>
            </a:extLst>
          </p:cNvPr>
          <p:cNvSpPr/>
          <p:nvPr/>
        </p:nvSpPr>
        <p:spPr>
          <a:xfrm>
            <a:off x="5638800" y="3658726"/>
            <a:ext cx="457200" cy="457200"/>
          </a:xfrm>
          <a:prstGeom prst="mathMultiply">
            <a:avLst>
              <a:gd name="adj1" fmla="val 1102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889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13" end="1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14" end="1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animBg="1"/>
      <p:bldP spid="5" grpId="0" animBg="1"/>
      <p:bldP spid="6" grpId="0" animBg="1"/>
      <p:bldP spid="7"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18CB5-3F00-1B29-B16F-6B3D6ACC8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380598-7738-34EE-DBC9-A83A4EC29A10}"/>
              </a:ext>
            </a:extLst>
          </p:cNvPr>
          <p:cNvSpPr>
            <a:spLocks noGrp="1"/>
          </p:cNvSpPr>
          <p:nvPr>
            <p:ph type="title"/>
          </p:nvPr>
        </p:nvSpPr>
        <p:spPr>
          <a:xfrm>
            <a:off x="0" y="1"/>
            <a:ext cx="12192000" cy="711200"/>
          </a:xfrm>
        </p:spPr>
        <p:txBody>
          <a:bodyPr/>
          <a:lstStyle/>
          <a:p>
            <a:r>
              <a:rPr lang="en-US" dirty="0"/>
              <a:t>3) “final” as a Class</a:t>
            </a:r>
          </a:p>
        </p:txBody>
      </p:sp>
      <p:sp>
        <p:nvSpPr>
          <p:cNvPr id="3" name="Content Placeholder 2">
            <a:extLst>
              <a:ext uri="{FF2B5EF4-FFF2-40B4-BE49-F238E27FC236}">
                <a16:creationId xmlns:a16="http://schemas.microsoft.com/office/drawing/2014/main" id="{110CAA46-9CF5-C83F-ABA9-31FDF6447149}"/>
              </a:ext>
            </a:extLst>
          </p:cNvPr>
          <p:cNvSpPr>
            <a:spLocks noGrp="1"/>
          </p:cNvSpPr>
          <p:nvPr>
            <p:ph idx="1"/>
          </p:nvPr>
        </p:nvSpPr>
        <p:spPr>
          <a:xfrm>
            <a:off x="131180" y="863444"/>
            <a:ext cx="11929641" cy="5590565"/>
          </a:xfrm>
        </p:spPr>
        <p:txBody>
          <a:bodyPr/>
          <a:lstStyle/>
          <a:p>
            <a:r>
              <a:rPr lang="en-US" dirty="0"/>
              <a:t>If you make any </a:t>
            </a:r>
            <a:r>
              <a:rPr lang="en-US" dirty="0">
                <a:solidFill>
                  <a:srgbClr val="C00000"/>
                </a:solidFill>
              </a:rPr>
              <a:t>class</a:t>
            </a:r>
            <a:r>
              <a:rPr lang="en-US" dirty="0"/>
              <a:t> as </a:t>
            </a:r>
            <a:r>
              <a:rPr lang="en-US" dirty="0">
                <a:solidFill>
                  <a:srgbClr val="C00000"/>
                </a:solidFill>
              </a:rPr>
              <a:t>final</a:t>
            </a:r>
            <a:r>
              <a:rPr lang="en-US" dirty="0"/>
              <a:t>, you </a:t>
            </a:r>
            <a:r>
              <a:rPr lang="en-US" dirty="0">
                <a:solidFill>
                  <a:srgbClr val="C00000"/>
                </a:solidFill>
              </a:rPr>
              <a:t>cannot</a:t>
            </a:r>
            <a:r>
              <a:rPr lang="en-US" b="1" dirty="0"/>
              <a:t> </a:t>
            </a:r>
            <a:r>
              <a:rPr lang="en-US" dirty="0">
                <a:solidFill>
                  <a:srgbClr val="C00000"/>
                </a:solidFill>
              </a:rPr>
              <a:t>extend</a:t>
            </a:r>
            <a:r>
              <a:rPr lang="en-US" b="1" dirty="0"/>
              <a:t> </a:t>
            </a:r>
            <a:r>
              <a:rPr lang="en-US" dirty="0"/>
              <a:t>it.</a:t>
            </a:r>
          </a:p>
          <a:p>
            <a:endParaRPr lang="en-US" dirty="0"/>
          </a:p>
        </p:txBody>
      </p:sp>
      <p:sp>
        <p:nvSpPr>
          <p:cNvPr id="4" name="Rectangle 3">
            <a:extLst>
              <a:ext uri="{FF2B5EF4-FFF2-40B4-BE49-F238E27FC236}">
                <a16:creationId xmlns:a16="http://schemas.microsoft.com/office/drawing/2014/main" id="{374730F2-950A-5185-B398-692A6526A01B}"/>
              </a:ext>
            </a:extLst>
          </p:cNvPr>
          <p:cNvSpPr/>
          <p:nvPr/>
        </p:nvSpPr>
        <p:spPr>
          <a:xfrm>
            <a:off x="533400" y="1467683"/>
            <a:ext cx="8686800" cy="4801314"/>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final class</a:t>
            </a:r>
            <a:r>
              <a:rPr lang="en-US" b="1" dirty="0">
                <a:solidFill>
                  <a:srgbClr val="000000"/>
                </a:solidFill>
                <a:latin typeface="Consolas"/>
              </a:rPr>
              <a:t> </a:t>
            </a:r>
            <a:r>
              <a:rPr lang="en-US" b="1" dirty="0" err="1">
                <a:solidFill>
                  <a:srgbClr val="000000"/>
                </a:solidFill>
                <a:latin typeface="Consolas"/>
              </a:rPr>
              <a:t>BikeClass</a:t>
            </a:r>
            <a:r>
              <a:rPr lang="en-US" b="1" dirty="0">
                <a:solidFill>
                  <a:srgbClr val="000000"/>
                </a:solidFill>
                <a:latin typeface="Consolas"/>
              </a:rPr>
              <a:t>{  </a:t>
            </a:r>
          </a:p>
          <a:p>
            <a:r>
              <a:rPr lang="en-US" b="1" dirty="0">
                <a:solidFill>
                  <a:srgbClr val="7F0055"/>
                </a:solidFill>
                <a:latin typeface="Consolas"/>
              </a:rPr>
              <a:t>   void</a:t>
            </a:r>
            <a:r>
              <a:rPr lang="en-US" b="1" dirty="0">
                <a:solidFill>
                  <a:srgbClr val="000000"/>
                </a:solidFill>
                <a:latin typeface="Consolas"/>
              </a:rPr>
              <a:t> run(){</a:t>
            </a:r>
          </a:p>
          <a:p>
            <a:r>
              <a:rPr lang="en-US" b="1" dirty="0">
                <a:solidFill>
                  <a:srgbClr val="000000"/>
                </a:solidFill>
                <a:latin typeface="Consolas"/>
              </a:rPr>
              <a:t>	</a:t>
            </a:r>
            <a:r>
              <a:rPr lang="en-US" b="1" dirty="0" err="1">
                <a:solidFill>
                  <a:srgbClr val="000000"/>
                </a:solidFill>
                <a:latin typeface="Consolas"/>
              </a:rPr>
              <a:t>System.</a:t>
            </a:r>
            <a:r>
              <a:rPr lang="en-US" b="1" i="1" dirty="0" err="1">
                <a:solidFill>
                  <a:srgbClr val="0000C0"/>
                </a:solidFill>
                <a:latin typeface="Consolas"/>
              </a:rPr>
              <a:t>out</a:t>
            </a:r>
            <a:r>
              <a:rPr lang="en-US" b="1" dirty="0" err="1">
                <a:solidFill>
                  <a:srgbClr val="000000"/>
                </a:solidFill>
                <a:latin typeface="Consolas"/>
              </a:rPr>
              <a:t>.println</a:t>
            </a:r>
            <a:r>
              <a:rPr lang="en-US" b="1" dirty="0">
                <a:solidFill>
                  <a:srgbClr val="000000"/>
                </a:solidFill>
                <a:latin typeface="Consolas"/>
              </a:rPr>
              <a:t>("</a:t>
            </a:r>
            <a:r>
              <a:rPr lang="en-US" b="1" i="1" dirty="0">
                <a:solidFill>
                  <a:srgbClr val="2A00FF"/>
                </a:solidFill>
                <a:latin typeface="Consolas"/>
              </a:rPr>
              <a:t>Running Bike</a:t>
            </a:r>
            <a:r>
              <a:rPr lang="en-US" b="1" dirty="0">
                <a:solidFill>
                  <a:srgbClr val="000000"/>
                </a:solidFill>
                <a:latin typeface="Consolas"/>
              </a:rPr>
              <a:t>");</a:t>
            </a:r>
          </a:p>
          <a:p>
            <a:r>
              <a:rPr lang="en-US" b="1" dirty="0">
                <a:solidFill>
                  <a:srgbClr val="000000"/>
                </a:solidFill>
                <a:latin typeface="Consolas"/>
              </a:rPr>
              <a:t>   }  </a:t>
            </a:r>
          </a:p>
          <a:p>
            <a:r>
              <a:rPr lang="en-US" dirty="0">
                <a:solidFill>
                  <a:srgbClr val="000000"/>
                </a:solidFill>
                <a:latin typeface="Consolas"/>
              </a:rPr>
              <a:t>}  </a:t>
            </a:r>
          </a:p>
          <a:p>
            <a:r>
              <a:rPr lang="en-US" dirty="0">
                <a:solidFill>
                  <a:srgbClr val="000000"/>
                </a:solidFill>
                <a:latin typeface="Consolas"/>
              </a:rPr>
              <a:t>     </a:t>
            </a:r>
          </a:p>
          <a:p>
            <a:r>
              <a:rPr lang="en-US" b="1" dirty="0">
                <a:solidFill>
                  <a:srgbClr val="7F0055"/>
                </a:solidFill>
                <a:latin typeface="Consolas"/>
              </a:rPr>
              <a:t>class</a:t>
            </a:r>
            <a:r>
              <a:rPr lang="en-US" b="1" dirty="0">
                <a:solidFill>
                  <a:srgbClr val="000000"/>
                </a:solidFill>
                <a:latin typeface="Consolas"/>
              </a:rPr>
              <a:t> Pulsar </a:t>
            </a:r>
            <a:r>
              <a:rPr lang="en-US" b="1" dirty="0">
                <a:solidFill>
                  <a:srgbClr val="7F0055"/>
                </a:solidFill>
                <a:latin typeface="Consolas"/>
              </a:rPr>
              <a:t>extends</a:t>
            </a:r>
            <a:r>
              <a:rPr lang="en-US" b="1" dirty="0">
                <a:solidFill>
                  <a:srgbClr val="000000"/>
                </a:solidFill>
                <a:latin typeface="Consolas"/>
              </a:rPr>
              <a:t> </a:t>
            </a:r>
            <a:r>
              <a:rPr lang="en-US" b="1" dirty="0" err="1">
                <a:solidFill>
                  <a:srgbClr val="000000"/>
                </a:solidFill>
                <a:latin typeface="Consolas"/>
              </a:rPr>
              <a:t>BikeClass</a:t>
            </a:r>
            <a:r>
              <a:rPr lang="en-US" b="1" dirty="0">
                <a:solidFill>
                  <a:srgbClr val="000000"/>
                </a:solidFill>
                <a:latin typeface="Consolas"/>
              </a:rPr>
              <a:t> </a:t>
            </a:r>
          </a:p>
          <a:p>
            <a:r>
              <a:rPr lang="en-US" b="1" dirty="0">
                <a:solidFill>
                  <a:srgbClr val="000000"/>
                </a:solidFill>
                <a:latin typeface="Consolas"/>
              </a:rPr>
              <a:t>{  </a:t>
            </a:r>
          </a:p>
          <a:p>
            <a:r>
              <a:rPr lang="en-US"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run(){</a:t>
            </a:r>
          </a:p>
          <a:p>
            <a:r>
              <a:rPr lang="en-US" b="1" dirty="0">
                <a:solidFill>
                  <a:srgbClr val="000000"/>
                </a:solidFill>
                <a:latin typeface="Consolas"/>
              </a:rPr>
              <a:t>	</a:t>
            </a:r>
            <a:r>
              <a:rPr lang="en-US" b="1"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"Running Pulsar"</a:t>
            </a:r>
            <a:r>
              <a:rPr lang="en-US" b="1" i="1" dirty="0">
                <a:solidFill>
                  <a:srgbClr val="000000"/>
                </a:solidFill>
                <a:latin typeface="Consolas"/>
              </a:rPr>
              <a:t>);</a:t>
            </a:r>
          </a:p>
          <a:p>
            <a:r>
              <a:rPr lang="en-US" b="1" i="1" dirty="0">
                <a:solidFill>
                  <a:srgbClr val="000000"/>
                </a:solidFill>
                <a:latin typeface="Consolas"/>
              </a:rPr>
              <a:t>   }</a:t>
            </a:r>
            <a:r>
              <a:rPr lang="en-US" b="1" i="1" u="sng" dirty="0">
                <a:solidFill>
                  <a:srgbClr val="000000"/>
                </a:solidFill>
                <a:latin typeface="Consolas"/>
              </a:rPr>
              <a:t>  </a:t>
            </a:r>
          </a:p>
          <a:p>
            <a:r>
              <a:rPr lang="en-US" dirty="0">
                <a:solidFill>
                  <a:srgbClr val="000000"/>
                </a:solidFill>
                <a:latin typeface="Consolas"/>
              </a:rPr>
              <a:t>     </a:t>
            </a:r>
          </a:p>
          <a:p>
            <a:r>
              <a:rPr lang="en-US" dirty="0">
                <a:solidFill>
                  <a:srgbClr val="000000"/>
                </a:solidFill>
                <a:latin typeface="Consolas"/>
              </a:rPr>
              <a:t>   </a:t>
            </a:r>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r>
              <a:rPr lang="en-US" dirty="0">
                <a:solidFill>
                  <a:srgbClr val="000000"/>
                </a:solidFill>
                <a:latin typeface="Consolas"/>
              </a:rPr>
              <a:t>   	Pulsar </a:t>
            </a:r>
            <a:r>
              <a:rPr lang="en-US" dirty="0">
                <a:solidFill>
                  <a:srgbClr val="6A3E3E"/>
                </a:solidFill>
                <a:latin typeface="Consolas"/>
              </a:rPr>
              <a:t>p</a:t>
            </a:r>
            <a:r>
              <a:rPr lang="en-US" dirty="0">
                <a:solidFill>
                  <a:srgbClr val="000000"/>
                </a:solidFill>
                <a:latin typeface="Consolas"/>
              </a:rPr>
              <a:t>= </a:t>
            </a:r>
            <a:r>
              <a:rPr lang="en-US" b="1" dirty="0">
                <a:solidFill>
                  <a:srgbClr val="7F0055"/>
                </a:solidFill>
                <a:latin typeface="Consolas"/>
              </a:rPr>
              <a:t>new</a:t>
            </a:r>
            <a:r>
              <a:rPr lang="en-US" b="1" dirty="0">
                <a:solidFill>
                  <a:srgbClr val="000000"/>
                </a:solidFill>
                <a:latin typeface="Consolas"/>
              </a:rPr>
              <a:t> Pulsar();  </a:t>
            </a:r>
          </a:p>
          <a:p>
            <a:r>
              <a:rPr lang="en-US" dirty="0">
                <a:solidFill>
                  <a:srgbClr val="000000"/>
                </a:solidFill>
                <a:latin typeface="Consolas"/>
              </a:rPr>
              <a:t>   	</a:t>
            </a:r>
            <a:r>
              <a:rPr lang="en-US" dirty="0" err="1">
                <a:solidFill>
                  <a:srgbClr val="6A3E3E"/>
                </a:solidFill>
                <a:latin typeface="Consolas"/>
              </a:rPr>
              <a:t>p</a:t>
            </a:r>
            <a:r>
              <a:rPr lang="en-US" dirty="0" err="1">
                <a:solidFill>
                  <a:srgbClr val="000000"/>
                </a:solidFill>
                <a:latin typeface="Consolas"/>
              </a:rPr>
              <a:t>.run</a:t>
            </a:r>
            <a:r>
              <a:rPr lang="en-US" dirty="0">
                <a:solidFill>
                  <a:srgbClr val="000000"/>
                </a:solidFill>
                <a:latin typeface="Consolas"/>
              </a:rPr>
              <a:t>();  </a:t>
            </a:r>
          </a:p>
          <a:p>
            <a:r>
              <a:rPr lang="en-US" dirty="0">
                <a:solidFill>
                  <a:srgbClr val="000000"/>
                </a:solidFill>
                <a:latin typeface="Consolas"/>
              </a:rPr>
              <a:t>   }  </a:t>
            </a:r>
          </a:p>
          <a:p>
            <a:r>
              <a:rPr lang="en-US" dirty="0">
                <a:solidFill>
                  <a:srgbClr val="000000"/>
                </a:solidFill>
                <a:latin typeface="Consolas"/>
              </a:rPr>
              <a:t>} </a:t>
            </a:r>
          </a:p>
        </p:txBody>
      </p:sp>
      <p:sp>
        <p:nvSpPr>
          <p:cNvPr id="5" name="Rectangle 4">
            <a:extLst>
              <a:ext uri="{FF2B5EF4-FFF2-40B4-BE49-F238E27FC236}">
                <a16:creationId xmlns:a16="http://schemas.microsoft.com/office/drawing/2014/main" id="{EB394848-74E3-3996-1B32-29974B2820DD}"/>
              </a:ext>
            </a:extLst>
          </p:cNvPr>
          <p:cNvSpPr/>
          <p:nvPr/>
        </p:nvSpPr>
        <p:spPr>
          <a:xfrm>
            <a:off x="533400" y="1462619"/>
            <a:ext cx="868289" cy="369332"/>
          </a:xfrm>
          <a:prstGeom prst="rect">
            <a:avLst/>
          </a:prstGeom>
          <a:noFill/>
          <a:ln>
            <a:solidFill>
              <a:srgbClr val="FF0000"/>
            </a:solidFill>
          </a:ln>
        </p:spPr>
        <p:txBody>
          <a:bodyPr wrap="square">
            <a:spAutoFit/>
          </a:bodyPr>
          <a:lstStyle/>
          <a:p>
            <a:r>
              <a:rPr lang="en-US" b="1" dirty="0">
                <a:solidFill>
                  <a:srgbClr val="7F0055"/>
                </a:solidFill>
                <a:latin typeface="Consolas"/>
              </a:rPr>
              <a:t>final</a:t>
            </a:r>
            <a:r>
              <a:rPr lang="en-US" b="1" dirty="0">
                <a:solidFill>
                  <a:srgbClr val="000000"/>
                </a:solidFill>
                <a:latin typeface="Consolas"/>
              </a:rPr>
              <a:t> </a:t>
            </a:r>
            <a:endParaRPr lang="en-US" dirty="0"/>
          </a:p>
        </p:txBody>
      </p:sp>
      <p:sp>
        <p:nvSpPr>
          <p:cNvPr id="6" name="Rectangle 5">
            <a:extLst>
              <a:ext uri="{FF2B5EF4-FFF2-40B4-BE49-F238E27FC236}">
                <a16:creationId xmlns:a16="http://schemas.microsoft.com/office/drawing/2014/main" id="{3C1A98B0-1FA5-17F6-F4A1-A0205B89E7B3}"/>
              </a:ext>
            </a:extLst>
          </p:cNvPr>
          <p:cNvSpPr/>
          <p:nvPr/>
        </p:nvSpPr>
        <p:spPr>
          <a:xfrm>
            <a:off x="2218267" y="3102406"/>
            <a:ext cx="22098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ultiply 6">
            <a:extLst>
              <a:ext uri="{FF2B5EF4-FFF2-40B4-BE49-F238E27FC236}">
                <a16:creationId xmlns:a16="http://schemas.microsoft.com/office/drawing/2014/main" id="{E9A2D3C8-6993-F34B-5449-711DC11242CE}"/>
              </a:ext>
            </a:extLst>
          </p:cNvPr>
          <p:cNvSpPr/>
          <p:nvPr/>
        </p:nvSpPr>
        <p:spPr>
          <a:xfrm>
            <a:off x="2421467" y="3064306"/>
            <a:ext cx="457200" cy="457200"/>
          </a:xfrm>
          <a:prstGeom prst="mathMultiply">
            <a:avLst>
              <a:gd name="adj1" fmla="val 893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ultiply 7">
            <a:extLst>
              <a:ext uri="{FF2B5EF4-FFF2-40B4-BE49-F238E27FC236}">
                <a16:creationId xmlns:a16="http://schemas.microsoft.com/office/drawing/2014/main" id="{F99A7BC0-0570-509D-0843-945612115868}"/>
              </a:ext>
            </a:extLst>
          </p:cNvPr>
          <p:cNvSpPr/>
          <p:nvPr/>
        </p:nvSpPr>
        <p:spPr>
          <a:xfrm>
            <a:off x="3488267" y="3064306"/>
            <a:ext cx="457200" cy="457200"/>
          </a:xfrm>
          <a:prstGeom prst="mathMultiply">
            <a:avLst>
              <a:gd name="adj1" fmla="val 893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1234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13" end="1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14" end="1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15" end="1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animBg="1"/>
      <p:bldP spid="5" grpId="0" animBg="1"/>
      <p:bldP spid="6" grpId="0" animBg="1"/>
      <p:bldP spid="7"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166E6-873F-F159-EA06-360178D02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EA71A-F1D8-D875-0CAF-77FB9DA42FC2}"/>
              </a:ext>
            </a:extLst>
          </p:cNvPr>
          <p:cNvSpPr>
            <a:spLocks noGrp="1"/>
          </p:cNvSpPr>
          <p:nvPr>
            <p:ph type="title"/>
          </p:nvPr>
        </p:nvSpPr>
        <p:spPr>
          <a:xfrm>
            <a:off x="0" y="1"/>
            <a:ext cx="12192000" cy="711200"/>
          </a:xfrm>
        </p:spPr>
        <p:txBody>
          <a:bodyPr/>
          <a:lstStyle/>
          <a:p>
            <a:r>
              <a:rPr lang="en-US" dirty="0"/>
              <a:t>Finalize method</a:t>
            </a:r>
          </a:p>
        </p:txBody>
      </p:sp>
      <p:sp>
        <p:nvSpPr>
          <p:cNvPr id="3" name="Content Placeholder 2">
            <a:extLst>
              <a:ext uri="{FF2B5EF4-FFF2-40B4-BE49-F238E27FC236}">
                <a16:creationId xmlns:a16="http://schemas.microsoft.com/office/drawing/2014/main" id="{B601BEF5-DE3F-6C17-2172-9929EBB8D972}"/>
              </a:ext>
            </a:extLst>
          </p:cNvPr>
          <p:cNvSpPr>
            <a:spLocks noGrp="1"/>
          </p:cNvSpPr>
          <p:nvPr>
            <p:ph idx="1"/>
          </p:nvPr>
        </p:nvSpPr>
        <p:spPr>
          <a:xfrm>
            <a:off x="131181" y="863444"/>
            <a:ext cx="11898894" cy="5518306"/>
          </a:xfrm>
        </p:spPr>
        <p:txBody>
          <a:bodyPr/>
          <a:lstStyle/>
          <a:p>
            <a:r>
              <a:rPr lang="en-US" dirty="0"/>
              <a:t>The Java </a:t>
            </a:r>
            <a:r>
              <a:rPr lang="en-US" dirty="0">
                <a:solidFill>
                  <a:srgbClr val="B71B1C"/>
                </a:solidFill>
              </a:rPr>
              <a:t>finalize() </a:t>
            </a:r>
            <a:r>
              <a:rPr lang="en-US" dirty="0"/>
              <a:t>method of Object class is a method that the Garbage Collector always calls just before the deletion/destroying the object which is eligible for </a:t>
            </a:r>
            <a:r>
              <a:rPr lang="en-US" dirty="0">
                <a:solidFill>
                  <a:srgbClr val="B71B1C"/>
                </a:solidFill>
              </a:rPr>
              <a:t>Garbage Collection</a:t>
            </a:r>
            <a:r>
              <a:rPr lang="en-US" dirty="0"/>
              <a:t> to perform clean-up activity. </a:t>
            </a:r>
          </a:p>
          <a:p>
            <a:r>
              <a:rPr lang="en-US" dirty="0">
                <a:solidFill>
                  <a:srgbClr val="B71B1C"/>
                </a:solidFill>
              </a:rPr>
              <a:t>Clean-up</a:t>
            </a:r>
            <a:r>
              <a:rPr lang="en-US" dirty="0"/>
              <a:t> activity means closing the resources associated with that object like Database Connection, Network Connection, or we can say resource de-allocation. </a:t>
            </a:r>
          </a:p>
          <a:p>
            <a:r>
              <a:rPr lang="en-US" dirty="0">
                <a:solidFill>
                  <a:srgbClr val="B71B1C"/>
                </a:solidFill>
              </a:rPr>
              <a:t>Finalization: </a:t>
            </a:r>
            <a:r>
              <a:rPr lang="en-US" dirty="0"/>
              <a:t>Just before destroying any object, the garbage collector always calls finalize() method to perform clean-up activities on that object. This process is known as Finalization in Java.</a:t>
            </a:r>
          </a:p>
          <a:p>
            <a:r>
              <a:rPr lang="en-US" dirty="0"/>
              <a:t>Syntax:   protected void finalize()</a:t>
            </a:r>
          </a:p>
          <a:p>
            <a:pPr marL="0" indent="0">
              <a:buNone/>
            </a:pPr>
            <a:r>
              <a:rPr lang="en-US" dirty="0"/>
              <a:t>                    {</a:t>
            </a:r>
          </a:p>
          <a:p>
            <a:pPr marL="0" indent="0">
              <a:buNone/>
            </a:pPr>
            <a:r>
              <a:rPr lang="en-US" dirty="0"/>
              <a:t>                     // code of finalization</a:t>
            </a:r>
          </a:p>
          <a:p>
            <a:pPr marL="0" indent="0">
              <a:buNone/>
            </a:pPr>
            <a:r>
              <a:rPr lang="en-US" dirty="0"/>
              <a:t>                    }</a:t>
            </a:r>
          </a:p>
        </p:txBody>
      </p:sp>
    </p:spTree>
    <p:extLst>
      <p:ext uri="{BB962C8B-B14F-4D97-AF65-F5344CB8AC3E}">
        <p14:creationId xmlns:p14="http://schemas.microsoft.com/office/powerpoint/2010/main" val="299603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EB38D-FD94-D044-6BF0-263A6D340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DB4FB-BB7C-EF21-0836-966395C6D403}"/>
              </a:ext>
            </a:extLst>
          </p:cNvPr>
          <p:cNvSpPr>
            <a:spLocks noGrp="1"/>
          </p:cNvSpPr>
          <p:nvPr>
            <p:ph type="title"/>
          </p:nvPr>
        </p:nvSpPr>
        <p:spPr>
          <a:xfrm>
            <a:off x="0" y="1"/>
            <a:ext cx="12192000" cy="711200"/>
          </a:xfrm>
        </p:spPr>
        <p:txBody>
          <a:bodyPr/>
          <a:lstStyle/>
          <a:p>
            <a:r>
              <a:rPr lang="en-US" dirty="0"/>
              <a:t>Abstract class</a:t>
            </a:r>
          </a:p>
        </p:txBody>
      </p:sp>
      <p:sp>
        <p:nvSpPr>
          <p:cNvPr id="3" name="Content Placeholder 2">
            <a:extLst>
              <a:ext uri="{FF2B5EF4-FFF2-40B4-BE49-F238E27FC236}">
                <a16:creationId xmlns:a16="http://schemas.microsoft.com/office/drawing/2014/main" id="{27149CD6-A571-8EB3-9339-19C1CA2F04F5}"/>
              </a:ext>
            </a:extLst>
          </p:cNvPr>
          <p:cNvSpPr>
            <a:spLocks noGrp="1"/>
          </p:cNvSpPr>
          <p:nvPr>
            <p:ph idx="1"/>
          </p:nvPr>
        </p:nvSpPr>
        <p:spPr>
          <a:xfrm>
            <a:off x="131180" y="863444"/>
            <a:ext cx="11929641" cy="5590565"/>
          </a:xfrm>
        </p:spPr>
        <p:txBody>
          <a:bodyPr/>
          <a:lstStyle/>
          <a:p>
            <a:r>
              <a:rPr lang="en-US" dirty="0">
                <a:solidFill>
                  <a:srgbClr val="C00000"/>
                </a:solidFill>
              </a:rPr>
              <a:t>Abstraction</a:t>
            </a:r>
            <a:r>
              <a:rPr lang="en-US" b="1" dirty="0"/>
              <a:t> </a:t>
            </a:r>
            <a:r>
              <a:rPr lang="en-US" dirty="0"/>
              <a:t>is a </a:t>
            </a:r>
            <a:r>
              <a:rPr lang="en-US" dirty="0">
                <a:solidFill>
                  <a:srgbClr val="C00000"/>
                </a:solidFill>
              </a:rPr>
              <a:t>process</a:t>
            </a:r>
            <a:r>
              <a:rPr lang="en-US" b="1" dirty="0"/>
              <a:t> </a:t>
            </a:r>
            <a:r>
              <a:rPr lang="en-US" dirty="0">
                <a:solidFill>
                  <a:srgbClr val="C00000"/>
                </a:solidFill>
              </a:rPr>
              <a:t>of</a:t>
            </a:r>
            <a:r>
              <a:rPr lang="en-US" b="1" dirty="0"/>
              <a:t> </a:t>
            </a:r>
            <a:r>
              <a:rPr lang="en-US" dirty="0">
                <a:solidFill>
                  <a:srgbClr val="C00000"/>
                </a:solidFill>
              </a:rPr>
              <a:t>hiding</a:t>
            </a:r>
            <a:r>
              <a:rPr lang="en-US" dirty="0"/>
              <a:t> the </a:t>
            </a:r>
            <a:r>
              <a:rPr lang="en-US" dirty="0">
                <a:solidFill>
                  <a:srgbClr val="C00000"/>
                </a:solidFill>
              </a:rPr>
              <a:t>implementation</a:t>
            </a:r>
            <a:r>
              <a:rPr lang="en-US" b="1" dirty="0"/>
              <a:t> </a:t>
            </a:r>
            <a:r>
              <a:rPr lang="en-US" dirty="0">
                <a:solidFill>
                  <a:srgbClr val="C00000"/>
                </a:solidFill>
              </a:rPr>
              <a:t>details</a:t>
            </a:r>
            <a:r>
              <a:rPr lang="en-US" dirty="0"/>
              <a:t> from the </a:t>
            </a:r>
            <a:r>
              <a:rPr lang="en-US" dirty="0">
                <a:solidFill>
                  <a:srgbClr val="C00000"/>
                </a:solidFill>
              </a:rPr>
              <a:t>user</a:t>
            </a:r>
            <a:r>
              <a:rPr lang="en-US" dirty="0"/>
              <a:t>, only the functionality will be provided to the user. </a:t>
            </a:r>
          </a:p>
          <a:p>
            <a:r>
              <a:rPr lang="en-US" dirty="0"/>
              <a:t>In other words, the user will have the information on what the object does instead of how it does it.</a:t>
            </a:r>
          </a:p>
          <a:p>
            <a:r>
              <a:rPr lang="en-US" dirty="0">
                <a:solidFill>
                  <a:srgbClr val="C00000"/>
                </a:solidFill>
              </a:rPr>
              <a:t>Abstraction</a:t>
            </a:r>
            <a:r>
              <a:rPr lang="en-US" b="1" dirty="0"/>
              <a:t> </a:t>
            </a:r>
            <a:r>
              <a:rPr lang="en-US" dirty="0"/>
              <a:t>is achieved using </a:t>
            </a:r>
            <a:r>
              <a:rPr lang="en-US" dirty="0">
                <a:solidFill>
                  <a:srgbClr val="C00000"/>
                </a:solidFill>
              </a:rPr>
              <a:t>Abstract</a:t>
            </a:r>
            <a:r>
              <a:rPr lang="en-US" b="1" dirty="0"/>
              <a:t> </a:t>
            </a:r>
            <a:r>
              <a:rPr lang="en-US" dirty="0">
                <a:solidFill>
                  <a:srgbClr val="C00000"/>
                </a:solidFill>
              </a:rPr>
              <a:t>classes</a:t>
            </a:r>
            <a:r>
              <a:rPr lang="en-US" b="1" dirty="0"/>
              <a:t> </a:t>
            </a:r>
            <a:r>
              <a:rPr lang="en-US" dirty="0"/>
              <a:t>and </a:t>
            </a:r>
            <a:r>
              <a:rPr lang="en-US" dirty="0">
                <a:solidFill>
                  <a:srgbClr val="C00000"/>
                </a:solidFill>
              </a:rPr>
              <a:t>interfaces</a:t>
            </a:r>
            <a:r>
              <a:rPr lang="en-US" dirty="0"/>
              <a:t>.</a:t>
            </a:r>
          </a:p>
          <a:p>
            <a:r>
              <a:rPr lang="en-US" dirty="0"/>
              <a:t>A class which contains the abstract keyword in its declaration is known as </a:t>
            </a:r>
            <a:r>
              <a:rPr lang="en-US" dirty="0">
                <a:solidFill>
                  <a:srgbClr val="C00000"/>
                </a:solidFill>
              </a:rPr>
              <a:t>abstract</a:t>
            </a:r>
            <a:r>
              <a:rPr lang="en-US" b="1" dirty="0"/>
              <a:t> </a:t>
            </a:r>
            <a:r>
              <a:rPr lang="en-US" dirty="0">
                <a:solidFill>
                  <a:srgbClr val="C00000"/>
                </a:solidFill>
              </a:rPr>
              <a:t>class</a:t>
            </a:r>
            <a:r>
              <a:rPr lang="en-US" dirty="0"/>
              <a:t>.</a:t>
            </a:r>
          </a:p>
          <a:p>
            <a:pPr lvl="1"/>
            <a:r>
              <a:rPr lang="en-US" sz="2200" dirty="0"/>
              <a:t>Abstract classes </a:t>
            </a:r>
            <a:r>
              <a:rPr lang="en-US" sz="2200" dirty="0">
                <a:solidFill>
                  <a:srgbClr val="C00000"/>
                </a:solidFill>
              </a:rPr>
              <a:t>may or may not </a:t>
            </a:r>
            <a:r>
              <a:rPr lang="en-US" sz="2200" dirty="0"/>
              <a:t>contain </a:t>
            </a:r>
            <a:r>
              <a:rPr lang="en-US" sz="2200" dirty="0">
                <a:solidFill>
                  <a:srgbClr val="C00000"/>
                </a:solidFill>
              </a:rPr>
              <a:t>abstract</a:t>
            </a:r>
            <a:r>
              <a:rPr lang="en-US" sz="2200" dirty="0"/>
              <a:t> </a:t>
            </a:r>
            <a:r>
              <a:rPr lang="en-US" sz="2200" dirty="0">
                <a:solidFill>
                  <a:srgbClr val="C00000"/>
                </a:solidFill>
              </a:rPr>
              <a:t>methods</a:t>
            </a:r>
            <a:r>
              <a:rPr lang="en-US" sz="2200" dirty="0"/>
              <a:t>, i.e., methods without body ( public void get(); )</a:t>
            </a:r>
          </a:p>
          <a:p>
            <a:pPr lvl="1"/>
            <a:r>
              <a:rPr lang="en-US" sz="2200" dirty="0"/>
              <a:t>But, if a class has </a:t>
            </a:r>
            <a:r>
              <a:rPr lang="en-US" sz="2200" dirty="0">
                <a:solidFill>
                  <a:srgbClr val="C00000"/>
                </a:solidFill>
              </a:rPr>
              <a:t>at least one </a:t>
            </a:r>
            <a:r>
              <a:rPr lang="en-US" sz="2200" dirty="0"/>
              <a:t>abstract method, then the class must be declared </a:t>
            </a:r>
            <a:r>
              <a:rPr lang="en-US" sz="2200" dirty="0">
                <a:solidFill>
                  <a:srgbClr val="C00000"/>
                </a:solidFill>
              </a:rPr>
              <a:t>abstract</a:t>
            </a:r>
            <a:r>
              <a:rPr lang="en-US" sz="2200" dirty="0"/>
              <a:t>.</a:t>
            </a:r>
          </a:p>
          <a:p>
            <a:pPr lvl="1"/>
            <a:r>
              <a:rPr lang="en-US" sz="2200" dirty="0"/>
              <a:t>If a class is declared abstract, it</a:t>
            </a:r>
            <a:r>
              <a:rPr lang="en-US" sz="2200" dirty="0">
                <a:solidFill>
                  <a:srgbClr val="C00000"/>
                </a:solidFill>
              </a:rPr>
              <a:t> cannot</a:t>
            </a:r>
            <a:r>
              <a:rPr lang="en-US" sz="2200" dirty="0"/>
              <a:t> be instantiated.</a:t>
            </a:r>
          </a:p>
          <a:p>
            <a:pPr lvl="1"/>
            <a:r>
              <a:rPr lang="en-US" sz="2200" dirty="0"/>
              <a:t>To use an abstract class, you have to inherit it to another class and provide </a:t>
            </a:r>
            <a:r>
              <a:rPr lang="en-US" sz="2200" dirty="0">
                <a:solidFill>
                  <a:srgbClr val="C00000"/>
                </a:solidFill>
              </a:rPr>
              <a:t>implementations</a:t>
            </a:r>
            <a:r>
              <a:rPr lang="en-US" sz="2200" dirty="0"/>
              <a:t> of the abstract methods in it.</a:t>
            </a:r>
          </a:p>
          <a:p>
            <a:endParaRPr lang="en-US" dirty="0"/>
          </a:p>
        </p:txBody>
      </p:sp>
    </p:spTree>
    <p:extLst>
      <p:ext uri="{BB962C8B-B14F-4D97-AF65-F5344CB8AC3E}">
        <p14:creationId xmlns:p14="http://schemas.microsoft.com/office/powerpoint/2010/main" val="4054204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6BAE1-076B-2A24-AE9B-5CEADE0B3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DD007-E8CB-4043-9F6E-2D16F5E8364F}"/>
              </a:ext>
            </a:extLst>
          </p:cNvPr>
          <p:cNvSpPr>
            <a:spLocks noGrp="1"/>
          </p:cNvSpPr>
          <p:nvPr>
            <p:ph type="title"/>
          </p:nvPr>
        </p:nvSpPr>
        <p:spPr>
          <a:xfrm>
            <a:off x="0" y="1"/>
            <a:ext cx="12192000" cy="711200"/>
          </a:xfrm>
        </p:spPr>
        <p:txBody>
          <a:bodyPr/>
          <a:lstStyle/>
          <a:p>
            <a:r>
              <a:rPr lang="en-US" dirty="0"/>
              <a:t>Abstract class (Example)</a:t>
            </a:r>
          </a:p>
        </p:txBody>
      </p:sp>
      <p:sp>
        <p:nvSpPr>
          <p:cNvPr id="3" name="Rectangle 2">
            <a:extLst>
              <a:ext uri="{FF2B5EF4-FFF2-40B4-BE49-F238E27FC236}">
                <a16:creationId xmlns:a16="http://schemas.microsoft.com/office/drawing/2014/main" id="{CAC128C9-204A-D9F6-C50C-64EE99EFE1F4}"/>
              </a:ext>
            </a:extLst>
          </p:cNvPr>
          <p:cNvSpPr/>
          <p:nvPr/>
        </p:nvSpPr>
        <p:spPr>
          <a:xfrm>
            <a:off x="61520" y="711201"/>
            <a:ext cx="7467600" cy="5909310"/>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abstract</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Car {</a:t>
            </a:r>
          </a:p>
          <a:p>
            <a:r>
              <a:rPr lang="en-US" b="1" dirty="0">
                <a:solidFill>
                  <a:srgbClr val="7F0055"/>
                </a:solidFill>
                <a:latin typeface="Consolas"/>
              </a:rPr>
              <a:t>	public</a:t>
            </a:r>
            <a:r>
              <a:rPr lang="en-US" b="1" dirty="0">
                <a:solidFill>
                  <a:srgbClr val="000000"/>
                </a:solidFill>
                <a:latin typeface="Consolas"/>
              </a:rPr>
              <a:t> </a:t>
            </a:r>
            <a:r>
              <a:rPr lang="en-US" b="1" dirty="0">
                <a:solidFill>
                  <a:srgbClr val="7F0055"/>
                </a:solidFill>
                <a:latin typeface="Consolas"/>
              </a:rPr>
              <a:t>abstract</a:t>
            </a:r>
            <a:r>
              <a:rPr lang="en-US" b="1" dirty="0">
                <a:solidFill>
                  <a:srgbClr val="000000"/>
                </a:solidFill>
                <a:latin typeface="Consolas"/>
              </a:rPr>
              <a:t> </a:t>
            </a:r>
            <a:r>
              <a:rPr lang="en-US" b="1" dirty="0">
                <a:solidFill>
                  <a:srgbClr val="7F0055"/>
                </a:solidFill>
                <a:latin typeface="Consolas"/>
              </a:rPr>
              <a:t>double</a:t>
            </a:r>
            <a:r>
              <a:rPr lang="en-US" b="1" dirty="0">
                <a:solidFill>
                  <a:srgbClr val="000000"/>
                </a:solidFill>
                <a:latin typeface="Consolas"/>
              </a:rPr>
              <a:t> </a:t>
            </a:r>
            <a:r>
              <a:rPr lang="en-US" b="1" dirty="0" err="1">
                <a:solidFill>
                  <a:srgbClr val="000000"/>
                </a:solidFill>
                <a:latin typeface="Consolas"/>
              </a:rPr>
              <a:t>getAverage</a:t>
            </a:r>
            <a:r>
              <a:rPr lang="en-US" b="1" dirty="0">
                <a:solidFill>
                  <a:srgbClr val="000000"/>
                </a:solidFill>
                <a:latin typeface="Consolas"/>
              </a:rPr>
              <a:t>();</a:t>
            </a:r>
          </a:p>
          <a:p>
            <a:r>
              <a:rPr lang="en-US" dirty="0">
                <a:solidFill>
                  <a:srgbClr val="000000"/>
                </a:solidFill>
                <a:latin typeface="Consolas"/>
              </a:rPr>
              <a:t>}</a:t>
            </a:r>
          </a:p>
          <a:p>
            <a:r>
              <a:rPr lang="en-US" b="1" dirty="0">
                <a:solidFill>
                  <a:srgbClr val="7F0055"/>
                </a:solidFill>
                <a:latin typeface="Consolas"/>
              </a:rPr>
              <a:t>class</a:t>
            </a:r>
            <a:r>
              <a:rPr lang="en-US" b="1" dirty="0">
                <a:solidFill>
                  <a:srgbClr val="000000"/>
                </a:solidFill>
                <a:latin typeface="Consolas"/>
              </a:rPr>
              <a:t> Swift </a:t>
            </a:r>
            <a:r>
              <a:rPr lang="en-US" b="1" dirty="0">
                <a:solidFill>
                  <a:srgbClr val="7F0055"/>
                </a:solidFill>
                <a:latin typeface="Consolas"/>
              </a:rPr>
              <a:t>extends</a:t>
            </a:r>
            <a:r>
              <a:rPr lang="en-US" b="1" dirty="0">
                <a:solidFill>
                  <a:srgbClr val="000000"/>
                </a:solidFill>
                <a:latin typeface="Consolas"/>
              </a:rPr>
              <a:t> Car{</a:t>
            </a:r>
            <a:endParaRPr lang="en-US" dirty="0">
              <a:latin typeface="Consolas"/>
            </a:endParaRPr>
          </a:p>
          <a:p>
            <a:pPr lvl="1"/>
            <a:r>
              <a:rPr lang="en-US" b="1" dirty="0">
                <a:solidFill>
                  <a:srgbClr val="7F0055"/>
                </a:solidFill>
                <a:latin typeface="Consolas"/>
              </a:rPr>
              <a:t>	public</a:t>
            </a:r>
            <a:r>
              <a:rPr lang="en-US" b="1" dirty="0">
                <a:solidFill>
                  <a:srgbClr val="000000"/>
                </a:solidFill>
                <a:latin typeface="Consolas"/>
              </a:rPr>
              <a:t> </a:t>
            </a:r>
            <a:r>
              <a:rPr lang="en-US" b="1" dirty="0">
                <a:solidFill>
                  <a:srgbClr val="7F0055"/>
                </a:solidFill>
                <a:latin typeface="Consolas"/>
              </a:rPr>
              <a:t>double</a:t>
            </a:r>
            <a:r>
              <a:rPr lang="en-US" b="1" dirty="0">
                <a:solidFill>
                  <a:srgbClr val="000000"/>
                </a:solidFill>
                <a:latin typeface="Consolas"/>
              </a:rPr>
              <a:t> </a:t>
            </a:r>
            <a:r>
              <a:rPr lang="en-US" b="1" dirty="0" err="1">
                <a:solidFill>
                  <a:srgbClr val="000000"/>
                </a:solidFill>
                <a:latin typeface="Consolas"/>
              </a:rPr>
              <a:t>getAverage</a:t>
            </a:r>
            <a:r>
              <a:rPr lang="en-US" b="1" dirty="0">
                <a:solidFill>
                  <a:srgbClr val="000000"/>
                </a:solidFill>
                <a:latin typeface="Consolas"/>
              </a:rPr>
              <a:t>(){</a:t>
            </a:r>
          </a:p>
          <a:p>
            <a:pPr lvl="1"/>
            <a:r>
              <a:rPr lang="en-US" b="1" dirty="0">
                <a:solidFill>
                  <a:srgbClr val="7F0055"/>
                </a:solidFill>
                <a:latin typeface="Consolas"/>
              </a:rPr>
              <a:t>		return</a:t>
            </a:r>
            <a:r>
              <a:rPr lang="en-US" b="1" dirty="0">
                <a:solidFill>
                  <a:srgbClr val="000000"/>
                </a:solidFill>
                <a:latin typeface="Consolas"/>
              </a:rPr>
              <a:t> 22.5;</a:t>
            </a:r>
          </a:p>
          <a:p>
            <a:r>
              <a:rPr lang="en-US" dirty="0">
                <a:solidFill>
                  <a:srgbClr val="000000"/>
                </a:solidFill>
                <a:latin typeface="Consolas"/>
              </a:rPr>
              <a:t>	}</a:t>
            </a:r>
          </a:p>
          <a:p>
            <a:r>
              <a:rPr lang="en-US" dirty="0">
                <a:solidFill>
                  <a:srgbClr val="000000"/>
                </a:solidFill>
                <a:latin typeface="Consolas"/>
              </a:rPr>
              <a:t>}</a:t>
            </a:r>
          </a:p>
          <a:p>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Baleno</a:t>
            </a:r>
            <a:r>
              <a:rPr lang="en-US" b="1" dirty="0">
                <a:solidFill>
                  <a:srgbClr val="000000"/>
                </a:solidFill>
                <a:latin typeface="Consolas"/>
              </a:rPr>
              <a:t> </a:t>
            </a:r>
            <a:r>
              <a:rPr lang="en-US" b="1" dirty="0">
                <a:solidFill>
                  <a:srgbClr val="7F0055"/>
                </a:solidFill>
                <a:latin typeface="Consolas"/>
              </a:rPr>
              <a:t>extends</a:t>
            </a:r>
            <a:r>
              <a:rPr lang="en-US" b="1" dirty="0">
                <a:solidFill>
                  <a:srgbClr val="000000"/>
                </a:solidFill>
                <a:latin typeface="Consolas"/>
              </a:rPr>
              <a:t> Car{</a:t>
            </a:r>
          </a:p>
          <a:p>
            <a:pPr lvl="2"/>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double</a:t>
            </a:r>
            <a:r>
              <a:rPr lang="en-US" b="1" dirty="0">
                <a:solidFill>
                  <a:srgbClr val="000000"/>
                </a:solidFill>
                <a:latin typeface="Consolas"/>
              </a:rPr>
              <a:t> </a:t>
            </a:r>
            <a:r>
              <a:rPr lang="en-US" b="1" dirty="0" err="1">
                <a:solidFill>
                  <a:srgbClr val="000000"/>
                </a:solidFill>
                <a:latin typeface="Consolas"/>
              </a:rPr>
              <a:t>getAverage</a:t>
            </a:r>
            <a:r>
              <a:rPr lang="en-US" b="1" dirty="0">
                <a:solidFill>
                  <a:srgbClr val="000000"/>
                </a:solidFill>
                <a:latin typeface="Consolas"/>
              </a:rPr>
              <a:t>(){</a:t>
            </a:r>
          </a:p>
          <a:p>
            <a:pPr lvl="2"/>
            <a:r>
              <a:rPr lang="en-US" b="1" dirty="0">
                <a:solidFill>
                  <a:srgbClr val="7F0055"/>
                </a:solidFill>
                <a:latin typeface="Consolas"/>
              </a:rPr>
              <a:t>	return</a:t>
            </a:r>
            <a:r>
              <a:rPr lang="en-US" b="1" dirty="0">
                <a:solidFill>
                  <a:srgbClr val="000000"/>
                </a:solidFill>
                <a:latin typeface="Consolas"/>
              </a:rPr>
              <a:t> 23.2;</a:t>
            </a:r>
          </a:p>
          <a:p>
            <a:pPr lvl="2"/>
            <a:r>
              <a:rPr lang="en-US" dirty="0">
                <a:solidFill>
                  <a:srgbClr val="000000"/>
                </a:solidFill>
                <a:latin typeface="Consolas"/>
              </a:rPr>
              <a:t>}</a:t>
            </a:r>
          </a:p>
          <a:p>
            <a:r>
              <a:rPr lang="en-US" dirty="0">
                <a:solidFill>
                  <a:srgbClr val="000000"/>
                </a:solidFill>
                <a:latin typeface="Consolas"/>
              </a:rPr>
              <a:t>}</a:t>
            </a:r>
          </a:p>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MyAbstractDemo</a:t>
            </a:r>
            <a:r>
              <a:rPr lang="en-US" b="1" dirty="0">
                <a:solidFill>
                  <a:srgbClr val="000000"/>
                </a:solidFill>
                <a:latin typeface="Consolas"/>
              </a:rPr>
              <a:t>{</a:t>
            </a:r>
          </a:p>
          <a:p>
            <a:pPr lvl="2"/>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a:t>
            </a:r>
            <a:r>
              <a:rPr lang="en-US" b="1" dirty="0">
                <a:solidFill>
                  <a:srgbClr val="000000"/>
                </a:solidFill>
                <a:latin typeface="Consolas"/>
              </a:rPr>
              <a:t>[]){</a:t>
            </a:r>
          </a:p>
          <a:p>
            <a:pPr lvl="3"/>
            <a:r>
              <a:rPr lang="en-US" dirty="0">
                <a:solidFill>
                  <a:srgbClr val="000000"/>
                </a:solidFill>
                <a:latin typeface="Consolas"/>
              </a:rPr>
              <a:t>Swift </a:t>
            </a:r>
            <a:r>
              <a:rPr lang="en-US" dirty="0">
                <a:solidFill>
                  <a:srgbClr val="6A3E3E"/>
                </a:solidFill>
                <a:latin typeface="Consolas"/>
              </a:rPr>
              <a:t>b1</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Swift();</a:t>
            </a:r>
          </a:p>
          <a:p>
            <a:pPr lvl="3"/>
            <a:r>
              <a:rPr lang="en-US" dirty="0" err="1">
                <a:solidFill>
                  <a:srgbClr val="000000"/>
                </a:solidFill>
                <a:latin typeface="Consolas"/>
              </a:rPr>
              <a:t>Baleno</a:t>
            </a:r>
            <a:r>
              <a:rPr lang="en-US" dirty="0">
                <a:solidFill>
                  <a:srgbClr val="000000"/>
                </a:solidFill>
                <a:latin typeface="Consolas"/>
              </a:rPr>
              <a:t> </a:t>
            </a:r>
            <a:r>
              <a:rPr lang="en-US" dirty="0">
                <a:solidFill>
                  <a:srgbClr val="6A3E3E"/>
                </a:solidFill>
                <a:latin typeface="Consolas"/>
              </a:rPr>
              <a:t>b2</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Baleno</a:t>
            </a:r>
            <a:r>
              <a:rPr lang="en-US" b="1" dirty="0">
                <a:solidFill>
                  <a:srgbClr val="000000"/>
                </a:solidFill>
                <a:latin typeface="Consolas"/>
              </a:rPr>
              <a:t>();</a:t>
            </a:r>
          </a:p>
          <a:p>
            <a:pPr lvl="3"/>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b1</a:t>
            </a:r>
            <a:r>
              <a:rPr lang="en-US" b="1" i="1" dirty="0">
                <a:solidFill>
                  <a:srgbClr val="000000"/>
                </a:solidFill>
                <a:latin typeface="Consolas"/>
              </a:rPr>
              <a:t>.</a:t>
            </a:r>
            <a:r>
              <a:rPr lang="en-US" b="1" dirty="0">
                <a:solidFill>
                  <a:srgbClr val="000000"/>
                </a:solidFill>
                <a:latin typeface="Consolas"/>
              </a:rPr>
              <a:t>getAverage</a:t>
            </a:r>
            <a:r>
              <a:rPr lang="en-US" b="1" i="1" dirty="0">
                <a:solidFill>
                  <a:srgbClr val="000000"/>
                </a:solidFill>
                <a:latin typeface="Consolas"/>
              </a:rPr>
              <a:t>());</a:t>
            </a:r>
          </a:p>
          <a:p>
            <a:pPr lvl="3"/>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b2</a:t>
            </a:r>
            <a:r>
              <a:rPr lang="en-US" b="1" i="1" dirty="0">
                <a:solidFill>
                  <a:srgbClr val="000000"/>
                </a:solidFill>
                <a:latin typeface="Consolas"/>
              </a:rPr>
              <a:t>.</a:t>
            </a:r>
            <a:r>
              <a:rPr lang="en-US" b="1" dirty="0">
                <a:solidFill>
                  <a:srgbClr val="000000"/>
                </a:solidFill>
                <a:latin typeface="Consolas"/>
              </a:rPr>
              <a:t>getAverage</a:t>
            </a:r>
            <a:r>
              <a:rPr lang="en-US" b="1" i="1" dirty="0">
                <a:solidFill>
                  <a:srgbClr val="000000"/>
                </a:solidFill>
                <a:latin typeface="Consolas"/>
              </a:rPr>
              <a:t>());</a:t>
            </a:r>
            <a:endParaRPr lang="en-US" dirty="0">
              <a:solidFill>
                <a:srgbClr val="000000"/>
              </a:solidFill>
              <a:latin typeface="Consolas"/>
            </a:endParaRPr>
          </a:p>
          <a:p>
            <a:pPr lvl="2"/>
            <a:r>
              <a:rPr lang="en-US" dirty="0">
                <a:solidFill>
                  <a:srgbClr val="000000"/>
                </a:solidFill>
                <a:latin typeface="Consolas"/>
              </a:rPr>
              <a:t>}</a:t>
            </a:r>
          </a:p>
          <a:p>
            <a:r>
              <a:rPr lang="en-US" dirty="0">
                <a:solidFill>
                  <a:srgbClr val="000000"/>
                </a:solidFill>
                <a:latin typeface="Consolas"/>
              </a:rPr>
              <a:t>}</a:t>
            </a:r>
            <a:endParaRPr lang="en-US" dirty="0"/>
          </a:p>
        </p:txBody>
      </p:sp>
      <p:pic>
        <p:nvPicPr>
          <p:cNvPr id="4" name="Picture 2">
            <a:extLst>
              <a:ext uri="{FF2B5EF4-FFF2-40B4-BE49-F238E27FC236}">
                <a16:creationId xmlns:a16="http://schemas.microsoft.com/office/drawing/2014/main" id="{F327FD63-3F0F-EE59-6137-8E54DD8C7BF8}"/>
              </a:ext>
            </a:extLst>
          </p:cNvPr>
          <p:cNvPicPr>
            <a:picLocks noChangeAspect="1" noChangeArrowheads="1"/>
          </p:cNvPicPr>
          <p:nvPr/>
        </p:nvPicPr>
        <p:blipFill>
          <a:blip r:embed="rId2" cstate="print"/>
          <a:srcRect/>
          <a:stretch>
            <a:fillRect/>
          </a:stretch>
        </p:blipFill>
        <p:spPr bwMode="auto">
          <a:xfrm>
            <a:off x="5912562" y="2242850"/>
            <a:ext cx="5960937" cy="1583374"/>
          </a:xfrm>
          <a:prstGeom prst="rect">
            <a:avLst/>
          </a:prstGeom>
          <a:noFill/>
          <a:ln w="9525">
            <a:noFill/>
            <a:miter lim="800000"/>
            <a:headEnd/>
            <a:tailEnd/>
          </a:ln>
        </p:spPr>
      </p:pic>
    </p:spTree>
    <p:extLst>
      <p:ext uri="{BB962C8B-B14F-4D97-AF65-F5344CB8AC3E}">
        <p14:creationId xmlns:p14="http://schemas.microsoft.com/office/powerpoint/2010/main" val="1552362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nodeType="clickEffect">
                                  <p:stCondLst>
                                    <p:cond delay="0"/>
                                  </p:stCondLst>
                                  <p:childTnLst>
                                    <p:set>
                                      <p:cBhvr>
                                        <p:cTn id="94" dur="1" fill="hold">
                                          <p:stCondLst>
                                            <p:cond delay="0"/>
                                          </p:stCondLst>
                                        </p:cTn>
                                        <p:tgtEl>
                                          <p:spTgt spid="4"/>
                                        </p:tgtEl>
                                        <p:attrNameLst>
                                          <p:attrName>style.visibility</p:attrName>
                                        </p:attrNameLst>
                                      </p:cBhvr>
                                      <p:to>
                                        <p:strVal val="visible"/>
                                      </p:to>
                                    </p:set>
                                    <p:animEffect transition="in" filter="wipe(up)">
                                      <p:cBhvr>
                                        <p:cTn id="9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7746E-00C6-1C6E-8EE8-C9622333D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DEDB9-BD23-7BAE-7EEE-1DEFFF6766E4}"/>
              </a:ext>
            </a:extLst>
          </p:cNvPr>
          <p:cNvSpPr>
            <a:spLocks noGrp="1"/>
          </p:cNvSpPr>
          <p:nvPr>
            <p:ph type="title"/>
          </p:nvPr>
        </p:nvSpPr>
        <p:spPr>
          <a:xfrm>
            <a:off x="0" y="1"/>
            <a:ext cx="12192000" cy="711200"/>
          </a:xfrm>
        </p:spPr>
        <p:txBody>
          <a:bodyPr/>
          <a:lstStyle/>
          <a:p>
            <a:r>
              <a:rPr lang="en-US" dirty="0"/>
              <a:t>Interface</a:t>
            </a:r>
          </a:p>
        </p:txBody>
      </p:sp>
      <p:sp>
        <p:nvSpPr>
          <p:cNvPr id="3" name="Content Placeholder 2">
            <a:extLst>
              <a:ext uri="{FF2B5EF4-FFF2-40B4-BE49-F238E27FC236}">
                <a16:creationId xmlns:a16="http://schemas.microsoft.com/office/drawing/2014/main" id="{44DEE263-48EA-1FEF-4699-13F151A7FA3D}"/>
              </a:ext>
            </a:extLst>
          </p:cNvPr>
          <p:cNvSpPr>
            <a:spLocks noGrp="1"/>
          </p:cNvSpPr>
          <p:nvPr>
            <p:ph idx="1"/>
          </p:nvPr>
        </p:nvSpPr>
        <p:spPr>
          <a:xfrm>
            <a:off x="131180" y="863444"/>
            <a:ext cx="11929641" cy="5590565"/>
          </a:xfrm>
        </p:spPr>
        <p:txBody>
          <a:bodyPr/>
          <a:lstStyle/>
          <a:p>
            <a:r>
              <a:rPr lang="en-US" dirty="0"/>
              <a:t>An interface is similar to an abstract class with the following exceptions</a:t>
            </a:r>
          </a:p>
          <a:p>
            <a:pPr lvl="1"/>
            <a:r>
              <a:rPr lang="en-US" sz="2200" dirty="0">
                <a:solidFill>
                  <a:srgbClr val="C00000"/>
                </a:solidFill>
              </a:rPr>
              <a:t>All</a:t>
            </a:r>
            <a:r>
              <a:rPr lang="en-US" sz="2200" dirty="0"/>
              <a:t> methods defined in an interface are </a:t>
            </a:r>
            <a:r>
              <a:rPr lang="en-US" sz="2200" dirty="0">
                <a:solidFill>
                  <a:srgbClr val="C00000"/>
                </a:solidFill>
              </a:rPr>
              <a:t>abstract</a:t>
            </a:r>
            <a:r>
              <a:rPr lang="en-US" sz="2200" dirty="0"/>
              <a:t>.  Interfaces can contain no implementation</a:t>
            </a:r>
          </a:p>
          <a:p>
            <a:pPr lvl="1"/>
            <a:r>
              <a:rPr lang="en-US" sz="2200" dirty="0"/>
              <a:t>Interfaces </a:t>
            </a:r>
            <a:r>
              <a:rPr lang="en-US" sz="2200" dirty="0">
                <a:solidFill>
                  <a:srgbClr val="C00000"/>
                </a:solidFill>
              </a:rPr>
              <a:t>cannot</a:t>
            </a:r>
            <a:r>
              <a:rPr lang="en-US" sz="2200" dirty="0"/>
              <a:t> contain </a:t>
            </a:r>
            <a:r>
              <a:rPr lang="en-US" sz="2200" dirty="0">
                <a:solidFill>
                  <a:srgbClr val="C00000"/>
                </a:solidFill>
              </a:rPr>
              <a:t>instance</a:t>
            </a:r>
            <a:r>
              <a:rPr lang="en-US" sz="2200" b="1" dirty="0"/>
              <a:t> </a:t>
            </a:r>
            <a:r>
              <a:rPr lang="en-US" sz="2200" dirty="0">
                <a:solidFill>
                  <a:srgbClr val="C00000"/>
                </a:solidFill>
              </a:rPr>
              <a:t>variables</a:t>
            </a:r>
            <a:r>
              <a:rPr lang="en-US" sz="2200" dirty="0"/>
              <a:t>.  However, they can contain </a:t>
            </a:r>
            <a:r>
              <a:rPr lang="en-US" sz="2200" dirty="0">
                <a:solidFill>
                  <a:srgbClr val="C00000"/>
                </a:solidFill>
              </a:rPr>
              <a:t>public</a:t>
            </a:r>
            <a:r>
              <a:rPr lang="en-US" sz="2200" b="1" dirty="0"/>
              <a:t> </a:t>
            </a:r>
            <a:r>
              <a:rPr lang="en-US" sz="2200" dirty="0">
                <a:solidFill>
                  <a:srgbClr val="C00000"/>
                </a:solidFill>
              </a:rPr>
              <a:t>static</a:t>
            </a:r>
            <a:r>
              <a:rPr lang="en-US" sz="2200" b="1" dirty="0"/>
              <a:t> </a:t>
            </a:r>
            <a:r>
              <a:rPr lang="en-US" sz="2200" dirty="0">
                <a:solidFill>
                  <a:srgbClr val="C00000"/>
                </a:solidFill>
              </a:rPr>
              <a:t>final</a:t>
            </a:r>
            <a:r>
              <a:rPr lang="en-US" sz="2200" b="1" dirty="0"/>
              <a:t> </a:t>
            </a:r>
            <a:r>
              <a:rPr lang="en-US" sz="2200" dirty="0"/>
              <a:t>variables (</a:t>
            </a:r>
            <a:r>
              <a:rPr lang="en-US" sz="2200" dirty="0" err="1"/>
              <a:t>ie</a:t>
            </a:r>
            <a:r>
              <a:rPr lang="en-US" sz="2200" dirty="0"/>
              <a:t>. constant class variables)</a:t>
            </a:r>
          </a:p>
          <a:p>
            <a:r>
              <a:rPr lang="en-US" dirty="0"/>
              <a:t>Interfaces are declared using the "interface" keyword</a:t>
            </a:r>
          </a:p>
          <a:p>
            <a:r>
              <a:rPr lang="en-US" dirty="0"/>
              <a:t>If an interface is public, it must be contained in a file which has the same name</a:t>
            </a:r>
          </a:p>
          <a:p>
            <a:r>
              <a:rPr lang="en-US" dirty="0"/>
              <a:t>Interfaces are more abstract than abstract classes</a:t>
            </a:r>
          </a:p>
          <a:p>
            <a:r>
              <a:rPr lang="en-US" dirty="0"/>
              <a:t>Interfaces are implemented by classes using the "implements" keyword</a:t>
            </a:r>
          </a:p>
          <a:p>
            <a:endParaRPr lang="en-US" dirty="0"/>
          </a:p>
        </p:txBody>
      </p:sp>
    </p:spTree>
    <p:extLst>
      <p:ext uri="{BB962C8B-B14F-4D97-AF65-F5344CB8AC3E}">
        <p14:creationId xmlns:p14="http://schemas.microsoft.com/office/powerpoint/2010/main" val="2789067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DE0D1-42A0-26BD-86C7-34FE6DD522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307B5D2-E110-E400-471B-D7FDC764B61D}"/>
              </a:ext>
            </a:extLst>
          </p:cNvPr>
          <p:cNvSpPr/>
          <p:nvPr/>
        </p:nvSpPr>
        <p:spPr>
          <a:xfrm>
            <a:off x="381000" y="1076325"/>
            <a:ext cx="5467350" cy="2031325"/>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interface</a:t>
            </a:r>
            <a:r>
              <a:rPr lang="en-US" b="1" dirty="0">
                <a:solidFill>
                  <a:srgbClr val="000000"/>
                </a:solidFill>
                <a:latin typeface="Consolas"/>
              </a:rPr>
              <a:t> </a:t>
            </a:r>
            <a:r>
              <a:rPr lang="en-US" b="1" dirty="0" err="1">
                <a:solidFill>
                  <a:srgbClr val="000000"/>
                </a:solidFill>
                <a:latin typeface="Consolas"/>
              </a:rPr>
              <a:t>VehicalInterface</a:t>
            </a:r>
            <a:r>
              <a:rPr lang="en-US" b="1" dirty="0">
                <a:solidFill>
                  <a:srgbClr val="000000"/>
                </a:solidFill>
                <a:latin typeface="Consolas"/>
              </a:rPr>
              <a:t> {</a:t>
            </a:r>
          </a:p>
          <a:p>
            <a:pPr lvl="1"/>
            <a:r>
              <a:rPr lang="en-US" b="1" dirty="0" err="1">
                <a:solidFill>
                  <a:srgbClr val="7F0055"/>
                </a:solidFill>
                <a:latin typeface="Consolas"/>
              </a:rPr>
              <a:t>int</a:t>
            </a:r>
            <a:r>
              <a:rPr lang="en-US" b="1" dirty="0">
                <a:solidFill>
                  <a:srgbClr val="7F0055"/>
                </a:solidFill>
                <a:latin typeface="Consolas"/>
              </a:rPr>
              <a:t> </a:t>
            </a:r>
            <a:r>
              <a:rPr lang="en-US" b="1" dirty="0">
                <a:solidFill>
                  <a:srgbClr val="000000"/>
                </a:solidFill>
                <a:latin typeface="Consolas"/>
              </a:rPr>
              <a:t>a = 10;</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a:t>
            </a:r>
            <a:r>
              <a:rPr lang="en-US" b="1" dirty="0" err="1">
                <a:solidFill>
                  <a:srgbClr val="000000"/>
                </a:solidFill>
                <a:latin typeface="Consolas"/>
              </a:rPr>
              <a:t>turnLeft</a:t>
            </a:r>
            <a:r>
              <a:rPr lang="en-US" b="1"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a:t>
            </a:r>
            <a:r>
              <a:rPr lang="en-US" b="1" dirty="0" err="1">
                <a:solidFill>
                  <a:srgbClr val="000000"/>
                </a:solidFill>
                <a:latin typeface="Consolas"/>
              </a:rPr>
              <a:t>turnRight</a:t>
            </a:r>
            <a:r>
              <a:rPr lang="en-US" b="1"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accelerate();</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a:t>
            </a:r>
            <a:r>
              <a:rPr lang="en-US" b="1" dirty="0" err="1">
                <a:solidFill>
                  <a:srgbClr val="000000"/>
                </a:solidFill>
                <a:latin typeface="Consolas"/>
              </a:rPr>
              <a:t>slowDown</a:t>
            </a:r>
            <a:r>
              <a:rPr lang="en-US" b="1" dirty="0">
                <a:solidFill>
                  <a:srgbClr val="000000"/>
                </a:solidFill>
                <a:latin typeface="Consolas"/>
              </a:rPr>
              <a:t>();</a:t>
            </a:r>
          </a:p>
          <a:p>
            <a:r>
              <a:rPr lang="en-US" dirty="0">
                <a:solidFill>
                  <a:srgbClr val="000000"/>
                </a:solidFill>
                <a:latin typeface="Consolas"/>
              </a:rPr>
              <a:t>}</a:t>
            </a:r>
            <a:endParaRPr lang="en-US" dirty="0"/>
          </a:p>
        </p:txBody>
      </p:sp>
      <p:sp>
        <p:nvSpPr>
          <p:cNvPr id="3" name="Rectangle 2">
            <a:extLst>
              <a:ext uri="{FF2B5EF4-FFF2-40B4-BE49-F238E27FC236}">
                <a16:creationId xmlns:a16="http://schemas.microsoft.com/office/drawing/2014/main" id="{4D13811D-ED56-AA83-85EF-125E46B0E2AD}"/>
              </a:ext>
            </a:extLst>
          </p:cNvPr>
          <p:cNvSpPr/>
          <p:nvPr/>
        </p:nvSpPr>
        <p:spPr>
          <a:xfrm>
            <a:off x="6248400" y="1076325"/>
            <a:ext cx="5534025" cy="4247317"/>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CarClass</a:t>
            </a:r>
            <a:r>
              <a:rPr lang="en-US" b="1" dirty="0">
                <a:solidFill>
                  <a:srgbClr val="000000"/>
                </a:solidFill>
                <a:latin typeface="Consolas"/>
              </a:rPr>
              <a:t> </a:t>
            </a:r>
            <a:r>
              <a:rPr lang="en-US" b="1" dirty="0">
                <a:solidFill>
                  <a:srgbClr val="7F0055"/>
                </a:solidFill>
                <a:latin typeface="Consolas"/>
              </a:rPr>
              <a:t>implements</a:t>
            </a:r>
            <a:r>
              <a:rPr lang="en-US" b="1" dirty="0">
                <a:solidFill>
                  <a:srgbClr val="000000"/>
                </a:solidFill>
                <a:latin typeface="Consolas"/>
              </a:rPr>
              <a:t> </a:t>
            </a:r>
            <a:r>
              <a:rPr lang="en-US" b="1" dirty="0" err="1">
                <a:solidFill>
                  <a:srgbClr val="000000"/>
                </a:solidFill>
                <a:latin typeface="Consolas"/>
              </a:rPr>
              <a:t>VehicalInterface</a:t>
            </a:r>
            <a:endParaRPr lang="en-US" b="1" dirty="0">
              <a:solidFill>
                <a:srgbClr val="000000"/>
              </a:solidFill>
              <a:latin typeface="Consolas"/>
            </a:endParaRPr>
          </a:p>
          <a:p>
            <a:r>
              <a:rPr lang="en-US"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a:t>
            </a:r>
            <a:r>
              <a:rPr lang="en-US" b="1" dirty="0" err="1">
                <a:solidFill>
                  <a:srgbClr val="000000"/>
                </a:solidFill>
                <a:latin typeface="Consolas"/>
              </a:rPr>
              <a:t>turnLeft</a:t>
            </a:r>
            <a:r>
              <a:rPr lang="en-US" b="1" dirty="0">
                <a:solidFill>
                  <a:srgbClr val="000000"/>
                </a:solidFill>
                <a:latin typeface="Consolas"/>
              </a:rPr>
              <a:t>() {</a:t>
            </a:r>
          </a:p>
          <a:p>
            <a:pPr lvl="1"/>
            <a:r>
              <a:rPr lang="en-US" b="1" dirty="0">
                <a:solidFill>
                  <a:srgbClr val="000000"/>
                </a:solidFill>
                <a:latin typeface="Consolas"/>
              </a:rPr>
              <a:t>	</a:t>
            </a:r>
            <a:r>
              <a:rPr lang="en-US" b="1" dirty="0" err="1">
                <a:solidFill>
                  <a:srgbClr val="000000"/>
                </a:solidFill>
                <a:latin typeface="Consolas"/>
              </a:rPr>
              <a:t>System.</a:t>
            </a:r>
            <a:r>
              <a:rPr lang="en-US" b="1" i="1" dirty="0" err="1">
                <a:solidFill>
                  <a:srgbClr val="0000C0"/>
                </a:solidFill>
                <a:latin typeface="Consolas"/>
              </a:rPr>
              <a:t>out</a:t>
            </a:r>
            <a:r>
              <a:rPr lang="en-US" b="1" dirty="0" err="1">
                <a:solidFill>
                  <a:srgbClr val="000000"/>
                </a:solidFill>
                <a:latin typeface="Consolas"/>
              </a:rPr>
              <a:t>.println</a:t>
            </a:r>
            <a:r>
              <a:rPr lang="en-US" b="1" dirty="0">
                <a:solidFill>
                  <a:srgbClr val="000000"/>
                </a:solidFill>
                <a:latin typeface="Consolas"/>
              </a:rPr>
              <a:t>("</a:t>
            </a:r>
            <a:r>
              <a:rPr lang="en-US" b="1" i="1" dirty="0">
                <a:solidFill>
                  <a:srgbClr val="2A00FF"/>
                </a:solidFill>
                <a:latin typeface="Consolas"/>
              </a:rPr>
              <a:t>Left</a:t>
            </a:r>
            <a:r>
              <a:rPr lang="en-US" b="1" dirty="0">
                <a:solidFill>
                  <a:srgbClr val="000000"/>
                </a:solidFill>
                <a:latin typeface="Consolas"/>
              </a:rPr>
              <a:t>");</a:t>
            </a:r>
          </a:p>
          <a:p>
            <a:pPr lvl="1"/>
            <a:r>
              <a:rPr lang="en-US"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a:t>
            </a:r>
            <a:r>
              <a:rPr lang="en-US" b="1" dirty="0" err="1">
                <a:solidFill>
                  <a:srgbClr val="000000"/>
                </a:solidFill>
                <a:latin typeface="Consolas"/>
              </a:rPr>
              <a:t>turnRight</a:t>
            </a:r>
            <a:r>
              <a:rPr lang="en-US" b="1" dirty="0">
                <a:solidFill>
                  <a:srgbClr val="000000"/>
                </a:solidFill>
                <a:latin typeface="Consolas"/>
              </a:rPr>
              <a:t>() {</a:t>
            </a:r>
          </a:p>
          <a:p>
            <a:pPr lvl="1"/>
            <a:r>
              <a:rPr lang="en-US" b="1" dirty="0">
                <a:solidFill>
                  <a:srgbClr val="000000"/>
                </a:solidFill>
                <a:latin typeface="Consolas"/>
              </a:rPr>
              <a:t>	</a:t>
            </a:r>
            <a:r>
              <a:rPr lang="en-US" b="1" dirty="0" err="1">
                <a:solidFill>
                  <a:srgbClr val="000000"/>
                </a:solidFill>
                <a:latin typeface="Consolas"/>
              </a:rPr>
              <a:t>System.</a:t>
            </a:r>
            <a:r>
              <a:rPr lang="en-US" b="1" i="1" dirty="0" err="1">
                <a:solidFill>
                  <a:srgbClr val="0000C0"/>
                </a:solidFill>
                <a:latin typeface="Consolas"/>
              </a:rPr>
              <a:t>out</a:t>
            </a:r>
            <a:r>
              <a:rPr lang="en-US" b="1" dirty="0" err="1">
                <a:solidFill>
                  <a:srgbClr val="000000"/>
                </a:solidFill>
                <a:latin typeface="Consolas"/>
              </a:rPr>
              <a:t>.println</a:t>
            </a:r>
            <a:r>
              <a:rPr lang="en-US" b="1" dirty="0">
                <a:solidFill>
                  <a:srgbClr val="000000"/>
                </a:solidFill>
                <a:latin typeface="Consolas"/>
              </a:rPr>
              <a:t>("</a:t>
            </a:r>
            <a:r>
              <a:rPr lang="en-US" b="1" i="1" dirty="0">
                <a:solidFill>
                  <a:srgbClr val="2A00FF"/>
                </a:solidFill>
                <a:latin typeface="Consolas"/>
              </a:rPr>
              <a:t>Right</a:t>
            </a:r>
            <a:r>
              <a:rPr lang="en-US" b="1" dirty="0">
                <a:solidFill>
                  <a:srgbClr val="000000"/>
                </a:solidFill>
                <a:latin typeface="Consolas"/>
              </a:rPr>
              <a:t>");</a:t>
            </a:r>
          </a:p>
          <a:p>
            <a:pPr lvl="1"/>
            <a:r>
              <a:rPr lang="en-US"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accelerate() {</a:t>
            </a:r>
          </a:p>
          <a:p>
            <a:pPr lvl="1"/>
            <a:r>
              <a:rPr lang="en-US" b="1" dirty="0">
                <a:solidFill>
                  <a:srgbClr val="000000"/>
                </a:solidFill>
                <a:latin typeface="Consolas"/>
              </a:rPr>
              <a:t>	</a:t>
            </a:r>
            <a:r>
              <a:rPr lang="en-US" b="1" dirty="0" err="1">
                <a:solidFill>
                  <a:srgbClr val="000000"/>
                </a:solidFill>
                <a:latin typeface="Consolas"/>
              </a:rPr>
              <a:t>System.</a:t>
            </a:r>
            <a:r>
              <a:rPr lang="en-US" b="1" i="1" dirty="0" err="1">
                <a:solidFill>
                  <a:srgbClr val="0000C0"/>
                </a:solidFill>
                <a:latin typeface="Consolas"/>
              </a:rPr>
              <a:t>out</a:t>
            </a:r>
            <a:r>
              <a:rPr lang="en-US" b="1" dirty="0" err="1">
                <a:solidFill>
                  <a:srgbClr val="000000"/>
                </a:solidFill>
                <a:latin typeface="Consolas"/>
              </a:rPr>
              <a:t>.println</a:t>
            </a:r>
            <a:r>
              <a:rPr lang="en-US" b="1" dirty="0">
                <a:solidFill>
                  <a:srgbClr val="000000"/>
                </a:solidFill>
                <a:latin typeface="Consolas"/>
              </a:rPr>
              <a:t>("</a:t>
            </a:r>
            <a:r>
              <a:rPr lang="en-US" b="1" i="1" dirty="0">
                <a:solidFill>
                  <a:srgbClr val="2A00FF"/>
                </a:solidFill>
                <a:latin typeface="Consolas"/>
              </a:rPr>
              <a:t>Speed</a:t>
            </a:r>
            <a:r>
              <a:rPr lang="en-US" b="1" dirty="0">
                <a:solidFill>
                  <a:srgbClr val="000000"/>
                </a:solidFill>
                <a:latin typeface="Consolas"/>
              </a:rPr>
              <a:t>");</a:t>
            </a:r>
          </a:p>
          <a:p>
            <a:pPr lvl="1"/>
            <a:r>
              <a:rPr lang="en-US"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a:t>
            </a:r>
            <a:r>
              <a:rPr lang="en-US" b="1" dirty="0" err="1">
                <a:solidFill>
                  <a:srgbClr val="000000"/>
                </a:solidFill>
                <a:latin typeface="Consolas"/>
              </a:rPr>
              <a:t>slowDown</a:t>
            </a:r>
            <a:r>
              <a:rPr lang="en-US" b="1" dirty="0">
                <a:solidFill>
                  <a:srgbClr val="000000"/>
                </a:solidFill>
                <a:latin typeface="Consolas"/>
              </a:rPr>
              <a:t>() {</a:t>
            </a:r>
          </a:p>
          <a:p>
            <a:pPr lvl="1"/>
            <a:r>
              <a:rPr lang="en-US" b="1" dirty="0">
                <a:solidFill>
                  <a:srgbClr val="000000"/>
                </a:solidFill>
                <a:latin typeface="Consolas"/>
              </a:rPr>
              <a:t>	</a:t>
            </a:r>
            <a:r>
              <a:rPr lang="en-US" b="1" dirty="0" err="1">
                <a:solidFill>
                  <a:srgbClr val="000000"/>
                </a:solidFill>
                <a:latin typeface="Consolas"/>
              </a:rPr>
              <a:t>System.</a:t>
            </a:r>
            <a:r>
              <a:rPr lang="en-US" b="1" i="1" dirty="0" err="1">
                <a:solidFill>
                  <a:srgbClr val="0000C0"/>
                </a:solidFill>
                <a:latin typeface="Consolas"/>
              </a:rPr>
              <a:t>out</a:t>
            </a:r>
            <a:r>
              <a:rPr lang="en-US" b="1" dirty="0" err="1">
                <a:solidFill>
                  <a:srgbClr val="000000"/>
                </a:solidFill>
                <a:latin typeface="Consolas"/>
              </a:rPr>
              <a:t>.println</a:t>
            </a:r>
            <a:r>
              <a:rPr lang="en-US" b="1" dirty="0">
                <a:solidFill>
                  <a:srgbClr val="000000"/>
                </a:solidFill>
                <a:latin typeface="Consolas"/>
              </a:rPr>
              <a:t>("</a:t>
            </a:r>
            <a:r>
              <a:rPr lang="en-US" b="1" i="1" dirty="0">
                <a:solidFill>
                  <a:srgbClr val="2A00FF"/>
                </a:solidFill>
                <a:latin typeface="Consolas"/>
              </a:rPr>
              <a:t>Break</a:t>
            </a:r>
            <a:r>
              <a:rPr lang="en-US" b="1"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sp>
        <p:nvSpPr>
          <p:cNvPr id="4" name="Rectangle 3">
            <a:extLst>
              <a:ext uri="{FF2B5EF4-FFF2-40B4-BE49-F238E27FC236}">
                <a16:creationId xmlns:a16="http://schemas.microsoft.com/office/drawing/2014/main" id="{9EF102DF-D923-9294-338B-D236C4189EA3}"/>
              </a:ext>
            </a:extLst>
          </p:cNvPr>
          <p:cNvSpPr/>
          <p:nvPr/>
        </p:nvSpPr>
        <p:spPr>
          <a:xfrm>
            <a:off x="381000" y="3209925"/>
            <a:ext cx="5467350" cy="2031325"/>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DemoInterface</a:t>
            </a:r>
            <a:r>
              <a:rPr lang="en-US" b="1"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a:t>
            </a:r>
          </a:p>
          <a:p>
            <a:pPr lvl="1"/>
            <a:r>
              <a:rPr lang="en-US" dirty="0">
                <a:solidFill>
                  <a:srgbClr val="000000"/>
                </a:solidFill>
                <a:latin typeface="Consolas"/>
              </a:rPr>
              <a:t>{</a:t>
            </a:r>
          </a:p>
          <a:p>
            <a:pPr lvl="2"/>
            <a:r>
              <a:rPr lang="en-US" dirty="0" err="1">
                <a:solidFill>
                  <a:srgbClr val="000000"/>
                </a:solidFill>
                <a:latin typeface="Consolas"/>
              </a:rPr>
              <a:t>CarClass</a:t>
            </a:r>
            <a:r>
              <a:rPr lang="en-US" dirty="0">
                <a:solidFill>
                  <a:srgbClr val="000000"/>
                </a:solidFill>
                <a:latin typeface="Consolas"/>
              </a:rPr>
              <a:t> </a:t>
            </a:r>
            <a:r>
              <a:rPr lang="en-US" dirty="0">
                <a:solidFill>
                  <a:srgbClr val="6A3E3E"/>
                </a:solidFill>
                <a:latin typeface="Consolas"/>
              </a:rPr>
              <a:t>c</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CarClass</a:t>
            </a:r>
            <a:r>
              <a:rPr lang="en-US" b="1" dirty="0">
                <a:solidFill>
                  <a:srgbClr val="000000"/>
                </a:solidFill>
                <a:latin typeface="Consolas"/>
              </a:rPr>
              <a:t>();</a:t>
            </a:r>
          </a:p>
          <a:p>
            <a:pPr lvl="2"/>
            <a:r>
              <a:rPr lang="en-US" dirty="0" err="1">
                <a:solidFill>
                  <a:srgbClr val="6A3E3E"/>
                </a:solidFill>
                <a:latin typeface="Consolas"/>
              </a:rPr>
              <a:t>c</a:t>
            </a:r>
            <a:r>
              <a:rPr lang="en-US" dirty="0" err="1">
                <a:solidFill>
                  <a:srgbClr val="000000"/>
                </a:solidFill>
                <a:latin typeface="Consolas"/>
              </a:rPr>
              <a:t>.turnLeft</a:t>
            </a:r>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latin typeface="Consolas"/>
            </a:endParaRPr>
          </a:p>
        </p:txBody>
      </p:sp>
      <p:sp>
        <p:nvSpPr>
          <p:cNvPr id="5" name="Title 1">
            <a:extLst>
              <a:ext uri="{FF2B5EF4-FFF2-40B4-BE49-F238E27FC236}">
                <a16:creationId xmlns:a16="http://schemas.microsoft.com/office/drawing/2014/main" id="{92FAE801-46BA-D324-9F9B-07E3EE739396}"/>
              </a:ext>
            </a:extLst>
          </p:cNvPr>
          <p:cNvSpPr>
            <a:spLocks noGrp="1"/>
          </p:cNvSpPr>
          <p:nvPr>
            <p:ph type="title"/>
          </p:nvPr>
        </p:nvSpPr>
        <p:spPr>
          <a:xfrm>
            <a:off x="0" y="1"/>
            <a:ext cx="12192000" cy="711200"/>
          </a:xfrm>
        </p:spPr>
        <p:txBody>
          <a:bodyPr/>
          <a:lstStyle/>
          <a:p>
            <a:r>
              <a:rPr lang="en-US" dirty="0"/>
              <a:t>Interface (Example)</a:t>
            </a:r>
          </a:p>
        </p:txBody>
      </p:sp>
      <p:sp>
        <p:nvSpPr>
          <p:cNvPr id="6" name="Line Callout 1 5">
            <a:extLst>
              <a:ext uri="{FF2B5EF4-FFF2-40B4-BE49-F238E27FC236}">
                <a16:creationId xmlns:a16="http://schemas.microsoft.com/office/drawing/2014/main" id="{F565ECB7-23E5-03C5-310C-B2C5D37B5CE1}"/>
              </a:ext>
            </a:extLst>
          </p:cNvPr>
          <p:cNvSpPr/>
          <p:nvPr/>
        </p:nvSpPr>
        <p:spPr>
          <a:xfrm>
            <a:off x="1905000" y="3286125"/>
            <a:ext cx="2209800" cy="1371600"/>
          </a:xfrm>
          <a:prstGeom prst="borderCallout1">
            <a:avLst>
              <a:gd name="adj1" fmla="val 48601"/>
              <a:gd name="adj2" fmla="val -922"/>
              <a:gd name="adj3" fmla="val -115361"/>
              <a:gd name="adj4" fmla="val -327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Variable in interface are by default </a:t>
            </a:r>
          </a:p>
          <a:p>
            <a:pPr algn="ctr"/>
            <a:r>
              <a:rPr lang="en-US" dirty="0"/>
              <a:t>public, static, final</a:t>
            </a:r>
          </a:p>
        </p:txBody>
      </p:sp>
      <p:sp>
        <p:nvSpPr>
          <p:cNvPr id="7" name="Line Callout 1 6">
            <a:extLst>
              <a:ext uri="{FF2B5EF4-FFF2-40B4-BE49-F238E27FC236}">
                <a16:creationId xmlns:a16="http://schemas.microsoft.com/office/drawing/2014/main" id="{EC61BF42-8BDD-AB4B-8FEE-4B911F39D427}"/>
              </a:ext>
            </a:extLst>
          </p:cNvPr>
          <p:cNvSpPr/>
          <p:nvPr/>
        </p:nvSpPr>
        <p:spPr>
          <a:xfrm>
            <a:off x="3168015" y="3152736"/>
            <a:ext cx="2209800" cy="1371600"/>
          </a:xfrm>
          <a:prstGeom prst="borderCallout1">
            <a:avLst>
              <a:gd name="adj1" fmla="val 50684"/>
              <a:gd name="adj2" fmla="val 100371"/>
              <a:gd name="adj3" fmla="val -94528"/>
              <a:gd name="adj4" fmla="val 1616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Here access </a:t>
            </a:r>
            <a:r>
              <a:rPr lang="en-IN" dirty="0" err="1"/>
              <a:t>specifier</a:t>
            </a:r>
            <a:r>
              <a:rPr lang="en-IN" dirty="0"/>
              <a:t> of method must be public</a:t>
            </a:r>
            <a:endParaRPr lang="en-US" dirty="0"/>
          </a:p>
        </p:txBody>
      </p:sp>
      <p:pic>
        <p:nvPicPr>
          <p:cNvPr id="8" name="Picture 3">
            <a:extLst>
              <a:ext uri="{FF2B5EF4-FFF2-40B4-BE49-F238E27FC236}">
                <a16:creationId xmlns:a16="http://schemas.microsoft.com/office/drawing/2014/main" id="{4BBBAA36-BA54-906F-04E4-031B7524FF42}"/>
              </a:ext>
            </a:extLst>
          </p:cNvPr>
          <p:cNvPicPr>
            <a:picLocks noChangeAspect="1" noChangeArrowheads="1"/>
          </p:cNvPicPr>
          <p:nvPr/>
        </p:nvPicPr>
        <p:blipFill>
          <a:blip r:embed="rId2" cstate="print"/>
          <a:srcRect/>
          <a:stretch>
            <a:fillRect/>
          </a:stretch>
        </p:blipFill>
        <p:spPr bwMode="auto">
          <a:xfrm>
            <a:off x="1676400" y="5114925"/>
            <a:ext cx="6286500" cy="1358900"/>
          </a:xfrm>
          <a:prstGeom prst="rect">
            <a:avLst/>
          </a:prstGeom>
          <a:noFill/>
          <a:ln w="9525">
            <a:noFill/>
            <a:miter lim="800000"/>
            <a:headEnd/>
            <a:tailEnd/>
          </a:ln>
        </p:spPr>
      </p:pic>
      <p:sp>
        <p:nvSpPr>
          <p:cNvPr id="9" name="Line Callout 1 9">
            <a:extLst>
              <a:ext uri="{FF2B5EF4-FFF2-40B4-BE49-F238E27FC236}">
                <a16:creationId xmlns:a16="http://schemas.microsoft.com/office/drawing/2014/main" id="{368E19A9-46B7-488F-5822-08C9B5769AD7}"/>
              </a:ext>
            </a:extLst>
          </p:cNvPr>
          <p:cNvSpPr/>
          <p:nvPr/>
        </p:nvSpPr>
        <p:spPr>
          <a:xfrm>
            <a:off x="3343275" y="3265806"/>
            <a:ext cx="2209800" cy="1371600"/>
          </a:xfrm>
          <a:prstGeom prst="borderCallout1">
            <a:avLst>
              <a:gd name="adj1" fmla="val 50684"/>
              <a:gd name="adj2" fmla="val 100371"/>
              <a:gd name="adj3" fmla="val -100778"/>
              <a:gd name="adj4" fmla="val 154726"/>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We have to provide implementation to all the methods of the interface</a:t>
            </a:r>
            <a:endParaRPr lang="en-US" dirty="0"/>
          </a:p>
        </p:txBody>
      </p:sp>
      <p:cxnSp>
        <p:nvCxnSpPr>
          <p:cNvPr id="10" name="Straight Connector 9">
            <a:extLst>
              <a:ext uri="{FF2B5EF4-FFF2-40B4-BE49-F238E27FC236}">
                <a16:creationId xmlns:a16="http://schemas.microsoft.com/office/drawing/2014/main" id="{2AFD817B-84B1-5C1D-708E-A8B513241428}"/>
              </a:ext>
            </a:extLst>
          </p:cNvPr>
          <p:cNvCxnSpPr>
            <a:cxnSpLocks/>
            <a:stCxn id="9" idx="0"/>
          </p:cNvCxnSpPr>
          <p:nvPr/>
        </p:nvCxnSpPr>
        <p:spPr>
          <a:xfrm flipV="1">
            <a:off x="5553075" y="2656206"/>
            <a:ext cx="1219200" cy="129540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5AA9B8A-F3A3-9100-7476-2525CD92EA3F}"/>
              </a:ext>
            </a:extLst>
          </p:cNvPr>
          <p:cNvCxnSpPr>
            <a:cxnSpLocks/>
            <a:stCxn id="9" idx="0"/>
          </p:cNvCxnSpPr>
          <p:nvPr/>
        </p:nvCxnSpPr>
        <p:spPr>
          <a:xfrm flipV="1">
            <a:off x="5553075" y="3418206"/>
            <a:ext cx="1143000" cy="53340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7D67E3B-468B-BE4A-0705-A6417A267A50}"/>
              </a:ext>
            </a:extLst>
          </p:cNvPr>
          <p:cNvCxnSpPr>
            <a:cxnSpLocks/>
            <a:stCxn id="9" idx="0"/>
          </p:cNvCxnSpPr>
          <p:nvPr/>
        </p:nvCxnSpPr>
        <p:spPr>
          <a:xfrm>
            <a:off x="5553075" y="3951606"/>
            <a:ext cx="1143000" cy="30480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543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2" end="2"/>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7"/>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5" end="5"/>
                                            </p:tx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
                                            <p:txEl>
                                              <p:pRg st="6" end="6"/>
                                            </p:tx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8" end="8"/>
                                            </p:txEl>
                                          </p:spTgt>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
                                            <p:txEl>
                                              <p:pRg st="9" end="9"/>
                                            </p:txEl>
                                          </p:spTgt>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
                                            <p:txEl>
                                              <p:pRg st="11" end="11"/>
                                            </p:txEl>
                                          </p:spTgt>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
                                            <p:txEl>
                                              <p:pRg st="12" end="12"/>
                                            </p:txEl>
                                          </p:spTgt>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9"/>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xit" presetSubtype="0" fill="hold" grpId="1" nodeType="clickEffect">
                                  <p:stCondLst>
                                    <p:cond delay="0"/>
                                  </p:stCondLst>
                                  <p:childTnLst>
                                    <p:set>
                                      <p:cBhvr>
                                        <p:cTn id="108" dur="1" fill="hold">
                                          <p:stCondLst>
                                            <p:cond delay="0"/>
                                          </p:stCondLst>
                                        </p:cTn>
                                        <p:tgtEl>
                                          <p:spTgt spid="9"/>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10"/>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11"/>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12"/>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
                                            <p:bg/>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22" presetClass="entr" presetSubtype="4" fill="hold" nodeType="clickEffect">
                                  <p:stCondLst>
                                    <p:cond delay="0"/>
                                  </p:stCondLst>
                                  <p:childTnLst>
                                    <p:set>
                                      <p:cBhvr>
                                        <p:cTn id="154" dur="1" fill="hold">
                                          <p:stCondLst>
                                            <p:cond delay="0"/>
                                          </p:stCondLst>
                                        </p:cTn>
                                        <p:tgtEl>
                                          <p:spTgt spid="8"/>
                                        </p:tgtEl>
                                        <p:attrNameLst>
                                          <p:attrName>style.visibility</p:attrName>
                                        </p:attrNameLst>
                                      </p:cBhvr>
                                      <p:to>
                                        <p:strVal val="visible"/>
                                      </p:to>
                                    </p:set>
                                    <p:animEffect transition="in" filter="wipe(down)">
                                      <p:cBhvr>
                                        <p:cTn id="155" dur="500"/>
                                        <p:tgtEl>
                                          <p:spTgt spid="8"/>
                                        </p:tgtEl>
                                      </p:cBhvr>
                                    </p:animEffect>
                                  </p:childTnLst>
                                </p:cTn>
                              </p:par>
                            </p:childTnLst>
                          </p:cTn>
                        </p:par>
                      </p:childTnLst>
                    </p:cTn>
                  </p:par>
                  <p:par>
                    <p:cTn id="156" fill="hold">
                      <p:stCondLst>
                        <p:cond delay="indefinite"/>
                      </p:stCondLst>
                      <p:childTnLst>
                        <p:par>
                          <p:cTn id="157" fill="hold">
                            <p:stCondLst>
                              <p:cond delay="0"/>
                            </p:stCondLst>
                            <p:childTnLst>
                              <p:par>
                                <p:cTn id="158" presetID="1" presetClass="exit" presetSubtype="0" fill="hold" nodeType="clickEffect">
                                  <p:stCondLst>
                                    <p:cond delay="0"/>
                                  </p:stCondLst>
                                  <p:childTnLst>
                                    <p:set>
                                      <p:cBhvr>
                                        <p:cTn id="159"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bldLvl="4" animBg="1"/>
      <p:bldP spid="3" grpId="0" uiExpand="1" build="p" bldLvl="4" animBg="1"/>
      <p:bldP spid="4" grpId="0" build="p" bldLvl="4" animBg="1"/>
      <p:bldP spid="6" grpId="0" animBg="1"/>
      <p:bldP spid="6" grpId="1" animBg="1"/>
      <p:bldP spid="7" grpId="0" animBg="1"/>
      <p:bldP spid="7" grpId="1" animBg="1"/>
      <p:bldP spid="9" grpId="0" animBg="1"/>
      <p:bldP spid="9"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E123-9E2E-C878-5D91-D5F677412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EECF7-EEA7-0E72-9179-8BB827D38F0B}"/>
              </a:ext>
            </a:extLst>
          </p:cNvPr>
          <p:cNvSpPr>
            <a:spLocks noGrp="1"/>
          </p:cNvSpPr>
          <p:nvPr>
            <p:ph type="title"/>
          </p:nvPr>
        </p:nvSpPr>
        <p:spPr>
          <a:xfrm>
            <a:off x="0" y="1"/>
            <a:ext cx="12192000" cy="711200"/>
          </a:xfrm>
        </p:spPr>
        <p:txBody>
          <a:bodyPr/>
          <a:lstStyle/>
          <a:p>
            <a:r>
              <a:rPr lang="en-US" dirty="0">
                <a:solidFill>
                  <a:schemeClr val="tx1"/>
                </a:solidFill>
              </a:rPr>
              <a:t>Interface V/S Abstract Class</a:t>
            </a:r>
          </a:p>
        </p:txBody>
      </p:sp>
      <p:graphicFrame>
        <p:nvGraphicFramePr>
          <p:cNvPr id="3" name="Content Placeholder 4">
            <a:extLst>
              <a:ext uri="{FF2B5EF4-FFF2-40B4-BE49-F238E27FC236}">
                <a16:creationId xmlns:a16="http://schemas.microsoft.com/office/drawing/2014/main" id="{8B51C818-4B60-CBFD-D24F-FCB408B2485D}"/>
              </a:ext>
            </a:extLst>
          </p:cNvPr>
          <p:cNvGraphicFramePr>
            <a:graphicFrameLocks noGrp="1"/>
          </p:cNvGraphicFramePr>
          <p:nvPr>
            <p:ph idx="1"/>
            <p:extLst>
              <p:ext uri="{D42A27DB-BD31-4B8C-83A1-F6EECF244321}">
                <p14:modId xmlns:p14="http://schemas.microsoft.com/office/powerpoint/2010/main" val="1558450667"/>
              </p:ext>
            </p:extLst>
          </p:nvPr>
        </p:nvGraphicFramePr>
        <p:xfrm>
          <a:off x="190500" y="990600"/>
          <a:ext cx="11328400" cy="4043680"/>
        </p:xfrm>
        <a:graphic>
          <a:graphicData uri="http://schemas.openxmlformats.org/drawingml/2006/table">
            <a:tbl>
              <a:tblPr firstRow="1" bandRow="1">
                <a:tableStyleId>{00A15C55-8517-42AA-B614-E9B94910E393}</a:tableStyleId>
              </a:tblPr>
              <a:tblGrid>
                <a:gridCol w="5664200">
                  <a:extLst>
                    <a:ext uri="{9D8B030D-6E8A-4147-A177-3AD203B41FA5}">
                      <a16:colId xmlns:a16="http://schemas.microsoft.com/office/drawing/2014/main" val="20000"/>
                    </a:ext>
                  </a:extLst>
                </a:gridCol>
                <a:gridCol w="5664200">
                  <a:extLst>
                    <a:ext uri="{9D8B030D-6E8A-4147-A177-3AD203B41FA5}">
                      <a16:colId xmlns:a16="http://schemas.microsoft.com/office/drawing/2014/main" val="20001"/>
                    </a:ext>
                  </a:extLst>
                </a:gridCol>
              </a:tblGrid>
              <a:tr h="370840">
                <a:tc>
                  <a:txBody>
                    <a:bodyPr/>
                    <a:lstStyle/>
                    <a:p>
                      <a:r>
                        <a:rPr lang="en-US" dirty="0"/>
                        <a:t>Interface</a:t>
                      </a:r>
                    </a:p>
                  </a:txBody>
                  <a:tcPr/>
                </a:tc>
                <a:tc>
                  <a:txBody>
                    <a:bodyPr/>
                    <a:lstStyle/>
                    <a:p>
                      <a:r>
                        <a:rPr lang="en-US" dirty="0"/>
                        <a:t>Abstract Class</a:t>
                      </a:r>
                    </a:p>
                  </a:txBody>
                  <a:tcPr/>
                </a:tc>
                <a:extLst>
                  <a:ext uri="{0D108BD9-81ED-4DB2-BD59-A6C34878D82A}">
                    <a16:rowId xmlns:a16="http://schemas.microsoft.com/office/drawing/2014/main" val="10000"/>
                  </a:ext>
                </a:extLst>
              </a:tr>
              <a:tr h="370840">
                <a:tc>
                  <a:txBody>
                    <a:bodyPr/>
                    <a:lstStyle/>
                    <a:p>
                      <a:r>
                        <a:rPr lang="en-US" dirty="0"/>
                        <a:t>Interface support multiple inheritance</a:t>
                      </a:r>
                    </a:p>
                  </a:txBody>
                  <a:tcPr/>
                </a:tc>
                <a:tc>
                  <a:txBody>
                    <a:bodyPr/>
                    <a:lstStyle/>
                    <a:p>
                      <a:r>
                        <a:rPr lang="en-US" dirty="0"/>
                        <a:t>Abstract class does not support multiple inheritance</a:t>
                      </a:r>
                    </a:p>
                  </a:txBody>
                  <a:tcPr/>
                </a:tc>
                <a:extLst>
                  <a:ext uri="{0D108BD9-81ED-4DB2-BD59-A6C34878D82A}">
                    <a16:rowId xmlns:a16="http://schemas.microsoft.com/office/drawing/2014/main" val="10001"/>
                  </a:ext>
                </a:extLst>
              </a:tr>
              <a:tr h="370840">
                <a:tc>
                  <a:txBody>
                    <a:bodyPr/>
                    <a:lstStyle/>
                    <a:p>
                      <a:r>
                        <a:rPr lang="en-US" dirty="0"/>
                        <a:t>Interface does not contains Constructor</a:t>
                      </a:r>
                    </a:p>
                  </a:txBody>
                  <a:tcPr/>
                </a:tc>
                <a:tc>
                  <a:txBody>
                    <a:bodyPr/>
                    <a:lstStyle/>
                    <a:p>
                      <a:r>
                        <a:rPr lang="en-US" dirty="0"/>
                        <a:t>Abstract class contains Constructor</a:t>
                      </a:r>
                    </a:p>
                  </a:txBody>
                  <a:tcPr/>
                </a:tc>
                <a:extLst>
                  <a:ext uri="{0D108BD9-81ED-4DB2-BD59-A6C34878D82A}">
                    <a16:rowId xmlns:a16="http://schemas.microsoft.com/office/drawing/2014/main" val="10002"/>
                  </a:ext>
                </a:extLst>
              </a:tr>
              <a:tr h="370840">
                <a:tc>
                  <a:txBody>
                    <a:bodyPr/>
                    <a:lstStyle/>
                    <a:p>
                      <a:r>
                        <a:rPr lang="en-US" dirty="0"/>
                        <a:t>An interface contains only incomplete /abstract methods</a:t>
                      </a:r>
                    </a:p>
                  </a:txBody>
                  <a:tcPr/>
                </a:tc>
                <a:tc>
                  <a:txBody>
                    <a:bodyPr/>
                    <a:lstStyle/>
                    <a:p>
                      <a:r>
                        <a:rPr lang="en-US" dirty="0"/>
                        <a:t>An abstract class contains both incomplete and complete methods</a:t>
                      </a:r>
                    </a:p>
                  </a:txBody>
                  <a:tcPr/>
                </a:tc>
                <a:extLst>
                  <a:ext uri="{0D108BD9-81ED-4DB2-BD59-A6C34878D82A}">
                    <a16:rowId xmlns:a16="http://schemas.microsoft.com/office/drawing/2014/main" val="10003"/>
                  </a:ext>
                </a:extLst>
              </a:tr>
              <a:tr h="370840">
                <a:tc>
                  <a:txBody>
                    <a:bodyPr/>
                    <a:lstStyle/>
                    <a:p>
                      <a:r>
                        <a:rPr lang="en-US" dirty="0"/>
                        <a:t>An interface cannot have access modifiers, so by default everything is public.</a:t>
                      </a:r>
                    </a:p>
                  </a:txBody>
                  <a:tcPr/>
                </a:tc>
                <a:tc>
                  <a:txBody>
                    <a:bodyPr/>
                    <a:lstStyle/>
                    <a:p>
                      <a:r>
                        <a:rPr lang="en-US" dirty="0"/>
                        <a:t>An abstract class can contain access modifiers for the functions, properties</a:t>
                      </a:r>
                    </a:p>
                  </a:txBody>
                  <a:tcPr/>
                </a:tc>
                <a:extLst>
                  <a:ext uri="{0D108BD9-81ED-4DB2-BD59-A6C34878D82A}">
                    <a16:rowId xmlns:a16="http://schemas.microsoft.com/office/drawing/2014/main" val="10004"/>
                  </a:ext>
                </a:extLst>
              </a:tr>
              <a:tr h="370840">
                <a:tc>
                  <a:txBody>
                    <a:bodyPr/>
                    <a:lstStyle/>
                    <a:p>
                      <a:r>
                        <a:rPr lang="en-US" dirty="0"/>
                        <a:t>Methods of interface cannot be static</a:t>
                      </a:r>
                    </a:p>
                  </a:txBody>
                  <a:tcPr/>
                </a:tc>
                <a:tc>
                  <a:txBody>
                    <a:bodyPr/>
                    <a:lstStyle/>
                    <a:p>
                      <a:r>
                        <a:rPr lang="en-US" dirty="0"/>
                        <a:t>Only complete</a:t>
                      </a:r>
                      <a:r>
                        <a:rPr lang="en-US" baseline="0" dirty="0"/>
                        <a:t> Methods </a:t>
                      </a:r>
                      <a:r>
                        <a:rPr lang="en-US" dirty="0"/>
                        <a:t>of abstract class can be static</a:t>
                      </a:r>
                    </a:p>
                  </a:txBody>
                  <a:tcPr/>
                </a:tc>
                <a:extLst>
                  <a:ext uri="{0D108BD9-81ED-4DB2-BD59-A6C34878D82A}">
                    <a16:rowId xmlns:a16="http://schemas.microsoft.com/office/drawing/2014/main" val="10005"/>
                  </a:ext>
                </a:extLst>
              </a:tr>
              <a:tr h="370840">
                <a:tc>
                  <a:txBody>
                    <a:bodyPr/>
                    <a:lstStyle/>
                    <a:p>
                      <a:r>
                        <a:rPr lang="en-IN" dirty="0"/>
                        <a:t>Variables</a:t>
                      </a:r>
                      <a:r>
                        <a:rPr lang="en-IN" baseline="0" dirty="0"/>
                        <a:t>  declared in interface are public, static, final by default.</a:t>
                      </a:r>
                      <a:endParaRPr lang="en-US" dirty="0"/>
                    </a:p>
                  </a:txBody>
                  <a:tcPr/>
                </a:tc>
                <a:tc>
                  <a:txBody>
                    <a:bodyPr/>
                    <a:lstStyle/>
                    <a:p>
                      <a:r>
                        <a:rPr lang="en-IN" dirty="0"/>
                        <a:t>An abstract class may contain non-final variables.</a:t>
                      </a:r>
                      <a:endParaRPr lang="en-US" dirty="0"/>
                    </a:p>
                  </a:txBody>
                  <a:tcPr/>
                </a:tc>
                <a:extLst>
                  <a:ext uri="{0D108BD9-81ED-4DB2-BD59-A6C34878D82A}">
                    <a16:rowId xmlns:a16="http://schemas.microsoft.com/office/drawing/2014/main" val="10006"/>
                  </a:ext>
                </a:extLst>
              </a:tr>
              <a:tr h="370840">
                <a:tc>
                  <a:txBody>
                    <a:bodyPr/>
                    <a:lstStyle/>
                    <a:p>
                      <a:r>
                        <a:rPr lang="en-IN" dirty="0"/>
                        <a:t>I</a:t>
                      </a:r>
                      <a:r>
                        <a:rPr lang="en-IN" baseline="0" dirty="0"/>
                        <a:t>nterface should be implemented using keyword “implements”.</a:t>
                      </a:r>
                      <a:endParaRPr lang="en-US" dirty="0"/>
                    </a:p>
                  </a:txBody>
                  <a:tcPr/>
                </a:tc>
                <a:tc>
                  <a:txBody>
                    <a:bodyPr/>
                    <a:lstStyle/>
                    <a:p>
                      <a:r>
                        <a:rPr lang="en-IN" dirty="0"/>
                        <a:t>Abstract class should be extended using keyword “extends”.</a:t>
                      </a:r>
                      <a:endParaRPr lang="en-US" dirty="0"/>
                    </a:p>
                  </a:txBody>
                  <a:tcPr/>
                </a:tc>
                <a:extLst>
                  <a:ext uri="{0D108BD9-81ED-4DB2-BD59-A6C34878D82A}">
                    <a16:rowId xmlns:a16="http://schemas.microsoft.com/office/drawing/2014/main" val="10007"/>
                  </a:ext>
                </a:extLst>
              </a:tr>
            </a:tbl>
          </a:graphicData>
        </a:graphic>
      </p:graphicFrame>
      <p:sp>
        <p:nvSpPr>
          <p:cNvPr id="4" name="Rectangle 3">
            <a:extLst>
              <a:ext uri="{FF2B5EF4-FFF2-40B4-BE49-F238E27FC236}">
                <a16:creationId xmlns:a16="http://schemas.microsoft.com/office/drawing/2014/main" id="{02B6D337-7E0B-BD15-8C7C-682A36ABDCE1}"/>
              </a:ext>
            </a:extLst>
          </p:cNvPr>
          <p:cNvSpPr/>
          <p:nvPr/>
        </p:nvSpPr>
        <p:spPr>
          <a:xfrm>
            <a:off x="190500" y="1341234"/>
            <a:ext cx="11455400" cy="3796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Rectangle 4">
            <a:extLst>
              <a:ext uri="{FF2B5EF4-FFF2-40B4-BE49-F238E27FC236}">
                <a16:creationId xmlns:a16="http://schemas.microsoft.com/office/drawing/2014/main" id="{B73B9784-3E0D-423A-0C1C-891F7A9D966A}"/>
              </a:ext>
            </a:extLst>
          </p:cNvPr>
          <p:cNvSpPr/>
          <p:nvPr/>
        </p:nvSpPr>
        <p:spPr>
          <a:xfrm>
            <a:off x="190500" y="1739900"/>
            <a:ext cx="114554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F36C98FF-5B2E-0278-E0BA-51718C5F7255}"/>
              </a:ext>
            </a:extLst>
          </p:cNvPr>
          <p:cNvSpPr/>
          <p:nvPr/>
        </p:nvSpPr>
        <p:spPr>
          <a:xfrm>
            <a:off x="190500" y="2120900"/>
            <a:ext cx="114554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ectangle 6">
            <a:extLst>
              <a:ext uri="{FF2B5EF4-FFF2-40B4-BE49-F238E27FC236}">
                <a16:creationId xmlns:a16="http://schemas.microsoft.com/office/drawing/2014/main" id="{4FBAEA06-0EB7-953D-C05D-67C37B15478D}"/>
              </a:ext>
            </a:extLst>
          </p:cNvPr>
          <p:cNvSpPr/>
          <p:nvPr/>
        </p:nvSpPr>
        <p:spPr>
          <a:xfrm>
            <a:off x="190500" y="2710180"/>
            <a:ext cx="11455400" cy="685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F8FBAE9E-F5DE-B2DC-1A23-BB690B2FDEB7}"/>
              </a:ext>
            </a:extLst>
          </p:cNvPr>
          <p:cNvSpPr/>
          <p:nvPr/>
        </p:nvSpPr>
        <p:spPr>
          <a:xfrm>
            <a:off x="190500" y="3395980"/>
            <a:ext cx="11455400" cy="3759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C416A8ED-7440-6567-353B-B87A0F0F8766}"/>
              </a:ext>
            </a:extLst>
          </p:cNvPr>
          <p:cNvSpPr/>
          <p:nvPr/>
        </p:nvSpPr>
        <p:spPr>
          <a:xfrm>
            <a:off x="190500" y="3771900"/>
            <a:ext cx="11455400" cy="5765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C36FD985-25D5-CE8C-FDBA-2BE60676F18E}"/>
              </a:ext>
            </a:extLst>
          </p:cNvPr>
          <p:cNvSpPr/>
          <p:nvPr/>
        </p:nvSpPr>
        <p:spPr>
          <a:xfrm>
            <a:off x="190500" y="4348480"/>
            <a:ext cx="11455400" cy="685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7096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621A4-C0CD-E54E-61DA-5B936AB76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9E197-86AF-C5D5-9A74-B1120D050340}"/>
              </a:ext>
            </a:extLst>
          </p:cNvPr>
          <p:cNvSpPr>
            <a:spLocks noGrp="1"/>
          </p:cNvSpPr>
          <p:nvPr>
            <p:ph type="title"/>
          </p:nvPr>
        </p:nvSpPr>
        <p:spPr>
          <a:xfrm>
            <a:off x="0" y="1"/>
            <a:ext cx="12192000" cy="711200"/>
          </a:xfrm>
        </p:spPr>
        <p:txBody>
          <a:bodyPr/>
          <a:lstStyle/>
          <a:p>
            <a:r>
              <a:rPr lang="en-US" dirty="0"/>
              <a:t>Dynamic Method Dispatch</a:t>
            </a:r>
          </a:p>
        </p:txBody>
      </p:sp>
      <p:sp>
        <p:nvSpPr>
          <p:cNvPr id="3" name="Content Placeholder 2">
            <a:extLst>
              <a:ext uri="{FF2B5EF4-FFF2-40B4-BE49-F238E27FC236}">
                <a16:creationId xmlns:a16="http://schemas.microsoft.com/office/drawing/2014/main" id="{584EF646-60DF-F648-5FCA-92B89620DC1A}"/>
              </a:ext>
            </a:extLst>
          </p:cNvPr>
          <p:cNvSpPr>
            <a:spLocks noGrp="1"/>
          </p:cNvSpPr>
          <p:nvPr>
            <p:ph idx="1"/>
          </p:nvPr>
        </p:nvSpPr>
        <p:spPr>
          <a:xfrm>
            <a:off x="131180" y="863444"/>
            <a:ext cx="11929641" cy="2311555"/>
          </a:xfrm>
        </p:spPr>
        <p:txBody>
          <a:bodyPr/>
          <a:lstStyle/>
          <a:p>
            <a:r>
              <a:rPr lang="en-US" dirty="0"/>
              <a:t>Method overriding is one of the ways in which Java supports </a:t>
            </a:r>
            <a:r>
              <a:rPr lang="en-US" dirty="0">
                <a:solidFill>
                  <a:srgbClr val="C00000"/>
                </a:solidFill>
              </a:rPr>
              <a:t>Runtime Polymorphism</a:t>
            </a:r>
            <a:r>
              <a:rPr lang="en-US" dirty="0"/>
              <a:t>.</a:t>
            </a:r>
          </a:p>
          <a:p>
            <a:r>
              <a:rPr lang="en-US" dirty="0"/>
              <a:t>Dynamic method dispatch is the mechanism by which a call to an overridden method is resolved </a:t>
            </a:r>
            <a:r>
              <a:rPr lang="en-US" dirty="0">
                <a:solidFill>
                  <a:srgbClr val="C00000"/>
                </a:solidFill>
              </a:rPr>
              <a:t>at run time</a:t>
            </a:r>
            <a:r>
              <a:rPr lang="en-US" dirty="0"/>
              <a:t>, rather than compile time.</a:t>
            </a:r>
          </a:p>
          <a:p>
            <a:r>
              <a:rPr lang="en-US" dirty="0"/>
              <a:t>A superclass reference variable can refer to a subclass object, This is also known as </a:t>
            </a:r>
            <a:r>
              <a:rPr lang="en-US" dirty="0" err="1">
                <a:solidFill>
                  <a:srgbClr val="C00000"/>
                </a:solidFill>
              </a:rPr>
              <a:t>upcasting</a:t>
            </a:r>
            <a:r>
              <a:rPr lang="en-US" dirty="0"/>
              <a:t>.</a:t>
            </a:r>
          </a:p>
          <a:p>
            <a:endParaRPr lang="en-US" dirty="0"/>
          </a:p>
        </p:txBody>
      </p:sp>
      <p:graphicFrame>
        <p:nvGraphicFramePr>
          <p:cNvPr id="4" name="Content Placeholder 5">
            <a:extLst>
              <a:ext uri="{FF2B5EF4-FFF2-40B4-BE49-F238E27FC236}">
                <a16:creationId xmlns:a16="http://schemas.microsoft.com/office/drawing/2014/main" id="{ADAAF08A-EAA4-E77E-E71B-CC5E5F6AF838}"/>
              </a:ext>
            </a:extLst>
          </p:cNvPr>
          <p:cNvGraphicFramePr>
            <a:graphicFrameLocks/>
          </p:cNvGraphicFramePr>
          <p:nvPr>
            <p:extLst>
              <p:ext uri="{D42A27DB-BD31-4B8C-83A1-F6EECF244321}">
                <p14:modId xmlns:p14="http://schemas.microsoft.com/office/powerpoint/2010/main" val="1089736013"/>
              </p:ext>
            </p:extLst>
          </p:nvPr>
        </p:nvGraphicFramePr>
        <p:xfrm>
          <a:off x="339625" y="3214700"/>
          <a:ext cx="11672703" cy="2397760"/>
        </p:xfrm>
        <a:graphic>
          <a:graphicData uri="http://schemas.openxmlformats.org/drawingml/2006/table">
            <a:tbl>
              <a:tblPr firstRow="1" bandRow="1">
                <a:tableStyleId>{00A15C55-8517-42AA-B614-E9B94910E393}</a:tableStyleId>
              </a:tblPr>
              <a:tblGrid>
                <a:gridCol w="5401687">
                  <a:extLst>
                    <a:ext uri="{9D8B030D-6E8A-4147-A177-3AD203B41FA5}">
                      <a16:colId xmlns:a16="http://schemas.microsoft.com/office/drawing/2014/main" val="20000"/>
                    </a:ext>
                  </a:extLst>
                </a:gridCol>
                <a:gridCol w="6271016">
                  <a:extLst>
                    <a:ext uri="{9D8B030D-6E8A-4147-A177-3AD203B41FA5}">
                      <a16:colId xmlns:a16="http://schemas.microsoft.com/office/drawing/2014/main" val="20001"/>
                    </a:ext>
                  </a:extLst>
                </a:gridCol>
              </a:tblGrid>
              <a:tr h="370840">
                <a:tc>
                  <a:txBody>
                    <a:bodyPr/>
                    <a:lstStyle/>
                    <a:p>
                      <a:r>
                        <a:rPr lang="en-US" dirty="0"/>
                        <a:t>Static Binding</a:t>
                      </a:r>
                    </a:p>
                  </a:txBody>
                  <a:tcPr/>
                </a:tc>
                <a:tc>
                  <a:txBody>
                    <a:bodyPr/>
                    <a:lstStyle/>
                    <a:p>
                      <a:r>
                        <a:rPr lang="en-US" dirty="0"/>
                        <a:t>Dynamic Binding</a:t>
                      </a:r>
                    </a:p>
                  </a:txBody>
                  <a:tcPr/>
                </a:tc>
                <a:extLst>
                  <a:ext uri="{0D108BD9-81ED-4DB2-BD59-A6C34878D82A}">
                    <a16:rowId xmlns:a16="http://schemas.microsoft.com/office/drawing/2014/main" val="10000"/>
                  </a:ext>
                </a:extLst>
              </a:tr>
              <a:tr h="370840">
                <a:tc>
                  <a:txBody>
                    <a:bodyPr/>
                    <a:lstStyle/>
                    <a:p>
                      <a:r>
                        <a:rPr lang="en-US" dirty="0"/>
                        <a:t>Occurs during compile time</a:t>
                      </a:r>
                    </a:p>
                  </a:txBody>
                  <a:tcPr/>
                </a:tc>
                <a:tc>
                  <a:txBody>
                    <a:bodyPr/>
                    <a:lstStyle/>
                    <a:p>
                      <a:r>
                        <a:rPr lang="en-US" dirty="0"/>
                        <a:t>Occurs during runtime</a:t>
                      </a:r>
                    </a:p>
                  </a:txBody>
                  <a:tcPr/>
                </a:tc>
                <a:extLst>
                  <a:ext uri="{0D108BD9-81ED-4DB2-BD59-A6C34878D82A}">
                    <a16:rowId xmlns:a16="http://schemas.microsoft.com/office/drawing/2014/main" val="10001"/>
                  </a:ext>
                </a:extLst>
              </a:tr>
              <a:tr h="370840">
                <a:tc>
                  <a:txBody>
                    <a:bodyPr/>
                    <a:lstStyle/>
                    <a:p>
                      <a:r>
                        <a:rPr lang="en-US" dirty="0"/>
                        <a:t>It uses type(Class) information for binding</a:t>
                      </a:r>
                    </a:p>
                  </a:txBody>
                  <a:tcPr/>
                </a:tc>
                <a:tc>
                  <a:txBody>
                    <a:bodyPr/>
                    <a:lstStyle/>
                    <a:p>
                      <a:r>
                        <a:rPr lang="en-US" dirty="0"/>
                        <a:t>It uses instance of class(Object) to resolve calling of method</a:t>
                      </a:r>
                    </a:p>
                  </a:txBody>
                  <a:tcPr/>
                </a:tc>
                <a:extLst>
                  <a:ext uri="{0D108BD9-81ED-4DB2-BD59-A6C34878D82A}">
                    <a16:rowId xmlns:a16="http://schemas.microsoft.com/office/drawing/2014/main" val="10002"/>
                  </a:ext>
                </a:extLst>
              </a:tr>
              <a:tr h="370840">
                <a:tc>
                  <a:txBody>
                    <a:bodyPr/>
                    <a:lstStyle/>
                    <a:p>
                      <a:r>
                        <a:rPr lang="en-US" dirty="0"/>
                        <a:t>Overloaded methods are bonded using static binding</a:t>
                      </a:r>
                    </a:p>
                  </a:txBody>
                  <a:tcPr/>
                </a:tc>
                <a:tc>
                  <a:txBody>
                    <a:bodyPr/>
                    <a:lstStyle/>
                    <a:p>
                      <a:r>
                        <a:rPr lang="en-US" dirty="0"/>
                        <a:t>Overridden methods are bonded using dynamic binding</a:t>
                      </a:r>
                    </a:p>
                  </a:txBody>
                  <a:tcPr/>
                </a:tc>
                <a:extLst>
                  <a:ext uri="{0D108BD9-81ED-4DB2-BD59-A6C34878D82A}">
                    <a16:rowId xmlns:a16="http://schemas.microsoft.com/office/drawing/2014/main" val="10003"/>
                  </a:ext>
                </a:extLst>
              </a:tr>
              <a:tr h="370840">
                <a:tc>
                  <a:txBody>
                    <a:bodyPr/>
                    <a:lstStyle/>
                    <a:p>
                      <a:r>
                        <a:rPr lang="en-US" dirty="0"/>
                        <a:t>Static binding means when the type of object which is invoking the method is determined at compile time by the compiler</a:t>
                      </a:r>
                    </a:p>
                  </a:txBody>
                  <a:tcPr/>
                </a:tc>
                <a:tc>
                  <a:txBody>
                    <a:bodyPr/>
                    <a:lstStyle/>
                    <a:p>
                      <a:r>
                        <a:rPr lang="en-US" dirty="0"/>
                        <a:t>Dynamic binding means when the type of object which is invoking the method is determined at run time by the compiler</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0422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D4B4F-6433-6784-97B0-A831953D6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A4E66-2492-A655-4921-65BB31AFAB6F}"/>
              </a:ext>
            </a:extLst>
          </p:cNvPr>
          <p:cNvSpPr>
            <a:spLocks noGrp="1"/>
          </p:cNvSpPr>
          <p:nvPr>
            <p:ph type="title"/>
          </p:nvPr>
        </p:nvSpPr>
        <p:spPr>
          <a:xfrm>
            <a:off x="0" y="1"/>
            <a:ext cx="12192000" cy="711200"/>
          </a:xfrm>
        </p:spPr>
        <p:txBody>
          <a:bodyPr/>
          <a:lstStyle/>
          <a:p>
            <a:r>
              <a:rPr lang="en-US" dirty="0"/>
              <a:t>Dynamic Method Dispatch (Example)</a:t>
            </a:r>
          </a:p>
        </p:txBody>
      </p:sp>
      <p:sp>
        <p:nvSpPr>
          <p:cNvPr id="3" name="Rectangle 2">
            <a:extLst>
              <a:ext uri="{FF2B5EF4-FFF2-40B4-BE49-F238E27FC236}">
                <a16:creationId xmlns:a16="http://schemas.microsoft.com/office/drawing/2014/main" id="{DB6788DC-D4A4-5C89-ACB9-1EDF1A118908}"/>
              </a:ext>
            </a:extLst>
          </p:cNvPr>
          <p:cNvSpPr/>
          <p:nvPr/>
        </p:nvSpPr>
        <p:spPr>
          <a:xfrm>
            <a:off x="127000" y="812800"/>
            <a:ext cx="5562600" cy="5632311"/>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Game {</a:t>
            </a:r>
          </a:p>
          <a:p>
            <a:r>
              <a:rPr lang="en-US" b="1" dirty="0">
                <a:solidFill>
                  <a:srgbClr val="000000"/>
                </a:solidFill>
                <a:latin typeface="Consolas"/>
              </a:rPr>
              <a:t>  </a:t>
            </a:r>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type() {</a:t>
            </a:r>
          </a:p>
          <a:p>
            <a:pPr lvl="1"/>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"Indoor &amp; outdoor"</a:t>
            </a:r>
            <a:r>
              <a:rPr lang="en-US" b="1" i="1" dirty="0">
                <a:solidFill>
                  <a:srgbClr val="000000"/>
                </a:solidFill>
                <a:latin typeface="Consolas"/>
              </a:rPr>
              <a:t>);</a:t>
            </a:r>
          </a:p>
          <a:p>
            <a:r>
              <a:rPr lang="en-US" dirty="0">
                <a:solidFill>
                  <a:srgbClr val="000000"/>
                </a:solidFill>
                <a:latin typeface="Consolas"/>
              </a:rPr>
              <a:t>  }</a:t>
            </a:r>
          </a:p>
          <a:p>
            <a:r>
              <a:rPr lang="en-US" dirty="0">
                <a:solidFill>
                  <a:srgbClr val="000000"/>
                </a:solidFill>
                <a:latin typeface="Consolas"/>
              </a:rPr>
              <a:t>}</a:t>
            </a:r>
            <a:endParaRPr lang="en-US" dirty="0">
              <a:latin typeface="Consolas"/>
            </a:endParaRPr>
          </a:p>
          <a:p>
            <a:r>
              <a:rPr lang="en-US" b="1" dirty="0">
                <a:solidFill>
                  <a:srgbClr val="7F0055"/>
                </a:solidFill>
                <a:latin typeface="Consolas"/>
              </a:rPr>
              <a:t>class</a:t>
            </a:r>
            <a:r>
              <a:rPr lang="en-US" b="1" dirty="0">
                <a:solidFill>
                  <a:srgbClr val="000000"/>
                </a:solidFill>
                <a:latin typeface="Consolas"/>
              </a:rPr>
              <a:t> Cricket </a:t>
            </a:r>
            <a:r>
              <a:rPr lang="en-US" b="1" dirty="0">
                <a:solidFill>
                  <a:srgbClr val="7F0055"/>
                </a:solidFill>
                <a:latin typeface="Consolas"/>
              </a:rPr>
              <a:t>extends</a:t>
            </a:r>
            <a:r>
              <a:rPr lang="en-US" b="1" dirty="0">
                <a:solidFill>
                  <a:srgbClr val="000000"/>
                </a:solidFill>
                <a:latin typeface="Consolas"/>
              </a:rPr>
              <a:t> Game {</a:t>
            </a:r>
          </a:p>
          <a:p>
            <a:r>
              <a:rPr lang="en-US" b="1" dirty="0">
                <a:solidFill>
                  <a:srgbClr val="000000"/>
                </a:solidFill>
                <a:latin typeface="Consolas"/>
              </a:rPr>
              <a:t>  </a:t>
            </a:r>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type() {</a:t>
            </a:r>
          </a:p>
          <a:p>
            <a:pPr lvl="1"/>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"outdoor game"</a:t>
            </a:r>
            <a:r>
              <a:rPr lang="en-US" b="1" i="1" dirty="0">
                <a:solidFill>
                  <a:srgbClr val="000000"/>
                </a:solidFill>
                <a:latin typeface="Consolas"/>
              </a:rPr>
              <a:t>);</a:t>
            </a:r>
          </a:p>
          <a:p>
            <a:r>
              <a:rPr lang="en-US" b="1" i="1" dirty="0">
                <a:solidFill>
                  <a:srgbClr val="000000"/>
                </a:solidFill>
                <a:latin typeface="Consolas"/>
              </a:rPr>
              <a:t>  </a:t>
            </a:r>
            <a:r>
              <a:rPr lang="en-US" dirty="0">
                <a:solidFill>
                  <a:srgbClr val="000000"/>
                </a:solidFill>
                <a:latin typeface="Consolas"/>
              </a:rPr>
              <a:t>}</a:t>
            </a:r>
          </a:p>
          <a:p>
            <a:r>
              <a:rPr lang="en-US" dirty="0">
                <a:solidFill>
                  <a:srgbClr val="000000"/>
                </a:solidFill>
                <a:latin typeface="Consolas"/>
              </a:rPr>
              <a:t>}</a:t>
            </a:r>
          </a:p>
          <a:p>
            <a:r>
              <a:rPr lang="en-US" b="1" dirty="0">
                <a:solidFill>
                  <a:srgbClr val="7F0055"/>
                </a:solidFill>
                <a:latin typeface="Consolas"/>
              </a:rPr>
              <a:t>class</a:t>
            </a:r>
            <a:r>
              <a:rPr lang="en-US" b="1" dirty="0">
                <a:solidFill>
                  <a:srgbClr val="000000"/>
                </a:solidFill>
                <a:latin typeface="Consolas"/>
              </a:rPr>
              <a:t> Badminton </a:t>
            </a:r>
            <a:r>
              <a:rPr lang="en-US" b="1" dirty="0">
                <a:solidFill>
                  <a:srgbClr val="7F0055"/>
                </a:solidFill>
                <a:latin typeface="Consolas"/>
              </a:rPr>
              <a:t>extends</a:t>
            </a:r>
            <a:r>
              <a:rPr lang="en-US" b="1" dirty="0">
                <a:solidFill>
                  <a:srgbClr val="000000"/>
                </a:solidFill>
                <a:latin typeface="Consolas"/>
              </a:rPr>
              <a:t> Game {</a:t>
            </a:r>
          </a:p>
          <a:p>
            <a:r>
              <a:rPr lang="en-US" b="1" dirty="0">
                <a:solidFill>
                  <a:srgbClr val="7F0055"/>
                </a:solidFill>
                <a:latin typeface="Consolas"/>
              </a:rPr>
              <a:t>  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type() {</a:t>
            </a:r>
          </a:p>
          <a:p>
            <a:pPr lvl="1"/>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"indoor game"</a:t>
            </a:r>
            <a:r>
              <a:rPr lang="en-US" b="1" i="1" dirty="0">
                <a:solidFill>
                  <a:srgbClr val="000000"/>
                </a:solidFill>
                <a:latin typeface="Consolas"/>
              </a:rPr>
              <a:t>);</a:t>
            </a:r>
          </a:p>
          <a:p>
            <a:r>
              <a:rPr lang="en-US" dirty="0">
                <a:solidFill>
                  <a:srgbClr val="000000"/>
                </a:solidFill>
                <a:latin typeface="Consolas"/>
              </a:rPr>
              <a:t>  }</a:t>
            </a:r>
          </a:p>
          <a:p>
            <a:r>
              <a:rPr lang="en-US" dirty="0">
                <a:solidFill>
                  <a:srgbClr val="000000"/>
                </a:solidFill>
                <a:latin typeface="Consolas"/>
              </a:rPr>
              <a:t>}</a:t>
            </a:r>
            <a:endParaRPr lang="en-US" dirty="0">
              <a:latin typeface="Consolas"/>
            </a:endParaRPr>
          </a:p>
          <a:p>
            <a:r>
              <a:rPr lang="en-US" b="1" dirty="0">
                <a:solidFill>
                  <a:srgbClr val="7F0055"/>
                </a:solidFill>
                <a:latin typeface="Consolas"/>
              </a:rPr>
              <a:t>class</a:t>
            </a:r>
            <a:r>
              <a:rPr lang="en-US" b="1" dirty="0">
                <a:solidFill>
                  <a:srgbClr val="000000"/>
                </a:solidFill>
                <a:latin typeface="Consolas"/>
              </a:rPr>
              <a:t> Tennis </a:t>
            </a:r>
            <a:r>
              <a:rPr lang="en-US" b="1" dirty="0">
                <a:solidFill>
                  <a:srgbClr val="7F0055"/>
                </a:solidFill>
                <a:latin typeface="Consolas"/>
              </a:rPr>
              <a:t>extends</a:t>
            </a:r>
            <a:r>
              <a:rPr lang="en-US" b="1" dirty="0">
                <a:solidFill>
                  <a:srgbClr val="000000"/>
                </a:solidFill>
                <a:latin typeface="Consolas"/>
              </a:rPr>
              <a:t> Game {</a:t>
            </a:r>
          </a:p>
          <a:p>
            <a:r>
              <a:rPr lang="en-US" b="1" dirty="0">
                <a:solidFill>
                  <a:srgbClr val="7F0055"/>
                </a:solidFill>
                <a:latin typeface="Consolas"/>
              </a:rPr>
              <a:t>  public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type() {</a:t>
            </a:r>
          </a:p>
          <a:p>
            <a:pPr lvl="1"/>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"Mix game"</a:t>
            </a:r>
            <a:r>
              <a:rPr lang="en-US" b="1" i="1" dirty="0">
                <a:solidFill>
                  <a:srgbClr val="000000"/>
                </a:solidFill>
                <a:latin typeface="Consolas"/>
              </a:rPr>
              <a:t>);</a:t>
            </a:r>
          </a:p>
          <a:p>
            <a:r>
              <a:rPr lang="en-US" dirty="0">
                <a:solidFill>
                  <a:srgbClr val="000000"/>
                </a:solidFill>
                <a:latin typeface="Consolas"/>
              </a:rPr>
              <a:t>  }</a:t>
            </a:r>
          </a:p>
          <a:p>
            <a:r>
              <a:rPr lang="en-US" dirty="0">
                <a:solidFill>
                  <a:srgbClr val="000000"/>
                </a:solidFill>
                <a:latin typeface="Consolas"/>
              </a:rPr>
              <a:t>}</a:t>
            </a:r>
            <a:endParaRPr lang="en-US" dirty="0"/>
          </a:p>
        </p:txBody>
      </p:sp>
      <p:sp>
        <p:nvSpPr>
          <p:cNvPr id="4" name="Rectangle 3">
            <a:extLst>
              <a:ext uri="{FF2B5EF4-FFF2-40B4-BE49-F238E27FC236}">
                <a16:creationId xmlns:a16="http://schemas.microsoft.com/office/drawing/2014/main" id="{1EA4CB2D-59A1-7F87-8690-C5894CA8E394}"/>
              </a:ext>
            </a:extLst>
          </p:cNvPr>
          <p:cNvSpPr/>
          <p:nvPr/>
        </p:nvSpPr>
        <p:spPr>
          <a:xfrm>
            <a:off x="5791200" y="812800"/>
            <a:ext cx="6210300" cy="5632311"/>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MyProg</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2"/>
            <a:r>
              <a:rPr lang="en-US" dirty="0">
                <a:solidFill>
                  <a:srgbClr val="000000"/>
                </a:solidFill>
                <a:latin typeface="Consolas"/>
              </a:rPr>
              <a:t>Game g</a:t>
            </a:r>
            <a:r>
              <a:rPr lang="en-US">
                <a:solidFill>
                  <a:srgbClr val="000000"/>
                </a:solidFill>
                <a:latin typeface="Consolas"/>
              </a:rPr>
              <a:t>= </a:t>
            </a:r>
            <a:r>
              <a:rPr lang="en-US" b="1">
                <a:solidFill>
                  <a:srgbClr val="7F0055"/>
                </a:solidFill>
                <a:latin typeface="Consolas"/>
              </a:rPr>
              <a:t>new </a:t>
            </a:r>
            <a:r>
              <a:rPr lang="en-US" b="1">
                <a:solidFill>
                  <a:srgbClr val="000000"/>
                </a:solidFill>
                <a:latin typeface="Consolas"/>
              </a:rPr>
              <a:t>Game</a:t>
            </a:r>
            <a:r>
              <a:rPr lang="en-US" b="1" dirty="0">
                <a:solidFill>
                  <a:srgbClr val="000000"/>
                </a:solidFill>
                <a:latin typeface="Consolas"/>
              </a:rPr>
              <a:t>();</a:t>
            </a:r>
          </a:p>
          <a:p>
            <a:pPr lvl="2"/>
            <a:r>
              <a:rPr lang="en-US" dirty="0">
                <a:solidFill>
                  <a:srgbClr val="000000"/>
                </a:solidFill>
                <a:latin typeface="Consolas"/>
              </a:rPr>
              <a:t>Cricket </a:t>
            </a:r>
            <a:r>
              <a:rPr lang="en-US" dirty="0">
                <a:solidFill>
                  <a:srgbClr val="6A3E3E"/>
                </a:solidFill>
                <a:latin typeface="Consolas"/>
              </a:rPr>
              <a:t>c</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Cricket();</a:t>
            </a:r>
          </a:p>
          <a:p>
            <a:pPr lvl="2"/>
            <a:r>
              <a:rPr lang="en-US" dirty="0">
                <a:solidFill>
                  <a:srgbClr val="000000"/>
                </a:solidFill>
                <a:latin typeface="Consolas"/>
              </a:rPr>
              <a:t>Badminton </a:t>
            </a:r>
            <a:r>
              <a:rPr lang="en-US" dirty="0">
                <a:solidFill>
                  <a:srgbClr val="6A3E3E"/>
                </a:solidFill>
                <a:latin typeface="Consolas"/>
              </a:rPr>
              <a:t>b</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Badminton();</a:t>
            </a:r>
          </a:p>
          <a:p>
            <a:pPr lvl="2"/>
            <a:r>
              <a:rPr lang="en-US" dirty="0">
                <a:solidFill>
                  <a:srgbClr val="000000"/>
                </a:solidFill>
                <a:latin typeface="Consolas"/>
              </a:rPr>
              <a:t>Tennis </a:t>
            </a:r>
            <a:r>
              <a:rPr lang="en-US" dirty="0">
                <a:solidFill>
                  <a:srgbClr val="6A3E3E"/>
                </a:solidFill>
                <a:latin typeface="Consolas"/>
              </a:rPr>
              <a:t>t</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Tennis();</a:t>
            </a:r>
          </a:p>
          <a:p>
            <a:pPr lvl="2"/>
            <a:r>
              <a:rPr lang="en-US" dirty="0">
                <a:solidFill>
                  <a:srgbClr val="000000"/>
                </a:solidFill>
                <a:latin typeface="Consolas"/>
              </a:rPr>
              <a:t>Scanner </a:t>
            </a:r>
            <a:r>
              <a:rPr lang="en-US" dirty="0">
                <a:solidFill>
                  <a:srgbClr val="6A3E3E"/>
                </a:solidFill>
                <a:latin typeface="Consolas"/>
              </a:rPr>
              <a:t>s</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Scanner(</a:t>
            </a:r>
            <a:r>
              <a:rPr lang="en-US" b="1" dirty="0" err="1">
                <a:solidFill>
                  <a:srgbClr val="000000"/>
                </a:solidFill>
                <a:latin typeface="Consolas"/>
              </a:rPr>
              <a:t>System.</a:t>
            </a:r>
            <a:r>
              <a:rPr lang="en-US" b="1" i="1" dirty="0" err="1">
                <a:solidFill>
                  <a:srgbClr val="0000C0"/>
                </a:solidFill>
                <a:latin typeface="Consolas"/>
              </a:rPr>
              <a:t>in</a:t>
            </a:r>
            <a:r>
              <a:rPr lang="en-US" b="1" i="1" dirty="0">
                <a:solidFill>
                  <a:srgbClr val="000000"/>
                </a:solidFill>
                <a:latin typeface="Consolas"/>
              </a:rPr>
              <a:t>);</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a:t>
            </a:r>
            <a:r>
              <a:rPr lang="en-US" b="1" i="1" dirty="0">
                <a:solidFill>
                  <a:srgbClr val="000000"/>
                </a:solidFill>
                <a:latin typeface="Consolas"/>
              </a:rPr>
              <a:t>(</a:t>
            </a:r>
            <a:r>
              <a:rPr lang="en-US" b="1" i="1" dirty="0">
                <a:solidFill>
                  <a:srgbClr val="2A00FF"/>
                </a:solidFill>
                <a:latin typeface="Consolas"/>
              </a:rPr>
              <a:t>"Please Enter name \n</a:t>
            </a:r>
          </a:p>
          <a:p>
            <a:pPr lvl="2"/>
            <a:r>
              <a:rPr lang="en-US" b="1" i="1" dirty="0">
                <a:solidFill>
                  <a:srgbClr val="2A00FF"/>
                </a:solidFill>
                <a:latin typeface="Consolas"/>
              </a:rPr>
              <a:t>			of the game = "</a:t>
            </a:r>
            <a:r>
              <a:rPr lang="en-US" b="1" i="1" dirty="0">
                <a:solidFill>
                  <a:srgbClr val="000000"/>
                </a:solidFill>
                <a:latin typeface="Consolas"/>
              </a:rPr>
              <a:t>);</a:t>
            </a:r>
          </a:p>
          <a:p>
            <a:pPr lvl="2"/>
            <a:r>
              <a:rPr lang="en-US" dirty="0">
                <a:solidFill>
                  <a:srgbClr val="000000"/>
                </a:solidFill>
                <a:latin typeface="Consolas"/>
              </a:rPr>
              <a:t>String </a:t>
            </a:r>
            <a:r>
              <a:rPr lang="en-US" dirty="0">
                <a:solidFill>
                  <a:srgbClr val="6A3E3E"/>
                </a:solidFill>
                <a:latin typeface="Consolas"/>
              </a:rPr>
              <a:t>op</a:t>
            </a:r>
            <a:r>
              <a:rPr lang="en-US" dirty="0">
                <a:solidFill>
                  <a:srgbClr val="000000"/>
                </a:solidFill>
                <a:latin typeface="Consolas"/>
              </a:rPr>
              <a:t> = </a:t>
            </a:r>
            <a:r>
              <a:rPr lang="en-US" dirty="0" err="1">
                <a:solidFill>
                  <a:srgbClr val="6A3E3E"/>
                </a:solidFill>
                <a:latin typeface="Consolas"/>
              </a:rPr>
              <a:t>s</a:t>
            </a:r>
            <a:r>
              <a:rPr lang="en-US" dirty="0" err="1">
                <a:solidFill>
                  <a:srgbClr val="000000"/>
                </a:solidFill>
                <a:latin typeface="Consolas"/>
              </a:rPr>
              <a:t>.nextLine</a:t>
            </a:r>
            <a:r>
              <a:rPr lang="en-US" dirty="0">
                <a:solidFill>
                  <a:srgbClr val="000000"/>
                </a:solidFill>
                <a:latin typeface="Consolas"/>
              </a:rPr>
              <a:t>();</a:t>
            </a:r>
          </a:p>
          <a:p>
            <a:pPr lvl="2"/>
            <a:r>
              <a:rPr lang="en-US" b="1" dirty="0">
                <a:solidFill>
                  <a:srgbClr val="7F0055"/>
                </a:solidFill>
                <a:latin typeface="Consolas"/>
              </a:rPr>
              <a:t>if</a:t>
            </a:r>
            <a:r>
              <a:rPr lang="en-US" b="1" dirty="0">
                <a:solidFill>
                  <a:srgbClr val="000000"/>
                </a:solidFill>
                <a:latin typeface="Consolas"/>
              </a:rPr>
              <a:t> (</a:t>
            </a:r>
            <a:r>
              <a:rPr lang="en-US" b="1" dirty="0" err="1">
                <a:solidFill>
                  <a:srgbClr val="6A3E3E"/>
                </a:solidFill>
                <a:latin typeface="Consolas"/>
              </a:rPr>
              <a:t>op</a:t>
            </a:r>
            <a:r>
              <a:rPr lang="en-US" b="1" dirty="0" err="1">
                <a:solidFill>
                  <a:srgbClr val="000000"/>
                </a:solidFill>
                <a:latin typeface="Consolas"/>
              </a:rPr>
              <a:t>.equals</a:t>
            </a:r>
            <a:r>
              <a:rPr lang="en-US" b="1" dirty="0">
                <a:solidFill>
                  <a:srgbClr val="000000"/>
                </a:solidFill>
                <a:latin typeface="Consolas"/>
              </a:rPr>
              <a:t>(</a:t>
            </a:r>
            <a:r>
              <a:rPr lang="en-US" b="1" dirty="0">
                <a:solidFill>
                  <a:srgbClr val="2A00FF"/>
                </a:solidFill>
                <a:latin typeface="Consolas"/>
              </a:rPr>
              <a:t>"cricket"</a:t>
            </a:r>
            <a:r>
              <a:rPr lang="en-US" b="1" dirty="0">
                <a:solidFill>
                  <a:srgbClr val="000000"/>
                </a:solidFill>
                <a:latin typeface="Consolas"/>
              </a:rPr>
              <a:t>)) {</a:t>
            </a:r>
          </a:p>
          <a:p>
            <a:pPr lvl="2"/>
            <a:r>
              <a:rPr lang="en-US" dirty="0">
                <a:solidFill>
                  <a:srgbClr val="6A3E3E"/>
                </a:solidFill>
                <a:latin typeface="Consolas"/>
              </a:rPr>
              <a:t>	g</a:t>
            </a:r>
            <a:r>
              <a:rPr lang="en-US" dirty="0">
                <a:solidFill>
                  <a:srgbClr val="000000"/>
                </a:solidFill>
                <a:latin typeface="Consolas"/>
              </a:rPr>
              <a:t> = </a:t>
            </a:r>
            <a:r>
              <a:rPr lang="en-US" dirty="0">
                <a:solidFill>
                  <a:srgbClr val="6A3E3E"/>
                </a:solidFill>
                <a:latin typeface="Consolas"/>
              </a:rPr>
              <a:t>c</a:t>
            </a:r>
            <a:r>
              <a:rPr lang="en-US" dirty="0">
                <a:solidFill>
                  <a:srgbClr val="000000"/>
                </a:solidFill>
                <a:latin typeface="Consolas"/>
              </a:rPr>
              <a:t>;</a:t>
            </a:r>
          </a:p>
          <a:p>
            <a:pPr lvl="2"/>
            <a:r>
              <a:rPr lang="en-US" dirty="0">
                <a:solidFill>
                  <a:srgbClr val="000000"/>
                </a:solidFill>
                <a:latin typeface="Consolas"/>
              </a:rPr>
              <a:t>} </a:t>
            </a:r>
            <a:r>
              <a:rPr lang="en-US" b="1" dirty="0">
                <a:solidFill>
                  <a:srgbClr val="7F0055"/>
                </a:solidFill>
                <a:latin typeface="Consolas"/>
              </a:rPr>
              <a:t>else</a:t>
            </a:r>
            <a:r>
              <a:rPr lang="en-US" b="1" dirty="0">
                <a:solidFill>
                  <a:srgbClr val="000000"/>
                </a:solidFill>
                <a:latin typeface="Consolas"/>
              </a:rPr>
              <a:t> </a:t>
            </a:r>
            <a:r>
              <a:rPr lang="en-US" b="1" dirty="0">
                <a:solidFill>
                  <a:srgbClr val="7F0055"/>
                </a:solidFill>
                <a:latin typeface="Consolas"/>
              </a:rPr>
              <a:t>if</a:t>
            </a:r>
            <a:r>
              <a:rPr lang="en-US" b="1" dirty="0">
                <a:solidFill>
                  <a:srgbClr val="000000"/>
                </a:solidFill>
                <a:latin typeface="Consolas"/>
              </a:rPr>
              <a:t> (</a:t>
            </a:r>
            <a:r>
              <a:rPr lang="en-US" b="1" dirty="0" err="1">
                <a:solidFill>
                  <a:srgbClr val="6A3E3E"/>
                </a:solidFill>
                <a:latin typeface="Consolas"/>
              </a:rPr>
              <a:t>op</a:t>
            </a:r>
            <a:r>
              <a:rPr lang="en-US" b="1" dirty="0" err="1">
                <a:solidFill>
                  <a:srgbClr val="000000"/>
                </a:solidFill>
                <a:latin typeface="Consolas"/>
              </a:rPr>
              <a:t>.equals</a:t>
            </a:r>
            <a:r>
              <a:rPr lang="en-US" b="1" dirty="0">
                <a:solidFill>
                  <a:srgbClr val="000000"/>
                </a:solidFill>
                <a:latin typeface="Consolas"/>
              </a:rPr>
              <a:t>(</a:t>
            </a:r>
            <a:r>
              <a:rPr lang="en-US" b="1" dirty="0">
                <a:solidFill>
                  <a:srgbClr val="2A00FF"/>
                </a:solidFill>
                <a:latin typeface="Consolas"/>
              </a:rPr>
              <a:t>"badminton"</a:t>
            </a:r>
            <a:r>
              <a:rPr lang="en-US" b="1" dirty="0">
                <a:solidFill>
                  <a:srgbClr val="000000"/>
                </a:solidFill>
                <a:latin typeface="Consolas"/>
              </a:rPr>
              <a:t>)) {</a:t>
            </a:r>
          </a:p>
          <a:p>
            <a:pPr lvl="2"/>
            <a:r>
              <a:rPr lang="en-US" dirty="0">
                <a:solidFill>
                  <a:srgbClr val="6A3E3E"/>
                </a:solidFill>
                <a:latin typeface="Consolas"/>
              </a:rPr>
              <a:t>	g</a:t>
            </a:r>
            <a:r>
              <a:rPr lang="en-US" dirty="0">
                <a:solidFill>
                  <a:srgbClr val="000000"/>
                </a:solidFill>
                <a:latin typeface="Consolas"/>
              </a:rPr>
              <a:t> = </a:t>
            </a:r>
            <a:r>
              <a:rPr lang="en-US" dirty="0">
                <a:solidFill>
                  <a:srgbClr val="6A3E3E"/>
                </a:solidFill>
                <a:latin typeface="Consolas"/>
              </a:rPr>
              <a:t>b</a:t>
            </a:r>
            <a:r>
              <a:rPr lang="en-US" dirty="0">
                <a:solidFill>
                  <a:srgbClr val="000000"/>
                </a:solidFill>
                <a:latin typeface="Consolas"/>
              </a:rPr>
              <a:t>;</a:t>
            </a:r>
          </a:p>
          <a:p>
            <a:pPr lvl="2"/>
            <a:r>
              <a:rPr lang="en-US" dirty="0">
                <a:solidFill>
                  <a:srgbClr val="000000"/>
                </a:solidFill>
                <a:latin typeface="Consolas"/>
              </a:rPr>
              <a:t>} </a:t>
            </a:r>
            <a:r>
              <a:rPr lang="en-US" b="1" dirty="0">
                <a:solidFill>
                  <a:srgbClr val="7F0055"/>
                </a:solidFill>
                <a:latin typeface="Consolas"/>
              </a:rPr>
              <a:t>else</a:t>
            </a:r>
            <a:r>
              <a:rPr lang="en-US" b="1" dirty="0">
                <a:solidFill>
                  <a:srgbClr val="000000"/>
                </a:solidFill>
                <a:latin typeface="Consolas"/>
              </a:rPr>
              <a:t> </a:t>
            </a:r>
            <a:r>
              <a:rPr lang="en-US" b="1" dirty="0">
                <a:solidFill>
                  <a:srgbClr val="7F0055"/>
                </a:solidFill>
                <a:latin typeface="Consolas"/>
              </a:rPr>
              <a:t>if</a:t>
            </a:r>
            <a:r>
              <a:rPr lang="en-US" b="1" dirty="0">
                <a:solidFill>
                  <a:srgbClr val="000000"/>
                </a:solidFill>
                <a:latin typeface="Consolas"/>
              </a:rPr>
              <a:t> (</a:t>
            </a:r>
            <a:r>
              <a:rPr lang="en-US" b="1" dirty="0" err="1">
                <a:solidFill>
                  <a:srgbClr val="6A3E3E"/>
                </a:solidFill>
                <a:latin typeface="Consolas"/>
              </a:rPr>
              <a:t>op</a:t>
            </a:r>
            <a:r>
              <a:rPr lang="en-US" b="1" dirty="0" err="1">
                <a:solidFill>
                  <a:srgbClr val="000000"/>
                </a:solidFill>
                <a:latin typeface="Consolas"/>
              </a:rPr>
              <a:t>.equals</a:t>
            </a:r>
            <a:r>
              <a:rPr lang="en-US" b="1" dirty="0">
                <a:solidFill>
                  <a:srgbClr val="000000"/>
                </a:solidFill>
                <a:latin typeface="Consolas"/>
              </a:rPr>
              <a:t>(</a:t>
            </a:r>
            <a:r>
              <a:rPr lang="en-US" b="1" dirty="0">
                <a:solidFill>
                  <a:srgbClr val="2A00FF"/>
                </a:solidFill>
                <a:latin typeface="Consolas"/>
              </a:rPr>
              <a:t>"tennis"</a:t>
            </a:r>
            <a:r>
              <a:rPr lang="en-US" b="1" dirty="0">
                <a:solidFill>
                  <a:srgbClr val="000000"/>
                </a:solidFill>
                <a:latin typeface="Consolas"/>
              </a:rPr>
              <a:t>)) {</a:t>
            </a:r>
          </a:p>
          <a:p>
            <a:pPr lvl="2"/>
            <a:r>
              <a:rPr lang="en-US" dirty="0">
                <a:solidFill>
                  <a:srgbClr val="6A3E3E"/>
                </a:solidFill>
                <a:latin typeface="Consolas"/>
              </a:rPr>
              <a:t>	g</a:t>
            </a:r>
            <a:r>
              <a:rPr lang="en-US" dirty="0">
                <a:solidFill>
                  <a:srgbClr val="000000"/>
                </a:solidFill>
                <a:latin typeface="Consolas"/>
              </a:rPr>
              <a:t> = </a:t>
            </a:r>
            <a:r>
              <a:rPr lang="en-US" dirty="0">
                <a:solidFill>
                  <a:srgbClr val="6A3E3E"/>
                </a:solidFill>
                <a:latin typeface="Consolas"/>
              </a:rPr>
              <a:t>t</a:t>
            </a:r>
            <a:r>
              <a:rPr lang="en-US" dirty="0">
                <a:solidFill>
                  <a:srgbClr val="000000"/>
                </a:solidFill>
                <a:latin typeface="Consolas"/>
              </a:rPr>
              <a:t>;</a:t>
            </a:r>
          </a:p>
          <a:p>
            <a:pPr lvl="2"/>
            <a:r>
              <a:rPr lang="en-US" dirty="0">
                <a:solidFill>
                  <a:srgbClr val="000000"/>
                </a:solidFill>
                <a:latin typeface="Consolas"/>
              </a:rPr>
              <a:t>}</a:t>
            </a:r>
          </a:p>
          <a:p>
            <a:pPr lvl="2"/>
            <a:r>
              <a:rPr lang="en-US" dirty="0" err="1">
                <a:solidFill>
                  <a:srgbClr val="6A3E3E"/>
                </a:solidFill>
                <a:latin typeface="Consolas"/>
              </a:rPr>
              <a:t>g</a:t>
            </a:r>
            <a:r>
              <a:rPr lang="en-US" dirty="0" err="1">
                <a:solidFill>
                  <a:srgbClr val="000000"/>
                </a:solidFill>
                <a:latin typeface="Consolas"/>
              </a:rPr>
              <a:t>.type</a:t>
            </a:r>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spTree>
    <p:extLst>
      <p:ext uri="{BB962C8B-B14F-4D97-AF65-F5344CB8AC3E}">
        <p14:creationId xmlns:p14="http://schemas.microsoft.com/office/powerpoint/2010/main" val="586435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bg/>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4" animBg="1"/>
      <p:bldP spid="4" grpId="0" uiExpand="1" build="p" bldLvl="4"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55690-C219-DFD5-AC23-C1B26CC9A2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D0A01-037D-5E17-F2FE-573AFB82A586}"/>
              </a:ext>
            </a:extLst>
          </p:cNvPr>
          <p:cNvSpPr>
            <a:spLocks noGrp="1"/>
          </p:cNvSpPr>
          <p:nvPr>
            <p:ph type="title"/>
          </p:nvPr>
        </p:nvSpPr>
        <p:spPr>
          <a:xfrm>
            <a:off x="0" y="1"/>
            <a:ext cx="12192000" cy="711200"/>
          </a:xfrm>
        </p:spPr>
        <p:txBody>
          <a:bodyPr/>
          <a:lstStyle/>
          <a:p>
            <a:r>
              <a:rPr lang="en-US" dirty="0"/>
              <a:t>Upcasting and </a:t>
            </a:r>
            <a:r>
              <a:rPr lang="en-US" dirty="0" err="1"/>
              <a:t>Downcasting</a:t>
            </a:r>
            <a:endParaRPr lang="en-US" dirty="0"/>
          </a:p>
        </p:txBody>
      </p:sp>
      <p:sp>
        <p:nvSpPr>
          <p:cNvPr id="3" name="Content Placeholder 2">
            <a:extLst>
              <a:ext uri="{FF2B5EF4-FFF2-40B4-BE49-F238E27FC236}">
                <a16:creationId xmlns:a16="http://schemas.microsoft.com/office/drawing/2014/main" id="{05096D6B-EC42-883A-A9FA-0987691EFB83}"/>
              </a:ext>
            </a:extLst>
          </p:cNvPr>
          <p:cNvSpPr>
            <a:spLocks noGrp="1"/>
          </p:cNvSpPr>
          <p:nvPr>
            <p:ph idx="1"/>
          </p:nvPr>
        </p:nvSpPr>
        <p:spPr>
          <a:xfrm>
            <a:off x="0" y="711201"/>
            <a:ext cx="11929641" cy="4032249"/>
          </a:xfrm>
        </p:spPr>
        <p:txBody>
          <a:bodyPr/>
          <a:lstStyle/>
          <a:p>
            <a:r>
              <a:rPr lang="en-US" dirty="0"/>
              <a:t>In Java, the object can also be typecasted like the datatypes. Parent and Child objects are two types of objects. So, there are two types of typecasting possible for an object, i.e., Parent to Child and Child to Parent</a:t>
            </a:r>
          </a:p>
          <a:p>
            <a:endParaRPr lang="en-US" dirty="0"/>
          </a:p>
        </p:txBody>
      </p:sp>
      <p:sp>
        <p:nvSpPr>
          <p:cNvPr id="4" name="Rectangle 3">
            <a:extLst>
              <a:ext uri="{FF2B5EF4-FFF2-40B4-BE49-F238E27FC236}">
                <a16:creationId xmlns:a16="http://schemas.microsoft.com/office/drawing/2014/main" id="{AFDBD244-2F80-EE08-8ABC-399921651F00}"/>
              </a:ext>
            </a:extLst>
          </p:cNvPr>
          <p:cNvSpPr/>
          <p:nvPr/>
        </p:nvSpPr>
        <p:spPr>
          <a:xfrm>
            <a:off x="349250" y="3386726"/>
            <a:ext cx="114935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2787F5-87E6-21D7-3C0B-2E4D58E30365}"/>
              </a:ext>
            </a:extLst>
          </p:cNvPr>
          <p:cNvSpPr/>
          <p:nvPr/>
        </p:nvSpPr>
        <p:spPr>
          <a:xfrm>
            <a:off x="349250" y="3767726"/>
            <a:ext cx="11493500" cy="381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Upcasting and Downcasting in Java">
            <a:extLst>
              <a:ext uri="{FF2B5EF4-FFF2-40B4-BE49-F238E27FC236}">
                <a16:creationId xmlns:a16="http://schemas.microsoft.com/office/drawing/2014/main" id="{DE11D01F-6011-A03F-E299-038EFA0B31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359" y="1685924"/>
            <a:ext cx="4762500" cy="27622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Upcasting and Downcasting in Java">
            <a:extLst>
              <a:ext uri="{FF2B5EF4-FFF2-40B4-BE49-F238E27FC236}">
                <a16:creationId xmlns:a16="http://schemas.microsoft.com/office/drawing/2014/main" id="{5CC72878-02D2-F80D-1880-B27CD9D1F0E9}"/>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500141" y="1257094"/>
            <a:ext cx="6148809" cy="5124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366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E36CC-3E26-41EB-A298-05EE281C4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A09C8-67A6-190B-81F8-687FC306EC94}"/>
              </a:ext>
            </a:extLst>
          </p:cNvPr>
          <p:cNvSpPr>
            <a:spLocks noGrp="1"/>
          </p:cNvSpPr>
          <p:nvPr>
            <p:ph type="title"/>
          </p:nvPr>
        </p:nvSpPr>
        <p:spPr>
          <a:xfrm>
            <a:off x="0" y="1"/>
            <a:ext cx="12192000" cy="711200"/>
          </a:xfrm>
        </p:spPr>
        <p:txBody>
          <a:bodyPr/>
          <a:lstStyle/>
          <a:p>
            <a:r>
              <a:rPr lang="en-US" dirty="0"/>
              <a:t>Dynamic Method Dispatch (Example)</a:t>
            </a:r>
          </a:p>
        </p:txBody>
      </p:sp>
      <p:sp>
        <p:nvSpPr>
          <p:cNvPr id="3" name="Rectangle 2">
            <a:extLst>
              <a:ext uri="{FF2B5EF4-FFF2-40B4-BE49-F238E27FC236}">
                <a16:creationId xmlns:a16="http://schemas.microsoft.com/office/drawing/2014/main" id="{0AD5C08B-516C-1EEE-BC6E-1145613AC9D0}"/>
              </a:ext>
            </a:extLst>
          </p:cNvPr>
          <p:cNvSpPr/>
          <p:nvPr/>
        </p:nvSpPr>
        <p:spPr>
          <a:xfrm>
            <a:off x="127000" y="717726"/>
            <a:ext cx="5562600" cy="5909310"/>
          </a:xfrm>
          <a:prstGeom prst="rect">
            <a:avLst/>
          </a:prstGeom>
          <a:ln w="19050">
            <a:solidFill>
              <a:schemeClr val="accent1"/>
            </a:solidFill>
            <a:prstDash val="dash"/>
          </a:ln>
        </p:spPr>
        <p:txBody>
          <a:bodyPr wrap="square">
            <a:spAutoFit/>
          </a:bodyPr>
          <a:lstStyle/>
          <a:p>
            <a:r>
              <a:rPr lang="en-US" dirty="0">
                <a:solidFill>
                  <a:srgbClr val="000000"/>
                </a:solidFill>
                <a:latin typeface="Consolas"/>
              </a:rPr>
              <a:t>class  Parent{  </a:t>
            </a:r>
          </a:p>
          <a:p>
            <a:r>
              <a:rPr lang="en-US" dirty="0">
                <a:solidFill>
                  <a:srgbClr val="000000"/>
                </a:solidFill>
                <a:latin typeface="Consolas"/>
              </a:rPr>
              <a:t>   void </a:t>
            </a:r>
            <a:r>
              <a:rPr lang="en-US" dirty="0" err="1">
                <a:solidFill>
                  <a:srgbClr val="000000"/>
                </a:solidFill>
                <a:latin typeface="Consolas"/>
              </a:rPr>
              <a:t>PrintData</a:t>
            </a:r>
            <a:r>
              <a:rPr lang="en-US" dirty="0">
                <a:solidFill>
                  <a:srgbClr val="000000"/>
                </a:solidFill>
                <a:latin typeface="Consolas"/>
              </a:rPr>
              <a:t>() {  </a:t>
            </a:r>
          </a:p>
          <a:p>
            <a:r>
              <a:rPr lang="en-US" dirty="0">
                <a:solidFill>
                  <a:srgbClr val="000000"/>
                </a:solidFill>
                <a:latin typeface="Consolas"/>
              </a:rPr>
              <a:t>      </a:t>
            </a:r>
            <a:r>
              <a:rPr lang="en-US" dirty="0" err="1">
                <a:solidFill>
                  <a:srgbClr val="000000"/>
                </a:solidFill>
                <a:latin typeface="Consolas"/>
              </a:rPr>
              <a:t>System.out.println</a:t>
            </a:r>
            <a:r>
              <a:rPr lang="en-US" dirty="0">
                <a:solidFill>
                  <a:srgbClr val="000000"/>
                </a:solidFill>
                <a:latin typeface="Consolas"/>
              </a:rPr>
              <a:t>("method of parent class");  </a:t>
            </a:r>
          </a:p>
          <a:p>
            <a:r>
              <a:rPr lang="en-US" dirty="0">
                <a:solidFill>
                  <a:srgbClr val="000000"/>
                </a:solidFill>
                <a:latin typeface="Consolas"/>
              </a:rPr>
              <a:t>   }  </a:t>
            </a:r>
          </a:p>
          <a:p>
            <a:r>
              <a:rPr lang="en-US" dirty="0">
                <a:solidFill>
                  <a:srgbClr val="000000"/>
                </a:solidFill>
                <a:latin typeface="Consolas"/>
              </a:rPr>
              <a:t>}    </a:t>
            </a:r>
          </a:p>
          <a:p>
            <a:r>
              <a:rPr lang="en-US" dirty="0">
                <a:solidFill>
                  <a:srgbClr val="000000"/>
                </a:solidFill>
                <a:latin typeface="Consolas"/>
              </a:rPr>
              <a:t>class Child extends Parent {  </a:t>
            </a:r>
          </a:p>
          <a:p>
            <a:r>
              <a:rPr lang="en-US" dirty="0">
                <a:solidFill>
                  <a:srgbClr val="000000"/>
                </a:solidFill>
                <a:latin typeface="Consolas"/>
              </a:rPr>
              <a:t>   void </a:t>
            </a:r>
            <a:r>
              <a:rPr lang="en-US" dirty="0" err="1">
                <a:solidFill>
                  <a:srgbClr val="000000"/>
                </a:solidFill>
                <a:latin typeface="Consolas"/>
              </a:rPr>
              <a:t>PrintData</a:t>
            </a:r>
            <a:r>
              <a:rPr lang="en-US" dirty="0">
                <a:solidFill>
                  <a:srgbClr val="000000"/>
                </a:solidFill>
                <a:latin typeface="Consolas"/>
              </a:rPr>
              <a:t>() {  </a:t>
            </a:r>
          </a:p>
          <a:p>
            <a:r>
              <a:rPr lang="en-US" dirty="0">
                <a:solidFill>
                  <a:srgbClr val="000000"/>
                </a:solidFill>
                <a:latin typeface="Consolas"/>
              </a:rPr>
              <a:t>      </a:t>
            </a:r>
            <a:r>
              <a:rPr lang="en-US" dirty="0" err="1">
                <a:solidFill>
                  <a:srgbClr val="000000"/>
                </a:solidFill>
                <a:latin typeface="Consolas"/>
              </a:rPr>
              <a:t>System.out.println</a:t>
            </a:r>
            <a:r>
              <a:rPr lang="en-US" dirty="0">
                <a:solidFill>
                  <a:srgbClr val="000000"/>
                </a:solidFill>
                <a:latin typeface="Consolas"/>
              </a:rPr>
              <a:t>("method of child class");  </a:t>
            </a:r>
          </a:p>
          <a:p>
            <a:r>
              <a:rPr lang="en-US" dirty="0">
                <a:solidFill>
                  <a:srgbClr val="000000"/>
                </a:solidFill>
                <a:latin typeface="Consolas"/>
              </a:rPr>
              <a:t>   }  </a:t>
            </a:r>
          </a:p>
          <a:p>
            <a:r>
              <a:rPr lang="en-US" dirty="0">
                <a:solidFill>
                  <a:srgbClr val="000000"/>
                </a:solidFill>
                <a:latin typeface="Consolas"/>
              </a:rPr>
              <a:t>}  </a:t>
            </a:r>
          </a:p>
          <a:p>
            <a:r>
              <a:rPr lang="en-US" dirty="0">
                <a:solidFill>
                  <a:srgbClr val="000000"/>
                </a:solidFill>
                <a:latin typeface="Consolas"/>
              </a:rPr>
              <a:t>class </a:t>
            </a:r>
            <a:r>
              <a:rPr lang="en-US" dirty="0" err="1">
                <a:solidFill>
                  <a:srgbClr val="000000"/>
                </a:solidFill>
                <a:latin typeface="Consolas"/>
              </a:rPr>
              <a:t>UpcastingExample</a:t>
            </a:r>
            <a:r>
              <a:rPr lang="en-US" dirty="0">
                <a:solidFill>
                  <a:srgbClr val="000000"/>
                </a:solidFill>
                <a:latin typeface="Consolas"/>
              </a:rPr>
              <a:t>{  </a:t>
            </a:r>
          </a:p>
          <a:p>
            <a:r>
              <a:rPr lang="en-US" dirty="0">
                <a:solidFill>
                  <a:srgbClr val="000000"/>
                </a:solidFill>
                <a:latin typeface="Consolas"/>
              </a:rPr>
              <a:t>   public static void main(String </a:t>
            </a:r>
            <a:r>
              <a:rPr lang="en-US" dirty="0" err="1">
                <a:solidFill>
                  <a:srgbClr val="000000"/>
                </a:solidFill>
                <a:latin typeface="Consolas"/>
              </a:rPr>
              <a:t>args</a:t>
            </a:r>
            <a:r>
              <a:rPr lang="en-US" dirty="0">
                <a:solidFill>
                  <a:srgbClr val="000000"/>
                </a:solidFill>
                <a:latin typeface="Consolas"/>
              </a:rPr>
              <a:t>[]) {  </a:t>
            </a:r>
          </a:p>
          <a:p>
            <a:r>
              <a:rPr lang="en-US" dirty="0">
                <a:solidFill>
                  <a:srgbClr val="000000"/>
                </a:solidFill>
                <a:latin typeface="Consolas"/>
              </a:rPr>
              <a:t>        </a:t>
            </a:r>
          </a:p>
          <a:p>
            <a:r>
              <a:rPr lang="en-US" dirty="0">
                <a:solidFill>
                  <a:srgbClr val="000000"/>
                </a:solidFill>
                <a:latin typeface="Consolas"/>
              </a:rPr>
              <a:t>      Parent obj1 = (Parent) new Child();  </a:t>
            </a:r>
          </a:p>
          <a:p>
            <a:r>
              <a:rPr lang="en-US" dirty="0">
                <a:solidFill>
                  <a:srgbClr val="000000"/>
                </a:solidFill>
                <a:latin typeface="Consolas"/>
              </a:rPr>
              <a:t>      Parent obj2 = (Parent) new Child();   </a:t>
            </a:r>
          </a:p>
          <a:p>
            <a:r>
              <a:rPr lang="en-US" dirty="0">
                <a:solidFill>
                  <a:srgbClr val="000000"/>
                </a:solidFill>
                <a:latin typeface="Consolas"/>
              </a:rPr>
              <a:t>      obj1.PrintData();  </a:t>
            </a:r>
          </a:p>
          <a:p>
            <a:r>
              <a:rPr lang="en-US" dirty="0">
                <a:solidFill>
                  <a:srgbClr val="000000"/>
                </a:solidFill>
                <a:latin typeface="Consolas"/>
              </a:rPr>
              <a:t>      obj2.PrintData(); </a:t>
            </a:r>
          </a:p>
          <a:p>
            <a:r>
              <a:rPr lang="en-US" dirty="0">
                <a:solidFill>
                  <a:srgbClr val="000000"/>
                </a:solidFill>
                <a:latin typeface="Consolas"/>
              </a:rPr>
              <a:t>} } </a:t>
            </a:r>
            <a:endParaRPr lang="en-US" dirty="0"/>
          </a:p>
        </p:txBody>
      </p:sp>
      <p:sp>
        <p:nvSpPr>
          <p:cNvPr id="4" name="Rectangle 3">
            <a:extLst>
              <a:ext uri="{FF2B5EF4-FFF2-40B4-BE49-F238E27FC236}">
                <a16:creationId xmlns:a16="http://schemas.microsoft.com/office/drawing/2014/main" id="{B6815AC6-9749-15A1-6329-60DBE70772D7}"/>
              </a:ext>
            </a:extLst>
          </p:cNvPr>
          <p:cNvSpPr/>
          <p:nvPr/>
        </p:nvSpPr>
        <p:spPr>
          <a:xfrm>
            <a:off x="5791200" y="729115"/>
            <a:ext cx="6210300" cy="5909310"/>
          </a:xfrm>
          <a:prstGeom prst="rect">
            <a:avLst/>
          </a:prstGeom>
          <a:ln w="19050">
            <a:solidFill>
              <a:schemeClr val="accent1"/>
            </a:solidFill>
            <a:prstDash val="dash"/>
          </a:ln>
        </p:spPr>
        <p:txBody>
          <a:bodyPr wrap="square">
            <a:spAutoFit/>
          </a:bodyPr>
          <a:lstStyle/>
          <a:p>
            <a:r>
              <a:rPr lang="en-US" dirty="0" smtClean="0"/>
              <a:t>class Parent {   </a:t>
            </a:r>
          </a:p>
          <a:p>
            <a:r>
              <a:rPr lang="en-US" dirty="0" smtClean="0"/>
              <a:t>    String name;   </a:t>
            </a:r>
          </a:p>
          <a:p>
            <a:r>
              <a:rPr lang="en-US" dirty="0" smtClean="0"/>
              <a:t>    void </a:t>
            </a:r>
            <a:r>
              <a:rPr lang="en-US" dirty="0" err="1" smtClean="0"/>
              <a:t>showMessage</a:t>
            </a:r>
            <a:r>
              <a:rPr lang="en-US" dirty="0" smtClean="0"/>
              <a:t>()   </a:t>
            </a:r>
          </a:p>
          <a:p>
            <a:r>
              <a:rPr lang="en-US" dirty="0" smtClean="0"/>
              <a:t>    {   </a:t>
            </a:r>
          </a:p>
          <a:p>
            <a:r>
              <a:rPr lang="en-US" dirty="0" smtClean="0"/>
              <a:t>        </a:t>
            </a:r>
            <a:r>
              <a:rPr lang="en-US" dirty="0" err="1" smtClean="0"/>
              <a:t>System.out.println</a:t>
            </a:r>
            <a:r>
              <a:rPr lang="en-US" dirty="0" smtClean="0"/>
              <a:t>("Parent method is called");   </a:t>
            </a:r>
          </a:p>
          <a:p>
            <a:r>
              <a:rPr lang="en-US" dirty="0" smtClean="0"/>
              <a:t>    }   }  </a:t>
            </a:r>
          </a:p>
          <a:p>
            <a:r>
              <a:rPr lang="en-US" dirty="0" smtClean="0"/>
              <a:t>class Child extends Parent {   </a:t>
            </a:r>
          </a:p>
          <a:p>
            <a:r>
              <a:rPr lang="en-US" dirty="0" smtClean="0"/>
              <a:t>    </a:t>
            </a:r>
            <a:r>
              <a:rPr lang="en-US" dirty="0" err="1" smtClean="0"/>
              <a:t>int</a:t>
            </a:r>
            <a:r>
              <a:rPr lang="en-US" dirty="0" smtClean="0"/>
              <a:t> age;   </a:t>
            </a:r>
          </a:p>
          <a:p>
            <a:r>
              <a:rPr lang="en-US" dirty="0" smtClean="0"/>
              <a:t>   void </a:t>
            </a:r>
            <a:r>
              <a:rPr lang="en-US" dirty="0" err="1" smtClean="0"/>
              <a:t>showMessage</a:t>
            </a:r>
            <a:r>
              <a:rPr lang="en-US" dirty="0" smtClean="0"/>
              <a:t>()   </a:t>
            </a:r>
          </a:p>
          <a:p>
            <a:r>
              <a:rPr lang="en-US" dirty="0" smtClean="0"/>
              <a:t>    {   </a:t>
            </a:r>
          </a:p>
          <a:p>
            <a:r>
              <a:rPr lang="en-US" dirty="0" smtClean="0"/>
              <a:t>        </a:t>
            </a:r>
            <a:r>
              <a:rPr lang="en-US" dirty="0" err="1" smtClean="0"/>
              <a:t>System.out.println</a:t>
            </a:r>
            <a:r>
              <a:rPr lang="en-US" dirty="0" smtClean="0"/>
              <a:t>("Child method is called");   </a:t>
            </a:r>
          </a:p>
          <a:p>
            <a:r>
              <a:rPr lang="en-US" dirty="0" smtClean="0"/>
              <a:t>    }   }       </a:t>
            </a:r>
          </a:p>
          <a:p>
            <a:r>
              <a:rPr lang="en-US" dirty="0" smtClean="0"/>
              <a:t>public class </a:t>
            </a:r>
            <a:r>
              <a:rPr lang="en-US" dirty="0" err="1" smtClean="0"/>
              <a:t>Downcasting</a:t>
            </a:r>
            <a:r>
              <a:rPr lang="en-US" dirty="0" smtClean="0"/>
              <a:t>{      </a:t>
            </a:r>
          </a:p>
          <a:p>
            <a:r>
              <a:rPr lang="en-US" dirty="0" smtClean="0"/>
              <a:t>    public static void main(String[] </a:t>
            </a:r>
            <a:r>
              <a:rPr lang="en-US" dirty="0" err="1" smtClean="0"/>
              <a:t>args</a:t>
            </a:r>
            <a:r>
              <a:rPr lang="en-US" dirty="0" smtClean="0"/>
              <a:t>)   </a:t>
            </a:r>
          </a:p>
          <a:p>
            <a:r>
              <a:rPr lang="en-US" dirty="0" smtClean="0"/>
              <a:t>    {   Parent p = new Child();  </a:t>
            </a:r>
          </a:p>
          <a:p>
            <a:r>
              <a:rPr lang="en-US" dirty="0" smtClean="0"/>
              <a:t>        p.name = "</a:t>
            </a:r>
            <a:r>
              <a:rPr lang="en-US" dirty="0" err="1" smtClean="0"/>
              <a:t>Shubham</a:t>
            </a:r>
            <a:r>
              <a:rPr lang="en-US" dirty="0" smtClean="0"/>
              <a:t>";            </a:t>
            </a:r>
          </a:p>
          <a:p>
            <a:r>
              <a:rPr lang="en-US" dirty="0" smtClean="0"/>
              <a:t>        Child c = (Child)p;      </a:t>
            </a:r>
          </a:p>
          <a:p>
            <a:r>
              <a:rPr lang="en-US" dirty="0" smtClean="0"/>
              <a:t>        </a:t>
            </a:r>
            <a:r>
              <a:rPr lang="en-US" dirty="0" err="1" smtClean="0"/>
              <a:t>c.age</a:t>
            </a:r>
            <a:r>
              <a:rPr lang="en-US" dirty="0" smtClean="0"/>
              <a:t> = 18;   </a:t>
            </a:r>
          </a:p>
          <a:p>
            <a:r>
              <a:rPr lang="en-US" dirty="0" smtClean="0"/>
              <a:t>        </a:t>
            </a:r>
            <a:r>
              <a:rPr lang="en-US" dirty="0" err="1" smtClean="0"/>
              <a:t>System.out.println</a:t>
            </a:r>
            <a:r>
              <a:rPr lang="en-US" dirty="0" smtClean="0"/>
              <a:t>(c.name);   </a:t>
            </a:r>
          </a:p>
          <a:p>
            <a:r>
              <a:rPr lang="en-US" dirty="0" smtClean="0"/>
              <a:t>        </a:t>
            </a:r>
            <a:r>
              <a:rPr lang="en-US" dirty="0" err="1" smtClean="0"/>
              <a:t>System.out.println</a:t>
            </a:r>
            <a:r>
              <a:rPr lang="en-US" dirty="0" smtClean="0"/>
              <a:t>(</a:t>
            </a:r>
            <a:r>
              <a:rPr lang="en-US" dirty="0" err="1" smtClean="0"/>
              <a:t>c.age</a:t>
            </a:r>
            <a:r>
              <a:rPr lang="en-US" dirty="0" smtClean="0"/>
              <a:t>);   </a:t>
            </a:r>
          </a:p>
          <a:p>
            <a:r>
              <a:rPr lang="en-US" dirty="0" smtClean="0"/>
              <a:t>        </a:t>
            </a:r>
            <a:r>
              <a:rPr lang="en-US" dirty="0" err="1" smtClean="0"/>
              <a:t>c.showMessage</a:t>
            </a:r>
            <a:r>
              <a:rPr lang="en-US" dirty="0" smtClean="0"/>
              <a:t>();    }    </a:t>
            </a:r>
            <a:endParaRPr lang="en-US" dirty="0"/>
          </a:p>
        </p:txBody>
      </p:sp>
    </p:spTree>
    <p:extLst>
      <p:ext uri="{BB962C8B-B14F-4D97-AF65-F5344CB8AC3E}">
        <p14:creationId xmlns:p14="http://schemas.microsoft.com/office/powerpoint/2010/main" val="412843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bg/>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4" animBg="1"/>
      <p:bldP spid="4" grpId="0" uiExpand="1" build="p" bldLvl="4"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32B4A-E1CB-E306-E3FE-87D61D8F7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857DCC-885C-38C8-67A3-533DDBD53678}"/>
              </a:ext>
            </a:extLst>
          </p:cNvPr>
          <p:cNvSpPr>
            <a:spLocks noGrp="1"/>
          </p:cNvSpPr>
          <p:nvPr>
            <p:ph type="title"/>
          </p:nvPr>
        </p:nvSpPr>
        <p:spPr>
          <a:xfrm>
            <a:off x="0" y="1"/>
            <a:ext cx="12192000" cy="711200"/>
          </a:xfrm>
        </p:spPr>
        <p:txBody>
          <a:bodyPr/>
          <a:lstStyle/>
          <a:p>
            <a:r>
              <a:rPr lang="en-US" dirty="0"/>
              <a:t>Practice Programs</a:t>
            </a:r>
          </a:p>
        </p:txBody>
      </p:sp>
      <p:sp>
        <p:nvSpPr>
          <p:cNvPr id="3" name="Content Placeholder 2">
            <a:extLst>
              <a:ext uri="{FF2B5EF4-FFF2-40B4-BE49-F238E27FC236}">
                <a16:creationId xmlns:a16="http://schemas.microsoft.com/office/drawing/2014/main" id="{EFA89B92-3A0F-B56F-921A-4669A409EA6B}"/>
              </a:ext>
            </a:extLst>
          </p:cNvPr>
          <p:cNvSpPr>
            <a:spLocks noGrp="1"/>
          </p:cNvSpPr>
          <p:nvPr>
            <p:ph idx="1"/>
          </p:nvPr>
        </p:nvSpPr>
        <p:spPr>
          <a:xfrm>
            <a:off x="131180" y="863444"/>
            <a:ext cx="11929641" cy="5590565"/>
          </a:xfrm>
        </p:spPr>
        <p:txBody>
          <a:bodyPr/>
          <a:lstStyle/>
          <a:p>
            <a:r>
              <a:rPr lang="en-US" dirty="0"/>
              <a:t>The abstract Vegetable class has three subclasses named Potato, </a:t>
            </a:r>
            <a:r>
              <a:rPr lang="en-US" dirty="0" err="1"/>
              <a:t>Brinjal</a:t>
            </a:r>
            <a:r>
              <a:rPr lang="en-US" dirty="0"/>
              <a:t> and Tomato. Write a java </a:t>
            </a:r>
            <a:r>
              <a:rPr lang="en-US" dirty="0" err="1"/>
              <a:t>prog</a:t>
            </a:r>
            <a:r>
              <a:rPr lang="en-US" dirty="0"/>
              <a:t>. That demonstrates how to establish this class hierarchy. Declare one instance variable of type String that indicates the color of a vegetable. Crete and display instances of these objects. Override the </a:t>
            </a:r>
            <a:r>
              <a:rPr lang="en-US" dirty="0" err="1"/>
              <a:t>toString</a:t>
            </a:r>
            <a:r>
              <a:rPr lang="en-US" dirty="0"/>
              <a:t>() method of object to return a string with the name of vegetable and its color. </a:t>
            </a:r>
          </a:p>
          <a:p>
            <a:r>
              <a:rPr lang="en-US" dirty="0"/>
              <a:t>Declare a class called Book having book title &amp; author name as members. Create a sub-class of it, called </a:t>
            </a:r>
            <a:r>
              <a:rPr lang="en-US" dirty="0" err="1"/>
              <a:t>BookDetails</a:t>
            </a:r>
            <a:r>
              <a:rPr lang="en-US" dirty="0"/>
              <a:t> having price &amp; current stock of book as members. Create an array for storing details of n books. Define methods to achieve following: </a:t>
            </a:r>
          </a:p>
          <a:p>
            <a:pPr marL="0" indent="0">
              <a:buNone/>
            </a:pPr>
            <a:r>
              <a:rPr lang="en-US" dirty="0"/>
              <a:t>	- Initialization of members </a:t>
            </a:r>
          </a:p>
          <a:p>
            <a:pPr marL="0" indent="0">
              <a:buNone/>
            </a:pPr>
            <a:r>
              <a:rPr lang="en-US" dirty="0"/>
              <a:t>	- To query availability of a book by author name / book title </a:t>
            </a:r>
          </a:p>
          <a:p>
            <a:pPr marL="0" indent="0">
              <a:buNone/>
            </a:pPr>
            <a:r>
              <a:rPr lang="en-US" dirty="0"/>
              <a:t>	- To update stock of a book on purchase and sell </a:t>
            </a:r>
          </a:p>
          <a:p>
            <a:pPr marL="0" indent="0">
              <a:buNone/>
            </a:pPr>
            <a:r>
              <a:rPr lang="en-US" dirty="0"/>
              <a:t>	- Define method main to show usage of above methods. </a:t>
            </a:r>
          </a:p>
          <a:p>
            <a:endParaRPr lang="en-US" dirty="0"/>
          </a:p>
        </p:txBody>
      </p:sp>
    </p:spTree>
    <p:extLst>
      <p:ext uri="{BB962C8B-B14F-4D97-AF65-F5344CB8AC3E}">
        <p14:creationId xmlns:p14="http://schemas.microsoft.com/office/powerpoint/2010/main" val="422635777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IN" dirty="0"/>
              <a:t>chirag.sakhrani@darshan.ac.in</a:t>
            </a:r>
            <a:endParaRPr lang="en-US" dirty="0"/>
          </a:p>
        </p:txBody>
      </p:sp>
      <p:sp>
        <p:nvSpPr>
          <p:cNvPr id="3" name="Text Placeholder 2"/>
          <p:cNvSpPr>
            <a:spLocks noGrp="1"/>
          </p:cNvSpPr>
          <p:nvPr>
            <p:ph type="body" sz="quarter" idx="12"/>
          </p:nvPr>
        </p:nvSpPr>
        <p:spPr/>
        <p:txBody>
          <a:bodyPr/>
          <a:lstStyle/>
          <a:p>
            <a:r>
              <a:rPr lang="en-IN" dirty="0"/>
              <a:t>8401191184</a:t>
            </a:r>
            <a:endParaRPr lang="en-US" dirty="0"/>
          </a:p>
        </p:txBody>
      </p:sp>
      <p:sp>
        <p:nvSpPr>
          <p:cNvPr id="4" name="Text Placeholder 3"/>
          <p:cNvSpPr>
            <a:spLocks noGrp="1"/>
          </p:cNvSpPr>
          <p:nvPr>
            <p:ph type="body" sz="quarter" idx="13"/>
          </p:nvPr>
        </p:nvSpPr>
        <p:spPr/>
        <p:txBody>
          <a:bodyPr/>
          <a:lstStyle/>
          <a:p>
            <a:r>
              <a:rPr lang="en-US" dirty="0"/>
              <a:t>Department of Computer Applications</a:t>
            </a:r>
          </a:p>
        </p:txBody>
      </p:sp>
      <p:sp>
        <p:nvSpPr>
          <p:cNvPr id="5" name="Text Placeholder 4"/>
          <p:cNvSpPr>
            <a:spLocks noGrp="1"/>
          </p:cNvSpPr>
          <p:nvPr>
            <p:ph type="body" sz="quarter" idx="14"/>
          </p:nvPr>
        </p:nvSpPr>
        <p:spPr/>
        <p:txBody>
          <a:bodyPr/>
          <a:lstStyle/>
          <a:p>
            <a:r>
              <a:rPr lang="en-IN" dirty="0"/>
              <a:t>Prof. </a:t>
            </a:r>
            <a:r>
              <a:rPr lang="en-IN" dirty="0" err="1"/>
              <a:t>Chirag</a:t>
            </a:r>
            <a:r>
              <a:rPr lang="en-IN" dirty="0"/>
              <a:t> K </a:t>
            </a:r>
            <a:r>
              <a:rPr lang="en-IN" dirty="0" err="1"/>
              <a:t>Sakhrani</a:t>
            </a:r>
            <a:endParaRPr lang="en-US" dirty="0"/>
          </a:p>
        </p:txBody>
      </p:sp>
      <p:sp>
        <p:nvSpPr>
          <p:cNvPr id="6" name="Text Placeholder 5"/>
          <p:cNvSpPr>
            <a:spLocks noGrp="1"/>
          </p:cNvSpPr>
          <p:nvPr>
            <p:ph type="body" sz="quarter" idx="16"/>
          </p:nvPr>
        </p:nvSpPr>
        <p:spPr/>
        <p:txBody>
          <a:bodyPr/>
          <a:lstStyle/>
          <a:p>
            <a:r>
              <a:rPr lang="en-US" dirty="0"/>
              <a:t>Object Oriented Programming using Java </a:t>
            </a:r>
            <a:r>
              <a:rPr lang="en-IN" dirty="0"/>
              <a:t>(</a:t>
            </a:r>
            <a:r>
              <a:rPr lang="en-US" dirty="0"/>
              <a:t>2304CS302</a:t>
            </a:r>
            <a:r>
              <a:rPr lang="en-IN" dirty="0"/>
              <a:t>)</a:t>
            </a:r>
            <a:endParaRPr lang="en-US" dirty="0"/>
          </a:p>
        </p:txBody>
      </p:sp>
      <p:pic>
        <p:nvPicPr>
          <p:cNvPr id="10" name="Picture Placeholder 9"/>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121899175"/>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7013</TotalTime>
  <Words>3492</Words>
  <Application>Microsoft Office PowerPoint</Application>
  <PresentationFormat>Widescreen</PresentationFormat>
  <Paragraphs>808</Paragraphs>
  <Slides>46</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46</vt:i4>
      </vt:variant>
    </vt:vector>
  </HeadingPairs>
  <TitlesOfParts>
    <vt:vector size="59" baseType="lpstr">
      <vt:lpstr>Wingdings</vt:lpstr>
      <vt:lpstr>Calibri</vt:lpstr>
      <vt:lpstr>Consolas</vt:lpstr>
      <vt:lpstr>Segoe UI Black</vt:lpstr>
      <vt:lpstr>StarBats</vt:lpstr>
      <vt:lpstr>Times</vt:lpstr>
      <vt:lpstr>Arial</vt:lpstr>
      <vt:lpstr>Wingdings 3</vt:lpstr>
      <vt:lpstr>Roboto Condensed</vt:lpstr>
      <vt:lpstr>Wingdings 2</vt:lpstr>
      <vt:lpstr>Roboto Condensed Light</vt:lpstr>
      <vt:lpstr>Office Theme</vt:lpstr>
      <vt:lpstr>1_Office Theme</vt:lpstr>
      <vt:lpstr>Unit-04  Inheritance and Abstraction</vt:lpstr>
      <vt:lpstr>PowerPoint Presentation</vt:lpstr>
      <vt:lpstr>Method Overloading</vt:lpstr>
      <vt:lpstr>Constructor</vt:lpstr>
      <vt:lpstr>Default Constructor</vt:lpstr>
      <vt:lpstr>Parameterized Constructor</vt:lpstr>
      <vt:lpstr>Parameterized Constructor</vt:lpstr>
      <vt:lpstr>Constructor Overloading</vt:lpstr>
      <vt:lpstr>Constructor Overloading</vt:lpstr>
      <vt:lpstr>this keyword</vt:lpstr>
      <vt:lpstr>PowerPoint Presentation</vt:lpstr>
      <vt:lpstr>static keyword</vt:lpstr>
      <vt:lpstr>PowerPoint Presentation</vt:lpstr>
      <vt:lpstr>static method</vt:lpstr>
      <vt:lpstr>PowerPoint Presentation</vt:lpstr>
      <vt:lpstr>static block</vt:lpstr>
      <vt:lpstr>Inheritance </vt:lpstr>
      <vt:lpstr>Inheritance </vt:lpstr>
      <vt:lpstr>Inheritance using extends keyword</vt:lpstr>
      <vt:lpstr>extends </vt:lpstr>
      <vt:lpstr>Example (Inheritance)</vt:lpstr>
      <vt:lpstr>Example (Inheritance) (Cont.)</vt:lpstr>
      <vt:lpstr>Types of Inheritance in Java</vt:lpstr>
      <vt:lpstr>Inheritance (Cont.)</vt:lpstr>
      <vt:lpstr>Object class</vt:lpstr>
      <vt:lpstr>Overriding methods</vt:lpstr>
      <vt:lpstr>Overriding (Example)</vt:lpstr>
      <vt:lpstr>super keyword</vt:lpstr>
      <vt:lpstr>super keyword</vt:lpstr>
      <vt:lpstr>Constructors in Inheritance</vt:lpstr>
      <vt:lpstr>“final” keyword</vt:lpstr>
      <vt:lpstr>1) “final” as a variable</vt:lpstr>
      <vt:lpstr>2) “final” as a method</vt:lpstr>
      <vt:lpstr>3) “final” as a Class</vt:lpstr>
      <vt:lpstr>Finalize method</vt:lpstr>
      <vt:lpstr>Abstract class</vt:lpstr>
      <vt:lpstr>Abstract class (Example)</vt:lpstr>
      <vt:lpstr>Interface</vt:lpstr>
      <vt:lpstr>Interface (Example)</vt:lpstr>
      <vt:lpstr>Interface V/S Abstract Class</vt:lpstr>
      <vt:lpstr>Dynamic Method Dispatch</vt:lpstr>
      <vt:lpstr>Dynamic Method Dispatch (Example)</vt:lpstr>
      <vt:lpstr>Upcasting and Downcasting</vt:lpstr>
      <vt:lpstr>Dynamic Method Dispatch (Example)</vt:lpstr>
      <vt:lpstr>Practice Programs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1136</cp:revision>
  <dcterms:created xsi:type="dcterms:W3CDTF">2020-05-01T05:09:15Z</dcterms:created>
  <dcterms:modified xsi:type="dcterms:W3CDTF">2025-09-01T09:11:19Z</dcterms:modified>
</cp:coreProperties>
</file>