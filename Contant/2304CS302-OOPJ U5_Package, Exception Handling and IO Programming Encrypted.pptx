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92" r:id="rId2"/>
  </p:sldMasterIdLst>
  <p:notesMasterIdLst>
    <p:notesMasterId r:id="rId48"/>
  </p:notesMasterIdLst>
  <p:handoutMasterIdLst>
    <p:handoutMasterId r:id="rId49"/>
  </p:handoutMasterIdLst>
  <p:sldIdLst>
    <p:sldId id="308" r:id="rId3"/>
    <p:sldId id="257" r:id="rId4"/>
    <p:sldId id="440" r:id="rId5"/>
    <p:sldId id="426" r:id="rId6"/>
    <p:sldId id="437" r:id="rId7"/>
    <p:sldId id="439" r:id="rId8"/>
    <p:sldId id="438" r:id="rId9"/>
    <p:sldId id="436" r:id="rId10"/>
    <p:sldId id="435" r:id="rId11"/>
    <p:sldId id="465" r:id="rId12"/>
    <p:sldId id="466" r:id="rId13"/>
    <p:sldId id="468" r:id="rId14"/>
    <p:sldId id="434" r:id="rId15"/>
    <p:sldId id="433" r:id="rId16"/>
    <p:sldId id="432" r:id="rId17"/>
    <p:sldId id="431" r:id="rId18"/>
    <p:sldId id="430" r:id="rId19"/>
    <p:sldId id="429" r:id="rId20"/>
    <p:sldId id="428" r:id="rId21"/>
    <p:sldId id="467" r:id="rId22"/>
    <p:sldId id="443" r:id="rId23"/>
    <p:sldId id="442" r:id="rId24"/>
    <p:sldId id="427" r:id="rId25"/>
    <p:sldId id="448" r:id="rId26"/>
    <p:sldId id="447" r:id="rId27"/>
    <p:sldId id="446" r:id="rId28"/>
    <p:sldId id="445" r:id="rId29"/>
    <p:sldId id="449" r:id="rId30"/>
    <p:sldId id="455" r:id="rId31"/>
    <p:sldId id="469" r:id="rId32"/>
    <p:sldId id="454" r:id="rId33"/>
    <p:sldId id="453" r:id="rId34"/>
    <p:sldId id="452" r:id="rId35"/>
    <p:sldId id="451" r:id="rId36"/>
    <p:sldId id="450" r:id="rId37"/>
    <p:sldId id="458" r:id="rId38"/>
    <p:sldId id="457" r:id="rId39"/>
    <p:sldId id="456" r:id="rId40"/>
    <p:sldId id="462" r:id="rId41"/>
    <p:sldId id="461" r:id="rId42"/>
    <p:sldId id="460" r:id="rId43"/>
    <p:sldId id="459" r:id="rId44"/>
    <p:sldId id="464" r:id="rId45"/>
    <p:sldId id="463" r:id="rId46"/>
    <p:sldId id="358" r:id="rId47"/>
  </p:sldIdLst>
  <p:sldSz cx="12192000" cy="6858000"/>
  <p:notesSz cx="6858000" cy="9144000"/>
  <p:embeddedFontLst>
    <p:embeddedFont>
      <p:font typeface="Cambria" panose="02040503050406030204" pitchFamily="18" charset="0"/>
      <p:regular r:id="rId50"/>
      <p:bold r:id="rId51"/>
      <p:italic r:id="rId52"/>
      <p:boldItalic r:id="rId53"/>
    </p:embeddedFont>
    <p:embeddedFont>
      <p:font typeface="Wingdings 3" panose="05040102010807070707" pitchFamily="18" charset="2"/>
      <p:regular r:id="rId54"/>
    </p:embeddedFont>
    <p:embeddedFont>
      <p:font typeface="Wingdings 2" panose="05020102010507070707" pitchFamily="18" charset="2"/>
      <p:regular r:id="rId55"/>
    </p:embeddedFont>
    <p:embeddedFont>
      <p:font typeface="Segoe UI Black" panose="020B0A02040204020203" pitchFamily="34" charset="0"/>
      <p:bold r:id="rId56"/>
      <p:boldItalic r:id="rId57"/>
    </p:embeddedFont>
    <p:embeddedFont>
      <p:font typeface="Roboto Condensed" panose="02000000000000000000" pitchFamily="2" charset="0"/>
      <p:regular r:id="rId58"/>
      <p:bold r:id="rId59"/>
      <p:italic r:id="rId60"/>
      <p:boldItalic r:id="rId61"/>
    </p:embeddedFont>
    <p:embeddedFont>
      <p:font typeface="Roboto Condensed Light" panose="02000000000000000000" pitchFamily="2" charset="0"/>
      <p:regular r:id="rId62"/>
      <p:italic r:id="rId63"/>
    </p:embeddedFont>
    <p:embeddedFont>
      <p:font typeface="Calibri" panose="020F0502020204030204" pitchFamily="34" charset="0"/>
      <p:regular r:id="rId64"/>
      <p:bold r:id="rId65"/>
      <p:italic r:id="rId66"/>
      <p:boldItalic r:id="rId67"/>
    </p:embeddedFont>
    <p:embeddedFont>
      <p:font typeface="Consolas" panose="020B0609020204030204" pitchFamily="49" charset="0"/>
      <p:regular r:id="rId68"/>
      <p:bold r:id="rId69"/>
      <p:italic r:id="rId70"/>
      <p:boldItalic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Frl6CQFHxliCysMneZY90w==" hashData="mSucV0c/IWufdkl9eJndWCnehiu0mHuai+kbq0hZmbOZsx1/Z8GvMdFc6vjl5SZ6uiBevgWxDomSomxsNYr2Qw=="/>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ED524F"/>
    <a:srgbClr val="301B92"/>
    <a:srgbClr val="673BB7"/>
    <a:srgbClr val="607D8B"/>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6404" autoAdjust="0"/>
  </p:normalViewPr>
  <p:slideViewPr>
    <p:cSldViewPr snapToGrid="0">
      <p:cViewPr varScale="1">
        <p:scale>
          <a:sx n="79" d="100"/>
          <a:sy n="79"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87"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4.fntdata"/><Relationship Id="rId68" Type="http://schemas.openxmlformats.org/officeDocument/2006/relationships/font" Target="fonts/font19.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1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8" Type="http://schemas.openxmlformats.org/officeDocument/2006/relationships/slide" Target="slides/slide6.xml"/><Relationship Id="rId51" Type="http://schemas.openxmlformats.org/officeDocument/2006/relationships/font" Target="fonts/font2.fntdata"/><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5.xml"/><Relationship Id="rId71" Type="http://schemas.openxmlformats.org/officeDocument/2006/relationships/font" Target="fonts/font2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B8B648-81D7-4B97-BE43-C82A41EFF624}" type="datetimeFigureOut">
              <a:rPr lang="en-US" smtClean="0"/>
              <a:t>9/15/2025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E14FB9-2BAE-423A-AD69-78200BE88C93}" type="slidenum">
              <a:rPr lang="en-US" smtClean="0"/>
              <a:t>‹#›</a:t>
            </a:fld>
            <a:endParaRPr lang="en-US"/>
          </a:p>
        </p:txBody>
      </p:sp>
    </p:spTree>
    <p:extLst>
      <p:ext uri="{BB962C8B-B14F-4D97-AF65-F5344CB8AC3E}">
        <p14:creationId xmlns:p14="http://schemas.microsoft.com/office/powerpoint/2010/main" val="1389690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3.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4.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11" Type="http://schemas.openxmlformats.org/officeDocument/2006/relationships/image" Target="../media/image9.jpe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4.jpe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454201" y="6604000"/>
            <a:ext cx="52835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#2304CS302 (OOPJ)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05 – Package, Exception Handling and IO Programming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129420851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26429846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5521596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2104CS512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(JSF)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184850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495876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374685313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097819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0000992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028422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52086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1272057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742688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117097230"/>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81089902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338554"/>
          </a:xfrm>
          <a:prstGeom prst="rect">
            <a:avLst/>
          </a:prstGeom>
          <a:noFill/>
        </p:spPr>
        <p:txBody>
          <a:bodyPr wrap="none" rtlCol="0">
            <a:spAutoFit/>
          </a:bodyPr>
          <a:lstStyle/>
          <a:p>
            <a:r>
              <a:rPr lang="en-US" sz="1600" dirty="0"/>
              <a:t>Darshan Institute of Computer Applications ,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7CCC06F6-21AB-DA1A-AA70-A3E11D1BE30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644474" y="1609868"/>
            <a:ext cx="2116066" cy="2116066"/>
          </a:xfrm>
          <a:prstGeom prst="rect">
            <a:avLst/>
          </a:prstGeom>
        </p:spPr>
      </p:pic>
    </p:spTree>
    <p:extLst>
      <p:ext uri="{BB962C8B-B14F-4D97-AF65-F5344CB8AC3E}">
        <p14:creationId xmlns:p14="http://schemas.microsoft.com/office/powerpoint/2010/main" val="136773065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977840071"/>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22610387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44043543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28954970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0560655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10913432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49907336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369990358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9/15/2025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715"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9/15/2025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350828334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chirag.sakhrani@darshan.ac.in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8401191184</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US" dirty="0"/>
              <a:t>Department of Computer Applications</a:t>
            </a:r>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6" name="Picture Placeholder 15"/>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197789"/>
            <a:ext cx="1353599" cy="1353599"/>
          </a:xfrm>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794508" y="997890"/>
            <a:ext cx="9431040" cy="2578780"/>
          </a:xfrm>
        </p:spPr>
        <p:txBody>
          <a:bodyPr/>
          <a:lstStyle/>
          <a:p>
            <a:r>
              <a:rPr lang="en-US" sz="4800" b="0" dirty="0">
                <a:latin typeface="Roboto Condensed Light" panose="02000000000000000000" pitchFamily="2" charset="0"/>
                <a:ea typeface="Roboto Condensed Light" panose="02000000000000000000" pitchFamily="2" charset="0"/>
              </a:rPr>
              <a:t>Unit-05</a:t>
            </a:r>
            <a:r>
              <a:rPr lang="en-US" dirty="0"/>
              <a:t> </a:t>
            </a:r>
            <a:br>
              <a:rPr lang="en-US" dirty="0"/>
            </a:br>
            <a:r>
              <a:rPr lang="en-US" sz="5800" dirty="0"/>
              <a:t>Package, Exception Handling and IO Programming</a:t>
            </a:r>
          </a:p>
        </p:txBody>
      </p:sp>
      <p:sp>
        <p:nvSpPr>
          <p:cNvPr id="4" name="TextBox 3">
            <a:extLst>
              <a:ext uri="{FF2B5EF4-FFF2-40B4-BE49-F238E27FC236}">
                <a16:creationId xmlns:a16="http://schemas.microsoft.com/office/drawing/2014/main" id="{9166C5B6-CA7E-D20E-2548-87ACCB95BDD8}"/>
              </a:ext>
            </a:extLst>
          </p:cNvPr>
          <p:cNvSpPr txBox="1"/>
          <p:nvPr/>
        </p:nvSpPr>
        <p:spPr>
          <a:xfrm>
            <a:off x="794508" y="4180699"/>
            <a:ext cx="9322886" cy="769441"/>
          </a:xfrm>
          <a:prstGeom prst="rect">
            <a:avLst/>
          </a:prstGeom>
          <a:noFill/>
        </p:spPr>
        <p:txBody>
          <a:bodyPr wrap="square">
            <a:spAutoFit/>
          </a:bodyPr>
          <a:lstStyle/>
          <a:p>
            <a:r>
              <a:rPr lang="en-US" sz="2200" b="1" i="1" dirty="0">
                <a:effectLst/>
              </a:rPr>
              <a:t>CO5 : At the end of this course, students will be able to,</a:t>
            </a:r>
          </a:p>
          <a:p>
            <a:r>
              <a:rPr lang="en-US" sz="2200" dirty="0"/>
              <a:t>           demonstrate the package, exception handling mechanism and file handling.</a:t>
            </a:r>
            <a:endParaRPr lang="en-US" sz="2200" b="0" i="1" dirty="0">
              <a:effectLst/>
            </a:endParaRPr>
          </a:p>
        </p:txBody>
      </p:sp>
    </p:spTree>
    <p:extLst>
      <p:ext uri="{BB962C8B-B14F-4D97-AF65-F5344CB8AC3E}">
        <p14:creationId xmlns:p14="http://schemas.microsoft.com/office/powerpoint/2010/main" val="243652001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7005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12385"/>
            <a:ext cx="7321241" cy="5539978"/>
          </a:xfrm>
          <a:prstGeom prst="rect">
            <a:avLst/>
          </a:prstGeom>
          <a:noFill/>
        </p:spPr>
        <p:txBody>
          <a:bodyPr wrap="square" rtlCol="0">
            <a:spAutoFit/>
          </a:bodyPr>
          <a:lstStyle/>
          <a:p>
            <a:r>
              <a:rPr lang="en-IN" sz="2400" b="1" dirty="0"/>
              <a:t>Outline</a:t>
            </a:r>
            <a:endParaRPr lang="en-US" sz="2400" b="1" dirty="0"/>
          </a:p>
          <a:p>
            <a:endParaRPr lang="en-US" sz="2200" b="1" dirty="0"/>
          </a:p>
          <a:p>
            <a:pPr indent="446088">
              <a:buFont typeface="Wingdings" pitchFamily="2" charset="2"/>
              <a:buChar char="ü"/>
            </a:pPr>
            <a:r>
              <a:rPr lang="en-US" sz="2200" dirty="0"/>
              <a:t>Package</a:t>
            </a:r>
          </a:p>
          <a:p>
            <a:pPr marL="800100" lvl="1" indent="-342900">
              <a:buFont typeface="Wingdings" panose="05000000000000000000" pitchFamily="2" charset="2"/>
              <a:buChar char="§"/>
            </a:pPr>
            <a:r>
              <a:rPr lang="en-US" sz="2200" dirty="0"/>
              <a:t>Use of package</a:t>
            </a:r>
          </a:p>
          <a:p>
            <a:pPr marL="800100" lvl="1" indent="-342900">
              <a:buFont typeface="Wingdings" panose="05000000000000000000" pitchFamily="2" charset="2"/>
              <a:buChar char="§"/>
            </a:pPr>
            <a:r>
              <a:rPr lang="en-US" sz="2200" dirty="0"/>
              <a:t>CLASSPATH</a:t>
            </a:r>
          </a:p>
          <a:p>
            <a:pPr marL="800100" lvl="1" indent="-342900">
              <a:buFont typeface="Wingdings" panose="05000000000000000000" pitchFamily="2" charset="2"/>
              <a:buChar char="§"/>
            </a:pPr>
            <a:r>
              <a:rPr lang="en-US" sz="2200" dirty="0"/>
              <a:t>import statement</a:t>
            </a:r>
          </a:p>
          <a:p>
            <a:pPr marL="800100" lvl="1" indent="-342900">
              <a:buFont typeface="Wingdings" panose="05000000000000000000" pitchFamily="2" charset="2"/>
              <a:buChar char="§"/>
            </a:pPr>
            <a:r>
              <a:rPr lang="en-US" sz="2200" dirty="0"/>
              <a:t>Access control</a:t>
            </a:r>
          </a:p>
          <a:p>
            <a:pPr indent="446088">
              <a:buFont typeface="Wingdings" pitchFamily="2" charset="2"/>
              <a:buChar char="ü"/>
            </a:pPr>
            <a:r>
              <a:rPr lang="en-US" sz="2200" dirty="0"/>
              <a:t> Exception Handling mechanism</a:t>
            </a:r>
          </a:p>
          <a:p>
            <a:pPr marL="800100" lvl="1" indent="-342900">
              <a:buFont typeface="Wingdings" panose="05000000000000000000" pitchFamily="2" charset="2"/>
              <a:buChar char="§"/>
            </a:pPr>
            <a:r>
              <a:rPr lang="en-US" sz="2200" dirty="0"/>
              <a:t> try, catch, throw, throws and finally</a:t>
            </a:r>
          </a:p>
          <a:p>
            <a:pPr marL="800100" lvl="1" indent="-342900">
              <a:buFont typeface="Wingdings" panose="05000000000000000000" pitchFamily="2" charset="2"/>
              <a:buChar char="§"/>
            </a:pPr>
            <a:r>
              <a:rPr lang="en-US" sz="2200" dirty="0"/>
              <a:t> Built in exception, Custom exception</a:t>
            </a:r>
          </a:p>
          <a:p>
            <a:pPr indent="446088">
              <a:buFont typeface="Wingdings" pitchFamily="2" charset="2"/>
              <a:buChar char="ü"/>
            </a:pPr>
            <a:r>
              <a:rPr lang="en-US" sz="2200" dirty="0"/>
              <a:t>File Handling</a:t>
            </a:r>
          </a:p>
          <a:p>
            <a:pPr marL="800100" lvl="1" indent="-342900">
              <a:buFont typeface="Wingdings" panose="05000000000000000000" pitchFamily="2" charset="2"/>
              <a:buChar char="§"/>
            </a:pPr>
            <a:r>
              <a:rPr lang="en-US" sz="2200" dirty="0"/>
              <a:t> File Class</a:t>
            </a:r>
          </a:p>
          <a:p>
            <a:pPr marL="800100" lvl="1" indent="-342900">
              <a:buFont typeface="Wingdings" panose="05000000000000000000" pitchFamily="2" charset="2"/>
              <a:buChar char="§"/>
            </a:pPr>
            <a:r>
              <a:rPr lang="en-US" sz="2200" dirty="0"/>
              <a:t> Byte Stream</a:t>
            </a:r>
          </a:p>
          <a:p>
            <a:pPr marL="800100" lvl="1" indent="-342900">
              <a:buFont typeface="Wingdings" panose="05000000000000000000" pitchFamily="2" charset="2"/>
              <a:buChar char="§"/>
            </a:pPr>
            <a:r>
              <a:rPr lang="en-US" sz="2200" dirty="0"/>
              <a:t> Character Stream</a:t>
            </a:r>
          </a:p>
          <a:p>
            <a:pPr marL="800100" lvl="1" indent="-342900">
              <a:buFont typeface="Wingdings" panose="05000000000000000000" pitchFamily="2" charset="2"/>
              <a:buChar char="§"/>
            </a:pPr>
            <a:r>
              <a:rPr lang="en-US" sz="2200" dirty="0"/>
              <a:t> Exploring classes/ interfaces from the java.io package</a:t>
            </a:r>
          </a:p>
          <a:p>
            <a:pPr indent="446088">
              <a:buFont typeface="Wingdings" pitchFamily="2" charset="2"/>
              <a:buChar char="ü"/>
            </a:pPr>
            <a:endParaRPr lang="en-US" sz="2200" dirty="0"/>
          </a:p>
        </p:txBody>
      </p:sp>
    </p:spTree>
    <p:extLst>
      <p:ext uri="{BB962C8B-B14F-4D97-AF65-F5344CB8AC3E}">
        <p14:creationId xmlns:p14="http://schemas.microsoft.com/office/powerpoint/2010/main" val="182151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22" presetClass="entr" presetSubtype="1"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up)">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par>
                          <p:cTn id="19" fill="hold">
                            <p:stCondLst>
                              <p:cond delay="100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2D965-5E0E-B045-ACE0-AE5E2E0AF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E42CA-6D78-C52D-235A-4A0A610112AF}"/>
              </a:ext>
            </a:extLst>
          </p:cNvPr>
          <p:cNvSpPr>
            <a:spLocks noGrp="1"/>
          </p:cNvSpPr>
          <p:nvPr>
            <p:ph type="title"/>
          </p:nvPr>
        </p:nvSpPr>
        <p:spPr>
          <a:xfrm>
            <a:off x="0" y="1"/>
            <a:ext cx="12192000" cy="711200"/>
          </a:xfrm>
        </p:spPr>
        <p:txBody>
          <a:bodyPr/>
          <a:lstStyle/>
          <a:p>
            <a:r>
              <a:rPr lang="en-US" dirty="0"/>
              <a:t>P</a:t>
            </a:r>
            <a:r>
              <a:rPr lang="en-IN" dirty="0" err="1"/>
              <a:t>ackage</a:t>
            </a:r>
            <a:endParaRPr lang="en-US" dirty="0"/>
          </a:p>
        </p:txBody>
      </p:sp>
      <p:sp>
        <p:nvSpPr>
          <p:cNvPr id="3" name="Content Placeholder 2">
            <a:extLst>
              <a:ext uri="{FF2B5EF4-FFF2-40B4-BE49-F238E27FC236}">
                <a16:creationId xmlns:a16="http://schemas.microsoft.com/office/drawing/2014/main" id="{C545F55C-C442-DC03-ED2B-061B89423717}"/>
              </a:ext>
            </a:extLst>
          </p:cNvPr>
          <p:cNvSpPr>
            <a:spLocks noGrp="1"/>
          </p:cNvSpPr>
          <p:nvPr>
            <p:ph idx="1"/>
          </p:nvPr>
        </p:nvSpPr>
        <p:spPr>
          <a:xfrm>
            <a:off x="131180" y="711202"/>
            <a:ext cx="11929641" cy="5742808"/>
          </a:xfrm>
        </p:spPr>
        <p:txBody>
          <a:bodyPr/>
          <a:lstStyle/>
          <a:p>
            <a:r>
              <a:rPr lang="en-US" dirty="0"/>
              <a:t>A java package is a group of </a:t>
            </a:r>
            <a:r>
              <a:rPr lang="en-US" dirty="0">
                <a:solidFill>
                  <a:srgbClr val="B71B1C"/>
                </a:solidFill>
              </a:rPr>
              <a:t>similar types of classes, interfaces and sub-packages</a:t>
            </a:r>
            <a:r>
              <a:rPr lang="en-US" dirty="0"/>
              <a:t>.</a:t>
            </a:r>
          </a:p>
          <a:p>
            <a:r>
              <a:rPr lang="en-US" dirty="0"/>
              <a:t>Package in java can be categorized in two form, built-in package and user-defined package.</a:t>
            </a:r>
          </a:p>
          <a:p>
            <a:r>
              <a:rPr lang="en-US" dirty="0"/>
              <a:t>There are many built-in packages such as java, lang, </a:t>
            </a:r>
            <a:r>
              <a:rPr lang="en-US" dirty="0" err="1"/>
              <a:t>awt</a:t>
            </a:r>
            <a:r>
              <a:rPr lang="en-US" dirty="0"/>
              <a:t>, </a:t>
            </a:r>
            <a:r>
              <a:rPr lang="en-US" dirty="0" err="1"/>
              <a:t>javax</a:t>
            </a:r>
            <a:r>
              <a:rPr lang="en-US" dirty="0"/>
              <a:t>, swing, net, io, util, </a:t>
            </a:r>
            <a:r>
              <a:rPr lang="en-US" dirty="0" err="1"/>
              <a:t>sql</a:t>
            </a:r>
            <a:r>
              <a:rPr lang="en-US" dirty="0"/>
              <a:t> etc.</a:t>
            </a:r>
          </a:p>
          <a:p>
            <a:r>
              <a:rPr lang="en-US" dirty="0"/>
              <a:t>Here, we will have the detailed learning of creating and using user-defined packages.</a:t>
            </a:r>
          </a:p>
          <a:p>
            <a:r>
              <a:rPr lang="en-US" dirty="0"/>
              <a:t>Advantage of Java Package:</a:t>
            </a:r>
          </a:p>
          <a:p>
            <a:pPr lvl="1"/>
            <a:r>
              <a:rPr lang="en-US" sz="2200" dirty="0"/>
              <a:t>Java package is used to </a:t>
            </a:r>
            <a:r>
              <a:rPr lang="en-US" sz="2200" dirty="0">
                <a:solidFill>
                  <a:srgbClr val="B71B1C"/>
                </a:solidFill>
              </a:rPr>
              <a:t>categorize</a:t>
            </a:r>
            <a:r>
              <a:rPr lang="en-US" sz="2200" dirty="0"/>
              <a:t> the classes and interfaces so that they can be easily maintained.</a:t>
            </a:r>
          </a:p>
          <a:p>
            <a:pPr lvl="1"/>
            <a:r>
              <a:rPr lang="en-US" sz="2200" dirty="0"/>
              <a:t>Java package provides </a:t>
            </a:r>
            <a:r>
              <a:rPr lang="en-US" sz="2200" dirty="0">
                <a:solidFill>
                  <a:srgbClr val="B71B1C"/>
                </a:solidFill>
              </a:rPr>
              <a:t>access protection</a:t>
            </a:r>
            <a:r>
              <a:rPr lang="en-US" sz="2200" dirty="0"/>
              <a:t>.</a:t>
            </a:r>
          </a:p>
          <a:p>
            <a:pPr lvl="1"/>
            <a:r>
              <a:rPr lang="en-US" sz="2200" dirty="0"/>
              <a:t>Java package removes </a:t>
            </a:r>
            <a:r>
              <a:rPr lang="en-US" sz="2200" dirty="0">
                <a:solidFill>
                  <a:srgbClr val="B71B1C"/>
                </a:solidFill>
              </a:rPr>
              <a:t>naming collision</a:t>
            </a:r>
            <a:r>
              <a:rPr lang="en-US" sz="2200" dirty="0"/>
              <a:t>.</a:t>
            </a:r>
          </a:p>
        </p:txBody>
      </p:sp>
    </p:spTree>
    <p:extLst>
      <p:ext uri="{BB962C8B-B14F-4D97-AF65-F5344CB8AC3E}">
        <p14:creationId xmlns:p14="http://schemas.microsoft.com/office/powerpoint/2010/main" val="275309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C5E97-187A-D24D-4548-5C4E3FCEE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A32FE-4586-919A-AE5B-CB885499C70F}"/>
              </a:ext>
            </a:extLst>
          </p:cNvPr>
          <p:cNvSpPr>
            <a:spLocks noGrp="1"/>
          </p:cNvSpPr>
          <p:nvPr>
            <p:ph type="title"/>
          </p:nvPr>
        </p:nvSpPr>
        <p:spPr>
          <a:xfrm>
            <a:off x="0" y="1"/>
            <a:ext cx="12192000" cy="711200"/>
          </a:xfrm>
        </p:spPr>
        <p:txBody>
          <a:bodyPr/>
          <a:lstStyle/>
          <a:p>
            <a:r>
              <a:rPr lang="en-US" dirty="0"/>
              <a:t>Creating a p</a:t>
            </a:r>
            <a:r>
              <a:rPr lang="en-IN" dirty="0" err="1"/>
              <a:t>ackage</a:t>
            </a:r>
            <a:endParaRPr lang="en-US" dirty="0"/>
          </a:p>
        </p:txBody>
      </p:sp>
      <p:sp>
        <p:nvSpPr>
          <p:cNvPr id="3" name="Content Placeholder 2">
            <a:extLst>
              <a:ext uri="{FF2B5EF4-FFF2-40B4-BE49-F238E27FC236}">
                <a16:creationId xmlns:a16="http://schemas.microsoft.com/office/drawing/2014/main" id="{AEA0C7B1-2B9A-2E71-CFFC-F68F1C3A1353}"/>
              </a:ext>
            </a:extLst>
          </p:cNvPr>
          <p:cNvSpPr>
            <a:spLocks noGrp="1"/>
          </p:cNvSpPr>
          <p:nvPr>
            <p:ph idx="1"/>
          </p:nvPr>
        </p:nvSpPr>
        <p:spPr>
          <a:xfrm>
            <a:off x="131180" y="863444"/>
            <a:ext cx="11929641" cy="5590565"/>
          </a:xfrm>
        </p:spPr>
        <p:txBody>
          <a:bodyPr/>
          <a:lstStyle/>
          <a:p>
            <a:r>
              <a:rPr lang="en-US" dirty="0"/>
              <a:t>Simple example of java package, the package keyword is used to create a package in java.</a:t>
            </a:r>
          </a:p>
          <a:p>
            <a:r>
              <a:rPr lang="en-US" dirty="0"/>
              <a:t>//save as Simple.java  </a:t>
            </a:r>
          </a:p>
          <a:p>
            <a:pPr marL="544512" lvl="1" indent="0">
              <a:buNone/>
            </a:pPr>
            <a:r>
              <a:rPr lang="en-US" dirty="0"/>
              <a:t>package </a:t>
            </a:r>
            <a:r>
              <a:rPr lang="en-US" dirty="0" err="1"/>
              <a:t>mypack</a:t>
            </a:r>
            <a:r>
              <a:rPr lang="en-US" dirty="0"/>
              <a:t>;  </a:t>
            </a:r>
          </a:p>
          <a:p>
            <a:pPr marL="544512" lvl="1" indent="0">
              <a:buNone/>
            </a:pPr>
            <a:r>
              <a:rPr lang="en-US" dirty="0"/>
              <a:t>public class Simple{  </a:t>
            </a:r>
          </a:p>
          <a:p>
            <a:pPr marL="544512" lvl="1" indent="0">
              <a:buNone/>
            </a:pPr>
            <a:r>
              <a:rPr lang="en-US" dirty="0"/>
              <a:t> public static void main(String </a:t>
            </a:r>
            <a:r>
              <a:rPr lang="en-US" dirty="0" err="1"/>
              <a:t>args</a:t>
            </a:r>
            <a:r>
              <a:rPr lang="en-US" dirty="0"/>
              <a:t>[]){  </a:t>
            </a:r>
          </a:p>
          <a:p>
            <a:pPr marL="544512" lvl="1" indent="0">
              <a:buNone/>
            </a:pPr>
            <a:r>
              <a:rPr lang="en-US" dirty="0"/>
              <a:t>    </a:t>
            </a:r>
            <a:r>
              <a:rPr lang="en-US" dirty="0" err="1"/>
              <a:t>System.out.println</a:t>
            </a:r>
            <a:r>
              <a:rPr lang="en-US" dirty="0"/>
              <a:t>("Welcome to package");  </a:t>
            </a:r>
          </a:p>
          <a:p>
            <a:pPr marL="544512" lvl="1" indent="0">
              <a:buNone/>
            </a:pPr>
            <a:r>
              <a:rPr lang="en-US" dirty="0"/>
              <a:t>   }  </a:t>
            </a:r>
          </a:p>
          <a:p>
            <a:pPr marL="544512" lvl="1" indent="0">
              <a:buNone/>
            </a:pPr>
            <a:r>
              <a:rPr lang="en-US" dirty="0"/>
              <a:t>} </a:t>
            </a:r>
          </a:p>
          <a:p>
            <a:r>
              <a:rPr lang="en-US" dirty="0"/>
              <a:t>To Compile: </a:t>
            </a:r>
            <a:r>
              <a:rPr lang="en-US" dirty="0" err="1"/>
              <a:t>javac</a:t>
            </a:r>
            <a:r>
              <a:rPr lang="en-US" dirty="0"/>
              <a:t> -d . Simple.java</a:t>
            </a:r>
          </a:p>
          <a:p>
            <a:r>
              <a:rPr lang="en-US" dirty="0"/>
              <a:t>To Run: java </a:t>
            </a:r>
            <a:r>
              <a:rPr lang="en-US" dirty="0" err="1"/>
              <a:t>mypack.Simple</a:t>
            </a:r>
            <a:endParaRPr lang="en-US" dirty="0"/>
          </a:p>
          <a:p>
            <a:r>
              <a:rPr lang="en-US" dirty="0"/>
              <a:t>Output: Welcome to package</a:t>
            </a:r>
          </a:p>
        </p:txBody>
      </p:sp>
    </p:spTree>
    <p:extLst>
      <p:ext uri="{BB962C8B-B14F-4D97-AF65-F5344CB8AC3E}">
        <p14:creationId xmlns:p14="http://schemas.microsoft.com/office/powerpoint/2010/main" val="417600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F0378-9EF8-ECDD-2643-E7142796C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4D520-9578-BB05-E7E9-F7482D028C15}"/>
              </a:ext>
            </a:extLst>
          </p:cNvPr>
          <p:cNvSpPr>
            <a:spLocks noGrp="1"/>
          </p:cNvSpPr>
          <p:nvPr>
            <p:ph type="title"/>
          </p:nvPr>
        </p:nvSpPr>
        <p:spPr>
          <a:xfrm>
            <a:off x="0" y="1"/>
            <a:ext cx="12192000" cy="711200"/>
          </a:xfrm>
        </p:spPr>
        <p:txBody>
          <a:bodyPr/>
          <a:lstStyle/>
          <a:p>
            <a:r>
              <a:rPr lang="en-US" dirty="0"/>
              <a:t>Accessing a p</a:t>
            </a:r>
            <a:r>
              <a:rPr lang="en-IN" dirty="0" err="1"/>
              <a:t>ackage</a:t>
            </a:r>
            <a:endParaRPr lang="en-US" dirty="0"/>
          </a:p>
        </p:txBody>
      </p:sp>
      <p:sp>
        <p:nvSpPr>
          <p:cNvPr id="3" name="Content Placeholder 2">
            <a:extLst>
              <a:ext uri="{FF2B5EF4-FFF2-40B4-BE49-F238E27FC236}">
                <a16:creationId xmlns:a16="http://schemas.microsoft.com/office/drawing/2014/main" id="{5F43755A-084A-AFB1-9B78-0690BD148F1A}"/>
              </a:ext>
            </a:extLst>
          </p:cNvPr>
          <p:cNvSpPr>
            <a:spLocks noGrp="1"/>
          </p:cNvSpPr>
          <p:nvPr>
            <p:ph idx="1"/>
          </p:nvPr>
        </p:nvSpPr>
        <p:spPr>
          <a:xfrm>
            <a:off x="131180" y="711202"/>
            <a:ext cx="11929641" cy="5880098"/>
          </a:xfrm>
        </p:spPr>
        <p:txBody>
          <a:bodyPr/>
          <a:lstStyle/>
          <a:p>
            <a:r>
              <a:rPr lang="en-US" dirty="0"/>
              <a:t>There are three ways to access the package from outside the package.</a:t>
            </a:r>
          </a:p>
          <a:p>
            <a:pPr lvl="1"/>
            <a:r>
              <a:rPr lang="en-US" dirty="0"/>
              <a:t>import package.*;</a:t>
            </a:r>
          </a:p>
          <a:p>
            <a:pPr lvl="1"/>
            <a:r>
              <a:rPr lang="en-US" dirty="0"/>
              <a:t>import </a:t>
            </a:r>
            <a:r>
              <a:rPr lang="en-US" dirty="0" err="1"/>
              <a:t>package.classname</a:t>
            </a:r>
            <a:r>
              <a:rPr lang="en-US" dirty="0"/>
              <a:t>;</a:t>
            </a:r>
          </a:p>
          <a:p>
            <a:pPr lvl="1"/>
            <a:r>
              <a:rPr lang="en-US" dirty="0"/>
              <a:t>fully qualified name</a:t>
            </a:r>
          </a:p>
          <a:p>
            <a:r>
              <a:rPr lang="en-US" dirty="0"/>
              <a:t>//save by A.java  </a:t>
            </a:r>
          </a:p>
          <a:p>
            <a:pPr marL="544512" lvl="1" indent="0">
              <a:buNone/>
            </a:pPr>
            <a:r>
              <a:rPr lang="en-US" sz="2000" dirty="0"/>
              <a:t>package pack;  </a:t>
            </a:r>
          </a:p>
          <a:p>
            <a:pPr marL="544512" lvl="1" indent="0">
              <a:buNone/>
            </a:pPr>
            <a:r>
              <a:rPr lang="en-US" sz="2000" dirty="0"/>
              <a:t>public class A{  </a:t>
            </a:r>
          </a:p>
          <a:p>
            <a:pPr marL="544512" lvl="1" indent="0">
              <a:buNone/>
            </a:pPr>
            <a:r>
              <a:rPr lang="en-US" sz="2000" dirty="0"/>
              <a:t>  public void msg(){</a:t>
            </a:r>
            <a:r>
              <a:rPr lang="en-US" sz="2000" dirty="0" err="1"/>
              <a:t>System.out.println</a:t>
            </a:r>
            <a:r>
              <a:rPr lang="en-US" sz="2000" dirty="0"/>
              <a:t>("Hello");}  </a:t>
            </a:r>
          </a:p>
          <a:p>
            <a:pPr marL="544512" lvl="1" indent="0">
              <a:buNone/>
            </a:pPr>
            <a:r>
              <a:rPr lang="en-US" sz="2000" dirty="0"/>
              <a:t>} </a:t>
            </a:r>
          </a:p>
          <a:p>
            <a:r>
              <a:rPr lang="en-US" dirty="0"/>
              <a:t>//save by B.java  </a:t>
            </a:r>
          </a:p>
          <a:p>
            <a:pPr marL="544512" lvl="1" indent="0">
              <a:buNone/>
            </a:pPr>
            <a:r>
              <a:rPr lang="en-US" sz="2000" dirty="0"/>
              <a:t>package </a:t>
            </a:r>
            <a:r>
              <a:rPr lang="en-US" sz="2000" dirty="0" err="1"/>
              <a:t>mypack</a:t>
            </a:r>
            <a:r>
              <a:rPr lang="en-US" sz="2000" dirty="0"/>
              <a:t>;  </a:t>
            </a:r>
          </a:p>
          <a:p>
            <a:pPr marL="544512" lvl="1" indent="0">
              <a:buNone/>
            </a:pPr>
            <a:r>
              <a:rPr lang="en-US" sz="2000" dirty="0"/>
              <a:t>import pack.*;    </a:t>
            </a:r>
          </a:p>
          <a:p>
            <a:pPr marL="544512" lvl="1" indent="0">
              <a:buNone/>
            </a:pPr>
            <a:r>
              <a:rPr lang="en-US" sz="2000" dirty="0"/>
              <a:t>class B{  </a:t>
            </a:r>
          </a:p>
          <a:p>
            <a:pPr marL="544512" lvl="1" indent="0">
              <a:buNone/>
            </a:pPr>
            <a:r>
              <a:rPr lang="en-US" sz="2000" dirty="0"/>
              <a:t>  public static void main(String </a:t>
            </a:r>
            <a:r>
              <a:rPr lang="en-US" sz="2000" dirty="0" err="1"/>
              <a:t>args</a:t>
            </a:r>
            <a:r>
              <a:rPr lang="en-US" sz="2000" dirty="0"/>
              <a:t>[]){  </a:t>
            </a:r>
          </a:p>
          <a:p>
            <a:pPr marL="544512" lvl="1" indent="0">
              <a:buNone/>
            </a:pPr>
            <a:r>
              <a:rPr lang="en-US" sz="2000" dirty="0"/>
              <a:t>   A obj = new A();  </a:t>
            </a:r>
          </a:p>
          <a:p>
            <a:pPr marL="544512" lvl="1" indent="0">
              <a:buNone/>
            </a:pPr>
            <a:r>
              <a:rPr lang="en-US" sz="2000" dirty="0"/>
              <a:t>   obj.msg();    }  } </a:t>
            </a:r>
          </a:p>
        </p:txBody>
      </p:sp>
    </p:spTree>
    <p:extLst>
      <p:ext uri="{BB962C8B-B14F-4D97-AF65-F5344CB8AC3E}">
        <p14:creationId xmlns:p14="http://schemas.microsoft.com/office/powerpoint/2010/main" val="104626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78AF-FBA2-3557-A749-86DB5DF70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15321-689E-B613-2B2B-87753A0FA4C3}"/>
              </a:ext>
            </a:extLst>
          </p:cNvPr>
          <p:cNvSpPr>
            <a:spLocks noGrp="1"/>
          </p:cNvSpPr>
          <p:nvPr>
            <p:ph type="title"/>
          </p:nvPr>
        </p:nvSpPr>
        <p:spPr>
          <a:xfrm>
            <a:off x="0" y="1"/>
            <a:ext cx="12192000" cy="711200"/>
          </a:xfrm>
        </p:spPr>
        <p:txBody>
          <a:bodyPr/>
          <a:lstStyle/>
          <a:p>
            <a:r>
              <a:rPr lang="en-US" dirty="0"/>
              <a:t>Setting CLASSPATH</a:t>
            </a:r>
          </a:p>
        </p:txBody>
      </p:sp>
      <p:sp>
        <p:nvSpPr>
          <p:cNvPr id="3" name="Content Placeholder 2">
            <a:extLst>
              <a:ext uri="{FF2B5EF4-FFF2-40B4-BE49-F238E27FC236}">
                <a16:creationId xmlns:a16="http://schemas.microsoft.com/office/drawing/2014/main" id="{5F68AEFB-A411-C725-9469-FC0E658B40BF}"/>
              </a:ext>
            </a:extLst>
          </p:cNvPr>
          <p:cNvSpPr>
            <a:spLocks noGrp="1"/>
          </p:cNvSpPr>
          <p:nvPr>
            <p:ph idx="1"/>
          </p:nvPr>
        </p:nvSpPr>
        <p:spPr>
          <a:xfrm>
            <a:off x="131180" y="711202"/>
            <a:ext cx="11929641" cy="5880098"/>
          </a:xfrm>
        </p:spPr>
        <p:txBody>
          <a:bodyPr/>
          <a:lstStyle/>
          <a:p>
            <a:r>
              <a:rPr lang="en-US" dirty="0">
                <a:solidFill>
                  <a:srgbClr val="B71B1C"/>
                </a:solidFill>
              </a:rPr>
              <a:t>CLASSPATH</a:t>
            </a:r>
            <a:r>
              <a:rPr lang="en-US" sz="2800" dirty="0"/>
              <a:t> is similar to another environment variable PATH, which is used by the command shell to search for the executable programs.</a:t>
            </a:r>
          </a:p>
          <a:p>
            <a:r>
              <a:rPr lang="en-US" dirty="0"/>
              <a:t>Setting CLASSPATH: CLASSPATH can be set by any of the following ways:</a:t>
            </a:r>
          </a:p>
          <a:p>
            <a:pPr lvl="1"/>
            <a:r>
              <a:rPr lang="en-US" dirty="0"/>
              <a:t>CLASSPATH can be set permanently in the environment</a:t>
            </a:r>
          </a:p>
          <a:p>
            <a:pPr lvl="1"/>
            <a:r>
              <a:rPr lang="en-US" dirty="0"/>
              <a:t>CLASSPATH can be set temporarily for that particular CMD shell session by issuing the following command:</a:t>
            </a:r>
          </a:p>
          <a:p>
            <a:pPr lvl="1"/>
            <a:r>
              <a:rPr lang="en-US" dirty="0"/>
              <a:t>SET CLASSPATH=“c:\tomcat\lib\servlet-api.jar”;</a:t>
            </a:r>
          </a:p>
          <a:p>
            <a:r>
              <a:rPr lang="en-US" dirty="0"/>
              <a:t>Instead of using the CLASSPATH environment variable, you can also use the command-line option -</a:t>
            </a:r>
            <a:r>
              <a:rPr lang="en-US" dirty="0" err="1"/>
              <a:t>classpath</a:t>
            </a:r>
            <a:r>
              <a:rPr lang="en-US" dirty="0"/>
              <a:t> or -cp of the </a:t>
            </a:r>
            <a:r>
              <a:rPr lang="en-US" dirty="0" err="1"/>
              <a:t>javac</a:t>
            </a:r>
            <a:r>
              <a:rPr lang="en-US" dirty="0"/>
              <a:t> and java commands</a:t>
            </a:r>
          </a:p>
          <a:p>
            <a:r>
              <a:rPr lang="en-US" dirty="0">
                <a:solidFill>
                  <a:srgbClr val="B71B1C"/>
                </a:solidFill>
              </a:rPr>
              <a:t>example:-  </a:t>
            </a:r>
            <a:r>
              <a:rPr lang="en-US" dirty="0"/>
              <a:t>java –</a:t>
            </a:r>
            <a:r>
              <a:rPr lang="en-US" dirty="0" err="1"/>
              <a:t>classpath</a:t>
            </a:r>
            <a:r>
              <a:rPr lang="en-US" dirty="0"/>
              <a:t> c:\javaproject\classes com.abc.project1.subproject2.MyClass3</a:t>
            </a:r>
          </a:p>
        </p:txBody>
      </p:sp>
    </p:spTree>
    <p:extLst>
      <p:ext uri="{BB962C8B-B14F-4D97-AF65-F5344CB8AC3E}">
        <p14:creationId xmlns:p14="http://schemas.microsoft.com/office/powerpoint/2010/main" val="2973804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61C4B-CEB9-EB4C-D821-CA55854F3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41BFF-C8E1-2DCD-D06F-69A44C230524}"/>
              </a:ext>
            </a:extLst>
          </p:cNvPr>
          <p:cNvSpPr>
            <a:spLocks noGrp="1"/>
          </p:cNvSpPr>
          <p:nvPr>
            <p:ph type="title"/>
          </p:nvPr>
        </p:nvSpPr>
        <p:spPr>
          <a:xfrm>
            <a:off x="0" y="1"/>
            <a:ext cx="12192000" cy="711200"/>
          </a:xfrm>
        </p:spPr>
        <p:txBody>
          <a:bodyPr/>
          <a:lstStyle/>
          <a:p>
            <a:r>
              <a:rPr lang="en-US" dirty="0"/>
              <a:t>Access specifiers</a:t>
            </a:r>
          </a:p>
        </p:txBody>
      </p:sp>
      <p:sp>
        <p:nvSpPr>
          <p:cNvPr id="3" name="Content Placeholder 2">
            <a:extLst>
              <a:ext uri="{FF2B5EF4-FFF2-40B4-BE49-F238E27FC236}">
                <a16:creationId xmlns:a16="http://schemas.microsoft.com/office/drawing/2014/main" id="{FB79A49E-0130-2F4C-EFAF-D56858B4EDF6}"/>
              </a:ext>
            </a:extLst>
          </p:cNvPr>
          <p:cNvSpPr>
            <a:spLocks noGrp="1"/>
          </p:cNvSpPr>
          <p:nvPr>
            <p:ph idx="1"/>
          </p:nvPr>
        </p:nvSpPr>
        <p:spPr>
          <a:xfrm>
            <a:off x="131180" y="711202"/>
            <a:ext cx="11929641" cy="5880098"/>
          </a:xfrm>
        </p:spPr>
        <p:txBody>
          <a:bodyPr/>
          <a:lstStyle/>
          <a:p>
            <a:r>
              <a:rPr lang="en-US" dirty="0">
                <a:solidFill>
                  <a:srgbClr val="000000"/>
                </a:solidFill>
              </a:rPr>
              <a:t>There are four types of Java access modifiers:</a:t>
            </a:r>
          </a:p>
          <a:p>
            <a:pPr lvl="1"/>
            <a:r>
              <a:rPr lang="en-US" sz="2200" dirty="0">
                <a:solidFill>
                  <a:srgbClr val="B71B1C"/>
                </a:solidFill>
              </a:rPr>
              <a:t>Private</a:t>
            </a:r>
            <a:r>
              <a:rPr lang="en-US" sz="2200" dirty="0">
                <a:solidFill>
                  <a:srgbClr val="000000"/>
                </a:solidFill>
              </a:rPr>
              <a:t>: The access level of a private modifier is only within the class. It cannot be accessed from outside the class.</a:t>
            </a:r>
          </a:p>
          <a:p>
            <a:pPr lvl="1"/>
            <a:r>
              <a:rPr lang="en-US" sz="2200" dirty="0">
                <a:solidFill>
                  <a:srgbClr val="B71B1C"/>
                </a:solidFill>
              </a:rPr>
              <a:t>Default</a:t>
            </a:r>
            <a:r>
              <a:rPr lang="en-US" sz="2200" dirty="0">
                <a:solidFill>
                  <a:srgbClr val="000000"/>
                </a:solidFill>
              </a:rPr>
              <a:t>: The access level of a default modifier is only within the package. It cannot be accessed from outside the package. If you do not specify any access level, it will be the default.</a:t>
            </a:r>
          </a:p>
          <a:p>
            <a:pPr lvl="1"/>
            <a:r>
              <a:rPr lang="en-US" sz="2200" dirty="0">
                <a:solidFill>
                  <a:srgbClr val="B71B1C"/>
                </a:solidFill>
              </a:rPr>
              <a:t>Protected</a:t>
            </a:r>
            <a:r>
              <a:rPr lang="en-US" sz="2200" dirty="0">
                <a:solidFill>
                  <a:srgbClr val="000000"/>
                </a:solidFill>
              </a:rPr>
              <a:t>: The access level of a protected modifier is within the package and outside the package through child class. If you do not make the child class, it cannot be accessed from outside the package.</a:t>
            </a:r>
          </a:p>
          <a:p>
            <a:pPr lvl="1"/>
            <a:r>
              <a:rPr lang="en-US" sz="2200" dirty="0">
                <a:solidFill>
                  <a:srgbClr val="B71B1C"/>
                </a:solidFill>
              </a:rPr>
              <a:t>Public</a:t>
            </a:r>
            <a:r>
              <a:rPr lang="en-US" sz="2200" dirty="0">
                <a:solidFill>
                  <a:srgbClr val="000000"/>
                </a:solidFill>
              </a:rPr>
              <a:t>: The access level of a public modifier is everywhere. It can be accessed from within the class, outside the class, within the package and outside the package.</a:t>
            </a:r>
          </a:p>
        </p:txBody>
      </p:sp>
    </p:spTree>
    <p:extLst>
      <p:ext uri="{BB962C8B-B14F-4D97-AF65-F5344CB8AC3E}">
        <p14:creationId xmlns:p14="http://schemas.microsoft.com/office/powerpoint/2010/main" val="2726362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09BBA-A1AA-9B6F-62D6-62A9A1501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70AFE-3688-F0DD-C616-9DB03DC3E743}"/>
              </a:ext>
            </a:extLst>
          </p:cNvPr>
          <p:cNvSpPr>
            <a:spLocks noGrp="1"/>
          </p:cNvSpPr>
          <p:nvPr>
            <p:ph type="title"/>
          </p:nvPr>
        </p:nvSpPr>
        <p:spPr>
          <a:xfrm>
            <a:off x="0" y="1"/>
            <a:ext cx="12192000" cy="711200"/>
          </a:xfrm>
        </p:spPr>
        <p:txBody>
          <a:bodyPr/>
          <a:lstStyle/>
          <a:p>
            <a:r>
              <a:rPr lang="en-US" dirty="0"/>
              <a:t>Access specifiers</a:t>
            </a:r>
          </a:p>
        </p:txBody>
      </p:sp>
      <p:graphicFrame>
        <p:nvGraphicFramePr>
          <p:cNvPr id="3" name="Table 2">
            <a:extLst>
              <a:ext uri="{FF2B5EF4-FFF2-40B4-BE49-F238E27FC236}">
                <a16:creationId xmlns:a16="http://schemas.microsoft.com/office/drawing/2014/main" id="{90958AA2-DF26-D684-BEFC-7D437B6D2B32}"/>
              </a:ext>
            </a:extLst>
          </p:cNvPr>
          <p:cNvGraphicFramePr>
            <a:graphicFrameLocks noGrp="1"/>
          </p:cNvGraphicFramePr>
          <p:nvPr>
            <p:extLst>
              <p:ext uri="{D42A27DB-BD31-4B8C-83A1-F6EECF244321}">
                <p14:modId xmlns:p14="http://schemas.microsoft.com/office/powerpoint/2010/main" val="336387901"/>
              </p:ext>
            </p:extLst>
          </p:nvPr>
        </p:nvGraphicFramePr>
        <p:xfrm>
          <a:off x="289248" y="941561"/>
          <a:ext cx="11060695" cy="2220273"/>
        </p:xfrm>
        <a:graphic>
          <a:graphicData uri="http://schemas.openxmlformats.org/drawingml/2006/table">
            <a:tbl>
              <a:tblPr/>
              <a:tblGrid>
                <a:gridCol w="2127387">
                  <a:extLst>
                    <a:ext uri="{9D8B030D-6E8A-4147-A177-3AD203B41FA5}">
                      <a16:colId xmlns:a16="http://schemas.microsoft.com/office/drawing/2014/main" val="991801043"/>
                    </a:ext>
                  </a:extLst>
                </a:gridCol>
                <a:gridCol w="1604763">
                  <a:extLst>
                    <a:ext uri="{9D8B030D-6E8A-4147-A177-3AD203B41FA5}">
                      <a16:colId xmlns:a16="http://schemas.microsoft.com/office/drawing/2014/main" val="695753983"/>
                    </a:ext>
                  </a:extLst>
                </a:gridCol>
                <a:gridCol w="1973674">
                  <a:extLst>
                    <a:ext uri="{9D8B030D-6E8A-4147-A177-3AD203B41FA5}">
                      <a16:colId xmlns:a16="http://schemas.microsoft.com/office/drawing/2014/main" val="320042060"/>
                    </a:ext>
                  </a:extLst>
                </a:gridCol>
                <a:gridCol w="3266727">
                  <a:extLst>
                    <a:ext uri="{9D8B030D-6E8A-4147-A177-3AD203B41FA5}">
                      <a16:colId xmlns:a16="http://schemas.microsoft.com/office/drawing/2014/main" val="1493711240"/>
                    </a:ext>
                  </a:extLst>
                </a:gridCol>
                <a:gridCol w="2088144">
                  <a:extLst>
                    <a:ext uri="{9D8B030D-6E8A-4147-A177-3AD203B41FA5}">
                      <a16:colId xmlns:a16="http://schemas.microsoft.com/office/drawing/2014/main" val="4210625631"/>
                    </a:ext>
                  </a:extLst>
                </a:gridCol>
              </a:tblGrid>
              <a:tr h="635313">
                <a:tc>
                  <a:txBody>
                    <a:bodyPr/>
                    <a:lstStyle/>
                    <a:p>
                      <a:pPr algn="ctr" fontAlgn="t"/>
                      <a:r>
                        <a:rPr lang="en-IN" dirty="0">
                          <a:solidFill>
                            <a:srgbClr val="000000"/>
                          </a:solidFill>
                          <a:effectLst/>
                          <a:highlight>
                            <a:srgbClr val="C7CCBE"/>
                          </a:highlight>
                          <a:latin typeface="+mn-lt"/>
                        </a:rPr>
                        <a:t>Access Modifier</a:t>
                      </a:r>
                    </a:p>
                  </a:txBody>
                  <a:tcPr marT="91440" marB="91440">
                    <a:lnL w="7620" cap="flat" cmpd="sng" algn="ctr">
                      <a:solidFill>
                        <a:srgbClr val="C007A5"/>
                      </a:solidFill>
                      <a:prstDash val="solid"/>
                      <a:round/>
                      <a:headEnd type="none" w="med" len="med"/>
                      <a:tailEnd type="none" w="med" len="med"/>
                    </a:lnL>
                    <a:lnR w="7620" cap="flat" cmpd="sng" algn="ctr">
                      <a:solidFill>
                        <a:srgbClr val="C007A5"/>
                      </a:solidFill>
                      <a:prstDash val="solid"/>
                      <a:round/>
                      <a:headEnd type="none" w="med" len="med"/>
                      <a:tailEnd type="none" w="med" len="med"/>
                    </a:lnR>
                    <a:lnT w="7620" cap="flat" cmpd="sng" algn="ctr">
                      <a:solidFill>
                        <a:srgbClr val="C007A5"/>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dirty="0">
                          <a:solidFill>
                            <a:srgbClr val="000000"/>
                          </a:solidFill>
                          <a:effectLst/>
                          <a:highlight>
                            <a:srgbClr val="C7CCBE"/>
                          </a:highlight>
                          <a:latin typeface="+mn-lt"/>
                        </a:rPr>
                        <a:t>within class</a:t>
                      </a:r>
                    </a:p>
                  </a:txBody>
                  <a:tcPr marT="91440" marB="91440">
                    <a:lnL w="7620" cap="flat" cmpd="sng" algn="ctr">
                      <a:solidFill>
                        <a:srgbClr val="C007A5"/>
                      </a:solidFill>
                      <a:prstDash val="solid"/>
                      <a:round/>
                      <a:headEnd type="none" w="med" len="med"/>
                      <a:tailEnd type="none" w="med" len="med"/>
                    </a:lnL>
                    <a:lnR w="7620" cap="flat" cmpd="sng" algn="ctr">
                      <a:solidFill>
                        <a:srgbClr val="C007A5"/>
                      </a:solidFill>
                      <a:prstDash val="solid"/>
                      <a:round/>
                      <a:headEnd type="none" w="med" len="med"/>
                      <a:tailEnd type="none" w="med" len="med"/>
                    </a:lnR>
                    <a:lnT w="7620" cap="flat" cmpd="sng" algn="ctr">
                      <a:solidFill>
                        <a:srgbClr val="C007A5"/>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dirty="0">
                          <a:solidFill>
                            <a:srgbClr val="000000"/>
                          </a:solidFill>
                          <a:effectLst/>
                          <a:highlight>
                            <a:srgbClr val="C7CCBE"/>
                          </a:highlight>
                          <a:latin typeface="+mn-lt"/>
                        </a:rPr>
                        <a:t>within package</a:t>
                      </a:r>
                    </a:p>
                  </a:txBody>
                  <a:tcPr marT="91440" marB="91440">
                    <a:lnL w="7620" cap="flat" cmpd="sng" algn="ctr">
                      <a:solidFill>
                        <a:srgbClr val="C007A5"/>
                      </a:solidFill>
                      <a:prstDash val="solid"/>
                      <a:round/>
                      <a:headEnd type="none" w="med" len="med"/>
                      <a:tailEnd type="none" w="med" len="med"/>
                    </a:lnL>
                    <a:lnR w="7620" cap="flat" cmpd="sng" algn="ctr">
                      <a:solidFill>
                        <a:srgbClr val="C007A5"/>
                      </a:solidFill>
                      <a:prstDash val="solid"/>
                      <a:round/>
                      <a:headEnd type="none" w="med" len="med"/>
                      <a:tailEnd type="none" w="med" len="med"/>
                    </a:lnR>
                    <a:lnT w="7620" cap="flat" cmpd="sng" algn="ctr">
                      <a:solidFill>
                        <a:srgbClr val="C007A5"/>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a:solidFill>
                            <a:srgbClr val="000000"/>
                          </a:solidFill>
                          <a:effectLst/>
                          <a:highlight>
                            <a:srgbClr val="C7CCBE"/>
                          </a:highlight>
                          <a:latin typeface="+mn-lt"/>
                        </a:rPr>
                        <a:t>outside package by subclass only</a:t>
                      </a:r>
                    </a:p>
                  </a:txBody>
                  <a:tcPr marT="91440" marB="91440">
                    <a:lnL w="7620" cap="flat" cmpd="sng" algn="ctr">
                      <a:solidFill>
                        <a:srgbClr val="C007A5"/>
                      </a:solidFill>
                      <a:prstDash val="solid"/>
                      <a:round/>
                      <a:headEnd type="none" w="med" len="med"/>
                      <a:tailEnd type="none" w="med" len="med"/>
                    </a:lnL>
                    <a:lnR w="7620" cap="flat" cmpd="sng" algn="ctr">
                      <a:solidFill>
                        <a:srgbClr val="C007A5"/>
                      </a:solidFill>
                      <a:prstDash val="solid"/>
                      <a:round/>
                      <a:headEnd type="none" w="med" len="med"/>
                      <a:tailEnd type="none" w="med" len="med"/>
                    </a:lnR>
                    <a:lnT w="7620" cap="flat" cmpd="sng" algn="ctr">
                      <a:solidFill>
                        <a:srgbClr val="C007A5"/>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a:solidFill>
                            <a:srgbClr val="000000"/>
                          </a:solidFill>
                          <a:effectLst/>
                          <a:highlight>
                            <a:srgbClr val="C7CCBE"/>
                          </a:highlight>
                          <a:latin typeface="+mn-lt"/>
                        </a:rPr>
                        <a:t>outside package</a:t>
                      </a:r>
                    </a:p>
                  </a:txBody>
                  <a:tcPr marT="91440" marB="91440">
                    <a:lnL w="7620" cap="flat" cmpd="sng" algn="ctr">
                      <a:solidFill>
                        <a:srgbClr val="C007A5"/>
                      </a:solidFill>
                      <a:prstDash val="solid"/>
                      <a:round/>
                      <a:headEnd type="none" w="med" len="med"/>
                      <a:tailEnd type="none" w="med" len="med"/>
                    </a:lnL>
                    <a:lnR w="7620" cap="flat" cmpd="sng" algn="ctr">
                      <a:solidFill>
                        <a:srgbClr val="C007A5"/>
                      </a:solidFill>
                      <a:prstDash val="solid"/>
                      <a:round/>
                      <a:headEnd type="none" w="med" len="med"/>
                      <a:tailEnd type="none" w="med" len="med"/>
                    </a:lnR>
                    <a:lnT w="7620" cap="flat" cmpd="sng" algn="ctr">
                      <a:solidFill>
                        <a:srgbClr val="C007A5"/>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473653456"/>
                  </a:ext>
                </a:extLst>
              </a:tr>
              <a:tr h="314339">
                <a:tc>
                  <a:txBody>
                    <a:bodyPr/>
                    <a:lstStyle/>
                    <a:p>
                      <a:pPr algn="ctr" fontAlgn="t"/>
                      <a:r>
                        <a:rPr lang="en-IN" b="1" dirty="0">
                          <a:solidFill>
                            <a:srgbClr val="333333"/>
                          </a:solidFill>
                          <a:effectLst/>
                          <a:latin typeface="+mn-lt"/>
                        </a:rPr>
                        <a:t>Private</a:t>
                      </a:r>
                      <a:endParaRPr lang="en-IN" dirty="0">
                        <a:solidFill>
                          <a:srgbClr val="333333"/>
                        </a:solidFill>
                        <a:effectLst/>
                        <a:latin typeface="+mn-lt"/>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mn-lt"/>
                        </a:rPr>
                        <a:t>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mn-lt"/>
                        </a:rPr>
                        <a:t>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mn-lt"/>
                        </a:rPr>
                        <a:t>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193658258"/>
                  </a:ext>
                </a:extLst>
              </a:tr>
              <a:tr h="0">
                <a:tc>
                  <a:txBody>
                    <a:bodyPr/>
                    <a:lstStyle/>
                    <a:p>
                      <a:pPr algn="ctr" fontAlgn="t"/>
                      <a:r>
                        <a:rPr lang="en-IN" b="1" dirty="0">
                          <a:solidFill>
                            <a:srgbClr val="333333"/>
                          </a:solidFill>
                          <a:effectLst/>
                          <a:latin typeface="+mn-lt"/>
                        </a:rPr>
                        <a:t>Default</a:t>
                      </a:r>
                      <a:endParaRPr lang="en-IN" dirty="0">
                        <a:solidFill>
                          <a:srgbClr val="333333"/>
                        </a:solidFill>
                        <a:effectLst/>
                        <a:latin typeface="+mn-lt"/>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a:solidFill>
                            <a:srgbClr val="333333"/>
                          </a:solidFill>
                          <a:effectLst/>
                          <a:latin typeface="+mn-lt"/>
                        </a:rPr>
                        <a:t>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a:solidFill>
                            <a:srgbClr val="333333"/>
                          </a:solidFill>
                          <a:effectLst/>
                          <a:latin typeface="+mn-lt"/>
                        </a:rPr>
                        <a:t>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73763432"/>
                  </a:ext>
                </a:extLst>
              </a:tr>
              <a:tr h="0">
                <a:tc>
                  <a:txBody>
                    <a:bodyPr/>
                    <a:lstStyle/>
                    <a:p>
                      <a:pPr algn="ctr" fontAlgn="t"/>
                      <a:r>
                        <a:rPr lang="en-IN" b="1">
                          <a:solidFill>
                            <a:srgbClr val="333333"/>
                          </a:solidFill>
                          <a:effectLst/>
                          <a:latin typeface="+mn-lt"/>
                        </a:rPr>
                        <a:t>Protected</a:t>
                      </a:r>
                      <a:endParaRPr lang="en-IN">
                        <a:solidFill>
                          <a:srgbClr val="333333"/>
                        </a:solidFill>
                        <a:effectLst/>
                        <a:latin typeface="+mn-lt"/>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dirty="0">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dirty="0">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a:solidFill>
                            <a:srgbClr val="333333"/>
                          </a:solidFill>
                          <a:effectLst/>
                          <a:latin typeface="+mn-lt"/>
                        </a:rPr>
                        <a:t>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498207905"/>
                  </a:ext>
                </a:extLst>
              </a:tr>
              <a:tr h="0">
                <a:tc>
                  <a:txBody>
                    <a:bodyPr/>
                    <a:lstStyle/>
                    <a:p>
                      <a:pPr algn="ctr" fontAlgn="t"/>
                      <a:r>
                        <a:rPr lang="en-IN" b="1">
                          <a:solidFill>
                            <a:srgbClr val="333333"/>
                          </a:solidFill>
                          <a:effectLst/>
                          <a:latin typeface="+mn-lt"/>
                        </a:rPr>
                        <a:t>Public</a:t>
                      </a:r>
                      <a:endParaRPr lang="en-IN">
                        <a:solidFill>
                          <a:srgbClr val="333333"/>
                        </a:solidFill>
                        <a:effectLst/>
                        <a:latin typeface="+mn-lt"/>
                      </a:endParaRP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dirty="0">
                          <a:solidFill>
                            <a:srgbClr val="333333"/>
                          </a:solidFill>
                          <a:effectLst/>
                          <a:latin typeface="+mn-lt"/>
                        </a:rPr>
                        <a:t>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57098454"/>
                  </a:ext>
                </a:extLst>
              </a:tr>
            </a:tbl>
          </a:graphicData>
        </a:graphic>
      </p:graphicFrame>
    </p:spTree>
    <p:extLst>
      <p:ext uri="{BB962C8B-B14F-4D97-AF65-F5344CB8AC3E}">
        <p14:creationId xmlns:p14="http://schemas.microsoft.com/office/powerpoint/2010/main" val="218229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3AFEF-3268-B11F-C6D9-6F6032C8A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F2528-7F5B-9D45-C8BE-E9BD5331AFE2}"/>
              </a:ext>
            </a:extLst>
          </p:cNvPr>
          <p:cNvSpPr>
            <a:spLocks noGrp="1"/>
          </p:cNvSpPr>
          <p:nvPr>
            <p:ph type="title"/>
          </p:nvPr>
        </p:nvSpPr>
        <p:spPr>
          <a:xfrm>
            <a:off x="0" y="1"/>
            <a:ext cx="12192000" cy="711200"/>
          </a:xfrm>
        </p:spPr>
        <p:txBody>
          <a:bodyPr/>
          <a:lstStyle/>
          <a:p>
            <a:r>
              <a:rPr lang="en-US" dirty="0"/>
              <a:t>Exceptions</a:t>
            </a:r>
          </a:p>
        </p:txBody>
      </p:sp>
      <p:sp>
        <p:nvSpPr>
          <p:cNvPr id="3" name="Content Placeholder 2">
            <a:extLst>
              <a:ext uri="{FF2B5EF4-FFF2-40B4-BE49-F238E27FC236}">
                <a16:creationId xmlns:a16="http://schemas.microsoft.com/office/drawing/2014/main" id="{82A8B205-B1A8-881C-2AFA-8D4BBE765352}"/>
              </a:ext>
            </a:extLst>
          </p:cNvPr>
          <p:cNvSpPr>
            <a:spLocks noGrp="1"/>
          </p:cNvSpPr>
          <p:nvPr>
            <p:ph idx="1"/>
          </p:nvPr>
        </p:nvSpPr>
        <p:spPr>
          <a:xfrm>
            <a:off x="131180" y="723479"/>
            <a:ext cx="11929641" cy="5590565"/>
          </a:xfrm>
        </p:spPr>
        <p:txBody>
          <a:bodyPr/>
          <a:lstStyle/>
          <a:p>
            <a:r>
              <a:rPr lang="en-US" dirty="0"/>
              <a:t>An </a:t>
            </a:r>
            <a:r>
              <a:rPr lang="en-US" b="1" dirty="0">
                <a:solidFill>
                  <a:srgbClr val="B71B1C"/>
                </a:solidFill>
              </a:rPr>
              <a:t>exception</a:t>
            </a:r>
            <a:r>
              <a:rPr lang="en-US" dirty="0"/>
              <a:t> is an object that describes an </a:t>
            </a:r>
            <a:r>
              <a:rPr lang="en-US" b="1" dirty="0">
                <a:solidFill>
                  <a:srgbClr val="B71B1C"/>
                </a:solidFill>
              </a:rPr>
              <a:t>unusual</a:t>
            </a:r>
            <a:r>
              <a:rPr lang="en-US" dirty="0"/>
              <a:t> or </a:t>
            </a:r>
            <a:r>
              <a:rPr lang="en-US" b="1" dirty="0">
                <a:solidFill>
                  <a:srgbClr val="B71B1C"/>
                </a:solidFill>
              </a:rPr>
              <a:t>erroneous</a:t>
            </a:r>
            <a:r>
              <a:rPr lang="en-US" dirty="0"/>
              <a:t> </a:t>
            </a:r>
            <a:r>
              <a:rPr lang="en-US" b="1" dirty="0">
                <a:solidFill>
                  <a:srgbClr val="B71B1C"/>
                </a:solidFill>
              </a:rPr>
              <a:t>situation</a:t>
            </a:r>
            <a:r>
              <a:rPr lang="en-US" dirty="0"/>
              <a:t>.</a:t>
            </a:r>
          </a:p>
          <a:p>
            <a:r>
              <a:rPr lang="en-US" dirty="0"/>
              <a:t>Exceptions are thrown by a program, and may be caught and handled by another part of the program.</a:t>
            </a:r>
          </a:p>
          <a:p>
            <a:r>
              <a:rPr lang="en-US" dirty="0"/>
              <a:t>A program can be separated into a </a:t>
            </a:r>
            <a:r>
              <a:rPr lang="en-US" b="1" dirty="0">
                <a:solidFill>
                  <a:srgbClr val="B71B1C"/>
                </a:solidFill>
              </a:rPr>
              <a:t>normal execution flow </a:t>
            </a:r>
            <a:r>
              <a:rPr lang="en-US" dirty="0"/>
              <a:t>and an </a:t>
            </a:r>
            <a:r>
              <a:rPr lang="en-US" b="1" dirty="0">
                <a:solidFill>
                  <a:srgbClr val="B71B1C"/>
                </a:solidFill>
              </a:rPr>
              <a:t>exception execution flow</a:t>
            </a:r>
            <a:r>
              <a:rPr lang="en-US" dirty="0"/>
              <a:t>.</a:t>
            </a:r>
          </a:p>
          <a:p>
            <a:r>
              <a:rPr lang="en-US" dirty="0"/>
              <a:t>An error is also represented as an object in Java, but usually represents a unrecoverable situation and should not be caught.</a:t>
            </a:r>
          </a:p>
          <a:p>
            <a:r>
              <a:rPr lang="en-US" dirty="0"/>
              <a:t>Java has a predefined set of exceptions and errors that can occur during execution.</a:t>
            </a:r>
          </a:p>
          <a:p>
            <a:r>
              <a:rPr lang="en-US" dirty="0"/>
              <a:t>A program can deal with an exception in one of three ways:</a:t>
            </a:r>
          </a:p>
          <a:p>
            <a:pPr lvl="1"/>
            <a:r>
              <a:rPr lang="en-US" sz="2200" b="1" dirty="0">
                <a:solidFill>
                  <a:srgbClr val="B71B1C"/>
                </a:solidFill>
              </a:rPr>
              <a:t>ignore</a:t>
            </a:r>
            <a:r>
              <a:rPr lang="en-US" sz="2200" dirty="0"/>
              <a:t> it</a:t>
            </a:r>
          </a:p>
          <a:p>
            <a:pPr lvl="1"/>
            <a:r>
              <a:rPr lang="en-US" sz="2200" b="1" dirty="0">
                <a:solidFill>
                  <a:srgbClr val="B71B1C"/>
                </a:solidFill>
              </a:rPr>
              <a:t>handle</a:t>
            </a:r>
            <a:r>
              <a:rPr lang="en-US" sz="2200" dirty="0"/>
              <a:t> it where it occurs</a:t>
            </a:r>
          </a:p>
          <a:p>
            <a:pPr lvl="1"/>
            <a:r>
              <a:rPr lang="en-US" sz="2200" dirty="0"/>
              <a:t>handle it at </a:t>
            </a:r>
            <a:r>
              <a:rPr lang="en-US" sz="2200" b="1" dirty="0">
                <a:solidFill>
                  <a:srgbClr val="B71B1C"/>
                </a:solidFill>
              </a:rPr>
              <a:t>another place </a:t>
            </a:r>
            <a:r>
              <a:rPr lang="en-US" sz="2200" dirty="0"/>
              <a:t>in the program</a:t>
            </a:r>
          </a:p>
          <a:p>
            <a:r>
              <a:rPr lang="en-US" dirty="0"/>
              <a:t>The manner in which an exception is processed is an important design consideration.</a:t>
            </a:r>
          </a:p>
          <a:p>
            <a:endParaRPr lang="en-US" dirty="0"/>
          </a:p>
        </p:txBody>
      </p:sp>
    </p:spTree>
    <p:extLst>
      <p:ext uri="{BB962C8B-B14F-4D97-AF65-F5344CB8AC3E}">
        <p14:creationId xmlns:p14="http://schemas.microsoft.com/office/powerpoint/2010/main" val="1506032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3AFEF-3268-B11F-C6D9-6F6032C8A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F2528-7F5B-9D45-C8BE-E9BD5331AFE2}"/>
              </a:ext>
            </a:extLst>
          </p:cNvPr>
          <p:cNvSpPr>
            <a:spLocks noGrp="1"/>
          </p:cNvSpPr>
          <p:nvPr>
            <p:ph type="title"/>
          </p:nvPr>
        </p:nvSpPr>
        <p:spPr>
          <a:xfrm>
            <a:off x="0" y="1"/>
            <a:ext cx="12192000" cy="711200"/>
          </a:xfrm>
        </p:spPr>
        <p:txBody>
          <a:bodyPr>
            <a:normAutofit/>
          </a:bodyPr>
          <a:lstStyle/>
          <a:p>
            <a:r>
              <a:rPr lang="en-US" dirty="0" smtClean="0"/>
              <a:t>Exception handling using try and catch block</a:t>
            </a:r>
            <a:endParaRPr lang="en-US" dirty="0"/>
          </a:p>
        </p:txBody>
      </p:sp>
      <p:sp>
        <p:nvSpPr>
          <p:cNvPr id="3" name="Content Placeholder 2">
            <a:extLst>
              <a:ext uri="{FF2B5EF4-FFF2-40B4-BE49-F238E27FC236}">
                <a16:creationId xmlns:a16="http://schemas.microsoft.com/office/drawing/2014/main" id="{82A8B205-B1A8-881C-2AFA-8D4BBE765352}"/>
              </a:ext>
            </a:extLst>
          </p:cNvPr>
          <p:cNvSpPr>
            <a:spLocks noGrp="1"/>
          </p:cNvSpPr>
          <p:nvPr>
            <p:ph idx="1"/>
          </p:nvPr>
        </p:nvSpPr>
        <p:spPr>
          <a:xfrm>
            <a:off x="131180" y="779465"/>
            <a:ext cx="11929641" cy="5590565"/>
          </a:xfrm>
        </p:spPr>
        <p:txBody>
          <a:bodyPr/>
          <a:lstStyle/>
          <a:p>
            <a:r>
              <a:rPr lang="en-US" dirty="0"/>
              <a:t>Exception handling is an object-oriented technique for managing errors. While performing exception handling, we try to ensure that the program does not terminate abruptly nor does it generate unexpected output</a:t>
            </a:r>
            <a:r>
              <a:rPr lang="en-US" dirty="0" smtClean="0"/>
              <a:t>.</a:t>
            </a:r>
          </a:p>
          <a:p>
            <a:r>
              <a:rPr lang="en-US" dirty="0" smtClean="0"/>
              <a:t>A </a:t>
            </a:r>
            <a:r>
              <a:rPr lang="en-US" dirty="0"/>
              <a:t>try block contains the code that may give rise to one or more exceptions</a:t>
            </a:r>
            <a:r>
              <a:rPr lang="en-US" dirty="0" smtClean="0"/>
              <a:t>.</a:t>
            </a:r>
          </a:p>
          <a:p>
            <a:r>
              <a:rPr lang="en-US" dirty="0" smtClean="0"/>
              <a:t>A </a:t>
            </a:r>
            <a:r>
              <a:rPr lang="en-US" dirty="0"/>
              <a:t>catch block contains the code that is intended to handle exceptions of a particular type that were created in the associated try block</a:t>
            </a:r>
            <a:r>
              <a:rPr lang="en-US" dirty="0" smtClean="0"/>
              <a:t>.</a:t>
            </a:r>
          </a:p>
          <a:p>
            <a:r>
              <a:rPr lang="en-US" dirty="0" smtClean="0"/>
              <a:t>A </a:t>
            </a:r>
            <a:r>
              <a:rPr lang="en-US" dirty="0"/>
              <a:t>finally block is always executed before the program ends, regardless of whether any exceptions are generated in the try block or not</a:t>
            </a:r>
            <a:r>
              <a:rPr lang="en-US" dirty="0" smtClean="0"/>
              <a:t>.</a:t>
            </a:r>
          </a:p>
          <a:p>
            <a:r>
              <a:rPr lang="en-US" dirty="0" smtClean="0"/>
              <a:t>Note</a:t>
            </a:r>
            <a:r>
              <a:rPr lang="en-US" dirty="0"/>
              <a:t>: Try and catch block must be written together. Individual try or catch block will generate compile time error</a:t>
            </a:r>
            <a:r>
              <a:rPr lang="en-US" dirty="0" smtClean="0"/>
              <a:t>.</a:t>
            </a:r>
          </a:p>
        </p:txBody>
      </p:sp>
    </p:spTree>
    <p:extLst>
      <p:ext uri="{BB962C8B-B14F-4D97-AF65-F5344CB8AC3E}">
        <p14:creationId xmlns:p14="http://schemas.microsoft.com/office/powerpoint/2010/main" val="350901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3AFEF-3268-B11F-C6D9-6F6032C8A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F2528-7F5B-9D45-C8BE-E9BD5331AFE2}"/>
              </a:ext>
            </a:extLst>
          </p:cNvPr>
          <p:cNvSpPr>
            <a:spLocks noGrp="1"/>
          </p:cNvSpPr>
          <p:nvPr>
            <p:ph type="title"/>
          </p:nvPr>
        </p:nvSpPr>
        <p:spPr>
          <a:xfrm>
            <a:off x="0" y="1"/>
            <a:ext cx="12192000" cy="711200"/>
          </a:xfrm>
        </p:spPr>
        <p:txBody>
          <a:bodyPr>
            <a:normAutofit/>
          </a:bodyPr>
          <a:lstStyle/>
          <a:p>
            <a:r>
              <a:rPr lang="en-US" dirty="0" smtClean="0"/>
              <a:t>Exception handling using try and catch block</a:t>
            </a:r>
            <a:endParaRPr lang="en-US" dirty="0"/>
          </a:p>
        </p:txBody>
      </p:sp>
      <p:sp>
        <p:nvSpPr>
          <p:cNvPr id="3" name="Content Placeholder 2">
            <a:extLst>
              <a:ext uri="{FF2B5EF4-FFF2-40B4-BE49-F238E27FC236}">
                <a16:creationId xmlns:a16="http://schemas.microsoft.com/office/drawing/2014/main" id="{82A8B205-B1A8-881C-2AFA-8D4BBE765352}"/>
              </a:ext>
            </a:extLst>
          </p:cNvPr>
          <p:cNvSpPr>
            <a:spLocks noGrp="1"/>
          </p:cNvSpPr>
          <p:nvPr>
            <p:ph idx="1"/>
          </p:nvPr>
        </p:nvSpPr>
        <p:spPr>
          <a:xfrm>
            <a:off x="131180" y="779465"/>
            <a:ext cx="11929641" cy="5590565"/>
          </a:xfrm>
        </p:spPr>
        <p:txBody>
          <a:bodyPr/>
          <a:lstStyle/>
          <a:p>
            <a:r>
              <a:rPr lang="en-US" dirty="0"/>
              <a:t>The try block: The code we want to monitor for exceptions must be written try block. It will thrown an exception if there is any otherwise it works like normal program. A try block may give rise to one or more exceptions</a:t>
            </a:r>
            <a:r>
              <a:rPr lang="en-US" dirty="0" smtClean="0"/>
              <a:t>.</a:t>
            </a:r>
          </a:p>
          <a:p>
            <a:r>
              <a:rPr lang="en-US" dirty="0" smtClean="0"/>
              <a:t>The </a:t>
            </a:r>
            <a:r>
              <a:rPr lang="en-US" dirty="0"/>
              <a:t>catch block: It contains the code that is to be executed to handle an exception. It is an exception handler, for a single try block there can be one or more catch blocks</a:t>
            </a:r>
            <a:r>
              <a:rPr lang="en-US" dirty="0" smtClean="0"/>
              <a:t>.</a:t>
            </a:r>
          </a:p>
          <a:p>
            <a:r>
              <a:rPr lang="en-US" dirty="0" smtClean="0"/>
              <a:t>Syntax:</a:t>
            </a:r>
            <a:endParaRPr lang="en-US" dirty="0"/>
          </a:p>
          <a:p>
            <a:pPr marL="457200" lvl="1" indent="0">
              <a:buNone/>
            </a:pPr>
            <a:r>
              <a:rPr lang="en-US" sz="2400" dirty="0" smtClean="0"/>
              <a:t>try</a:t>
            </a:r>
            <a:endParaRPr lang="en-US" sz="2400" dirty="0"/>
          </a:p>
          <a:p>
            <a:pPr marL="457200" lvl="1" indent="0">
              <a:buNone/>
            </a:pPr>
            <a:r>
              <a:rPr lang="en-US" sz="2400" dirty="0"/>
              <a:t>{</a:t>
            </a:r>
          </a:p>
          <a:p>
            <a:pPr marL="457200" lvl="1" indent="0">
              <a:buNone/>
            </a:pPr>
            <a:r>
              <a:rPr lang="en-US" sz="2400" dirty="0"/>
              <a:t> //code</a:t>
            </a:r>
          </a:p>
          <a:p>
            <a:pPr marL="457200" lvl="1" indent="0">
              <a:buNone/>
            </a:pPr>
            <a:r>
              <a:rPr lang="en-US" sz="2400" dirty="0"/>
              <a:t>}</a:t>
            </a:r>
          </a:p>
          <a:p>
            <a:pPr marL="457200" lvl="1" indent="0">
              <a:buNone/>
            </a:pPr>
            <a:r>
              <a:rPr lang="en-US" sz="2400" dirty="0" smtClean="0"/>
              <a:t>catch(</a:t>
            </a:r>
            <a:r>
              <a:rPr lang="en-US" sz="2400" dirty="0" err="1" smtClean="0"/>
              <a:t>Exceptiontype</a:t>
            </a:r>
            <a:r>
              <a:rPr lang="en-US" sz="2400" dirty="0" smtClean="0"/>
              <a:t> </a:t>
            </a:r>
            <a:r>
              <a:rPr lang="en-US" sz="2400" dirty="0" err="1" smtClean="0"/>
              <a:t>Exceptionobject</a:t>
            </a:r>
            <a:r>
              <a:rPr lang="en-US" sz="2400" dirty="0"/>
              <a:t>)</a:t>
            </a:r>
          </a:p>
          <a:p>
            <a:pPr marL="457200" lvl="1" indent="0">
              <a:buNone/>
            </a:pPr>
            <a:r>
              <a:rPr lang="en-US" sz="2400" dirty="0"/>
              <a:t>{</a:t>
            </a:r>
          </a:p>
          <a:p>
            <a:pPr marL="457200" lvl="1" indent="0">
              <a:buNone/>
            </a:pPr>
            <a:r>
              <a:rPr lang="en-US" sz="2400" dirty="0"/>
              <a:t> //error message to display</a:t>
            </a:r>
          </a:p>
          <a:p>
            <a:pPr marL="457200" lvl="1" indent="0">
              <a:buNone/>
            </a:pPr>
            <a:r>
              <a:rPr lang="en-US" sz="2400" dirty="0"/>
              <a:t>}</a:t>
            </a:r>
            <a:endParaRPr lang="en-US" sz="2400" dirty="0" smtClean="0"/>
          </a:p>
        </p:txBody>
      </p:sp>
    </p:spTree>
    <p:extLst>
      <p:ext uri="{BB962C8B-B14F-4D97-AF65-F5344CB8AC3E}">
        <p14:creationId xmlns:p14="http://schemas.microsoft.com/office/powerpoint/2010/main" val="186476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3AFEF-3268-B11F-C6D9-6F6032C8A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F2528-7F5B-9D45-C8BE-E9BD5331AFE2}"/>
              </a:ext>
            </a:extLst>
          </p:cNvPr>
          <p:cNvSpPr>
            <a:spLocks noGrp="1"/>
          </p:cNvSpPr>
          <p:nvPr>
            <p:ph type="title"/>
          </p:nvPr>
        </p:nvSpPr>
        <p:spPr>
          <a:xfrm>
            <a:off x="0" y="1"/>
            <a:ext cx="12192000" cy="711200"/>
          </a:xfrm>
        </p:spPr>
        <p:txBody>
          <a:bodyPr>
            <a:normAutofit/>
          </a:bodyPr>
          <a:lstStyle/>
          <a:p>
            <a:r>
              <a:rPr lang="en-US" dirty="0" smtClean="0"/>
              <a:t>Exception handling using try and catch block</a:t>
            </a:r>
            <a:endParaRPr lang="en-US" dirty="0"/>
          </a:p>
        </p:txBody>
      </p:sp>
      <p:sp>
        <p:nvSpPr>
          <p:cNvPr id="3" name="Content Placeholder 2">
            <a:extLst>
              <a:ext uri="{FF2B5EF4-FFF2-40B4-BE49-F238E27FC236}">
                <a16:creationId xmlns:a16="http://schemas.microsoft.com/office/drawing/2014/main" id="{82A8B205-B1A8-881C-2AFA-8D4BBE765352}"/>
              </a:ext>
            </a:extLst>
          </p:cNvPr>
          <p:cNvSpPr>
            <a:spLocks noGrp="1"/>
          </p:cNvSpPr>
          <p:nvPr>
            <p:ph idx="1"/>
          </p:nvPr>
        </p:nvSpPr>
        <p:spPr>
          <a:xfrm>
            <a:off x="131180" y="779465"/>
            <a:ext cx="11929641" cy="5590565"/>
          </a:xfrm>
        </p:spPr>
        <p:txBody>
          <a:bodyPr/>
          <a:lstStyle/>
          <a:p>
            <a:r>
              <a:rPr lang="en-US" dirty="0"/>
              <a:t>Java supports various types of exceptions. We can have more than one catch blocks for a single try block</a:t>
            </a:r>
            <a:r>
              <a:rPr lang="en-US" dirty="0" smtClean="0"/>
              <a:t>.</a:t>
            </a:r>
          </a:p>
          <a:p>
            <a:endParaRPr lang="en-US" dirty="0" smtClean="0"/>
          </a:p>
          <a:p>
            <a:r>
              <a:rPr lang="en-US" dirty="0"/>
              <a:t>If the try block throws several different kinds of exceptions, we can multiple catch blocks, each handling a specific type of exception</a:t>
            </a:r>
            <a:r>
              <a:rPr lang="en-US" dirty="0" smtClean="0"/>
              <a:t>.</a:t>
            </a:r>
          </a:p>
          <a:p>
            <a:endParaRPr lang="en-US" dirty="0" smtClean="0"/>
          </a:p>
          <a:p>
            <a:r>
              <a:rPr lang="en-US" dirty="0" smtClean="0"/>
              <a:t>We can also write various catch block and general catch block together.</a:t>
            </a:r>
          </a:p>
          <a:p>
            <a:endParaRPr lang="en-US" dirty="0"/>
          </a:p>
          <a:p>
            <a:r>
              <a:rPr lang="en-US" dirty="0" smtClean="0"/>
              <a:t>Note: The </a:t>
            </a:r>
            <a:r>
              <a:rPr lang="en-US" dirty="0"/>
              <a:t>general catch block can handle any type of exception. It is a kind of default catch block and must be the last block when there are multiple catch blocks. While writing program, the order of the specific catch blocks does not matter but the default has to be placed at the end of all catch blocks.</a:t>
            </a:r>
            <a:endParaRPr lang="en-US" dirty="0" smtClean="0"/>
          </a:p>
        </p:txBody>
      </p:sp>
    </p:spTree>
    <p:extLst>
      <p:ext uri="{BB962C8B-B14F-4D97-AF65-F5344CB8AC3E}">
        <p14:creationId xmlns:p14="http://schemas.microsoft.com/office/powerpoint/2010/main" val="35956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A4E18F-F07F-248C-65AC-35937E0EB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03B95-D081-C075-A768-927232473C0E}"/>
              </a:ext>
            </a:extLst>
          </p:cNvPr>
          <p:cNvSpPr>
            <a:spLocks noGrp="1"/>
          </p:cNvSpPr>
          <p:nvPr>
            <p:ph type="title"/>
          </p:nvPr>
        </p:nvSpPr>
        <p:spPr>
          <a:xfrm>
            <a:off x="0" y="1"/>
            <a:ext cx="12192000" cy="711200"/>
          </a:xfrm>
        </p:spPr>
        <p:txBody>
          <a:bodyPr/>
          <a:lstStyle/>
          <a:p>
            <a:r>
              <a:rPr lang="en-US" dirty="0"/>
              <a:t>Using try and catch</a:t>
            </a:r>
          </a:p>
        </p:txBody>
      </p:sp>
      <p:sp>
        <p:nvSpPr>
          <p:cNvPr id="3" name="Content Placeholder 2">
            <a:extLst>
              <a:ext uri="{FF2B5EF4-FFF2-40B4-BE49-F238E27FC236}">
                <a16:creationId xmlns:a16="http://schemas.microsoft.com/office/drawing/2014/main" id="{26639C56-4B50-E4AE-492D-31C46C8847A4}"/>
              </a:ext>
            </a:extLst>
          </p:cNvPr>
          <p:cNvSpPr>
            <a:spLocks noGrp="1"/>
          </p:cNvSpPr>
          <p:nvPr>
            <p:ph idx="1"/>
          </p:nvPr>
        </p:nvSpPr>
        <p:spPr>
          <a:xfrm>
            <a:off x="131180" y="863444"/>
            <a:ext cx="11929641" cy="5590565"/>
          </a:xfrm>
        </p:spPr>
        <p:txBody>
          <a:bodyPr/>
          <a:lstStyle/>
          <a:p>
            <a:pPr lvl="0"/>
            <a:r>
              <a:rPr lang="en-US" dirty="0"/>
              <a:t>Example:</a:t>
            </a:r>
          </a:p>
          <a:p>
            <a:pPr lvl="0"/>
            <a:endParaRPr lang="en-US" dirty="0"/>
          </a:p>
          <a:p>
            <a:pPr lvl="0"/>
            <a:endParaRPr lang="en-US" dirty="0"/>
          </a:p>
          <a:p>
            <a:pPr lvl="0"/>
            <a:endParaRPr lang="en-US" dirty="0"/>
          </a:p>
          <a:p>
            <a:pPr lvl="0"/>
            <a:endParaRPr lang="en-US" dirty="0"/>
          </a:p>
          <a:p>
            <a:pPr lvl="0"/>
            <a:r>
              <a:rPr lang="en-US" dirty="0">
                <a:ea typeface="Times New Roman" panose="02020603050405020304" pitchFamily="18" charset="0"/>
                <a:cs typeface="Times New Roman" panose="02020603050405020304" pitchFamily="18" charset="0"/>
              </a:rPr>
              <a:t>Multiple catch:</a:t>
            </a:r>
          </a:p>
          <a:p>
            <a:endParaRPr lang="en-US" dirty="0"/>
          </a:p>
        </p:txBody>
      </p:sp>
      <p:sp>
        <p:nvSpPr>
          <p:cNvPr id="4" name="Rectangle 3">
            <a:extLst>
              <a:ext uri="{FF2B5EF4-FFF2-40B4-BE49-F238E27FC236}">
                <a16:creationId xmlns:a16="http://schemas.microsoft.com/office/drawing/2014/main" id="{105D9BA5-0231-D81A-75FE-79A8C45E51F0}"/>
              </a:ext>
            </a:extLst>
          </p:cNvPr>
          <p:cNvSpPr/>
          <p:nvPr/>
        </p:nvSpPr>
        <p:spPr>
          <a:xfrm>
            <a:off x="518679" y="1274618"/>
            <a:ext cx="5791200" cy="1754326"/>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try</a:t>
            </a:r>
            <a:r>
              <a:rPr lang="en-US" dirty="0">
                <a:solidFill>
                  <a:srgbClr val="000000"/>
                </a:solidFill>
                <a:latin typeface="Consolas"/>
              </a:rPr>
              <a:t>{</a:t>
            </a:r>
          </a:p>
          <a:p>
            <a:r>
              <a:rPr lang="en-US" dirty="0">
                <a:solidFill>
                  <a:srgbClr val="3F7F5F"/>
                </a:solidFill>
                <a:latin typeface="Consolas"/>
              </a:rPr>
              <a:t>	// code that may cause exception</a:t>
            </a:r>
          </a:p>
          <a:p>
            <a:r>
              <a:rPr lang="en-US" dirty="0">
                <a:solidFill>
                  <a:srgbClr val="000000"/>
                </a:solidFill>
                <a:latin typeface="Consolas"/>
              </a:rPr>
              <a:t>}</a:t>
            </a:r>
          </a:p>
          <a:p>
            <a:r>
              <a:rPr lang="en-US" b="1" dirty="0">
                <a:solidFill>
                  <a:srgbClr val="7F0055"/>
                </a:solidFill>
                <a:latin typeface="Consolas"/>
              </a:rPr>
              <a:t>catch</a:t>
            </a:r>
            <a:r>
              <a:rPr lang="en-US" b="1" dirty="0">
                <a:solidFill>
                  <a:srgbClr val="000000"/>
                </a:solidFill>
                <a:latin typeface="Consolas"/>
              </a:rPr>
              <a:t>(Exception </a:t>
            </a:r>
            <a:r>
              <a:rPr lang="en-US" b="1" dirty="0">
                <a:solidFill>
                  <a:srgbClr val="6A3E3E"/>
                </a:solidFill>
                <a:latin typeface="Consolas"/>
              </a:rPr>
              <a:t>e</a:t>
            </a:r>
            <a:r>
              <a:rPr lang="en-US" b="1" dirty="0">
                <a:solidFill>
                  <a:srgbClr val="000000"/>
                </a:solidFill>
                <a:latin typeface="Consolas"/>
              </a:rPr>
              <a:t>)</a:t>
            </a:r>
            <a:r>
              <a:rPr lang="en-US" dirty="0">
                <a:solidFill>
                  <a:srgbClr val="000000"/>
                </a:solidFill>
                <a:latin typeface="Consolas"/>
              </a:rPr>
              <a:t>{</a:t>
            </a:r>
          </a:p>
          <a:p>
            <a:r>
              <a:rPr lang="en-US" dirty="0">
                <a:solidFill>
                  <a:srgbClr val="3F7F5F"/>
                </a:solidFill>
                <a:latin typeface="Consolas"/>
              </a:rPr>
              <a:t>	// code when exception occurred</a:t>
            </a:r>
          </a:p>
          <a:p>
            <a:r>
              <a:rPr lang="en-US" dirty="0">
                <a:solidFill>
                  <a:srgbClr val="000000"/>
                </a:solidFill>
                <a:latin typeface="Consolas"/>
              </a:rPr>
              <a:t>}</a:t>
            </a:r>
            <a:endParaRPr lang="en-US" dirty="0"/>
          </a:p>
        </p:txBody>
      </p:sp>
      <p:sp>
        <p:nvSpPr>
          <p:cNvPr id="5" name="Rectangle 4">
            <a:extLst>
              <a:ext uri="{FF2B5EF4-FFF2-40B4-BE49-F238E27FC236}">
                <a16:creationId xmlns:a16="http://schemas.microsoft.com/office/drawing/2014/main" id="{2E874600-5CA5-E196-C7AA-DE997635DD6F}"/>
              </a:ext>
            </a:extLst>
          </p:cNvPr>
          <p:cNvSpPr/>
          <p:nvPr/>
        </p:nvSpPr>
        <p:spPr>
          <a:xfrm>
            <a:off x="518679" y="3574408"/>
            <a:ext cx="7543800" cy="2585323"/>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try</a:t>
            </a:r>
            <a:r>
              <a:rPr lang="en-US" dirty="0">
                <a:solidFill>
                  <a:srgbClr val="000000"/>
                </a:solidFill>
                <a:latin typeface="Consolas"/>
              </a:rPr>
              <a:t>{</a:t>
            </a:r>
          </a:p>
          <a:p>
            <a:r>
              <a:rPr lang="en-US" dirty="0">
                <a:solidFill>
                  <a:srgbClr val="3F7F5F"/>
                </a:solidFill>
                <a:latin typeface="Consolas"/>
              </a:rPr>
              <a:t>	// code that may cause exception</a:t>
            </a:r>
          </a:p>
          <a:p>
            <a:r>
              <a:rPr lang="en-US" dirty="0">
                <a:solidFill>
                  <a:srgbClr val="000000"/>
                </a:solidFill>
                <a:latin typeface="Consolas"/>
              </a:rPr>
              <a:t>}</a:t>
            </a:r>
          </a:p>
          <a:p>
            <a:r>
              <a:rPr lang="en-US" b="1" dirty="0">
                <a:solidFill>
                  <a:srgbClr val="7F0055"/>
                </a:solidFill>
                <a:latin typeface="Consolas"/>
              </a:rPr>
              <a:t>catch</a:t>
            </a:r>
            <a:r>
              <a:rPr lang="en-US" b="1" dirty="0">
                <a:solidFill>
                  <a:srgbClr val="000000"/>
                </a:solidFill>
                <a:latin typeface="Consolas"/>
              </a:rPr>
              <a:t>(</a:t>
            </a:r>
            <a:r>
              <a:rPr lang="en-US" b="1" dirty="0" err="1">
                <a:solidFill>
                  <a:srgbClr val="000000"/>
                </a:solidFill>
                <a:latin typeface="Consolas"/>
              </a:rPr>
              <a:t>ArithmeticException</a:t>
            </a:r>
            <a:r>
              <a:rPr lang="en-US" b="1" dirty="0">
                <a:solidFill>
                  <a:srgbClr val="000000"/>
                </a:solidFill>
                <a:latin typeface="Consolas"/>
              </a:rPr>
              <a:t> </a:t>
            </a:r>
            <a:r>
              <a:rPr lang="en-US" b="1" dirty="0" err="1">
                <a:solidFill>
                  <a:srgbClr val="6A3E3E"/>
                </a:solidFill>
                <a:latin typeface="Consolas"/>
              </a:rPr>
              <a:t>ae</a:t>
            </a:r>
            <a:r>
              <a:rPr lang="en-US" b="1" dirty="0">
                <a:solidFill>
                  <a:srgbClr val="000000"/>
                </a:solidFill>
                <a:latin typeface="Consolas"/>
              </a:rPr>
              <a:t>)</a:t>
            </a:r>
            <a:r>
              <a:rPr lang="en-US" dirty="0">
                <a:solidFill>
                  <a:srgbClr val="000000"/>
                </a:solidFill>
                <a:latin typeface="Consolas"/>
              </a:rPr>
              <a:t>{</a:t>
            </a:r>
          </a:p>
          <a:p>
            <a:r>
              <a:rPr lang="en-US" dirty="0">
                <a:solidFill>
                  <a:srgbClr val="3F7F5F"/>
                </a:solidFill>
                <a:latin typeface="Consolas"/>
              </a:rPr>
              <a:t>	// code when arithmetic exception occurred</a:t>
            </a:r>
          </a:p>
          <a:p>
            <a:r>
              <a:rPr lang="en-US" dirty="0">
                <a:solidFill>
                  <a:srgbClr val="000000"/>
                </a:solidFill>
                <a:latin typeface="Consolas"/>
              </a:rPr>
              <a:t>}</a:t>
            </a:r>
          </a:p>
          <a:p>
            <a:r>
              <a:rPr lang="en-US" b="1" dirty="0">
                <a:solidFill>
                  <a:srgbClr val="7F0055"/>
                </a:solidFill>
                <a:latin typeface="Consolas"/>
              </a:rPr>
              <a:t>catch</a:t>
            </a:r>
            <a:r>
              <a:rPr lang="en-US" b="1" dirty="0">
                <a:solidFill>
                  <a:srgbClr val="000000"/>
                </a:solidFill>
                <a:latin typeface="Consolas"/>
              </a:rPr>
              <a:t>(</a:t>
            </a:r>
            <a:r>
              <a:rPr lang="en-US" b="1" dirty="0" err="1">
                <a:solidFill>
                  <a:srgbClr val="000000"/>
                </a:solidFill>
                <a:latin typeface="Consolas"/>
              </a:rPr>
              <a:t>ArrayIndexOutOfBoundsException</a:t>
            </a:r>
            <a:r>
              <a:rPr lang="en-US" b="1" dirty="0">
                <a:solidFill>
                  <a:srgbClr val="000000"/>
                </a:solidFill>
                <a:latin typeface="Consolas"/>
              </a:rPr>
              <a:t> </a:t>
            </a:r>
            <a:r>
              <a:rPr lang="en-US" b="1" dirty="0" err="1">
                <a:solidFill>
                  <a:srgbClr val="6A3E3E"/>
                </a:solidFill>
                <a:latin typeface="Consolas"/>
              </a:rPr>
              <a:t>aiobe</a:t>
            </a:r>
            <a:r>
              <a:rPr lang="en-US" b="1" dirty="0">
                <a:solidFill>
                  <a:srgbClr val="000000"/>
                </a:solidFill>
                <a:latin typeface="Consolas"/>
              </a:rPr>
              <a:t>)</a:t>
            </a:r>
            <a:r>
              <a:rPr lang="en-US" dirty="0">
                <a:solidFill>
                  <a:srgbClr val="000000"/>
                </a:solidFill>
                <a:latin typeface="Consolas"/>
              </a:rPr>
              <a:t>{</a:t>
            </a:r>
          </a:p>
          <a:p>
            <a:r>
              <a:rPr lang="en-US" dirty="0">
                <a:solidFill>
                  <a:srgbClr val="3F7F5F"/>
                </a:solidFill>
                <a:latin typeface="Consolas"/>
              </a:rPr>
              <a:t>	// when array index out of bound exception occurred</a:t>
            </a:r>
          </a:p>
          <a:p>
            <a:r>
              <a:rPr lang="en-US" dirty="0">
                <a:solidFill>
                  <a:srgbClr val="000000"/>
                </a:solidFill>
                <a:latin typeface="Consolas"/>
              </a:rPr>
              <a:t>}</a:t>
            </a:r>
            <a:endParaRPr lang="en-US" dirty="0"/>
          </a:p>
        </p:txBody>
      </p:sp>
      <p:sp>
        <p:nvSpPr>
          <p:cNvPr id="6" name="Line Callout 1 5">
            <a:extLst>
              <a:ext uri="{FF2B5EF4-FFF2-40B4-BE49-F238E27FC236}">
                <a16:creationId xmlns:a16="http://schemas.microsoft.com/office/drawing/2014/main" id="{6431D56B-6701-EA4D-5892-3D254CC216B2}"/>
              </a:ext>
            </a:extLst>
          </p:cNvPr>
          <p:cNvSpPr/>
          <p:nvPr/>
        </p:nvSpPr>
        <p:spPr>
          <a:xfrm>
            <a:off x="6898179" y="1096200"/>
            <a:ext cx="4267200" cy="1219200"/>
          </a:xfrm>
          <a:prstGeom prst="borderCallout1">
            <a:avLst>
              <a:gd name="adj1" fmla="val 52083"/>
              <a:gd name="adj2" fmla="val -170"/>
              <a:gd name="adj3" fmla="val 90000"/>
              <a:gd name="adj4" fmla="val -1080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Exception is the </a:t>
            </a:r>
            <a:r>
              <a:rPr lang="en-US" dirty="0" err="1"/>
              <a:t>superclass</a:t>
            </a:r>
            <a:r>
              <a:rPr lang="en-US" dirty="0"/>
              <a:t> of all the exception that may occur in Java</a:t>
            </a:r>
          </a:p>
        </p:txBody>
      </p:sp>
    </p:spTree>
    <p:extLst>
      <p:ext uri="{BB962C8B-B14F-4D97-AF65-F5344CB8AC3E}">
        <p14:creationId xmlns:p14="http://schemas.microsoft.com/office/powerpoint/2010/main" val="28823326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
                                            <p:bg/>
                                          </p:spTgt>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5">
                                            <p:txEl>
                                              <p:pRg st="0" end="0"/>
                                            </p:txEl>
                                          </p:spTgt>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
                                            <p:txEl>
                                              <p:pRg st="1" end="1"/>
                                            </p:txEl>
                                          </p:spTgt>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
                                            <p:txEl>
                                              <p:pRg st="3" end="3"/>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
                                            <p:txEl>
                                              <p:pRg st="4" end="4"/>
                                            </p:txEl>
                                          </p:spTgt>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5">
                                            <p:txEl>
                                              <p:pRg st="6" end="6"/>
                                            </p:txEl>
                                          </p:spTgt>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5">
                                            <p:txEl>
                                              <p:pRg st="7" end="7"/>
                                            </p:txEl>
                                          </p:spTgt>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bldLvl="5" animBg="1"/>
      <p:bldP spid="5" grpId="0" uiExpand="1" build="p" bldLvl="4"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2EC51-7B4C-1558-67A5-4D0110F52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E9C2D-99C1-FFCE-D144-37856C10D620}"/>
              </a:ext>
            </a:extLst>
          </p:cNvPr>
          <p:cNvSpPr>
            <a:spLocks noGrp="1"/>
          </p:cNvSpPr>
          <p:nvPr>
            <p:ph type="title"/>
          </p:nvPr>
        </p:nvSpPr>
        <p:spPr>
          <a:xfrm>
            <a:off x="0" y="1"/>
            <a:ext cx="12192000" cy="711200"/>
          </a:xfrm>
        </p:spPr>
        <p:txBody>
          <a:bodyPr/>
          <a:lstStyle/>
          <a:p>
            <a:r>
              <a:rPr lang="en-US" dirty="0"/>
              <a:t>Nested try statements</a:t>
            </a:r>
          </a:p>
        </p:txBody>
      </p:sp>
      <p:sp>
        <p:nvSpPr>
          <p:cNvPr id="3" name="Rectangle 2">
            <a:extLst>
              <a:ext uri="{FF2B5EF4-FFF2-40B4-BE49-F238E27FC236}">
                <a16:creationId xmlns:a16="http://schemas.microsoft.com/office/drawing/2014/main" id="{ABAD85FD-9F28-308E-C1CB-E25CBBE0CE7A}"/>
              </a:ext>
            </a:extLst>
          </p:cNvPr>
          <p:cNvSpPr/>
          <p:nvPr/>
        </p:nvSpPr>
        <p:spPr>
          <a:xfrm>
            <a:off x="381000" y="1066800"/>
            <a:ext cx="8458200" cy="4524315"/>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try</a:t>
            </a:r>
          </a:p>
          <a:p>
            <a:r>
              <a:rPr lang="en-US" dirty="0">
                <a:solidFill>
                  <a:srgbClr val="000000"/>
                </a:solidFill>
                <a:latin typeface="Consolas"/>
              </a:rPr>
              <a:t>{</a:t>
            </a:r>
          </a:p>
          <a:p>
            <a:pPr lvl="1"/>
            <a:r>
              <a:rPr lang="en-US" b="1" dirty="0">
                <a:solidFill>
                  <a:srgbClr val="7F0055"/>
                </a:solidFill>
                <a:latin typeface="Consolas"/>
              </a:rPr>
              <a:t>try</a:t>
            </a:r>
          </a:p>
          <a:p>
            <a:pPr lvl="1"/>
            <a:r>
              <a:rPr lang="en-US" dirty="0">
                <a:solidFill>
                  <a:srgbClr val="000000"/>
                </a:solidFill>
                <a:latin typeface="Consolas"/>
              </a:rPr>
              <a:t>{</a:t>
            </a:r>
          </a:p>
          <a:p>
            <a:pPr lvl="1"/>
            <a:r>
              <a:rPr lang="en-US" dirty="0">
                <a:solidFill>
                  <a:srgbClr val="3F7F5F"/>
                </a:solidFill>
                <a:latin typeface="Consolas"/>
              </a:rPr>
              <a:t>	// code that may cause array index out of bound exception</a:t>
            </a:r>
          </a:p>
          <a:p>
            <a:pPr lvl="1"/>
            <a:r>
              <a:rPr lang="en-US" dirty="0">
                <a:solidFill>
                  <a:srgbClr val="000000"/>
                </a:solidFill>
                <a:latin typeface="Consolas"/>
              </a:rPr>
              <a:t>}</a:t>
            </a:r>
          </a:p>
          <a:p>
            <a:pPr lvl="1"/>
            <a:r>
              <a:rPr lang="en-US" b="1" dirty="0">
                <a:solidFill>
                  <a:srgbClr val="7F0055"/>
                </a:solidFill>
                <a:latin typeface="Consolas"/>
              </a:rPr>
              <a:t>catch</a:t>
            </a:r>
            <a:r>
              <a:rPr lang="en-US" b="1" dirty="0">
                <a:solidFill>
                  <a:srgbClr val="000000"/>
                </a:solidFill>
                <a:latin typeface="Consolas"/>
              </a:rPr>
              <a:t>(</a:t>
            </a:r>
            <a:r>
              <a:rPr lang="en-US" b="1" dirty="0" err="1">
                <a:solidFill>
                  <a:srgbClr val="000000"/>
                </a:solidFill>
                <a:latin typeface="Consolas"/>
              </a:rPr>
              <a:t>ArrayIndexOutOfBoundsException</a:t>
            </a:r>
            <a:r>
              <a:rPr lang="en-US" b="1" dirty="0">
                <a:solidFill>
                  <a:srgbClr val="000000"/>
                </a:solidFill>
                <a:latin typeface="Consolas"/>
              </a:rPr>
              <a:t> </a:t>
            </a:r>
            <a:r>
              <a:rPr lang="en-US" b="1" dirty="0" err="1">
                <a:solidFill>
                  <a:srgbClr val="6A3E3E"/>
                </a:solidFill>
                <a:latin typeface="Consolas"/>
              </a:rPr>
              <a:t>aiobe</a:t>
            </a:r>
            <a:r>
              <a:rPr lang="en-US" b="1" dirty="0">
                <a:solidFill>
                  <a:srgbClr val="000000"/>
                </a:solidFill>
                <a:latin typeface="Consolas"/>
              </a:rPr>
              <a:t>)</a:t>
            </a:r>
          </a:p>
          <a:p>
            <a:pPr lvl="1"/>
            <a:r>
              <a:rPr lang="en-US" dirty="0">
                <a:solidFill>
                  <a:srgbClr val="000000"/>
                </a:solidFill>
                <a:latin typeface="Consolas"/>
              </a:rPr>
              <a:t>{</a:t>
            </a:r>
          </a:p>
          <a:p>
            <a:pPr lvl="1"/>
            <a:r>
              <a:rPr lang="en-US" dirty="0">
                <a:solidFill>
                  <a:srgbClr val="3F7F5F"/>
                </a:solidFill>
                <a:latin typeface="Consolas"/>
              </a:rPr>
              <a:t>	// code when array index out of bound exception </a:t>
            </a:r>
            <a:r>
              <a:rPr lang="en-US" dirty="0" err="1">
                <a:solidFill>
                  <a:srgbClr val="3F7F5F"/>
                </a:solidFill>
                <a:latin typeface="Consolas"/>
              </a:rPr>
              <a:t>occured</a:t>
            </a:r>
            <a:endParaRPr lang="en-US" dirty="0">
              <a:solidFill>
                <a:srgbClr val="3F7F5F"/>
              </a:solidFill>
              <a:latin typeface="Consolas"/>
            </a:endParaRPr>
          </a:p>
          <a:p>
            <a:pPr lvl="1"/>
            <a:r>
              <a:rPr lang="en-US" dirty="0">
                <a:solidFill>
                  <a:srgbClr val="000000"/>
                </a:solidFill>
                <a:latin typeface="Consolas"/>
              </a:rPr>
              <a:t>}</a:t>
            </a:r>
          </a:p>
          <a:p>
            <a:pPr lvl="1"/>
            <a:r>
              <a:rPr lang="en-US" dirty="0">
                <a:solidFill>
                  <a:srgbClr val="3F7F5F"/>
                </a:solidFill>
                <a:latin typeface="Consolas"/>
              </a:rPr>
              <a:t>// other code that may cause arithmetic exception</a:t>
            </a:r>
          </a:p>
          <a:p>
            <a:r>
              <a:rPr lang="en-US" dirty="0">
                <a:solidFill>
                  <a:srgbClr val="000000"/>
                </a:solidFill>
                <a:latin typeface="Consolas"/>
              </a:rPr>
              <a:t>}</a:t>
            </a:r>
          </a:p>
          <a:p>
            <a:r>
              <a:rPr lang="en-US" b="1" dirty="0">
                <a:solidFill>
                  <a:srgbClr val="7F0055"/>
                </a:solidFill>
                <a:latin typeface="Consolas"/>
              </a:rPr>
              <a:t>catch</a:t>
            </a:r>
            <a:r>
              <a:rPr lang="en-US" b="1" dirty="0">
                <a:solidFill>
                  <a:srgbClr val="000000"/>
                </a:solidFill>
                <a:latin typeface="Consolas"/>
              </a:rPr>
              <a:t>(</a:t>
            </a:r>
            <a:r>
              <a:rPr lang="en-US" b="1" dirty="0" err="1">
                <a:solidFill>
                  <a:srgbClr val="000000"/>
                </a:solidFill>
                <a:latin typeface="Consolas"/>
              </a:rPr>
              <a:t>ArithmeticException</a:t>
            </a:r>
            <a:r>
              <a:rPr lang="en-US" b="1" dirty="0">
                <a:solidFill>
                  <a:srgbClr val="000000"/>
                </a:solidFill>
                <a:latin typeface="Consolas"/>
              </a:rPr>
              <a:t> </a:t>
            </a:r>
            <a:r>
              <a:rPr lang="en-US" b="1" dirty="0" err="1">
                <a:solidFill>
                  <a:srgbClr val="6A3E3E"/>
                </a:solidFill>
                <a:latin typeface="Consolas"/>
              </a:rPr>
              <a:t>ae</a:t>
            </a:r>
            <a:r>
              <a:rPr lang="en-US" b="1" dirty="0">
                <a:solidFill>
                  <a:srgbClr val="000000"/>
                </a:solidFill>
                <a:latin typeface="Consolas"/>
              </a:rPr>
              <a:t>)</a:t>
            </a:r>
          </a:p>
          <a:p>
            <a:r>
              <a:rPr lang="en-US" dirty="0">
                <a:solidFill>
                  <a:srgbClr val="000000"/>
                </a:solidFill>
                <a:latin typeface="Consolas"/>
              </a:rPr>
              <a:t>{</a:t>
            </a:r>
          </a:p>
          <a:p>
            <a:r>
              <a:rPr lang="en-US" dirty="0">
                <a:solidFill>
                  <a:srgbClr val="3F7F5F"/>
                </a:solidFill>
                <a:latin typeface="Consolas"/>
              </a:rPr>
              <a:t>	// code when arithmetic exception occurred</a:t>
            </a: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99345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CF3D6-882C-E05C-0C88-DFC4D2B88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DB2D6-9595-CE5A-AEAF-AD99B030201C}"/>
              </a:ext>
            </a:extLst>
          </p:cNvPr>
          <p:cNvSpPr>
            <a:spLocks noGrp="1"/>
          </p:cNvSpPr>
          <p:nvPr>
            <p:ph type="title"/>
          </p:nvPr>
        </p:nvSpPr>
        <p:spPr>
          <a:xfrm>
            <a:off x="0" y="1"/>
            <a:ext cx="12192000" cy="711200"/>
          </a:xfrm>
        </p:spPr>
        <p:txBody>
          <a:bodyPr/>
          <a:lstStyle/>
          <a:p>
            <a:r>
              <a:rPr lang="en-US" dirty="0"/>
              <a:t>Types of Exceptions</a:t>
            </a:r>
          </a:p>
        </p:txBody>
      </p:sp>
      <p:sp>
        <p:nvSpPr>
          <p:cNvPr id="3" name="Content Placeholder 2">
            <a:extLst>
              <a:ext uri="{FF2B5EF4-FFF2-40B4-BE49-F238E27FC236}">
                <a16:creationId xmlns:a16="http://schemas.microsoft.com/office/drawing/2014/main" id="{38FF8809-266A-0EEF-4BAF-6386F6082E56}"/>
              </a:ext>
            </a:extLst>
          </p:cNvPr>
          <p:cNvSpPr>
            <a:spLocks noGrp="1"/>
          </p:cNvSpPr>
          <p:nvPr>
            <p:ph idx="1"/>
          </p:nvPr>
        </p:nvSpPr>
        <p:spPr>
          <a:xfrm>
            <a:off x="131180" y="863444"/>
            <a:ext cx="11929641" cy="5590565"/>
          </a:xfrm>
        </p:spPr>
        <p:txBody>
          <a:bodyPr/>
          <a:lstStyle/>
          <a:p>
            <a:pPr marL="265113" lvl="1" indent="-265113">
              <a:spcBef>
                <a:spcPts val="1000"/>
              </a:spcBef>
              <a:buFont typeface="Wingdings 3" panose="05040102010807070707" pitchFamily="18" charset="2"/>
              <a:buChar char=""/>
            </a:pPr>
            <a:r>
              <a:rPr lang="en-US" sz="2400" dirty="0"/>
              <a:t>An exception is either checked or unchecked.</a:t>
            </a:r>
          </a:p>
          <a:p>
            <a:r>
              <a:rPr lang="en-US" b="1" dirty="0">
                <a:solidFill>
                  <a:srgbClr val="B71B1C"/>
                </a:solidFill>
              </a:rPr>
              <a:t>Checked</a:t>
            </a:r>
            <a:r>
              <a:rPr lang="en-US" dirty="0"/>
              <a:t> Exceptions</a:t>
            </a:r>
          </a:p>
          <a:p>
            <a:pPr lvl="1"/>
            <a:r>
              <a:rPr lang="en-US" sz="2200" dirty="0"/>
              <a:t>A checked exception either must be caught by a method, or must be listed in the throws clause of any method that may throw or propagate it.</a:t>
            </a:r>
          </a:p>
          <a:p>
            <a:pPr lvl="1"/>
            <a:r>
              <a:rPr lang="en-US" sz="2200" dirty="0"/>
              <a:t>The compiler will issue an error if a checked exception is not caught or asserted in a throws clause</a:t>
            </a:r>
          </a:p>
          <a:p>
            <a:pPr lvl="1"/>
            <a:r>
              <a:rPr lang="en-US" sz="2200" dirty="0"/>
              <a:t>Example: </a:t>
            </a:r>
            <a:r>
              <a:rPr lang="en-US" sz="2200" dirty="0" err="1"/>
              <a:t>IOException</a:t>
            </a:r>
            <a:r>
              <a:rPr lang="en-US" sz="2200" dirty="0"/>
              <a:t>, </a:t>
            </a:r>
            <a:r>
              <a:rPr lang="en-US" sz="2200" dirty="0" err="1"/>
              <a:t>SQLException</a:t>
            </a:r>
            <a:r>
              <a:rPr lang="en-US" sz="2200" dirty="0"/>
              <a:t> etc… </a:t>
            </a:r>
          </a:p>
          <a:p>
            <a:r>
              <a:rPr lang="en-US" b="1" dirty="0">
                <a:solidFill>
                  <a:srgbClr val="B71B1C"/>
                </a:solidFill>
              </a:rPr>
              <a:t>Unchecked</a:t>
            </a:r>
            <a:r>
              <a:rPr lang="en-US" dirty="0"/>
              <a:t> Exceptions</a:t>
            </a:r>
          </a:p>
          <a:p>
            <a:pPr lvl="1"/>
            <a:r>
              <a:rPr lang="en-US" sz="2200" dirty="0"/>
              <a:t>An unchecked exception does not require explicit handling, though it could be processed using try catch.</a:t>
            </a:r>
          </a:p>
          <a:p>
            <a:pPr lvl="1"/>
            <a:r>
              <a:rPr lang="en-US" sz="2200" dirty="0"/>
              <a:t>The only unchecked exceptions in Java are objects of type </a:t>
            </a:r>
            <a:r>
              <a:rPr lang="en-US" sz="2200" dirty="0" err="1"/>
              <a:t>RuntimeException</a:t>
            </a:r>
            <a:r>
              <a:rPr lang="en-US" sz="2200" dirty="0"/>
              <a:t> or any of its descendants.</a:t>
            </a:r>
          </a:p>
          <a:p>
            <a:pPr lvl="1"/>
            <a:r>
              <a:rPr lang="en-US" sz="2200" dirty="0"/>
              <a:t>Example: </a:t>
            </a:r>
            <a:r>
              <a:rPr lang="en-US" sz="2200" dirty="0" err="1"/>
              <a:t>ArithmeticException</a:t>
            </a:r>
            <a:r>
              <a:rPr lang="en-US" sz="2200" dirty="0"/>
              <a:t>, </a:t>
            </a:r>
            <a:r>
              <a:rPr lang="en-US" sz="2200" dirty="0" err="1"/>
              <a:t>ArrayIndexOutOfBoundsException</a:t>
            </a:r>
            <a:r>
              <a:rPr lang="en-US" sz="2200" dirty="0"/>
              <a:t>, </a:t>
            </a:r>
            <a:r>
              <a:rPr lang="en-US" sz="2200" dirty="0" err="1"/>
              <a:t>NullPointerException</a:t>
            </a:r>
            <a:r>
              <a:rPr lang="en-US" sz="2200" dirty="0"/>
              <a:t> etc..</a:t>
            </a:r>
          </a:p>
          <a:p>
            <a:pPr lvl="1"/>
            <a:endParaRPr lang="en-US" dirty="0"/>
          </a:p>
        </p:txBody>
      </p:sp>
    </p:spTree>
    <p:extLst>
      <p:ext uri="{BB962C8B-B14F-4D97-AF65-F5344CB8AC3E}">
        <p14:creationId xmlns:p14="http://schemas.microsoft.com/office/powerpoint/2010/main" val="268487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6153-E687-105A-9018-129D233B8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EF823-F7C6-05CE-86B5-A9B6E5688A35}"/>
              </a:ext>
            </a:extLst>
          </p:cNvPr>
          <p:cNvSpPr>
            <a:spLocks noGrp="1"/>
          </p:cNvSpPr>
          <p:nvPr>
            <p:ph type="title"/>
          </p:nvPr>
        </p:nvSpPr>
        <p:spPr>
          <a:xfrm>
            <a:off x="0" y="1"/>
            <a:ext cx="12192000" cy="711200"/>
          </a:xfrm>
        </p:spPr>
        <p:txBody>
          <a:bodyPr/>
          <a:lstStyle/>
          <a:p>
            <a:r>
              <a:rPr lang="en-US" dirty="0"/>
              <a:t>The Exception Class Hierarchy</a:t>
            </a:r>
          </a:p>
        </p:txBody>
      </p:sp>
      <p:sp>
        <p:nvSpPr>
          <p:cNvPr id="3" name="Content Placeholder 2">
            <a:extLst>
              <a:ext uri="{FF2B5EF4-FFF2-40B4-BE49-F238E27FC236}">
                <a16:creationId xmlns:a16="http://schemas.microsoft.com/office/drawing/2014/main" id="{BD44A906-8CAB-4021-47FB-EF959E453200}"/>
              </a:ext>
            </a:extLst>
          </p:cNvPr>
          <p:cNvSpPr>
            <a:spLocks noGrp="1"/>
          </p:cNvSpPr>
          <p:nvPr>
            <p:ph idx="1"/>
          </p:nvPr>
        </p:nvSpPr>
        <p:spPr>
          <a:xfrm>
            <a:off x="131181" y="863444"/>
            <a:ext cx="11979954" cy="5590565"/>
          </a:xfrm>
        </p:spPr>
        <p:txBody>
          <a:bodyPr/>
          <a:lstStyle/>
          <a:p>
            <a:r>
              <a:rPr lang="en-US" dirty="0"/>
              <a:t>Classes that define exceptions are related by inheritance, forming an exception class hierarchy.</a:t>
            </a:r>
          </a:p>
          <a:p>
            <a:r>
              <a:rPr lang="en-US" dirty="0"/>
              <a:t>All error and exception classes are </a:t>
            </a:r>
            <a:r>
              <a:rPr lang="en-US" dirty="0" err="1"/>
              <a:t>descendents</a:t>
            </a:r>
            <a:r>
              <a:rPr lang="en-US" dirty="0"/>
              <a:t> of the </a:t>
            </a:r>
            <a:r>
              <a:rPr lang="en-US" dirty="0" err="1"/>
              <a:t>Throwable</a:t>
            </a:r>
            <a:r>
              <a:rPr lang="en-US" dirty="0"/>
              <a:t> class</a:t>
            </a:r>
          </a:p>
          <a:p>
            <a:r>
              <a:rPr lang="en-US" dirty="0"/>
              <a:t>The custom exception can be created by extending the Exception class or one of its descendants.</a:t>
            </a:r>
          </a:p>
          <a:p>
            <a:endParaRPr lang="en-US" dirty="0"/>
          </a:p>
        </p:txBody>
      </p:sp>
    </p:spTree>
    <p:extLst>
      <p:ext uri="{BB962C8B-B14F-4D97-AF65-F5344CB8AC3E}">
        <p14:creationId xmlns:p14="http://schemas.microsoft.com/office/powerpoint/2010/main" val="192096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2DAFB-1E3D-ADB8-0F33-5C66BAE7E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5FD55-B20F-021B-6B49-05F8742B37D9}"/>
              </a:ext>
            </a:extLst>
          </p:cNvPr>
          <p:cNvSpPr>
            <a:spLocks noGrp="1"/>
          </p:cNvSpPr>
          <p:nvPr>
            <p:ph type="title"/>
          </p:nvPr>
        </p:nvSpPr>
        <p:spPr>
          <a:xfrm>
            <a:off x="0" y="1"/>
            <a:ext cx="12192000" cy="711200"/>
          </a:xfrm>
        </p:spPr>
        <p:txBody>
          <a:bodyPr/>
          <a:lstStyle/>
          <a:p>
            <a:r>
              <a:rPr lang="en-US" dirty="0"/>
              <a:t>The Exception Class Hierarchy</a:t>
            </a:r>
          </a:p>
        </p:txBody>
      </p:sp>
      <p:sp>
        <p:nvSpPr>
          <p:cNvPr id="3" name="Rectangle 2">
            <a:extLst>
              <a:ext uri="{FF2B5EF4-FFF2-40B4-BE49-F238E27FC236}">
                <a16:creationId xmlns:a16="http://schemas.microsoft.com/office/drawing/2014/main" id="{D9E3E3FA-A082-56A9-9CC3-A935B121E221}"/>
              </a:ext>
            </a:extLst>
          </p:cNvPr>
          <p:cNvSpPr/>
          <p:nvPr/>
        </p:nvSpPr>
        <p:spPr>
          <a:xfrm>
            <a:off x="1264644" y="2877301"/>
            <a:ext cx="15240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Throwable</a:t>
            </a:r>
            <a:endParaRPr lang="en-US" dirty="0">
              <a:solidFill>
                <a:schemeClr val="tx1"/>
              </a:solidFill>
            </a:endParaRPr>
          </a:p>
        </p:txBody>
      </p:sp>
      <p:sp>
        <p:nvSpPr>
          <p:cNvPr id="4" name="Rectangle 3">
            <a:extLst>
              <a:ext uri="{FF2B5EF4-FFF2-40B4-BE49-F238E27FC236}">
                <a16:creationId xmlns:a16="http://schemas.microsoft.com/office/drawing/2014/main" id="{27C674A3-F88B-ABA2-E949-D066844571E8}"/>
              </a:ext>
            </a:extLst>
          </p:cNvPr>
          <p:cNvSpPr/>
          <p:nvPr/>
        </p:nvSpPr>
        <p:spPr>
          <a:xfrm>
            <a:off x="2331444" y="2115301"/>
            <a:ext cx="15240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Error</a:t>
            </a:r>
          </a:p>
        </p:txBody>
      </p:sp>
      <p:sp>
        <p:nvSpPr>
          <p:cNvPr id="5" name="Rectangle 4">
            <a:extLst>
              <a:ext uri="{FF2B5EF4-FFF2-40B4-BE49-F238E27FC236}">
                <a16:creationId xmlns:a16="http://schemas.microsoft.com/office/drawing/2014/main" id="{1B643EEB-CF5E-4209-48CA-87EFBFDDFA06}"/>
              </a:ext>
            </a:extLst>
          </p:cNvPr>
          <p:cNvSpPr/>
          <p:nvPr/>
        </p:nvSpPr>
        <p:spPr>
          <a:xfrm>
            <a:off x="2331444" y="3639301"/>
            <a:ext cx="15240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Exception</a:t>
            </a:r>
          </a:p>
        </p:txBody>
      </p:sp>
      <p:sp>
        <p:nvSpPr>
          <p:cNvPr id="6" name="Rectangle 5">
            <a:extLst>
              <a:ext uri="{FF2B5EF4-FFF2-40B4-BE49-F238E27FC236}">
                <a16:creationId xmlns:a16="http://schemas.microsoft.com/office/drawing/2014/main" id="{3345A06C-D8FE-1CCD-9A35-7ABAE3B8BB50}"/>
              </a:ext>
            </a:extLst>
          </p:cNvPr>
          <p:cNvSpPr/>
          <p:nvPr/>
        </p:nvSpPr>
        <p:spPr>
          <a:xfrm>
            <a:off x="4160244" y="972301"/>
            <a:ext cx="15240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LinkageError</a:t>
            </a:r>
            <a:endParaRPr lang="en-US" dirty="0">
              <a:solidFill>
                <a:schemeClr val="tx1"/>
              </a:solidFill>
            </a:endParaRPr>
          </a:p>
        </p:txBody>
      </p:sp>
      <p:sp>
        <p:nvSpPr>
          <p:cNvPr id="7" name="Rectangle 6">
            <a:extLst>
              <a:ext uri="{FF2B5EF4-FFF2-40B4-BE49-F238E27FC236}">
                <a16:creationId xmlns:a16="http://schemas.microsoft.com/office/drawing/2014/main" id="{DC3EBBF6-F5C1-A5A0-B357-244A4BD1C769}"/>
              </a:ext>
            </a:extLst>
          </p:cNvPr>
          <p:cNvSpPr/>
          <p:nvPr/>
        </p:nvSpPr>
        <p:spPr>
          <a:xfrm>
            <a:off x="4160244" y="1581901"/>
            <a:ext cx="23622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VirtualMachineError</a:t>
            </a:r>
            <a:endParaRPr lang="en-US" dirty="0">
              <a:solidFill>
                <a:schemeClr val="tx1"/>
              </a:solidFill>
            </a:endParaRPr>
          </a:p>
        </p:txBody>
      </p:sp>
      <p:sp>
        <p:nvSpPr>
          <p:cNvPr id="8" name="Rectangle 7">
            <a:extLst>
              <a:ext uri="{FF2B5EF4-FFF2-40B4-BE49-F238E27FC236}">
                <a16:creationId xmlns:a16="http://schemas.microsoft.com/office/drawing/2014/main" id="{9E38F00C-A0D3-CBE7-7096-07F77ECDCC37}"/>
              </a:ext>
            </a:extLst>
          </p:cNvPr>
          <p:cNvSpPr/>
          <p:nvPr/>
        </p:nvSpPr>
        <p:spPr>
          <a:xfrm>
            <a:off x="4160244" y="2191501"/>
            <a:ext cx="23622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AWTError</a:t>
            </a:r>
            <a:endParaRPr lang="en-US" dirty="0">
              <a:solidFill>
                <a:schemeClr val="tx1"/>
              </a:solidFill>
            </a:endParaRPr>
          </a:p>
        </p:txBody>
      </p:sp>
      <p:sp>
        <p:nvSpPr>
          <p:cNvPr id="9" name="Rectangle 8">
            <a:extLst>
              <a:ext uri="{FF2B5EF4-FFF2-40B4-BE49-F238E27FC236}">
                <a16:creationId xmlns:a16="http://schemas.microsoft.com/office/drawing/2014/main" id="{0545887F-2F46-24BD-FFF0-48020B598FE1}"/>
              </a:ext>
            </a:extLst>
          </p:cNvPr>
          <p:cNvSpPr/>
          <p:nvPr/>
        </p:nvSpPr>
        <p:spPr>
          <a:xfrm>
            <a:off x="4160244" y="3410701"/>
            <a:ext cx="23622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RuntimeException</a:t>
            </a:r>
            <a:endParaRPr lang="en-US" dirty="0">
              <a:solidFill>
                <a:schemeClr val="tx1"/>
              </a:solidFill>
            </a:endParaRPr>
          </a:p>
        </p:txBody>
      </p:sp>
      <p:sp>
        <p:nvSpPr>
          <p:cNvPr id="10" name="Rectangle 9">
            <a:extLst>
              <a:ext uri="{FF2B5EF4-FFF2-40B4-BE49-F238E27FC236}">
                <a16:creationId xmlns:a16="http://schemas.microsoft.com/office/drawing/2014/main" id="{E3D48933-C7A3-9D9D-D92E-E7B4303836DE}"/>
              </a:ext>
            </a:extLst>
          </p:cNvPr>
          <p:cNvSpPr/>
          <p:nvPr/>
        </p:nvSpPr>
        <p:spPr>
          <a:xfrm>
            <a:off x="4160244" y="4020301"/>
            <a:ext cx="23622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AWTException</a:t>
            </a:r>
            <a:endParaRPr lang="en-US" dirty="0">
              <a:solidFill>
                <a:schemeClr val="tx1"/>
              </a:solidFill>
            </a:endParaRPr>
          </a:p>
        </p:txBody>
      </p:sp>
      <p:sp>
        <p:nvSpPr>
          <p:cNvPr id="11" name="Rectangle 10">
            <a:extLst>
              <a:ext uri="{FF2B5EF4-FFF2-40B4-BE49-F238E27FC236}">
                <a16:creationId xmlns:a16="http://schemas.microsoft.com/office/drawing/2014/main" id="{77319EC7-2B66-6C96-5848-E34B64A666F0}"/>
              </a:ext>
            </a:extLst>
          </p:cNvPr>
          <p:cNvSpPr/>
          <p:nvPr/>
        </p:nvSpPr>
        <p:spPr>
          <a:xfrm>
            <a:off x="4160244" y="4629901"/>
            <a:ext cx="23622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IOException</a:t>
            </a:r>
            <a:endParaRPr lang="en-US" dirty="0">
              <a:solidFill>
                <a:schemeClr val="tx1"/>
              </a:solidFill>
            </a:endParaRPr>
          </a:p>
        </p:txBody>
      </p:sp>
      <p:sp>
        <p:nvSpPr>
          <p:cNvPr id="12" name="Rectangle 11">
            <a:extLst>
              <a:ext uri="{FF2B5EF4-FFF2-40B4-BE49-F238E27FC236}">
                <a16:creationId xmlns:a16="http://schemas.microsoft.com/office/drawing/2014/main" id="{DEA84FA6-B62F-2AAC-0F44-61554431DE0F}"/>
              </a:ext>
            </a:extLst>
          </p:cNvPr>
          <p:cNvSpPr/>
          <p:nvPr/>
        </p:nvSpPr>
        <p:spPr>
          <a:xfrm>
            <a:off x="6979644" y="1277101"/>
            <a:ext cx="26670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ArithimaticException</a:t>
            </a:r>
            <a:endParaRPr lang="en-US" dirty="0">
              <a:solidFill>
                <a:schemeClr val="tx1"/>
              </a:solidFill>
            </a:endParaRPr>
          </a:p>
        </p:txBody>
      </p:sp>
      <p:sp>
        <p:nvSpPr>
          <p:cNvPr id="13" name="Rectangle 12">
            <a:extLst>
              <a:ext uri="{FF2B5EF4-FFF2-40B4-BE49-F238E27FC236}">
                <a16:creationId xmlns:a16="http://schemas.microsoft.com/office/drawing/2014/main" id="{915270C8-6738-5426-CB0B-5DA7188AA473}"/>
              </a:ext>
            </a:extLst>
          </p:cNvPr>
          <p:cNvSpPr/>
          <p:nvPr/>
        </p:nvSpPr>
        <p:spPr>
          <a:xfrm>
            <a:off x="6979644" y="1886701"/>
            <a:ext cx="26670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NullPointerException</a:t>
            </a:r>
            <a:endParaRPr lang="en-US" dirty="0">
              <a:solidFill>
                <a:schemeClr val="tx1"/>
              </a:solidFill>
            </a:endParaRPr>
          </a:p>
        </p:txBody>
      </p:sp>
      <p:sp>
        <p:nvSpPr>
          <p:cNvPr id="14" name="Rectangle 13">
            <a:extLst>
              <a:ext uri="{FF2B5EF4-FFF2-40B4-BE49-F238E27FC236}">
                <a16:creationId xmlns:a16="http://schemas.microsoft.com/office/drawing/2014/main" id="{2319BA07-6B91-E124-137B-572E51DFD46D}"/>
              </a:ext>
            </a:extLst>
          </p:cNvPr>
          <p:cNvSpPr/>
          <p:nvPr/>
        </p:nvSpPr>
        <p:spPr>
          <a:xfrm>
            <a:off x="6979644" y="2496301"/>
            <a:ext cx="3694576"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ArrayIndexOutOfBoundException</a:t>
            </a:r>
            <a:endParaRPr lang="en-US" dirty="0">
              <a:solidFill>
                <a:schemeClr val="tx1"/>
              </a:solidFill>
            </a:endParaRPr>
          </a:p>
        </p:txBody>
      </p:sp>
      <p:sp>
        <p:nvSpPr>
          <p:cNvPr id="15" name="Rectangle 14">
            <a:extLst>
              <a:ext uri="{FF2B5EF4-FFF2-40B4-BE49-F238E27FC236}">
                <a16:creationId xmlns:a16="http://schemas.microsoft.com/office/drawing/2014/main" id="{C040A64F-7007-0E16-A7B3-781AA77FA657}"/>
              </a:ext>
            </a:extLst>
          </p:cNvPr>
          <p:cNvSpPr/>
          <p:nvPr/>
        </p:nvSpPr>
        <p:spPr>
          <a:xfrm>
            <a:off x="6979644" y="3105901"/>
            <a:ext cx="29718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IlligalArgumentException</a:t>
            </a:r>
            <a:endParaRPr lang="en-US" dirty="0">
              <a:solidFill>
                <a:schemeClr val="tx1"/>
              </a:solidFill>
            </a:endParaRPr>
          </a:p>
        </p:txBody>
      </p:sp>
      <p:sp>
        <p:nvSpPr>
          <p:cNvPr id="16" name="Rectangle 15">
            <a:extLst>
              <a:ext uri="{FF2B5EF4-FFF2-40B4-BE49-F238E27FC236}">
                <a16:creationId xmlns:a16="http://schemas.microsoft.com/office/drawing/2014/main" id="{342244DB-8991-0612-1E71-08351864994F}"/>
              </a:ext>
            </a:extLst>
          </p:cNvPr>
          <p:cNvSpPr/>
          <p:nvPr/>
        </p:nvSpPr>
        <p:spPr>
          <a:xfrm>
            <a:off x="6979644" y="4096501"/>
            <a:ext cx="29718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InterruptedIOException</a:t>
            </a:r>
            <a:endParaRPr lang="en-US" dirty="0">
              <a:solidFill>
                <a:schemeClr val="tx1"/>
              </a:solidFill>
            </a:endParaRPr>
          </a:p>
        </p:txBody>
      </p:sp>
      <p:sp>
        <p:nvSpPr>
          <p:cNvPr id="17" name="Rectangle 16">
            <a:extLst>
              <a:ext uri="{FF2B5EF4-FFF2-40B4-BE49-F238E27FC236}">
                <a16:creationId xmlns:a16="http://schemas.microsoft.com/office/drawing/2014/main" id="{662B7ECB-CD3D-1F87-AD98-F8BADC85074D}"/>
              </a:ext>
            </a:extLst>
          </p:cNvPr>
          <p:cNvSpPr/>
          <p:nvPr/>
        </p:nvSpPr>
        <p:spPr>
          <a:xfrm>
            <a:off x="6979644" y="4706101"/>
            <a:ext cx="29718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EOFException</a:t>
            </a:r>
            <a:endParaRPr lang="en-US" dirty="0">
              <a:solidFill>
                <a:schemeClr val="tx1"/>
              </a:solidFill>
            </a:endParaRPr>
          </a:p>
        </p:txBody>
      </p:sp>
      <p:sp>
        <p:nvSpPr>
          <p:cNvPr id="18" name="Rectangle 17">
            <a:extLst>
              <a:ext uri="{FF2B5EF4-FFF2-40B4-BE49-F238E27FC236}">
                <a16:creationId xmlns:a16="http://schemas.microsoft.com/office/drawing/2014/main" id="{B91CB059-AD89-9A53-8FFF-67E8723157D4}"/>
              </a:ext>
            </a:extLst>
          </p:cNvPr>
          <p:cNvSpPr/>
          <p:nvPr/>
        </p:nvSpPr>
        <p:spPr>
          <a:xfrm>
            <a:off x="6979644" y="5315701"/>
            <a:ext cx="2971800" cy="533400"/>
          </a:xfrm>
          <a:prstGeom prst="rect">
            <a:avLst/>
          </a:prstGeom>
          <a:no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FileNotFoundException</a:t>
            </a:r>
            <a:endParaRPr lang="en-US" dirty="0">
              <a:solidFill>
                <a:schemeClr val="tx1"/>
              </a:solidFill>
            </a:endParaRPr>
          </a:p>
        </p:txBody>
      </p:sp>
      <p:cxnSp>
        <p:nvCxnSpPr>
          <p:cNvPr id="19" name="Shape 21">
            <a:extLst>
              <a:ext uri="{FF2B5EF4-FFF2-40B4-BE49-F238E27FC236}">
                <a16:creationId xmlns:a16="http://schemas.microsoft.com/office/drawing/2014/main" id="{654E030E-27D4-3234-3CFF-EDB09AA96F3C}"/>
              </a:ext>
            </a:extLst>
          </p:cNvPr>
          <p:cNvCxnSpPr>
            <a:stCxn id="3" idx="0"/>
            <a:endCxn id="4" idx="1"/>
          </p:cNvCxnSpPr>
          <p:nvPr/>
        </p:nvCxnSpPr>
        <p:spPr>
          <a:xfrm rot="5400000" flipH="1" flipV="1">
            <a:off x="1931394" y="2477251"/>
            <a:ext cx="495300" cy="30480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hape 23">
            <a:extLst>
              <a:ext uri="{FF2B5EF4-FFF2-40B4-BE49-F238E27FC236}">
                <a16:creationId xmlns:a16="http://schemas.microsoft.com/office/drawing/2014/main" id="{EC4A5C92-93FB-EBD4-5256-37D5E60B7390}"/>
              </a:ext>
            </a:extLst>
          </p:cNvPr>
          <p:cNvCxnSpPr>
            <a:stCxn id="3" idx="2"/>
            <a:endCxn id="5" idx="1"/>
          </p:cNvCxnSpPr>
          <p:nvPr/>
        </p:nvCxnSpPr>
        <p:spPr>
          <a:xfrm rot="16200000" flipH="1">
            <a:off x="1931394" y="3505951"/>
            <a:ext cx="495300" cy="30480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Elbow Connector 59">
            <a:extLst>
              <a:ext uri="{FF2B5EF4-FFF2-40B4-BE49-F238E27FC236}">
                <a16:creationId xmlns:a16="http://schemas.microsoft.com/office/drawing/2014/main" id="{53F794E8-EA8E-BF95-2D6A-E4E795238EA5}"/>
              </a:ext>
            </a:extLst>
          </p:cNvPr>
          <p:cNvCxnSpPr>
            <a:stCxn id="4" idx="3"/>
            <a:endCxn id="6" idx="1"/>
          </p:cNvCxnSpPr>
          <p:nvPr/>
        </p:nvCxnSpPr>
        <p:spPr>
          <a:xfrm flipV="1">
            <a:off x="3855444" y="1239001"/>
            <a:ext cx="304800" cy="11430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Elbow Connector 60">
            <a:extLst>
              <a:ext uri="{FF2B5EF4-FFF2-40B4-BE49-F238E27FC236}">
                <a16:creationId xmlns:a16="http://schemas.microsoft.com/office/drawing/2014/main" id="{5B58C4FA-472B-06C7-D110-B8B6B5C4D869}"/>
              </a:ext>
            </a:extLst>
          </p:cNvPr>
          <p:cNvCxnSpPr>
            <a:stCxn id="4" idx="3"/>
            <a:endCxn id="7" idx="1"/>
          </p:cNvCxnSpPr>
          <p:nvPr/>
        </p:nvCxnSpPr>
        <p:spPr>
          <a:xfrm flipV="1">
            <a:off x="3855444" y="1848601"/>
            <a:ext cx="304800" cy="533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Elbow Connector 61">
            <a:extLst>
              <a:ext uri="{FF2B5EF4-FFF2-40B4-BE49-F238E27FC236}">
                <a16:creationId xmlns:a16="http://schemas.microsoft.com/office/drawing/2014/main" id="{7E26EA06-1A5B-D830-8138-D7D720040279}"/>
              </a:ext>
            </a:extLst>
          </p:cNvPr>
          <p:cNvCxnSpPr>
            <a:stCxn id="4" idx="3"/>
            <a:endCxn id="8" idx="1"/>
          </p:cNvCxnSpPr>
          <p:nvPr/>
        </p:nvCxnSpPr>
        <p:spPr>
          <a:xfrm>
            <a:off x="3855444" y="2382001"/>
            <a:ext cx="304800" cy="76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Elbow Connector 62">
            <a:extLst>
              <a:ext uri="{FF2B5EF4-FFF2-40B4-BE49-F238E27FC236}">
                <a16:creationId xmlns:a16="http://schemas.microsoft.com/office/drawing/2014/main" id="{D05FF1B0-FABD-6AF8-8446-B59BF52C6A18}"/>
              </a:ext>
            </a:extLst>
          </p:cNvPr>
          <p:cNvCxnSpPr>
            <a:stCxn id="5" idx="3"/>
            <a:endCxn id="9" idx="1"/>
          </p:cNvCxnSpPr>
          <p:nvPr/>
        </p:nvCxnSpPr>
        <p:spPr>
          <a:xfrm flipV="1">
            <a:off x="3855444" y="3677401"/>
            <a:ext cx="304800" cy="2286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Elbow Connector 63">
            <a:extLst>
              <a:ext uri="{FF2B5EF4-FFF2-40B4-BE49-F238E27FC236}">
                <a16:creationId xmlns:a16="http://schemas.microsoft.com/office/drawing/2014/main" id="{1C7C4AB1-DCBD-9D34-A9DB-5615D642469B}"/>
              </a:ext>
            </a:extLst>
          </p:cNvPr>
          <p:cNvCxnSpPr>
            <a:stCxn id="5" idx="3"/>
            <a:endCxn id="10" idx="1"/>
          </p:cNvCxnSpPr>
          <p:nvPr/>
        </p:nvCxnSpPr>
        <p:spPr>
          <a:xfrm>
            <a:off x="3855444" y="3906001"/>
            <a:ext cx="304800" cy="3810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Elbow Connector 64">
            <a:extLst>
              <a:ext uri="{FF2B5EF4-FFF2-40B4-BE49-F238E27FC236}">
                <a16:creationId xmlns:a16="http://schemas.microsoft.com/office/drawing/2014/main" id="{EB7B6CA9-180A-9474-90F8-85EEC95DF4DB}"/>
              </a:ext>
            </a:extLst>
          </p:cNvPr>
          <p:cNvCxnSpPr>
            <a:stCxn id="5" idx="3"/>
            <a:endCxn id="11" idx="1"/>
          </p:cNvCxnSpPr>
          <p:nvPr/>
        </p:nvCxnSpPr>
        <p:spPr>
          <a:xfrm>
            <a:off x="3855444" y="3906001"/>
            <a:ext cx="304800" cy="9906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Elbow Connector 65">
            <a:extLst>
              <a:ext uri="{FF2B5EF4-FFF2-40B4-BE49-F238E27FC236}">
                <a16:creationId xmlns:a16="http://schemas.microsoft.com/office/drawing/2014/main" id="{4186DE86-1B59-6A2E-34AF-311DAC6D6EC3}"/>
              </a:ext>
            </a:extLst>
          </p:cNvPr>
          <p:cNvCxnSpPr>
            <a:stCxn id="9" idx="3"/>
            <a:endCxn id="12" idx="1"/>
          </p:cNvCxnSpPr>
          <p:nvPr/>
        </p:nvCxnSpPr>
        <p:spPr>
          <a:xfrm flipV="1">
            <a:off x="6522444" y="1543801"/>
            <a:ext cx="457200" cy="21336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Elbow Connector 66">
            <a:extLst>
              <a:ext uri="{FF2B5EF4-FFF2-40B4-BE49-F238E27FC236}">
                <a16:creationId xmlns:a16="http://schemas.microsoft.com/office/drawing/2014/main" id="{655D39C1-46D4-700C-1818-E1E69AB65DDF}"/>
              </a:ext>
            </a:extLst>
          </p:cNvPr>
          <p:cNvCxnSpPr>
            <a:stCxn id="9" idx="3"/>
            <a:endCxn id="13" idx="1"/>
          </p:cNvCxnSpPr>
          <p:nvPr/>
        </p:nvCxnSpPr>
        <p:spPr>
          <a:xfrm flipV="1">
            <a:off x="6522444" y="2153401"/>
            <a:ext cx="457200" cy="15240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Elbow Connector 67">
            <a:extLst>
              <a:ext uri="{FF2B5EF4-FFF2-40B4-BE49-F238E27FC236}">
                <a16:creationId xmlns:a16="http://schemas.microsoft.com/office/drawing/2014/main" id="{0F088A73-D455-0454-CE3A-9C86071B2321}"/>
              </a:ext>
            </a:extLst>
          </p:cNvPr>
          <p:cNvCxnSpPr>
            <a:stCxn id="9" idx="3"/>
            <a:endCxn id="14" idx="1"/>
          </p:cNvCxnSpPr>
          <p:nvPr/>
        </p:nvCxnSpPr>
        <p:spPr>
          <a:xfrm flipV="1">
            <a:off x="6522444" y="2763001"/>
            <a:ext cx="457200" cy="914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Elbow Connector 68">
            <a:extLst>
              <a:ext uri="{FF2B5EF4-FFF2-40B4-BE49-F238E27FC236}">
                <a16:creationId xmlns:a16="http://schemas.microsoft.com/office/drawing/2014/main" id="{2D748393-4C84-B54F-156F-F1ACA1B712D4}"/>
              </a:ext>
            </a:extLst>
          </p:cNvPr>
          <p:cNvCxnSpPr>
            <a:stCxn id="9" idx="3"/>
            <a:endCxn id="15" idx="1"/>
          </p:cNvCxnSpPr>
          <p:nvPr/>
        </p:nvCxnSpPr>
        <p:spPr>
          <a:xfrm flipV="1">
            <a:off x="6522444" y="3372601"/>
            <a:ext cx="457200" cy="3048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Elbow Connector 69">
            <a:extLst>
              <a:ext uri="{FF2B5EF4-FFF2-40B4-BE49-F238E27FC236}">
                <a16:creationId xmlns:a16="http://schemas.microsoft.com/office/drawing/2014/main" id="{20885D1F-1143-45AB-06E0-9BCCFFC8F5BD}"/>
              </a:ext>
            </a:extLst>
          </p:cNvPr>
          <p:cNvCxnSpPr>
            <a:stCxn id="11" idx="3"/>
            <a:endCxn id="16" idx="1"/>
          </p:cNvCxnSpPr>
          <p:nvPr/>
        </p:nvCxnSpPr>
        <p:spPr>
          <a:xfrm flipV="1">
            <a:off x="6522444" y="4363201"/>
            <a:ext cx="457200" cy="533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Elbow Connector 70">
            <a:extLst>
              <a:ext uri="{FF2B5EF4-FFF2-40B4-BE49-F238E27FC236}">
                <a16:creationId xmlns:a16="http://schemas.microsoft.com/office/drawing/2014/main" id="{2861855D-FE73-0EA7-A339-3D94B3354A3E}"/>
              </a:ext>
            </a:extLst>
          </p:cNvPr>
          <p:cNvCxnSpPr>
            <a:stCxn id="11" idx="3"/>
            <a:endCxn id="17" idx="1"/>
          </p:cNvCxnSpPr>
          <p:nvPr/>
        </p:nvCxnSpPr>
        <p:spPr>
          <a:xfrm>
            <a:off x="6522444" y="4896601"/>
            <a:ext cx="457200" cy="76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Elbow Connector 71">
            <a:extLst>
              <a:ext uri="{FF2B5EF4-FFF2-40B4-BE49-F238E27FC236}">
                <a16:creationId xmlns:a16="http://schemas.microsoft.com/office/drawing/2014/main" id="{D643B7C9-39C7-1EFE-5C38-2BED278C2BE4}"/>
              </a:ext>
            </a:extLst>
          </p:cNvPr>
          <p:cNvCxnSpPr>
            <a:stCxn id="11" idx="3"/>
            <a:endCxn id="18" idx="1"/>
          </p:cNvCxnSpPr>
          <p:nvPr/>
        </p:nvCxnSpPr>
        <p:spPr>
          <a:xfrm>
            <a:off x="6522444" y="4896601"/>
            <a:ext cx="457200" cy="6858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Freeform 72">
            <a:extLst>
              <a:ext uri="{FF2B5EF4-FFF2-40B4-BE49-F238E27FC236}">
                <a16:creationId xmlns:a16="http://schemas.microsoft.com/office/drawing/2014/main" id="{3479493C-B9D1-2B8D-C390-5CCB54527D66}"/>
              </a:ext>
            </a:extLst>
          </p:cNvPr>
          <p:cNvSpPr/>
          <p:nvPr/>
        </p:nvSpPr>
        <p:spPr>
          <a:xfrm>
            <a:off x="1790137" y="835451"/>
            <a:ext cx="9052033" cy="3149600"/>
          </a:xfrm>
          <a:custGeom>
            <a:avLst/>
            <a:gdLst>
              <a:gd name="connsiteX0" fmla="*/ 1257689 w 8481280"/>
              <a:gd name="connsiteY0" fmla="*/ 1973943 h 3149600"/>
              <a:gd name="connsiteX1" fmla="*/ 1010946 w 8481280"/>
              <a:gd name="connsiteY1" fmla="*/ 1930400 h 3149600"/>
              <a:gd name="connsiteX2" fmla="*/ 967404 w 8481280"/>
              <a:gd name="connsiteY2" fmla="*/ 1915886 h 3149600"/>
              <a:gd name="connsiteX3" fmla="*/ 575518 w 8481280"/>
              <a:gd name="connsiteY3" fmla="*/ 1886857 h 3149600"/>
              <a:gd name="connsiteX4" fmla="*/ 531975 w 8481280"/>
              <a:gd name="connsiteY4" fmla="*/ 1872343 h 3149600"/>
              <a:gd name="connsiteX5" fmla="*/ 415861 w 8481280"/>
              <a:gd name="connsiteY5" fmla="*/ 1843314 h 3149600"/>
              <a:gd name="connsiteX6" fmla="*/ 328775 w 8481280"/>
              <a:gd name="connsiteY6" fmla="*/ 1785257 h 3149600"/>
              <a:gd name="connsiteX7" fmla="*/ 241689 w 8481280"/>
              <a:gd name="connsiteY7" fmla="*/ 1756228 h 3149600"/>
              <a:gd name="connsiteX8" fmla="*/ 140089 w 8481280"/>
              <a:gd name="connsiteY8" fmla="*/ 1727200 h 3149600"/>
              <a:gd name="connsiteX9" fmla="*/ 96546 w 8481280"/>
              <a:gd name="connsiteY9" fmla="*/ 1698171 h 3149600"/>
              <a:gd name="connsiteX10" fmla="*/ 53004 w 8481280"/>
              <a:gd name="connsiteY10" fmla="*/ 1596571 h 3149600"/>
              <a:gd name="connsiteX11" fmla="*/ 9461 w 8481280"/>
              <a:gd name="connsiteY11" fmla="*/ 1451428 h 3149600"/>
              <a:gd name="connsiteX12" fmla="*/ 23975 w 8481280"/>
              <a:gd name="connsiteY12" fmla="*/ 1320800 h 3149600"/>
              <a:gd name="connsiteX13" fmla="*/ 53004 w 8481280"/>
              <a:gd name="connsiteY13" fmla="*/ 1262743 h 3149600"/>
              <a:gd name="connsiteX14" fmla="*/ 96546 w 8481280"/>
              <a:gd name="connsiteY14" fmla="*/ 1146628 h 3149600"/>
              <a:gd name="connsiteX15" fmla="*/ 140089 w 8481280"/>
              <a:gd name="connsiteY15" fmla="*/ 1088571 h 3149600"/>
              <a:gd name="connsiteX16" fmla="*/ 169118 w 8481280"/>
              <a:gd name="connsiteY16" fmla="*/ 986971 h 3149600"/>
              <a:gd name="connsiteX17" fmla="*/ 212661 w 8481280"/>
              <a:gd name="connsiteY17" fmla="*/ 943428 h 3149600"/>
              <a:gd name="connsiteX18" fmla="*/ 357804 w 8481280"/>
              <a:gd name="connsiteY18" fmla="*/ 841828 h 3149600"/>
              <a:gd name="connsiteX19" fmla="*/ 415861 w 8481280"/>
              <a:gd name="connsiteY19" fmla="*/ 798286 h 3149600"/>
              <a:gd name="connsiteX20" fmla="*/ 473918 w 8481280"/>
              <a:gd name="connsiteY20" fmla="*/ 725714 h 3149600"/>
              <a:gd name="connsiteX21" fmla="*/ 531975 w 8481280"/>
              <a:gd name="connsiteY21" fmla="*/ 667657 h 3149600"/>
              <a:gd name="connsiteX22" fmla="*/ 575518 w 8481280"/>
              <a:gd name="connsiteY22" fmla="*/ 609600 h 3149600"/>
              <a:gd name="connsiteX23" fmla="*/ 604546 w 8481280"/>
              <a:gd name="connsiteY23" fmla="*/ 566057 h 3149600"/>
              <a:gd name="connsiteX24" fmla="*/ 691632 w 8481280"/>
              <a:gd name="connsiteY24" fmla="*/ 537028 h 3149600"/>
              <a:gd name="connsiteX25" fmla="*/ 793232 w 8481280"/>
              <a:gd name="connsiteY25" fmla="*/ 478971 h 3149600"/>
              <a:gd name="connsiteX26" fmla="*/ 996432 w 8481280"/>
              <a:gd name="connsiteY26" fmla="*/ 406400 h 3149600"/>
              <a:gd name="connsiteX27" fmla="*/ 1069004 w 8481280"/>
              <a:gd name="connsiteY27" fmla="*/ 377371 h 3149600"/>
              <a:gd name="connsiteX28" fmla="*/ 1112546 w 8481280"/>
              <a:gd name="connsiteY28" fmla="*/ 362857 h 3149600"/>
              <a:gd name="connsiteX29" fmla="*/ 1286718 w 8481280"/>
              <a:gd name="connsiteY29" fmla="*/ 348343 h 3149600"/>
              <a:gd name="connsiteX30" fmla="*/ 1359289 w 8481280"/>
              <a:gd name="connsiteY30" fmla="*/ 333828 h 3149600"/>
              <a:gd name="connsiteX31" fmla="*/ 1431861 w 8481280"/>
              <a:gd name="connsiteY31" fmla="*/ 304800 h 3149600"/>
              <a:gd name="connsiteX32" fmla="*/ 1533461 w 8481280"/>
              <a:gd name="connsiteY32" fmla="*/ 290286 h 3149600"/>
              <a:gd name="connsiteX33" fmla="*/ 1664089 w 8481280"/>
              <a:gd name="connsiteY33" fmla="*/ 261257 h 3149600"/>
              <a:gd name="connsiteX34" fmla="*/ 1736661 w 8481280"/>
              <a:gd name="connsiteY34" fmla="*/ 232228 h 3149600"/>
              <a:gd name="connsiteX35" fmla="*/ 1910832 w 8481280"/>
              <a:gd name="connsiteY35" fmla="*/ 217714 h 3149600"/>
              <a:gd name="connsiteX36" fmla="*/ 2026946 w 8481280"/>
              <a:gd name="connsiteY36" fmla="*/ 188686 h 3149600"/>
              <a:gd name="connsiteX37" fmla="*/ 2114032 w 8481280"/>
              <a:gd name="connsiteY37" fmla="*/ 130628 h 3149600"/>
              <a:gd name="connsiteX38" fmla="*/ 2157575 w 8481280"/>
              <a:gd name="connsiteY38" fmla="*/ 101600 h 3149600"/>
              <a:gd name="connsiteX39" fmla="*/ 2215632 w 8481280"/>
              <a:gd name="connsiteY39" fmla="*/ 87086 h 3149600"/>
              <a:gd name="connsiteX40" fmla="*/ 2302718 w 8481280"/>
              <a:gd name="connsiteY40" fmla="*/ 58057 h 3149600"/>
              <a:gd name="connsiteX41" fmla="*/ 2346261 w 8481280"/>
              <a:gd name="connsiteY41" fmla="*/ 43543 h 3149600"/>
              <a:gd name="connsiteX42" fmla="*/ 2389804 w 8481280"/>
              <a:gd name="connsiteY42" fmla="*/ 29028 h 3149600"/>
              <a:gd name="connsiteX43" fmla="*/ 3536432 w 8481280"/>
              <a:gd name="connsiteY43" fmla="*/ 43543 h 3149600"/>
              <a:gd name="connsiteX44" fmla="*/ 3710604 w 8481280"/>
              <a:gd name="connsiteY44" fmla="*/ 72571 h 3149600"/>
              <a:gd name="connsiteX45" fmla="*/ 3957346 w 8481280"/>
              <a:gd name="connsiteY45" fmla="*/ 87086 h 3149600"/>
              <a:gd name="connsiteX46" fmla="*/ 4610489 w 8481280"/>
              <a:gd name="connsiteY46" fmla="*/ 43543 h 3149600"/>
              <a:gd name="connsiteX47" fmla="*/ 4668546 w 8481280"/>
              <a:gd name="connsiteY47" fmla="*/ 0 h 3149600"/>
              <a:gd name="connsiteX48" fmla="*/ 4958832 w 8481280"/>
              <a:gd name="connsiteY48" fmla="*/ 14514 h 3149600"/>
              <a:gd name="connsiteX49" fmla="*/ 5597461 w 8481280"/>
              <a:gd name="connsiteY49" fmla="*/ 29028 h 3149600"/>
              <a:gd name="connsiteX50" fmla="*/ 5670032 w 8481280"/>
              <a:gd name="connsiteY50" fmla="*/ 43543 h 3149600"/>
              <a:gd name="connsiteX51" fmla="*/ 6119975 w 8481280"/>
              <a:gd name="connsiteY51" fmla="*/ 72571 h 3149600"/>
              <a:gd name="connsiteX52" fmla="*/ 6221575 w 8481280"/>
              <a:gd name="connsiteY52" fmla="*/ 101600 h 3149600"/>
              <a:gd name="connsiteX53" fmla="*/ 6395746 w 8481280"/>
              <a:gd name="connsiteY53" fmla="*/ 159657 h 3149600"/>
              <a:gd name="connsiteX54" fmla="*/ 6497346 w 8481280"/>
              <a:gd name="connsiteY54" fmla="*/ 188686 h 3149600"/>
              <a:gd name="connsiteX55" fmla="*/ 6613461 w 8481280"/>
              <a:gd name="connsiteY55" fmla="*/ 203200 h 3149600"/>
              <a:gd name="connsiteX56" fmla="*/ 6860204 w 8481280"/>
              <a:gd name="connsiteY56" fmla="*/ 275771 h 3149600"/>
              <a:gd name="connsiteX57" fmla="*/ 6990832 w 8481280"/>
              <a:gd name="connsiteY57" fmla="*/ 319314 h 3149600"/>
              <a:gd name="connsiteX58" fmla="*/ 7048889 w 8481280"/>
              <a:gd name="connsiteY58" fmla="*/ 348343 h 3149600"/>
              <a:gd name="connsiteX59" fmla="*/ 7513346 w 8481280"/>
              <a:gd name="connsiteY59" fmla="*/ 348343 h 3149600"/>
              <a:gd name="connsiteX60" fmla="*/ 7585918 w 8481280"/>
              <a:gd name="connsiteY60" fmla="*/ 377371 h 3149600"/>
              <a:gd name="connsiteX61" fmla="*/ 7629461 w 8481280"/>
              <a:gd name="connsiteY61" fmla="*/ 391886 h 3149600"/>
              <a:gd name="connsiteX62" fmla="*/ 7687518 w 8481280"/>
              <a:gd name="connsiteY62" fmla="*/ 420914 h 3149600"/>
              <a:gd name="connsiteX63" fmla="*/ 7789118 w 8481280"/>
              <a:gd name="connsiteY63" fmla="*/ 435428 h 3149600"/>
              <a:gd name="connsiteX64" fmla="*/ 7876204 w 8481280"/>
              <a:gd name="connsiteY64" fmla="*/ 464457 h 3149600"/>
              <a:gd name="connsiteX65" fmla="*/ 7919746 w 8481280"/>
              <a:gd name="connsiteY65" fmla="*/ 493486 h 3149600"/>
              <a:gd name="connsiteX66" fmla="*/ 7963289 w 8481280"/>
              <a:gd name="connsiteY66" fmla="*/ 508000 h 3149600"/>
              <a:gd name="connsiteX67" fmla="*/ 8050375 w 8481280"/>
              <a:gd name="connsiteY67" fmla="*/ 566057 h 3149600"/>
              <a:gd name="connsiteX68" fmla="*/ 8137461 w 8481280"/>
              <a:gd name="connsiteY68" fmla="*/ 696686 h 3149600"/>
              <a:gd name="connsiteX69" fmla="*/ 8166489 w 8481280"/>
              <a:gd name="connsiteY69" fmla="*/ 740228 h 3149600"/>
              <a:gd name="connsiteX70" fmla="*/ 8253575 w 8481280"/>
              <a:gd name="connsiteY70" fmla="*/ 812800 h 3149600"/>
              <a:gd name="connsiteX71" fmla="*/ 8297118 w 8481280"/>
              <a:gd name="connsiteY71" fmla="*/ 856343 h 3149600"/>
              <a:gd name="connsiteX72" fmla="*/ 8355175 w 8481280"/>
              <a:gd name="connsiteY72" fmla="*/ 1088571 h 3149600"/>
              <a:gd name="connsiteX73" fmla="*/ 8413232 w 8481280"/>
              <a:gd name="connsiteY73" fmla="*/ 1204686 h 3149600"/>
              <a:gd name="connsiteX74" fmla="*/ 8427746 w 8481280"/>
              <a:gd name="connsiteY74" fmla="*/ 1277257 h 3149600"/>
              <a:gd name="connsiteX75" fmla="*/ 8442261 w 8481280"/>
              <a:gd name="connsiteY75" fmla="*/ 1320800 h 3149600"/>
              <a:gd name="connsiteX76" fmla="*/ 8471289 w 8481280"/>
              <a:gd name="connsiteY76" fmla="*/ 1727200 h 3149600"/>
              <a:gd name="connsiteX77" fmla="*/ 8456775 w 8481280"/>
              <a:gd name="connsiteY77" fmla="*/ 2351314 h 3149600"/>
              <a:gd name="connsiteX78" fmla="*/ 8413232 w 8481280"/>
              <a:gd name="connsiteY78" fmla="*/ 2510971 h 3149600"/>
              <a:gd name="connsiteX79" fmla="*/ 8384204 w 8481280"/>
              <a:gd name="connsiteY79" fmla="*/ 2641600 h 3149600"/>
              <a:gd name="connsiteX80" fmla="*/ 8369689 w 8481280"/>
              <a:gd name="connsiteY80" fmla="*/ 2714171 h 3149600"/>
              <a:gd name="connsiteX81" fmla="*/ 8297118 w 8481280"/>
              <a:gd name="connsiteY81" fmla="*/ 2859314 h 3149600"/>
              <a:gd name="connsiteX82" fmla="*/ 8166489 w 8481280"/>
              <a:gd name="connsiteY82" fmla="*/ 2931886 h 3149600"/>
              <a:gd name="connsiteX83" fmla="*/ 8122946 w 8481280"/>
              <a:gd name="connsiteY83" fmla="*/ 2960914 h 3149600"/>
              <a:gd name="connsiteX84" fmla="*/ 8021346 w 8481280"/>
              <a:gd name="connsiteY84" fmla="*/ 2989943 h 3149600"/>
              <a:gd name="connsiteX85" fmla="*/ 5974832 w 8481280"/>
              <a:gd name="connsiteY85" fmla="*/ 2989943 h 3149600"/>
              <a:gd name="connsiteX86" fmla="*/ 5873232 w 8481280"/>
              <a:gd name="connsiteY86" fmla="*/ 3004457 h 3149600"/>
              <a:gd name="connsiteX87" fmla="*/ 5728089 w 8481280"/>
              <a:gd name="connsiteY87" fmla="*/ 3033486 h 3149600"/>
              <a:gd name="connsiteX88" fmla="*/ 5626489 w 8481280"/>
              <a:gd name="connsiteY88" fmla="*/ 3062514 h 3149600"/>
              <a:gd name="connsiteX89" fmla="*/ 4697575 w 8481280"/>
              <a:gd name="connsiteY89" fmla="*/ 3077028 h 3149600"/>
              <a:gd name="connsiteX90" fmla="*/ 4581461 w 8481280"/>
              <a:gd name="connsiteY90" fmla="*/ 3091543 h 3149600"/>
              <a:gd name="connsiteX91" fmla="*/ 4523404 w 8481280"/>
              <a:gd name="connsiteY91" fmla="*/ 3106057 h 3149600"/>
              <a:gd name="connsiteX92" fmla="*/ 4436318 w 8481280"/>
              <a:gd name="connsiteY92" fmla="*/ 3120571 h 3149600"/>
              <a:gd name="connsiteX93" fmla="*/ 3855746 w 8481280"/>
              <a:gd name="connsiteY93" fmla="*/ 3106057 h 3149600"/>
              <a:gd name="connsiteX94" fmla="*/ 3405804 w 8481280"/>
              <a:gd name="connsiteY94" fmla="*/ 3149600 h 3149600"/>
              <a:gd name="connsiteX95" fmla="*/ 2854261 w 8481280"/>
              <a:gd name="connsiteY95" fmla="*/ 3135086 h 3149600"/>
              <a:gd name="connsiteX96" fmla="*/ 2781689 w 8481280"/>
              <a:gd name="connsiteY96" fmla="*/ 3120571 h 3149600"/>
              <a:gd name="connsiteX97" fmla="*/ 2651061 w 8481280"/>
              <a:gd name="connsiteY97" fmla="*/ 3077028 h 3149600"/>
              <a:gd name="connsiteX98" fmla="*/ 2607518 w 8481280"/>
              <a:gd name="connsiteY98" fmla="*/ 3062514 h 3149600"/>
              <a:gd name="connsiteX99" fmla="*/ 2302718 w 8481280"/>
              <a:gd name="connsiteY99" fmla="*/ 3048000 h 3149600"/>
              <a:gd name="connsiteX100" fmla="*/ 2201118 w 8481280"/>
              <a:gd name="connsiteY100" fmla="*/ 2917371 h 3149600"/>
              <a:gd name="connsiteX101" fmla="*/ 2114032 w 8481280"/>
              <a:gd name="connsiteY101" fmla="*/ 2801257 h 3149600"/>
              <a:gd name="connsiteX102" fmla="*/ 2070489 w 8481280"/>
              <a:gd name="connsiteY102" fmla="*/ 2714171 h 3149600"/>
              <a:gd name="connsiteX103" fmla="*/ 2041461 w 8481280"/>
              <a:gd name="connsiteY103" fmla="*/ 2627086 h 3149600"/>
              <a:gd name="connsiteX104" fmla="*/ 2026946 w 8481280"/>
              <a:gd name="connsiteY104" fmla="*/ 2583543 h 3149600"/>
              <a:gd name="connsiteX105" fmla="*/ 1983404 w 8481280"/>
              <a:gd name="connsiteY105" fmla="*/ 2496457 h 3149600"/>
              <a:gd name="connsiteX106" fmla="*/ 1852775 w 8481280"/>
              <a:gd name="connsiteY106" fmla="*/ 2481943 h 3149600"/>
              <a:gd name="connsiteX107" fmla="*/ 1765689 w 8481280"/>
              <a:gd name="connsiteY107" fmla="*/ 2467428 h 3149600"/>
              <a:gd name="connsiteX108" fmla="*/ 1649575 w 8481280"/>
              <a:gd name="connsiteY108" fmla="*/ 2423886 h 3149600"/>
              <a:gd name="connsiteX109" fmla="*/ 1547975 w 8481280"/>
              <a:gd name="connsiteY109" fmla="*/ 2380343 h 3149600"/>
              <a:gd name="connsiteX110" fmla="*/ 1460889 w 8481280"/>
              <a:gd name="connsiteY110" fmla="*/ 2336800 h 3149600"/>
              <a:gd name="connsiteX111" fmla="*/ 1417346 w 8481280"/>
              <a:gd name="connsiteY111" fmla="*/ 2235200 h 3149600"/>
              <a:gd name="connsiteX112" fmla="*/ 1388318 w 8481280"/>
              <a:gd name="connsiteY112" fmla="*/ 2191657 h 3149600"/>
              <a:gd name="connsiteX113" fmla="*/ 1359289 w 8481280"/>
              <a:gd name="connsiteY113" fmla="*/ 2104571 h 3149600"/>
              <a:gd name="connsiteX114" fmla="*/ 1228661 w 8481280"/>
              <a:gd name="connsiteY114" fmla="*/ 2032000 h 3149600"/>
              <a:gd name="connsiteX115" fmla="*/ 1199632 w 8481280"/>
              <a:gd name="connsiteY115" fmla="*/ 1988457 h 3149600"/>
              <a:gd name="connsiteX116" fmla="*/ 1156089 w 8481280"/>
              <a:gd name="connsiteY116" fmla="*/ 1988457 h 3149600"/>
              <a:gd name="connsiteX117" fmla="*/ 1156089 w 8481280"/>
              <a:gd name="connsiteY117" fmla="*/ 2002971 h 314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8481280" h="3149600">
                <a:moveTo>
                  <a:pt x="1257689" y="1973943"/>
                </a:moveTo>
                <a:cubicBezTo>
                  <a:pt x="1193981" y="1964841"/>
                  <a:pt x="1064544" y="1948266"/>
                  <a:pt x="1010946" y="1930400"/>
                </a:cubicBezTo>
                <a:cubicBezTo>
                  <a:pt x="996432" y="1925562"/>
                  <a:pt x="982627" y="1917408"/>
                  <a:pt x="967404" y="1915886"/>
                </a:cubicBezTo>
                <a:cubicBezTo>
                  <a:pt x="837068" y="1902852"/>
                  <a:pt x="575518" y="1886857"/>
                  <a:pt x="575518" y="1886857"/>
                </a:cubicBezTo>
                <a:cubicBezTo>
                  <a:pt x="561004" y="1882019"/>
                  <a:pt x="546735" y="1876369"/>
                  <a:pt x="531975" y="1872343"/>
                </a:cubicBezTo>
                <a:cubicBezTo>
                  <a:pt x="493485" y="1861846"/>
                  <a:pt x="415861" y="1843314"/>
                  <a:pt x="415861" y="1843314"/>
                </a:cubicBezTo>
                <a:cubicBezTo>
                  <a:pt x="386832" y="1823962"/>
                  <a:pt x="361873" y="1796290"/>
                  <a:pt x="328775" y="1785257"/>
                </a:cubicBezTo>
                <a:cubicBezTo>
                  <a:pt x="299746" y="1775581"/>
                  <a:pt x="271374" y="1763649"/>
                  <a:pt x="241689" y="1756228"/>
                </a:cubicBezTo>
                <a:cubicBezTo>
                  <a:pt x="168789" y="1738003"/>
                  <a:pt x="202556" y="1748022"/>
                  <a:pt x="140089" y="1727200"/>
                </a:cubicBezTo>
                <a:cubicBezTo>
                  <a:pt x="125575" y="1717524"/>
                  <a:pt x="108881" y="1710506"/>
                  <a:pt x="96546" y="1698171"/>
                </a:cubicBezTo>
                <a:cubicBezTo>
                  <a:pt x="60361" y="1661985"/>
                  <a:pt x="67280" y="1644157"/>
                  <a:pt x="53004" y="1596571"/>
                </a:cubicBezTo>
                <a:cubicBezTo>
                  <a:pt x="0" y="1419894"/>
                  <a:pt x="42913" y="1585241"/>
                  <a:pt x="9461" y="1451428"/>
                </a:cubicBezTo>
                <a:cubicBezTo>
                  <a:pt x="14299" y="1407885"/>
                  <a:pt x="14124" y="1363489"/>
                  <a:pt x="23975" y="1320800"/>
                </a:cubicBezTo>
                <a:cubicBezTo>
                  <a:pt x="28840" y="1299717"/>
                  <a:pt x="44481" y="1282630"/>
                  <a:pt x="53004" y="1262743"/>
                </a:cubicBezTo>
                <a:cubicBezTo>
                  <a:pt x="77447" y="1205708"/>
                  <a:pt x="58957" y="1214289"/>
                  <a:pt x="96546" y="1146628"/>
                </a:cubicBezTo>
                <a:cubicBezTo>
                  <a:pt x="108294" y="1125482"/>
                  <a:pt x="125575" y="1107923"/>
                  <a:pt x="140089" y="1088571"/>
                </a:cubicBezTo>
                <a:cubicBezTo>
                  <a:pt x="149765" y="1054704"/>
                  <a:pt x="153366" y="1018474"/>
                  <a:pt x="169118" y="986971"/>
                </a:cubicBezTo>
                <a:cubicBezTo>
                  <a:pt x="178298" y="968612"/>
                  <a:pt x="197076" y="956786"/>
                  <a:pt x="212661" y="943428"/>
                </a:cubicBezTo>
                <a:cubicBezTo>
                  <a:pt x="255774" y="906474"/>
                  <a:pt x="312397" y="873613"/>
                  <a:pt x="357804" y="841828"/>
                </a:cubicBezTo>
                <a:cubicBezTo>
                  <a:pt x="377621" y="827956"/>
                  <a:pt x="398756" y="815391"/>
                  <a:pt x="415861" y="798286"/>
                </a:cubicBezTo>
                <a:cubicBezTo>
                  <a:pt x="437766" y="776381"/>
                  <a:pt x="453337" y="748868"/>
                  <a:pt x="473918" y="725714"/>
                </a:cubicBezTo>
                <a:cubicBezTo>
                  <a:pt x="492100" y="705259"/>
                  <a:pt x="513953" y="688254"/>
                  <a:pt x="531975" y="667657"/>
                </a:cubicBezTo>
                <a:cubicBezTo>
                  <a:pt x="547905" y="649452"/>
                  <a:pt x="561458" y="629285"/>
                  <a:pt x="575518" y="609600"/>
                </a:cubicBezTo>
                <a:cubicBezTo>
                  <a:pt x="585657" y="595405"/>
                  <a:pt x="589754" y="575302"/>
                  <a:pt x="604546" y="566057"/>
                </a:cubicBezTo>
                <a:cubicBezTo>
                  <a:pt x="630494" y="549839"/>
                  <a:pt x="663849" y="549851"/>
                  <a:pt x="691632" y="537028"/>
                </a:cubicBezTo>
                <a:cubicBezTo>
                  <a:pt x="727048" y="520682"/>
                  <a:pt x="757885" y="495466"/>
                  <a:pt x="793232" y="478971"/>
                </a:cubicBezTo>
                <a:cubicBezTo>
                  <a:pt x="859395" y="448095"/>
                  <a:pt x="928314" y="431170"/>
                  <a:pt x="996432" y="406400"/>
                </a:cubicBezTo>
                <a:cubicBezTo>
                  <a:pt x="1020918" y="397496"/>
                  <a:pt x="1044609" y="386519"/>
                  <a:pt x="1069004" y="377371"/>
                </a:cubicBezTo>
                <a:cubicBezTo>
                  <a:pt x="1083329" y="371999"/>
                  <a:pt x="1097381" y="364879"/>
                  <a:pt x="1112546" y="362857"/>
                </a:cubicBezTo>
                <a:cubicBezTo>
                  <a:pt x="1170294" y="355157"/>
                  <a:pt x="1228661" y="353181"/>
                  <a:pt x="1286718" y="348343"/>
                </a:cubicBezTo>
                <a:cubicBezTo>
                  <a:pt x="1310908" y="343505"/>
                  <a:pt x="1335660" y="340917"/>
                  <a:pt x="1359289" y="333828"/>
                </a:cubicBezTo>
                <a:cubicBezTo>
                  <a:pt x="1384244" y="326341"/>
                  <a:pt x="1406585" y="311119"/>
                  <a:pt x="1431861" y="304800"/>
                </a:cubicBezTo>
                <a:cubicBezTo>
                  <a:pt x="1465050" y="296503"/>
                  <a:pt x="1499716" y="295910"/>
                  <a:pt x="1533461" y="290286"/>
                </a:cubicBezTo>
                <a:cubicBezTo>
                  <a:pt x="1556460" y="286453"/>
                  <a:pt x="1638000" y="269953"/>
                  <a:pt x="1664089" y="261257"/>
                </a:cubicBezTo>
                <a:cubicBezTo>
                  <a:pt x="1688806" y="253018"/>
                  <a:pt x="1711003" y="236756"/>
                  <a:pt x="1736661" y="232228"/>
                </a:cubicBezTo>
                <a:cubicBezTo>
                  <a:pt x="1794033" y="222104"/>
                  <a:pt x="1852775" y="222552"/>
                  <a:pt x="1910832" y="217714"/>
                </a:cubicBezTo>
                <a:cubicBezTo>
                  <a:pt x="1949537" y="208038"/>
                  <a:pt x="1993751" y="210816"/>
                  <a:pt x="2026946" y="188686"/>
                </a:cubicBezTo>
                <a:lnTo>
                  <a:pt x="2114032" y="130628"/>
                </a:lnTo>
                <a:cubicBezTo>
                  <a:pt x="2128546" y="120952"/>
                  <a:pt x="2140652" y="105831"/>
                  <a:pt x="2157575" y="101600"/>
                </a:cubicBezTo>
                <a:cubicBezTo>
                  <a:pt x="2176927" y="96762"/>
                  <a:pt x="2196525" y="92818"/>
                  <a:pt x="2215632" y="87086"/>
                </a:cubicBezTo>
                <a:cubicBezTo>
                  <a:pt x="2244940" y="78293"/>
                  <a:pt x="2273689" y="67733"/>
                  <a:pt x="2302718" y="58057"/>
                </a:cubicBezTo>
                <a:lnTo>
                  <a:pt x="2346261" y="43543"/>
                </a:lnTo>
                <a:lnTo>
                  <a:pt x="2389804" y="29028"/>
                </a:lnTo>
                <a:lnTo>
                  <a:pt x="3536432" y="43543"/>
                </a:lnTo>
                <a:cubicBezTo>
                  <a:pt x="3882093" y="51489"/>
                  <a:pt x="3507434" y="53221"/>
                  <a:pt x="3710604" y="72571"/>
                </a:cubicBezTo>
                <a:cubicBezTo>
                  <a:pt x="3792622" y="80382"/>
                  <a:pt x="3875099" y="82248"/>
                  <a:pt x="3957346" y="87086"/>
                </a:cubicBezTo>
                <a:cubicBezTo>
                  <a:pt x="4124499" y="83009"/>
                  <a:pt x="4423980" y="160111"/>
                  <a:pt x="4610489" y="43543"/>
                </a:cubicBezTo>
                <a:cubicBezTo>
                  <a:pt x="4631002" y="30722"/>
                  <a:pt x="4649194" y="14514"/>
                  <a:pt x="4668546" y="0"/>
                </a:cubicBezTo>
                <a:lnTo>
                  <a:pt x="4958832" y="14514"/>
                </a:lnTo>
                <a:lnTo>
                  <a:pt x="5597461" y="29028"/>
                </a:lnTo>
                <a:cubicBezTo>
                  <a:pt x="5622110" y="30034"/>
                  <a:pt x="5645448" y="41494"/>
                  <a:pt x="5670032" y="43543"/>
                </a:cubicBezTo>
                <a:cubicBezTo>
                  <a:pt x="5819806" y="56024"/>
                  <a:pt x="6119975" y="72571"/>
                  <a:pt x="6119975" y="72571"/>
                </a:cubicBezTo>
                <a:cubicBezTo>
                  <a:pt x="6153842" y="82247"/>
                  <a:pt x="6187988" y="90994"/>
                  <a:pt x="6221575" y="101600"/>
                </a:cubicBezTo>
                <a:cubicBezTo>
                  <a:pt x="6279932" y="120029"/>
                  <a:pt x="6336903" y="142845"/>
                  <a:pt x="6395746" y="159657"/>
                </a:cubicBezTo>
                <a:cubicBezTo>
                  <a:pt x="6429613" y="169333"/>
                  <a:pt x="6462808" y="181778"/>
                  <a:pt x="6497346" y="188686"/>
                </a:cubicBezTo>
                <a:cubicBezTo>
                  <a:pt x="6535595" y="196336"/>
                  <a:pt x="6574756" y="198362"/>
                  <a:pt x="6613461" y="203200"/>
                </a:cubicBezTo>
                <a:cubicBezTo>
                  <a:pt x="6718315" y="229413"/>
                  <a:pt x="6755908" y="235657"/>
                  <a:pt x="6860204" y="275771"/>
                </a:cubicBezTo>
                <a:cubicBezTo>
                  <a:pt x="6990403" y="325848"/>
                  <a:pt x="6839948" y="289138"/>
                  <a:pt x="6990832" y="319314"/>
                </a:cubicBezTo>
                <a:cubicBezTo>
                  <a:pt x="7010184" y="328990"/>
                  <a:pt x="7027419" y="345659"/>
                  <a:pt x="7048889" y="348343"/>
                </a:cubicBezTo>
                <a:cubicBezTo>
                  <a:pt x="7271908" y="376220"/>
                  <a:pt x="7318065" y="364616"/>
                  <a:pt x="7513346" y="348343"/>
                </a:cubicBezTo>
                <a:cubicBezTo>
                  <a:pt x="7537537" y="358019"/>
                  <a:pt x="7561523" y="368223"/>
                  <a:pt x="7585918" y="377371"/>
                </a:cubicBezTo>
                <a:cubicBezTo>
                  <a:pt x="7600243" y="382743"/>
                  <a:pt x="7615399" y="385859"/>
                  <a:pt x="7629461" y="391886"/>
                </a:cubicBezTo>
                <a:cubicBezTo>
                  <a:pt x="7649348" y="400409"/>
                  <a:pt x="7666644" y="415221"/>
                  <a:pt x="7687518" y="420914"/>
                </a:cubicBezTo>
                <a:cubicBezTo>
                  <a:pt x="7720523" y="429915"/>
                  <a:pt x="7755251" y="430590"/>
                  <a:pt x="7789118" y="435428"/>
                </a:cubicBezTo>
                <a:cubicBezTo>
                  <a:pt x="7818147" y="445104"/>
                  <a:pt x="7850744" y="447483"/>
                  <a:pt x="7876204" y="464457"/>
                </a:cubicBezTo>
                <a:cubicBezTo>
                  <a:pt x="7890718" y="474133"/>
                  <a:pt x="7904144" y="485685"/>
                  <a:pt x="7919746" y="493486"/>
                </a:cubicBezTo>
                <a:cubicBezTo>
                  <a:pt x="7933430" y="500328"/>
                  <a:pt x="7949915" y="500570"/>
                  <a:pt x="7963289" y="508000"/>
                </a:cubicBezTo>
                <a:cubicBezTo>
                  <a:pt x="7993787" y="524943"/>
                  <a:pt x="8050375" y="566057"/>
                  <a:pt x="8050375" y="566057"/>
                </a:cubicBezTo>
                <a:lnTo>
                  <a:pt x="8137461" y="696686"/>
                </a:lnTo>
                <a:cubicBezTo>
                  <a:pt x="8147137" y="711200"/>
                  <a:pt x="8154154" y="727893"/>
                  <a:pt x="8166489" y="740228"/>
                </a:cubicBezTo>
                <a:cubicBezTo>
                  <a:pt x="8293700" y="867439"/>
                  <a:pt x="8132331" y="711763"/>
                  <a:pt x="8253575" y="812800"/>
                </a:cubicBezTo>
                <a:cubicBezTo>
                  <a:pt x="8269344" y="825941"/>
                  <a:pt x="8282604" y="841829"/>
                  <a:pt x="8297118" y="856343"/>
                </a:cubicBezTo>
                <a:cubicBezTo>
                  <a:pt x="8320643" y="1138645"/>
                  <a:pt x="8273770" y="949018"/>
                  <a:pt x="8355175" y="1088571"/>
                </a:cubicBezTo>
                <a:cubicBezTo>
                  <a:pt x="8376979" y="1125950"/>
                  <a:pt x="8413232" y="1204686"/>
                  <a:pt x="8413232" y="1204686"/>
                </a:cubicBezTo>
                <a:cubicBezTo>
                  <a:pt x="8418070" y="1228876"/>
                  <a:pt x="8421763" y="1253324"/>
                  <a:pt x="8427746" y="1277257"/>
                </a:cubicBezTo>
                <a:cubicBezTo>
                  <a:pt x="8431457" y="1292100"/>
                  <a:pt x="8441041" y="1305549"/>
                  <a:pt x="8442261" y="1320800"/>
                </a:cubicBezTo>
                <a:cubicBezTo>
                  <a:pt x="8481280" y="1808526"/>
                  <a:pt x="8432860" y="1496619"/>
                  <a:pt x="8471289" y="1727200"/>
                </a:cubicBezTo>
                <a:cubicBezTo>
                  <a:pt x="8466451" y="1935238"/>
                  <a:pt x="8465438" y="2143400"/>
                  <a:pt x="8456775" y="2351314"/>
                </a:cubicBezTo>
                <a:cubicBezTo>
                  <a:pt x="8453649" y="2426338"/>
                  <a:pt x="8428495" y="2434656"/>
                  <a:pt x="8413232" y="2510971"/>
                </a:cubicBezTo>
                <a:cubicBezTo>
                  <a:pt x="8369476" y="2729756"/>
                  <a:pt x="8425183" y="2457199"/>
                  <a:pt x="8384204" y="2641600"/>
                </a:cubicBezTo>
                <a:cubicBezTo>
                  <a:pt x="8378852" y="2665682"/>
                  <a:pt x="8376180" y="2690371"/>
                  <a:pt x="8369689" y="2714171"/>
                </a:cubicBezTo>
                <a:cubicBezTo>
                  <a:pt x="8354341" y="2770446"/>
                  <a:pt x="8342158" y="2819279"/>
                  <a:pt x="8297118" y="2859314"/>
                </a:cubicBezTo>
                <a:cubicBezTo>
                  <a:pt x="8179446" y="2963911"/>
                  <a:pt x="8250960" y="2889651"/>
                  <a:pt x="8166489" y="2931886"/>
                </a:cubicBezTo>
                <a:cubicBezTo>
                  <a:pt x="8150887" y="2939687"/>
                  <a:pt x="8138548" y="2953113"/>
                  <a:pt x="8122946" y="2960914"/>
                </a:cubicBezTo>
                <a:cubicBezTo>
                  <a:pt x="8102125" y="2971325"/>
                  <a:pt x="8039945" y="2985293"/>
                  <a:pt x="8021346" y="2989943"/>
                </a:cubicBezTo>
                <a:cubicBezTo>
                  <a:pt x="7054485" y="2976325"/>
                  <a:pt x="6937680" y="2964934"/>
                  <a:pt x="5974832" y="2989943"/>
                </a:cubicBezTo>
                <a:cubicBezTo>
                  <a:pt x="5940633" y="2990831"/>
                  <a:pt x="5907045" y="2999255"/>
                  <a:pt x="5873232" y="3004457"/>
                </a:cubicBezTo>
                <a:cubicBezTo>
                  <a:pt x="5811442" y="3013963"/>
                  <a:pt x="5784212" y="3017451"/>
                  <a:pt x="5728089" y="3033486"/>
                </a:cubicBezTo>
                <a:cubicBezTo>
                  <a:pt x="5702138" y="3040901"/>
                  <a:pt x="5651778" y="3061770"/>
                  <a:pt x="5626489" y="3062514"/>
                </a:cubicBezTo>
                <a:cubicBezTo>
                  <a:pt x="5316947" y="3071618"/>
                  <a:pt x="5007213" y="3072190"/>
                  <a:pt x="4697575" y="3077028"/>
                </a:cubicBezTo>
                <a:cubicBezTo>
                  <a:pt x="4658870" y="3081866"/>
                  <a:pt x="4619936" y="3085130"/>
                  <a:pt x="4581461" y="3091543"/>
                </a:cubicBezTo>
                <a:cubicBezTo>
                  <a:pt x="4561785" y="3094822"/>
                  <a:pt x="4542965" y="3102145"/>
                  <a:pt x="4523404" y="3106057"/>
                </a:cubicBezTo>
                <a:cubicBezTo>
                  <a:pt x="4494546" y="3111828"/>
                  <a:pt x="4465347" y="3115733"/>
                  <a:pt x="4436318" y="3120571"/>
                </a:cubicBezTo>
                <a:cubicBezTo>
                  <a:pt x="4242794" y="3115733"/>
                  <a:pt x="4049330" y="3106057"/>
                  <a:pt x="3855746" y="3106057"/>
                </a:cubicBezTo>
                <a:cubicBezTo>
                  <a:pt x="3704403" y="3106057"/>
                  <a:pt x="3555039" y="3128281"/>
                  <a:pt x="3405804" y="3149600"/>
                </a:cubicBezTo>
                <a:cubicBezTo>
                  <a:pt x="3221956" y="3144762"/>
                  <a:pt x="3037974" y="3143631"/>
                  <a:pt x="2854261" y="3135086"/>
                </a:cubicBezTo>
                <a:cubicBezTo>
                  <a:pt x="2829618" y="3133940"/>
                  <a:pt x="2805490" y="3127062"/>
                  <a:pt x="2781689" y="3120571"/>
                </a:cubicBezTo>
                <a:cubicBezTo>
                  <a:pt x="2781649" y="3120560"/>
                  <a:pt x="2672852" y="3084292"/>
                  <a:pt x="2651061" y="3077028"/>
                </a:cubicBezTo>
                <a:cubicBezTo>
                  <a:pt x="2636547" y="3072190"/>
                  <a:pt x="2622800" y="3063242"/>
                  <a:pt x="2607518" y="3062514"/>
                </a:cubicBezTo>
                <a:lnTo>
                  <a:pt x="2302718" y="3048000"/>
                </a:lnTo>
                <a:cubicBezTo>
                  <a:pt x="2214075" y="2959357"/>
                  <a:pt x="2305287" y="3056262"/>
                  <a:pt x="2201118" y="2917371"/>
                </a:cubicBezTo>
                <a:lnTo>
                  <a:pt x="2114032" y="2801257"/>
                </a:lnTo>
                <a:cubicBezTo>
                  <a:pt x="2061101" y="2642461"/>
                  <a:pt x="2145517" y="2882984"/>
                  <a:pt x="2070489" y="2714171"/>
                </a:cubicBezTo>
                <a:cubicBezTo>
                  <a:pt x="2058062" y="2686210"/>
                  <a:pt x="2051137" y="2656114"/>
                  <a:pt x="2041461" y="2627086"/>
                </a:cubicBezTo>
                <a:lnTo>
                  <a:pt x="2026946" y="2583543"/>
                </a:lnTo>
                <a:cubicBezTo>
                  <a:pt x="2021098" y="2565999"/>
                  <a:pt x="2004749" y="2504219"/>
                  <a:pt x="1983404" y="2496457"/>
                </a:cubicBezTo>
                <a:cubicBezTo>
                  <a:pt x="1942231" y="2481485"/>
                  <a:pt x="1896202" y="2487733"/>
                  <a:pt x="1852775" y="2481943"/>
                </a:cubicBezTo>
                <a:cubicBezTo>
                  <a:pt x="1823604" y="2478053"/>
                  <a:pt x="1794718" y="2472266"/>
                  <a:pt x="1765689" y="2467428"/>
                </a:cubicBezTo>
                <a:cubicBezTo>
                  <a:pt x="1676254" y="2407806"/>
                  <a:pt x="1775124" y="2465736"/>
                  <a:pt x="1649575" y="2423886"/>
                </a:cubicBezTo>
                <a:cubicBezTo>
                  <a:pt x="1614620" y="2412234"/>
                  <a:pt x="1580931" y="2396821"/>
                  <a:pt x="1547975" y="2380343"/>
                </a:cubicBezTo>
                <a:cubicBezTo>
                  <a:pt x="1435432" y="2324071"/>
                  <a:pt x="1570333" y="2373281"/>
                  <a:pt x="1460889" y="2336800"/>
                </a:cubicBezTo>
                <a:cubicBezTo>
                  <a:pt x="1388013" y="2227483"/>
                  <a:pt x="1473581" y="2366415"/>
                  <a:pt x="1417346" y="2235200"/>
                </a:cubicBezTo>
                <a:cubicBezTo>
                  <a:pt x="1410474" y="2219167"/>
                  <a:pt x="1395403" y="2207597"/>
                  <a:pt x="1388318" y="2191657"/>
                </a:cubicBezTo>
                <a:cubicBezTo>
                  <a:pt x="1375891" y="2163695"/>
                  <a:pt x="1384749" y="2121544"/>
                  <a:pt x="1359289" y="2104571"/>
                </a:cubicBezTo>
                <a:cubicBezTo>
                  <a:pt x="1259474" y="2038027"/>
                  <a:pt x="1305302" y="2057546"/>
                  <a:pt x="1228661" y="2032000"/>
                </a:cubicBezTo>
                <a:cubicBezTo>
                  <a:pt x="1218985" y="2017486"/>
                  <a:pt x="1207433" y="2004059"/>
                  <a:pt x="1199632" y="1988457"/>
                </a:cubicBezTo>
                <a:cubicBezTo>
                  <a:pt x="1178707" y="1946606"/>
                  <a:pt x="1194625" y="1911386"/>
                  <a:pt x="1156089" y="1988457"/>
                </a:cubicBezTo>
                <a:cubicBezTo>
                  <a:pt x="1153925" y="1992784"/>
                  <a:pt x="1156089" y="1998133"/>
                  <a:pt x="1156089" y="2002971"/>
                </a:cubicBezTo>
              </a:path>
            </a:pathLst>
          </a:cu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a:extLst>
              <a:ext uri="{FF2B5EF4-FFF2-40B4-BE49-F238E27FC236}">
                <a16:creationId xmlns:a16="http://schemas.microsoft.com/office/drawing/2014/main" id="{399B6DFE-FB72-ACD9-ED68-E58803DC6719}"/>
              </a:ext>
            </a:extLst>
          </p:cNvPr>
          <p:cNvSpPr txBox="1"/>
          <p:nvPr/>
        </p:nvSpPr>
        <p:spPr>
          <a:xfrm>
            <a:off x="3626844" y="2877301"/>
            <a:ext cx="2509533" cy="400110"/>
          </a:xfrm>
          <a:prstGeom prst="rect">
            <a:avLst/>
          </a:prstGeom>
          <a:noFill/>
        </p:spPr>
        <p:txBody>
          <a:bodyPr wrap="none" rtlCol="0">
            <a:spAutoFit/>
          </a:bodyPr>
          <a:lstStyle/>
          <a:p>
            <a:r>
              <a:rPr lang="en-US" sz="2000" b="1" dirty="0">
                <a:solidFill>
                  <a:srgbClr val="FF0000"/>
                </a:solidFill>
              </a:rPr>
              <a:t>Unchecked  Exception</a:t>
            </a:r>
          </a:p>
        </p:txBody>
      </p:sp>
      <p:sp>
        <p:nvSpPr>
          <p:cNvPr id="36" name="TextBox 35">
            <a:extLst>
              <a:ext uri="{FF2B5EF4-FFF2-40B4-BE49-F238E27FC236}">
                <a16:creationId xmlns:a16="http://schemas.microsoft.com/office/drawing/2014/main" id="{9EC282C4-137F-F859-610A-D2D408DA04FC}"/>
              </a:ext>
            </a:extLst>
          </p:cNvPr>
          <p:cNvSpPr txBox="1"/>
          <p:nvPr/>
        </p:nvSpPr>
        <p:spPr>
          <a:xfrm>
            <a:off x="1493244" y="5163301"/>
            <a:ext cx="2233817" cy="400110"/>
          </a:xfrm>
          <a:prstGeom prst="rect">
            <a:avLst/>
          </a:prstGeom>
          <a:noFill/>
        </p:spPr>
        <p:txBody>
          <a:bodyPr wrap="none" rtlCol="0">
            <a:spAutoFit/>
          </a:bodyPr>
          <a:lstStyle/>
          <a:p>
            <a:r>
              <a:rPr lang="en-US" sz="2000" b="1" dirty="0">
                <a:solidFill>
                  <a:srgbClr val="00B050"/>
                </a:solidFill>
              </a:rPr>
              <a:t>Checked  Exception</a:t>
            </a:r>
          </a:p>
        </p:txBody>
      </p:sp>
      <p:cxnSp>
        <p:nvCxnSpPr>
          <p:cNvPr id="37" name="Elbow Connector 75">
            <a:extLst>
              <a:ext uri="{FF2B5EF4-FFF2-40B4-BE49-F238E27FC236}">
                <a16:creationId xmlns:a16="http://schemas.microsoft.com/office/drawing/2014/main" id="{3D0BF900-5556-AD00-3BFA-3C6ADFF91B39}"/>
              </a:ext>
            </a:extLst>
          </p:cNvPr>
          <p:cNvCxnSpPr>
            <a:stCxn id="9" idx="3"/>
          </p:cNvCxnSpPr>
          <p:nvPr/>
        </p:nvCxnSpPr>
        <p:spPr>
          <a:xfrm>
            <a:off x="6522444" y="3677401"/>
            <a:ext cx="533400" cy="1143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BE2F5AA-7A15-8B3C-13FE-828E1E485671}"/>
              </a:ext>
            </a:extLst>
          </p:cNvPr>
          <p:cNvSpPr txBox="1"/>
          <p:nvPr/>
        </p:nvSpPr>
        <p:spPr>
          <a:xfrm>
            <a:off x="7132044" y="3563101"/>
            <a:ext cx="463588" cy="369332"/>
          </a:xfrm>
          <a:prstGeom prst="rect">
            <a:avLst/>
          </a:prstGeom>
          <a:noFill/>
        </p:spPr>
        <p:txBody>
          <a:bodyPr wrap="none" rtlCol="0">
            <a:spAutoFit/>
          </a:bodyPr>
          <a:lstStyle/>
          <a:p>
            <a:r>
              <a:rPr lang="en-IN" dirty="0"/>
              <a:t>. . .</a:t>
            </a:r>
            <a:endParaRPr lang="en-US" dirty="0"/>
          </a:p>
        </p:txBody>
      </p:sp>
      <p:cxnSp>
        <p:nvCxnSpPr>
          <p:cNvPr id="39" name="Elbow Connector 77">
            <a:extLst>
              <a:ext uri="{FF2B5EF4-FFF2-40B4-BE49-F238E27FC236}">
                <a16:creationId xmlns:a16="http://schemas.microsoft.com/office/drawing/2014/main" id="{02721E77-DFE2-2862-844C-F0A39ED45E20}"/>
              </a:ext>
            </a:extLst>
          </p:cNvPr>
          <p:cNvCxnSpPr>
            <a:stCxn id="11" idx="3"/>
            <a:endCxn id="40" idx="1"/>
          </p:cNvCxnSpPr>
          <p:nvPr/>
        </p:nvCxnSpPr>
        <p:spPr>
          <a:xfrm>
            <a:off x="6522444" y="4896601"/>
            <a:ext cx="457200" cy="121336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8EA6ECEA-73BB-FE8C-3C27-ECC492CE1E10}"/>
              </a:ext>
            </a:extLst>
          </p:cNvPr>
          <p:cNvSpPr txBox="1"/>
          <p:nvPr/>
        </p:nvSpPr>
        <p:spPr>
          <a:xfrm>
            <a:off x="6979644" y="5925301"/>
            <a:ext cx="463588" cy="369332"/>
          </a:xfrm>
          <a:prstGeom prst="rect">
            <a:avLst/>
          </a:prstGeom>
          <a:noFill/>
        </p:spPr>
        <p:txBody>
          <a:bodyPr wrap="none" rtlCol="0">
            <a:spAutoFit/>
          </a:bodyPr>
          <a:lstStyle/>
          <a:p>
            <a:r>
              <a:rPr lang="en-IN" dirty="0"/>
              <a:t>. . .</a:t>
            </a:r>
            <a:endParaRPr lang="en-US" dirty="0"/>
          </a:p>
        </p:txBody>
      </p:sp>
    </p:spTree>
    <p:extLst>
      <p:ext uri="{BB962C8B-B14F-4D97-AF65-F5344CB8AC3E}">
        <p14:creationId xmlns:p14="http://schemas.microsoft.com/office/powerpoint/2010/main" val="225694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par>
                                <p:cTn id="13" presetID="3" presetClass="entr" presetSubtype="1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500"/>
                                        <p:tgtEl>
                                          <p:spTgt spid="2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500"/>
                                        <p:tgtEl>
                                          <p:spTgt spid="6"/>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linds(horizontal)">
                                      <p:cBhvr>
                                        <p:cTn id="29" dur="500"/>
                                        <p:tgtEl>
                                          <p:spTgt spid="7"/>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par>
                                <p:cTn id="33" presetID="3" presetClass="entr" presetSubtype="1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blinds(horizontal)">
                                      <p:cBhvr>
                                        <p:cTn id="35" dur="500"/>
                                        <p:tgtEl>
                                          <p:spTgt spid="21"/>
                                        </p:tgtEl>
                                      </p:cBhvr>
                                    </p:animEffect>
                                  </p:childTnLst>
                                </p:cTn>
                              </p:par>
                              <p:par>
                                <p:cTn id="36" presetID="3" presetClass="entr" presetSubtype="10"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blinds(horizontal)">
                                      <p:cBhvr>
                                        <p:cTn id="38" dur="500"/>
                                        <p:tgtEl>
                                          <p:spTgt spid="22"/>
                                        </p:tgtEl>
                                      </p:cBhvr>
                                    </p:animEffect>
                                  </p:childTnLst>
                                </p:cTn>
                              </p:par>
                              <p:par>
                                <p:cTn id="39" presetID="3" presetClass="entr" presetSubtype="1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blinds(horizontal)">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linds(horizontal)">
                                      <p:cBhvr>
                                        <p:cTn id="49" dur="500"/>
                                        <p:tgtEl>
                                          <p:spTgt spid="1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cTn>
                              </p:par>
                              <p:par>
                                <p:cTn id="53" presetID="3" presetClass="entr" presetSubtype="1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blinds(horizontal)">
                                      <p:cBhvr>
                                        <p:cTn id="55" dur="500"/>
                                        <p:tgtEl>
                                          <p:spTgt spid="24"/>
                                        </p:tgtEl>
                                      </p:cBhvr>
                                    </p:animEffect>
                                  </p:childTnLst>
                                </p:cTn>
                              </p:par>
                              <p:par>
                                <p:cTn id="56" presetID="3" presetClass="entr" presetSubtype="10"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blinds(horizontal)">
                                      <p:cBhvr>
                                        <p:cTn id="58" dur="500"/>
                                        <p:tgtEl>
                                          <p:spTgt spid="25"/>
                                        </p:tgtEl>
                                      </p:cBhvr>
                                    </p:animEffect>
                                  </p:childTnLst>
                                </p:cTn>
                              </p:par>
                              <p:par>
                                <p:cTn id="59" presetID="3" presetClass="entr" presetSubtype="1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blinds(horizontal)">
                                      <p:cBhvr>
                                        <p:cTn id="61" dur="500"/>
                                        <p:tgtEl>
                                          <p:spTgt spid="26"/>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blinds(horizontal)">
                                      <p:cBhvr>
                                        <p:cTn id="66" dur="500"/>
                                        <p:tgtEl>
                                          <p:spTgt spid="12"/>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blinds(horizontal)">
                                      <p:cBhvr>
                                        <p:cTn id="69" dur="500"/>
                                        <p:tgtEl>
                                          <p:spTgt spid="13"/>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blinds(horizontal)">
                                      <p:cBhvr>
                                        <p:cTn id="72" dur="500"/>
                                        <p:tgtEl>
                                          <p:spTgt spid="14"/>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blinds(horizontal)">
                                      <p:cBhvr>
                                        <p:cTn id="75" dur="500"/>
                                        <p:tgtEl>
                                          <p:spTgt spid="15"/>
                                        </p:tgtEl>
                                      </p:cBhvr>
                                    </p:animEffect>
                                  </p:childTnLst>
                                </p:cTn>
                              </p:par>
                              <p:par>
                                <p:cTn id="76" presetID="3" presetClass="entr" presetSubtype="1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blinds(horizontal)">
                                      <p:cBhvr>
                                        <p:cTn id="78" dur="500"/>
                                        <p:tgtEl>
                                          <p:spTgt spid="27"/>
                                        </p:tgtEl>
                                      </p:cBhvr>
                                    </p:animEffect>
                                  </p:childTnLst>
                                </p:cTn>
                              </p:par>
                              <p:par>
                                <p:cTn id="79" presetID="3" presetClass="entr" presetSubtype="10" fill="hold"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blinds(horizontal)">
                                      <p:cBhvr>
                                        <p:cTn id="81" dur="500"/>
                                        <p:tgtEl>
                                          <p:spTgt spid="28"/>
                                        </p:tgtEl>
                                      </p:cBhvr>
                                    </p:animEffect>
                                  </p:childTnLst>
                                </p:cTn>
                              </p:par>
                              <p:par>
                                <p:cTn id="82" presetID="3" presetClass="entr" presetSubtype="10" fill="hold"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blinds(horizontal)">
                                      <p:cBhvr>
                                        <p:cTn id="84" dur="500"/>
                                        <p:tgtEl>
                                          <p:spTgt spid="29"/>
                                        </p:tgtEl>
                                      </p:cBhvr>
                                    </p:animEffect>
                                  </p:childTnLst>
                                </p:cTn>
                              </p:par>
                              <p:par>
                                <p:cTn id="85" presetID="3" presetClass="entr" presetSubtype="10" fill="hold"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blinds(horizontal)">
                                      <p:cBhvr>
                                        <p:cTn id="87" dur="500"/>
                                        <p:tgtEl>
                                          <p:spTgt spid="30"/>
                                        </p:tgtEl>
                                      </p:cBhvr>
                                    </p:animEffect>
                                  </p:childTnLst>
                                </p:cTn>
                              </p:par>
                              <p:par>
                                <p:cTn id="88" presetID="3" presetClass="entr" presetSubtype="10" fill="hold"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blinds(horizontal)">
                                      <p:cBhvr>
                                        <p:cTn id="90" dur="500"/>
                                        <p:tgtEl>
                                          <p:spTgt spid="37"/>
                                        </p:tgtEl>
                                      </p:cBhvr>
                                    </p:animEffect>
                                  </p:childTnLst>
                                </p:cTn>
                              </p:par>
                              <p:par>
                                <p:cTn id="91" presetID="1" presetClass="entr" presetSubtype="0" fill="hold" grpId="0" nodeType="withEffect">
                                  <p:stCondLst>
                                    <p:cond delay="0"/>
                                  </p:stCondLst>
                                  <p:childTnLst>
                                    <p:set>
                                      <p:cBhvr>
                                        <p:cTn id="92" dur="1" fill="hold">
                                          <p:stCondLst>
                                            <p:cond delay="0"/>
                                          </p:stCondLst>
                                        </p:cTn>
                                        <p:tgtEl>
                                          <p:spTgt spid="3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blinds(horizontal)">
                                      <p:cBhvr>
                                        <p:cTn id="97" dur="500"/>
                                        <p:tgtEl>
                                          <p:spTgt spid="16"/>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blinds(horizontal)">
                                      <p:cBhvr>
                                        <p:cTn id="100" dur="500"/>
                                        <p:tgtEl>
                                          <p:spTgt spid="17"/>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blinds(horizontal)">
                                      <p:cBhvr>
                                        <p:cTn id="103" dur="500"/>
                                        <p:tgtEl>
                                          <p:spTgt spid="18"/>
                                        </p:tgtEl>
                                      </p:cBhvr>
                                    </p:animEffect>
                                  </p:childTnLst>
                                </p:cTn>
                              </p:par>
                              <p:par>
                                <p:cTn id="104" presetID="3" presetClass="entr" presetSubtype="10" fill="hold" nodeType="with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blinds(horizontal)">
                                      <p:cBhvr>
                                        <p:cTn id="106" dur="500"/>
                                        <p:tgtEl>
                                          <p:spTgt spid="31"/>
                                        </p:tgtEl>
                                      </p:cBhvr>
                                    </p:animEffect>
                                  </p:childTnLst>
                                </p:cTn>
                              </p:par>
                              <p:par>
                                <p:cTn id="107" presetID="3" presetClass="entr" presetSubtype="10" fill="hold" nodeType="withEffect">
                                  <p:stCondLst>
                                    <p:cond delay="0"/>
                                  </p:stCondLst>
                                  <p:childTnLst>
                                    <p:set>
                                      <p:cBhvr>
                                        <p:cTn id="108" dur="1" fill="hold">
                                          <p:stCondLst>
                                            <p:cond delay="0"/>
                                          </p:stCondLst>
                                        </p:cTn>
                                        <p:tgtEl>
                                          <p:spTgt spid="32"/>
                                        </p:tgtEl>
                                        <p:attrNameLst>
                                          <p:attrName>style.visibility</p:attrName>
                                        </p:attrNameLst>
                                      </p:cBhvr>
                                      <p:to>
                                        <p:strVal val="visible"/>
                                      </p:to>
                                    </p:set>
                                    <p:animEffect transition="in" filter="blinds(horizontal)">
                                      <p:cBhvr>
                                        <p:cTn id="109" dur="500"/>
                                        <p:tgtEl>
                                          <p:spTgt spid="32"/>
                                        </p:tgtEl>
                                      </p:cBhvr>
                                    </p:animEffect>
                                  </p:childTnLst>
                                </p:cTn>
                              </p:par>
                              <p:par>
                                <p:cTn id="110" presetID="3" presetClass="entr" presetSubtype="10" fill="hold" nodeType="withEffect">
                                  <p:stCondLst>
                                    <p:cond delay="0"/>
                                  </p:stCondLst>
                                  <p:childTnLst>
                                    <p:set>
                                      <p:cBhvr>
                                        <p:cTn id="111" dur="1" fill="hold">
                                          <p:stCondLst>
                                            <p:cond delay="0"/>
                                          </p:stCondLst>
                                        </p:cTn>
                                        <p:tgtEl>
                                          <p:spTgt spid="33"/>
                                        </p:tgtEl>
                                        <p:attrNameLst>
                                          <p:attrName>style.visibility</p:attrName>
                                        </p:attrNameLst>
                                      </p:cBhvr>
                                      <p:to>
                                        <p:strVal val="visible"/>
                                      </p:to>
                                    </p:set>
                                    <p:animEffect transition="in" filter="blinds(horizontal)">
                                      <p:cBhvr>
                                        <p:cTn id="112" dur="500"/>
                                        <p:tgtEl>
                                          <p:spTgt spid="33"/>
                                        </p:tgtEl>
                                      </p:cBhvr>
                                    </p:animEffect>
                                  </p:childTnLst>
                                </p:cTn>
                              </p:par>
                              <p:par>
                                <p:cTn id="113" presetID="3" presetClass="entr" presetSubtype="10" fill="hold"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blinds(horizontal)">
                                      <p:cBhvr>
                                        <p:cTn id="115" dur="500"/>
                                        <p:tgtEl>
                                          <p:spTgt spid="39"/>
                                        </p:tgtEl>
                                      </p:cBhvr>
                                    </p:animEffect>
                                  </p:childTnLst>
                                </p:cTn>
                              </p:par>
                              <p:par>
                                <p:cTn id="116" presetID="1" presetClass="entr" presetSubtype="0"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34"/>
                                        </p:tgtEl>
                                        <p:attrNameLst>
                                          <p:attrName>style.visibility</p:attrName>
                                        </p:attrNameLst>
                                      </p:cBhvr>
                                      <p:to>
                                        <p:strVal val="visible"/>
                                      </p:to>
                                    </p:set>
                                    <p:animEffect transition="in" filter="blinds(horizontal)">
                                      <p:cBhvr>
                                        <p:cTn id="122" dur="500"/>
                                        <p:tgtEl>
                                          <p:spTgt spid="34"/>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35"/>
                                        </p:tgtEl>
                                        <p:attrNameLst>
                                          <p:attrName>style.visibility</p:attrName>
                                        </p:attrNameLst>
                                      </p:cBhvr>
                                      <p:to>
                                        <p:strVal val="visible"/>
                                      </p:to>
                                    </p:set>
                                    <p:animEffect transition="in" filter="blinds(horizontal)">
                                      <p:cBhvr>
                                        <p:cTn id="127" dur="500"/>
                                        <p:tgtEl>
                                          <p:spTgt spid="35"/>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36"/>
                                        </p:tgtEl>
                                        <p:attrNameLst>
                                          <p:attrName>style.visibility</p:attrName>
                                        </p:attrNameLst>
                                      </p:cBhvr>
                                      <p:to>
                                        <p:strVal val="visible"/>
                                      </p:to>
                                    </p:set>
                                    <p:animEffect transition="in" filter="blinds(horizontal)">
                                      <p:cBhvr>
                                        <p:cTn id="1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34" grpId="0" animBg="1"/>
      <p:bldP spid="35" grpId="0"/>
      <p:bldP spid="36" grpId="0"/>
      <p:bldP spid="38"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FEDBA-32A0-3D32-A044-F6119311C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09260-01F5-3B26-17FD-C90BFB3787AE}"/>
              </a:ext>
            </a:extLst>
          </p:cNvPr>
          <p:cNvSpPr>
            <a:spLocks noGrp="1"/>
          </p:cNvSpPr>
          <p:nvPr>
            <p:ph type="title"/>
          </p:nvPr>
        </p:nvSpPr>
        <p:spPr>
          <a:xfrm>
            <a:off x="0" y="1"/>
            <a:ext cx="12192000" cy="711200"/>
          </a:xfrm>
        </p:spPr>
        <p:txBody>
          <a:bodyPr/>
          <a:lstStyle/>
          <a:p>
            <a:r>
              <a:rPr lang="en-US" dirty="0"/>
              <a:t>Java’s Inbuilt Unchecked Exceptions</a:t>
            </a:r>
          </a:p>
        </p:txBody>
      </p:sp>
      <p:graphicFrame>
        <p:nvGraphicFramePr>
          <p:cNvPr id="3" name="Content Placeholder 4">
            <a:extLst>
              <a:ext uri="{FF2B5EF4-FFF2-40B4-BE49-F238E27FC236}">
                <a16:creationId xmlns:a16="http://schemas.microsoft.com/office/drawing/2014/main" id="{534D7966-5160-473E-2195-EB0BD0BE5309}"/>
              </a:ext>
            </a:extLst>
          </p:cNvPr>
          <p:cNvGraphicFramePr>
            <a:graphicFrameLocks noGrp="1"/>
          </p:cNvGraphicFramePr>
          <p:nvPr>
            <p:ph idx="1"/>
          </p:nvPr>
        </p:nvGraphicFramePr>
        <p:xfrm>
          <a:off x="349133" y="1059873"/>
          <a:ext cx="9942023" cy="4079240"/>
        </p:xfrm>
        <a:graphic>
          <a:graphicData uri="http://schemas.openxmlformats.org/drawingml/2006/table">
            <a:tbl>
              <a:tblPr firstRow="1" bandRow="1">
                <a:tableStyleId>{00A15C55-8517-42AA-B614-E9B94910E393}</a:tableStyleId>
              </a:tblPr>
              <a:tblGrid>
                <a:gridCol w="3878767">
                  <a:extLst>
                    <a:ext uri="{9D8B030D-6E8A-4147-A177-3AD203B41FA5}">
                      <a16:colId xmlns:a16="http://schemas.microsoft.com/office/drawing/2014/main" val="20000"/>
                    </a:ext>
                  </a:extLst>
                </a:gridCol>
                <a:gridCol w="6063256">
                  <a:extLst>
                    <a:ext uri="{9D8B030D-6E8A-4147-A177-3AD203B41FA5}">
                      <a16:colId xmlns:a16="http://schemas.microsoft.com/office/drawing/2014/main" val="20001"/>
                    </a:ext>
                  </a:extLst>
                </a:gridCol>
              </a:tblGrid>
              <a:tr h="370840">
                <a:tc>
                  <a:txBody>
                    <a:bodyPr/>
                    <a:lstStyle/>
                    <a:p>
                      <a:r>
                        <a:rPr lang="en-US" sz="1800" kern="1200" baseline="0" dirty="0"/>
                        <a:t>Exception</a:t>
                      </a:r>
                      <a:endParaRPr lang="en-US" dirty="0"/>
                    </a:p>
                  </a:txBody>
                  <a:tcPr/>
                </a:tc>
                <a:tc>
                  <a:txBody>
                    <a:bodyPr/>
                    <a:lstStyle/>
                    <a:p>
                      <a:r>
                        <a:rPr lang="en-US" sz="1800" kern="1200" baseline="0" dirty="0"/>
                        <a:t>Meaning</a:t>
                      </a:r>
                      <a:endParaRPr lang="en-US" dirty="0"/>
                    </a:p>
                  </a:txBody>
                  <a:tcPr/>
                </a:tc>
                <a:extLst>
                  <a:ext uri="{0D108BD9-81ED-4DB2-BD59-A6C34878D82A}">
                    <a16:rowId xmlns:a16="http://schemas.microsoft.com/office/drawing/2014/main" val="10000"/>
                  </a:ext>
                </a:extLst>
              </a:tr>
              <a:tr h="370840">
                <a:tc>
                  <a:txBody>
                    <a:bodyPr/>
                    <a:lstStyle/>
                    <a:p>
                      <a:r>
                        <a:rPr lang="en-US" sz="1800" kern="1200" baseline="0" dirty="0" err="1"/>
                        <a:t>ArithmeticException</a:t>
                      </a:r>
                      <a:endParaRPr lang="en-US" dirty="0"/>
                    </a:p>
                  </a:txBody>
                  <a:tcPr/>
                </a:tc>
                <a:tc>
                  <a:txBody>
                    <a:bodyPr/>
                    <a:lstStyle/>
                    <a:p>
                      <a:r>
                        <a:rPr lang="en-US" sz="1800" kern="1200" baseline="0" dirty="0"/>
                        <a:t>Arithmetic error, such as divide-by-zero.</a:t>
                      </a:r>
                      <a:endParaRPr lang="en-US" dirty="0"/>
                    </a:p>
                  </a:txBody>
                  <a:tcPr/>
                </a:tc>
                <a:extLst>
                  <a:ext uri="{0D108BD9-81ED-4DB2-BD59-A6C34878D82A}">
                    <a16:rowId xmlns:a16="http://schemas.microsoft.com/office/drawing/2014/main" val="10001"/>
                  </a:ext>
                </a:extLst>
              </a:tr>
              <a:tr h="370840">
                <a:tc>
                  <a:txBody>
                    <a:bodyPr/>
                    <a:lstStyle/>
                    <a:p>
                      <a:r>
                        <a:rPr lang="en-US" sz="1800" kern="1200" baseline="0" dirty="0" err="1"/>
                        <a:t>ArrayIndexOutOfBoundsException</a:t>
                      </a:r>
                      <a:endParaRPr lang="en-US" dirty="0"/>
                    </a:p>
                  </a:txBody>
                  <a:tcPr/>
                </a:tc>
                <a:tc>
                  <a:txBody>
                    <a:bodyPr/>
                    <a:lstStyle/>
                    <a:p>
                      <a:r>
                        <a:rPr lang="en-US" sz="1800" kern="1200" baseline="0" dirty="0"/>
                        <a:t>Array index is out-of-bounds.</a:t>
                      </a:r>
                      <a:endParaRPr lang="en-US" dirty="0"/>
                    </a:p>
                  </a:txBody>
                  <a:tcPr/>
                </a:tc>
                <a:extLst>
                  <a:ext uri="{0D108BD9-81ED-4DB2-BD59-A6C34878D82A}">
                    <a16:rowId xmlns:a16="http://schemas.microsoft.com/office/drawing/2014/main" val="10002"/>
                  </a:ext>
                </a:extLst>
              </a:tr>
              <a:tr h="370840">
                <a:tc>
                  <a:txBody>
                    <a:bodyPr/>
                    <a:lstStyle/>
                    <a:p>
                      <a:r>
                        <a:rPr lang="en-US" sz="1800" kern="1200" baseline="0" dirty="0" err="1"/>
                        <a:t>ClassCastException</a:t>
                      </a:r>
                      <a:endParaRPr lang="en-US" dirty="0"/>
                    </a:p>
                  </a:txBody>
                  <a:tcPr/>
                </a:tc>
                <a:tc>
                  <a:txBody>
                    <a:bodyPr/>
                    <a:lstStyle/>
                    <a:p>
                      <a:r>
                        <a:rPr lang="en-US" sz="1800" kern="1200" baseline="0" dirty="0"/>
                        <a:t>Invalid cast.</a:t>
                      </a:r>
                      <a:endParaRPr lang="en-US" dirty="0"/>
                    </a:p>
                  </a:txBody>
                  <a:tcPr/>
                </a:tc>
                <a:extLst>
                  <a:ext uri="{0D108BD9-81ED-4DB2-BD59-A6C34878D82A}">
                    <a16:rowId xmlns:a16="http://schemas.microsoft.com/office/drawing/2014/main" val="10003"/>
                  </a:ext>
                </a:extLst>
              </a:tr>
              <a:tr h="370840">
                <a:tc>
                  <a:txBody>
                    <a:bodyPr/>
                    <a:lstStyle/>
                    <a:p>
                      <a:r>
                        <a:rPr lang="en-US" sz="1800" kern="1200" baseline="0" dirty="0" err="1"/>
                        <a:t>IllegalArgumentException</a:t>
                      </a:r>
                      <a:endParaRPr lang="en-US" dirty="0"/>
                    </a:p>
                  </a:txBody>
                  <a:tcPr/>
                </a:tc>
                <a:tc>
                  <a:txBody>
                    <a:bodyPr/>
                    <a:lstStyle/>
                    <a:p>
                      <a:r>
                        <a:rPr lang="en-US" sz="1800" kern="1200" baseline="0" dirty="0"/>
                        <a:t>Illegal argument used to invoke a method.</a:t>
                      </a:r>
                      <a:endParaRPr lang="en-US" dirty="0"/>
                    </a:p>
                  </a:txBody>
                  <a:tcPr/>
                </a:tc>
                <a:extLst>
                  <a:ext uri="{0D108BD9-81ED-4DB2-BD59-A6C34878D82A}">
                    <a16:rowId xmlns:a16="http://schemas.microsoft.com/office/drawing/2014/main" val="10004"/>
                  </a:ext>
                </a:extLst>
              </a:tr>
              <a:tr h="370840">
                <a:tc>
                  <a:txBody>
                    <a:bodyPr/>
                    <a:lstStyle/>
                    <a:p>
                      <a:r>
                        <a:rPr lang="en-US" sz="1800" kern="1200" baseline="0" dirty="0" err="1"/>
                        <a:t>IllegalThreadStateException</a:t>
                      </a:r>
                      <a:endParaRPr lang="en-US" dirty="0"/>
                    </a:p>
                  </a:txBody>
                  <a:tcPr/>
                </a:tc>
                <a:tc>
                  <a:txBody>
                    <a:bodyPr/>
                    <a:lstStyle/>
                    <a:p>
                      <a:r>
                        <a:rPr lang="en-US" sz="1800" kern="1200" baseline="0" dirty="0"/>
                        <a:t>Requested operation not compatible with current thread state.</a:t>
                      </a:r>
                      <a:endParaRPr lang="en-US" dirty="0"/>
                    </a:p>
                  </a:txBody>
                  <a:tcPr/>
                </a:tc>
                <a:extLst>
                  <a:ext uri="{0D108BD9-81ED-4DB2-BD59-A6C34878D82A}">
                    <a16:rowId xmlns:a16="http://schemas.microsoft.com/office/drawing/2014/main" val="10005"/>
                  </a:ext>
                </a:extLst>
              </a:tr>
              <a:tr h="370840">
                <a:tc>
                  <a:txBody>
                    <a:bodyPr/>
                    <a:lstStyle/>
                    <a:p>
                      <a:r>
                        <a:rPr lang="en-US" sz="1800" kern="1200" baseline="0" dirty="0" err="1"/>
                        <a:t>IndexOutOfBoundsException</a:t>
                      </a:r>
                      <a:endParaRPr lang="en-US" dirty="0"/>
                    </a:p>
                  </a:txBody>
                  <a:tcPr/>
                </a:tc>
                <a:tc>
                  <a:txBody>
                    <a:bodyPr/>
                    <a:lstStyle/>
                    <a:p>
                      <a:r>
                        <a:rPr lang="en-US" sz="1800" kern="1200" baseline="0" dirty="0"/>
                        <a:t>Some type of index is out-of-bounds.</a:t>
                      </a:r>
                      <a:endParaRPr lang="en-US" dirty="0"/>
                    </a:p>
                  </a:txBody>
                  <a:tcPr/>
                </a:tc>
                <a:extLst>
                  <a:ext uri="{0D108BD9-81ED-4DB2-BD59-A6C34878D82A}">
                    <a16:rowId xmlns:a16="http://schemas.microsoft.com/office/drawing/2014/main" val="10006"/>
                  </a:ext>
                </a:extLst>
              </a:tr>
              <a:tr h="370840">
                <a:tc>
                  <a:txBody>
                    <a:bodyPr/>
                    <a:lstStyle/>
                    <a:p>
                      <a:r>
                        <a:rPr lang="en-US" sz="1800" kern="1200" baseline="0" dirty="0" err="1"/>
                        <a:t>NegativeArraySizeException</a:t>
                      </a:r>
                      <a:endParaRPr lang="en-US" dirty="0"/>
                    </a:p>
                  </a:txBody>
                  <a:tcPr/>
                </a:tc>
                <a:tc>
                  <a:txBody>
                    <a:bodyPr/>
                    <a:lstStyle/>
                    <a:p>
                      <a:r>
                        <a:rPr lang="en-US" sz="1800" kern="1200" baseline="0" dirty="0"/>
                        <a:t>Array created with a negative size.</a:t>
                      </a:r>
                      <a:endParaRPr lang="en-US" dirty="0"/>
                    </a:p>
                  </a:txBody>
                  <a:tcPr/>
                </a:tc>
                <a:extLst>
                  <a:ext uri="{0D108BD9-81ED-4DB2-BD59-A6C34878D82A}">
                    <a16:rowId xmlns:a16="http://schemas.microsoft.com/office/drawing/2014/main" val="10007"/>
                  </a:ext>
                </a:extLst>
              </a:tr>
              <a:tr h="370840">
                <a:tc>
                  <a:txBody>
                    <a:bodyPr/>
                    <a:lstStyle/>
                    <a:p>
                      <a:r>
                        <a:rPr lang="en-US" sz="1800" kern="1200" baseline="0" dirty="0" err="1"/>
                        <a:t>NullPointerException</a:t>
                      </a:r>
                      <a:endParaRPr lang="en-US" dirty="0"/>
                    </a:p>
                  </a:txBody>
                  <a:tcPr/>
                </a:tc>
                <a:tc>
                  <a:txBody>
                    <a:bodyPr/>
                    <a:lstStyle/>
                    <a:p>
                      <a:r>
                        <a:rPr lang="en-US" sz="1800" kern="1200" baseline="0" dirty="0"/>
                        <a:t>Invalid use of a null reference.</a:t>
                      </a:r>
                      <a:endParaRPr lang="en-US" dirty="0"/>
                    </a:p>
                  </a:txBody>
                  <a:tcPr/>
                </a:tc>
                <a:extLst>
                  <a:ext uri="{0D108BD9-81ED-4DB2-BD59-A6C34878D82A}">
                    <a16:rowId xmlns:a16="http://schemas.microsoft.com/office/drawing/2014/main" val="10008"/>
                  </a:ext>
                </a:extLst>
              </a:tr>
              <a:tr h="370840">
                <a:tc>
                  <a:txBody>
                    <a:bodyPr/>
                    <a:lstStyle/>
                    <a:p>
                      <a:r>
                        <a:rPr lang="en-US" sz="1800" kern="1200" baseline="0" dirty="0" err="1"/>
                        <a:t>NumberFormatException</a:t>
                      </a:r>
                      <a:endParaRPr lang="en-US" dirty="0"/>
                    </a:p>
                  </a:txBody>
                  <a:tcPr/>
                </a:tc>
                <a:tc>
                  <a:txBody>
                    <a:bodyPr/>
                    <a:lstStyle/>
                    <a:p>
                      <a:r>
                        <a:rPr lang="en-US" sz="1800" kern="1200" baseline="0" dirty="0"/>
                        <a:t>Invalid conversion of a string to a numeric format.</a:t>
                      </a:r>
                      <a:endParaRPr lang="en-US" dirty="0"/>
                    </a:p>
                  </a:txBody>
                  <a:tcPr/>
                </a:tc>
                <a:extLst>
                  <a:ext uri="{0D108BD9-81ED-4DB2-BD59-A6C34878D82A}">
                    <a16:rowId xmlns:a16="http://schemas.microsoft.com/office/drawing/2014/main" val="10009"/>
                  </a:ext>
                </a:extLst>
              </a:tr>
              <a:tr h="370840">
                <a:tc>
                  <a:txBody>
                    <a:bodyPr/>
                    <a:lstStyle/>
                    <a:p>
                      <a:r>
                        <a:rPr lang="en-US" sz="1800" kern="1200" baseline="0" dirty="0" err="1"/>
                        <a:t>StringIndexOutOfBounds</a:t>
                      </a:r>
                      <a:endParaRPr lang="en-US" dirty="0"/>
                    </a:p>
                  </a:txBody>
                  <a:tcPr/>
                </a:tc>
                <a:tc>
                  <a:txBody>
                    <a:bodyPr/>
                    <a:lstStyle/>
                    <a:p>
                      <a:r>
                        <a:rPr lang="en-US" sz="1800" kern="1200" baseline="0" dirty="0"/>
                        <a:t>Attempt to index outside the bounds of a string.</a:t>
                      </a:r>
                      <a:endParaRPr lang="en-US"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350623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6A22-D02D-85E1-3984-12BD9FF06B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34215-4093-5F45-5A78-19D5B66266D3}"/>
              </a:ext>
            </a:extLst>
          </p:cNvPr>
          <p:cNvSpPr>
            <a:spLocks noGrp="1"/>
          </p:cNvSpPr>
          <p:nvPr>
            <p:ph type="title"/>
          </p:nvPr>
        </p:nvSpPr>
        <p:spPr>
          <a:xfrm>
            <a:off x="0" y="1"/>
            <a:ext cx="12192000" cy="711200"/>
          </a:xfrm>
        </p:spPr>
        <p:txBody>
          <a:bodyPr/>
          <a:lstStyle/>
          <a:p>
            <a:r>
              <a:rPr lang="en-US" dirty="0"/>
              <a:t>Java’s Inbuilt Checked Exceptions</a:t>
            </a:r>
          </a:p>
        </p:txBody>
      </p:sp>
      <p:graphicFrame>
        <p:nvGraphicFramePr>
          <p:cNvPr id="3" name="Content Placeholder 7">
            <a:extLst>
              <a:ext uri="{FF2B5EF4-FFF2-40B4-BE49-F238E27FC236}">
                <a16:creationId xmlns:a16="http://schemas.microsoft.com/office/drawing/2014/main" id="{468CC7FE-9454-D1B3-620E-6AD1A1CF3CD1}"/>
              </a:ext>
            </a:extLst>
          </p:cNvPr>
          <p:cNvGraphicFramePr>
            <a:graphicFrameLocks noGrp="1"/>
          </p:cNvGraphicFramePr>
          <p:nvPr>
            <p:ph idx="1"/>
          </p:nvPr>
        </p:nvGraphicFramePr>
        <p:xfrm>
          <a:off x="307570" y="1119448"/>
          <a:ext cx="11172306" cy="3337560"/>
        </p:xfrm>
        <a:graphic>
          <a:graphicData uri="http://schemas.openxmlformats.org/drawingml/2006/table">
            <a:tbl>
              <a:tblPr firstRow="1" bandRow="1">
                <a:tableStyleId>{00A15C55-8517-42AA-B614-E9B94910E393}</a:tableStyleId>
              </a:tblPr>
              <a:tblGrid>
                <a:gridCol w="3640975">
                  <a:extLst>
                    <a:ext uri="{9D8B030D-6E8A-4147-A177-3AD203B41FA5}">
                      <a16:colId xmlns:a16="http://schemas.microsoft.com/office/drawing/2014/main" val="20000"/>
                    </a:ext>
                  </a:extLst>
                </a:gridCol>
                <a:gridCol w="7531331">
                  <a:extLst>
                    <a:ext uri="{9D8B030D-6E8A-4147-A177-3AD203B41FA5}">
                      <a16:colId xmlns:a16="http://schemas.microsoft.com/office/drawing/2014/main" val="20001"/>
                    </a:ext>
                  </a:extLst>
                </a:gridCol>
              </a:tblGrid>
              <a:tr h="370840">
                <a:tc>
                  <a:txBody>
                    <a:bodyPr/>
                    <a:lstStyle/>
                    <a:p>
                      <a:r>
                        <a:rPr lang="en-US" sz="1800" kern="1200" baseline="0" dirty="0"/>
                        <a:t>Exception</a:t>
                      </a:r>
                      <a:endParaRPr lang="en-US" dirty="0"/>
                    </a:p>
                  </a:txBody>
                  <a:tcPr/>
                </a:tc>
                <a:tc>
                  <a:txBody>
                    <a:bodyPr/>
                    <a:lstStyle/>
                    <a:p>
                      <a:r>
                        <a:rPr lang="en-US" sz="1800" kern="1200" baseline="0" dirty="0"/>
                        <a:t>Meaning</a:t>
                      </a:r>
                      <a:endParaRPr lang="en-US" dirty="0"/>
                    </a:p>
                  </a:txBody>
                  <a:tcPr/>
                </a:tc>
                <a:extLst>
                  <a:ext uri="{0D108BD9-81ED-4DB2-BD59-A6C34878D82A}">
                    <a16:rowId xmlns:a16="http://schemas.microsoft.com/office/drawing/2014/main" val="10000"/>
                  </a:ext>
                </a:extLst>
              </a:tr>
              <a:tr h="370840">
                <a:tc>
                  <a:txBody>
                    <a:bodyPr/>
                    <a:lstStyle/>
                    <a:p>
                      <a:r>
                        <a:rPr lang="en-US" sz="1800" kern="1200" baseline="0" dirty="0" err="1"/>
                        <a:t>ClassNotFoundException</a:t>
                      </a:r>
                      <a:endParaRPr lang="en-US" dirty="0"/>
                    </a:p>
                  </a:txBody>
                  <a:tcPr/>
                </a:tc>
                <a:tc>
                  <a:txBody>
                    <a:bodyPr/>
                    <a:lstStyle/>
                    <a:p>
                      <a:r>
                        <a:rPr lang="en-US" sz="1800" kern="1200" baseline="0" dirty="0"/>
                        <a:t>Class not found.</a:t>
                      </a:r>
                      <a:endParaRPr lang="en-US" dirty="0"/>
                    </a:p>
                  </a:txBody>
                  <a:tcPr/>
                </a:tc>
                <a:extLst>
                  <a:ext uri="{0D108BD9-81ED-4DB2-BD59-A6C34878D82A}">
                    <a16:rowId xmlns:a16="http://schemas.microsoft.com/office/drawing/2014/main" val="10001"/>
                  </a:ext>
                </a:extLst>
              </a:tr>
              <a:tr h="370840">
                <a:tc>
                  <a:txBody>
                    <a:bodyPr/>
                    <a:lstStyle/>
                    <a:p>
                      <a:r>
                        <a:rPr lang="en-US" dirty="0" err="1"/>
                        <a:t>IOException</a:t>
                      </a:r>
                      <a:endParaRPr lang="en-US" dirty="0"/>
                    </a:p>
                  </a:txBody>
                  <a:tcPr/>
                </a:tc>
                <a:tc>
                  <a:txBody>
                    <a:bodyPr/>
                    <a:lstStyle/>
                    <a:p>
                      <a:r>
                        <a:rPr lang="en-US" dirty="0"/>
                        <a:t>Input Output Exceptions</a:t>
                      </a:r>
                    </a:p>
                  </a:txBody>
                  <a:tcPr/>
                </a:tc>
                <a:extLst>
                  <a:ext uri="{0D108BD9-81ED-4DB2-BD59-A6C34878D82A}">
                    <a16:rowId xmlns:a16="http://schemas.microsoft.com/office/drawing/2014/main" val="10002"/>
                  </a:ext>
                </a:extLst>
              </a:tr>
              <a:tr h="370840">
                <a:tc>
                  <a:txBody>
                    <a:bodyPr/>
                    <a:lstStyle/>
                    <a:p>
                      <a:r>
                        <a:rPr lang="en-US" sz="1800" kern="1200" baseline="0" dirty="0" err="1"/>
                        <a:t>CloneNotSupportedException</a:t>
                      </a:r>
                      <a:endParaRPr lang="en-US" dirty="0"/>
                    </a:p>
                  </a:txBody>
                  <a:tcPr/>
                </a:tc>
                <a:tc>
                  <a:txBody>
                    <a:bodyPr/>
                    <a:lstStyle/>
                    <a:p>
                      <a:r>
                        <a:rPr lang="en-US" sz="1800" kern="1200" baseline="0" dirty="0"/>
                        <a:t>Attempt to clone an object that does not implement the </a:t>
                      </a:r>
                      <a:r>
                        <a:rPr lang="en-US" sz="1800" kern="1200" baseline="0" dirty="0" err="1"/>
                        <a:t>Cloneable</a:t>
                      </a:r>
                      <a:r>
                        <a:rPr lang="en-US" sz="1800" kern="1200" baseline="0" dirty="0"/>
                        <a:t> interface.</a:t>
                      </a:r>
                      <a:endParaRPr lang="en-US" dirty="0"/>
                    </a:p>
                  </a:txBody>
                  <a:tcPr/>
                </a:tc>
                <a:extLst>
                  <a:ext uri="{0D108BD9-81ED-4DB2-BD59-A6C34878D82A}">
                    <a16:rowId xmlns:a16="http://schemas.microsoft.com/office/drawing/2014/main" val="10003"/>
                  </a:ext>
                </a:extLst>
              </a:tr>
              <a:tr h="370840">
                <a:tc>
                  <a:txBody>
                    <a:bodyPr/>
                    <a:lstStyle/>
                    <a:p>
                      <a:r>
                        <a:rPr lang="en-US" sz="1800" kern="1200" baseline="0" dirty="0" err="1"/>
                        <a:t>IllegalAccessException</a:t>
                      </a:r>
                      <a:endParaRPr lang="en-US" dirty="0"/>
                    </a:p>
                  </a:txBody>
                  <a:tcPr/>
                </a:tc>
                <a:tc>
                  <a:txBody>
                    <a:bodyPr/>
                    <a:lstStyle/>
                    <a:p>
                      <a:r>
                        <a:rPr lang="en-US" sz="1800" kern="1200" baseline="0" dirty="0"/>
                        <a:t>Access to a class is denied.</a:t>
                      </a:r>
                      <a:endParaRPr lang="en-US" dirty="0"/>
                    </a:p>
                  </a:txBody>
                  <a:tcPr/>
                </a:tc>
                <a:extLst>
                  <a:ext uri="{0D108BD9-81ED-4DB2-BD59-A6C34878D82A}">
                    <a16:rowId xmlns:a16="http://schemas.microsoft.com/office/drawing/2014/main" val="10004"/>
                  </a:ext>
                </a:extLst>
              </a:tr>
              <a:tr h="370840">
                <a:tc>
                  <a:txBody>
                    <a:bodyPr/>
                    <a:lstStyle/>
                    <a:p>
                      <a:r>
                        <a:rPr lang="en-US" sz="1800" kern="1200" baseline="0" dirty="0" err="1"/>
                        <a:t>InstantiationException</a:t>
                      </a:r>
                      <a:endParaRPr lang="en-US" dirty="0"/>
                    </a:p>
                  </a:txBody>
                  <a:tcPr/>
                </a:tc>
                <a:tc>
                  <a:txBody>
                    <a:bodyPr/>
                    <a:lstStyle/>
                    <a:p>
                      <a:r>
                        <a:rPr lang="en-US" sz="1800" kern="1200" baseline="0" dirty="0"/>
                        <a:t>Attempt to create an object of an abstract class or interface.</a:t>
                      </a:r>
                      <a:endParaRPr lang="en-US" dirty="0"/>
                    </a:p>
                  </a:txBody>
                  <a:tcPr/>
                </a:tc>
                <a:extLst>
                  <a:ext uri="{0D108BD9-81ED-4DB2-BD59-A6C34878D82A}">
                    <a16:rowId xmlns:a16="http://schemas.microsoft.com/office/drawing/2014/main" val="10005"/>
                  </a:ext>
                </a:extLst>
              </a:tr>
              <a:tr h="370840">
                <a:tc>
                  <a:txBody>
                    <a:bodyPr/>
                    <a:lstStyle/>
                    <a:p>
                      <a:r>
                        <a:rPr lang="en-US" sz="1800" kern="1200" baseline="0" dirty="0" err="1"/>
                        <a:t>InterruptedException</a:t>
                      </a:r>
                      <a:endParaRPr lang="en-US" dirty="0"/>
                    </a:p>
                  </a:txBody>
                  <a:tcPr/>
                </a:tc>
                <a:tc>
                  <a:txBody>
                    <a:bodyPr/>
                    <a:lstStyle/>
                    <a:p>
                      <a:r>
                        <a:rPr lang="en-US" sz="1800" kern="1200" baseline="0" dirty="0"/>
                        <a:t>One thread has been interrupted by another thread.</a:t>
                      </a:r>
                      <a:endParaRPr lang="en-US" dirty="0"/>
                    </a:p>
                  </a:txBody>
                  <a:tcPr/>
                </a:tc>
                <a:extLst>
                  <a:ext uri="{0D108BD9-81ED-4DB2-BD59-A6C34878D82A}">
                    <a16:rowId xmlns:a16="http://schemas.microsoft.com/office/drawing/2014/main" val="10006"/>
                  </a:ext>
                </a:extLst>
              </a:tr>
              <a:tr h="370840">
                <a:tc>
                  <a:txBody>
                    <a:bodyPr/>
                    <a:lstStyle/>
                    <a:p>
                      <a:r>
                        <a:rPr lang="en-US" sz="1800" kern="1200" baseline="0" dirty="0" err="1"/>
                        <a:t>NoSuchFieldException</a:t>
                      </a:r>
                      <a:endParaRPr lang="en-US" dirty="0"/>
                    </a:p>
                  </a:txBody>
                  <a:tcPr/>
                </a:tc>
                <a:tc>
                  <a:txBody>
                    <a:bodyPr/>
                    <a:lstStyle/>
                    <a:p>
                      <a:r>
                        <a:rPr lang="en-US" sz="1800" kern="1200" baseline="0" dirty="0"/>
                        <a:t>A requested field does not exist.</a:t>
                      </a:r>
                      <a:endParaRPr lang="en-US" dirty="0"/>
                    </a:p>
                  </a:txBody>
                  <a:tcPr/>
                </a:tc>
                <a:extLst>
                  <a:ext uri="{0D108BD9-81ED-4DB2-BD59-A6C34878D82A}">
                    <a16:rowId xmlns:a16="http://schemas.microsoft.com/office/drawing/2014/main" val="10007"/>
                  </a:ext>
                </a:extLst>
              </a:tr>
              <a:tr h="370840">
                <a:tc>
                  <a:txBody>
                    <a:bodyPr/>
                    <a:lstStyle/>
                    <a:p>
                      <a:r>
                        <a:rPr lang="en-US" sz="1800" kern="1200" baseline="0" dirty="0" err="1"/>
                        <a:t>NoSuchMethodException</a:t>
                      </a:r>
                      <a:endParaRPr lang="en-US" dirty="0"/>
                    </a:p>
                  </a:txBody>
                  <a:tcPr/>
                </a:tc>
                <a:tc>
                  <a:txBody>
                    <a:bodyPr/>
                    <a:lstStyle/>
                    <a:p>
                      <a:r>
                        <a:rPr lang="en-US" sz="1800" kern="1200" baseline="0" dirty="0"/>
                        <a:t>A requested method does not exist.</a:t>
                      </a:r>
                      <a:endParaRPr lang="en-US"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804946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A295A-A9B4-E879-D8B8-7D2A81EF1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7D3D62-2EE4-8F13-200C-C883F098B093}"/>
              </a:ext>
            </a:extLst>
          </p:cNvPr>
          <p:cNvSpPr>
            <a:spLocks noGrp="1"/>
          </p:cNvSpPr>
          <p:nvPr>
            <p:ph type="title"/>
          </p:nvPr>
        </p:nvSpPr>
        <p:spPr>
          <a:xfrm>
            <a:off x="0" y="1"/>
            <a:ext cx="12192000" cy="711200"/>
          </a:xfrm>
        </p:spPr>
        <p:txBody>
          <a:bodyPr/>
          <a:lstStyle/>
          <a:p>
            <a:r>
              <a:rPr lang="en-US" dirty="0"/>
              <a:t>The finally statement</a:t>
            </a:r>
          </a:p>
        </p:txBody>
      </p:sp>
      <p:sp>
        <p:nvSpPr>
          <p:cNvPr id="3" name="Content Placeholder 2">
            <a:extLst>
              <a:ext uri="{FF2B5EF4-FFF2-40B4-BE49-F238E27FC236}">
                <a16:creationId xmlns:a16="http://schemas.microsoft.com/office/drawing/2014/main" id="{78BAFE9F-6602-AE14-2843-BE648C76529A}"/>
              </a:ext>
            </a:extLst>
          </p:cNvPr>
          <p:cNvSpPr>
            <a:spLocks noGrp="1"/>
          </p:cNvSpPr>
          <p:nvPr>
            <p:ph idx="1"/>
          </p:nvPr>
        </p:nvSpPr>
        <p:spPr>
          <a:xfrm>
            <a:off x="131181" y="863444"/>
            <a:ext cx="4085220" cy="5590565"/>
          </a:xfrm>
        </p:spPr>
        <p:txBody>
          <a:bodyPr/>
          <a:lstStyle/>
          <a:p>
            <a:r>
              <a:rPr lang="en-US" dirty="0" smtClean="0"/>
              <a:t>Finally block is used when we want to sure that some particular code is to be run, regardless whether the exception is thrown or not.</a:t>
            </a:r>
            <a:endParaRPr lang="en-US" dirty="0"/>
          </a:p>
          <a:p>
            <a:r>
              <a:rPr lang="en-US" dirty="0"/>
              <a:t>The advantage </a:t>
            </a:r>
            <a:r>
              <a:rPr lang="en-US" dirty="0" smtClean="0"/>
              <a:t>of </a:t>
            </a:r>
            <a:r>
              <a:rPr lang="en-US" dirty="0"/>
              <a:t>the </a:t>
            </a:r>
            <a:r>
              <a:rPr lang="en-US" b="1" dirty="0">
                <a:latin typeface="Cambria" pitchFamily="18" charset="0"/>
                <a:ea typeface="Cambria" pitchFamily="18" charset="0"/>
              </a:rPr>
              <a:t>finally</a:t>
            </a:r>
            <a:r>
              <a:rPr lang="en-US" dirty="0">
                <a:solidFill>
                  <a:schemeClr val="tx2"/>
                </a:solidFill>
              </a:rPr>
              <a:t> </a:t>
            </a:r>
            <a:r>
              <a:rPr lang="en-US" dirty="0"/>
              <a:t>statement is the ability to clean up and release resources that are utilized in the </a:t>
            </a:r>
            <a:r>
              <a:rPr lang="en-US" b="1" dirty="0">
                <a:latin typeface="Cambria" pitchFamily="18" charset="0"/>
                <a:ea typeface="Cambria" pitchFamily="18" charset="0"/>
              </a:rPr>
              <a:t>try</a:t>
            </a:r>
            <a:r>
              <a:rPr lang="en-US" b="1" dirty="0">
                <a:solidFill>
                  <a:schemeClr val="tx2"/>
                </a:solidFill>
                <a:latin typeface="Cambria" pitchFamily="18" charset="0"/>
                <a:ea typeface="Cambria" pitchFamily="18" charset="0"/>
              </a:rPr>
              <a:t> </a:t>
            </a:r>
            <a:r>
              <a:rPr lang="en-US" dirty="0"/>
              <a:t>segment of code that might not be released in cases where an exception has occurred.</a:t>
            </a:r>
          </a:p>
          <a:p>
            <a:endParaRPr lang="en-US" dirty="0"/>
          </a:p>
        </p:txBody>
      </p:sp>
      <p:sp>
        <p:nvSpPr>
          <p:cNvPr id="4" name="Rectangle 3">
            <a:extLst>
              <a:ext uri="{FF2B5EF4-FFF2-40B4-BE49-F238E27FC236}">
                <a16:creationId xmlns:a16="http://schemas.microsoft.com/office/drawing/2014/main" id="{1A91AC86-FFB8-0FF3-A843-05FC333B0DF5}"/>
              </a:ext>
            </a:extLst>
          </p:cNvPr>
          <p:cNvSpPr/>
          <p:nvPr/>
        </p:nvSpPr>
        <p:spPr>
          <a:xfrm>
            <a:off x="4419445" y="729863"/>
            <a:ext cx="7701019" cy="5801566"/>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MainCall</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balance</a:t>
            </a:r>
            <a:r>
              <a:rPr lang="en-US" b="1" dirty="0">
                <a:solidFill>
                  <a:srgbClr val="000000"/>
                </a:solidFill>
                <a:latin typeface="Consolas" panose="020B0609020204030204" pitchFamily="49" charset="0"/>
              </a:rPr>
              <a:t> = 5000;</a:t>
            </a:r>
            <a:endParaRPr lang="en-US" dirty="0">
              <a:latin typeface="Consolas" panose="020B0609020204030204" pitchFamily="49" charset="0"/>
            </a:endParaRPr>
          </a:p>
          <a:p>
            <a:pPr lvl="2"/>
            <a:r>
              <a:rPr lang="en-US" dirty="0">
                <a:solidFill>
                  <a:srgbClr val="000000"/>
                </a:solidFill>
                <a:latin typeface="Consolas" panose="020B0609020204030204" pitchFamily="49" charset="0"/>
              </a:rPr>
              <a:t>Scanner </a:t>
            </a:r>
            <a:r>
              <a:rPr lang="en-US" dirty="0" err="1">
                <a:solidFill>
                  <a:srgbClr val="6A3E3E"/>
                </a:solidFill>
                <a:latin typeface="Consolas" panose="020B0609020204030204" pitchFamily="49" charset="0"/>
              </a:rPr>
              <a:t>sc</a:t>
            </a:r>
            <a:r>
              <a:rPr lang="en-US"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new</a:t>
            </a:r>
            <a:r>
              <a:rPr lang="en-US" b="1" dirty="0">
                <a:solidFill>
                  <a:srgbClr val="000000"/>
                </a:solidFill>
                <a:latin typeface="Consolas" panose="020B0609020204030204" pitchFamily="49" charset="0"/>
              </a:rPr>
              <a:t> Scanner(System.</a:t>
            </a:r>
            <a:r>
              <a:rPr lang="en-US" b="1" i="1" dirty="0">
                <a:solidFill>
                  <a:srgbClr val="0000C0"/>
                </a:solidFill>
                <a:latin typeface="Consolas" panose="020B0609020204030204" pitchFamily="49" charset="0"/>
              </a:rPr>
              <a:t>in</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"Enter Amount to withdraw"</a:t>
            </a:r>
            <a:r>
              <a:rPr lang="en-US" b="1" i="1" dirty="0">
                <a:solidFill>
                  <a:srgbClr val="000000"/>
                </a:solidFill>
                <a:latin typeface="Consolas" panose="020B0609020204030204" pitchFamily="49" charset="0"/>
              </a:rPr>
              <a:t>);</a:t>
            </a:r>
          </a:p>
          <a:p>
            <a:pPr lvl="2"/>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withdraw</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sc</a:t>
            </a:r>
            <a:r>
              <a:rPr lang="en-US" b="1" dirty="0" err="1">
                <a:solidFill>
                  <a:srgbClr val="000000"/>
                </a:solidFill>
                <a:latin typeface="Consolas" panose="020B0609020204030204" pitchFamily="49" charset="0"/>
              </a:rPr>
              <a:t>.nextInt</a:t>
            </a:r>
            <a:r>
              <a:rPr lang="en-US" b="1" dirty="0">
                <a:solidFill>
                  <a:srgbClr val="000000"/>
                </a:solidFill>
                <a:latin typeface="Consolas" panose="020B0609020204030204" pitchFamily="49" charset="0"/>
              </a:rPr>
              <a:t>();</a:t>
            </a:r>
          </a:p>
          <a:p>
            <a:pPr lvl="2"/>
            <a:r>
              <a:rPr lang="en-US" b="1" dirty="0">
                <a:solidFill>
                  <a:srgbClr val="7F0055"/>
                </a:solidFill>
                <a:latin typeface="Consolas" panose="020B0609020204030204" pitchFamily="49" charset="0"/>
              </a:rPr>
              <a:t>try</a:t>
            </a:r>
            <a:r>
              <a:rPr lang="en-US" b="1" dirty="0">
                <a:solidFill>
                  <a:srgbClr val="000000"/>
                </a:solidFill>
                <a:latin typeface="Consolas" panose="020B0609020204030204" pitchFamily="49" charset="0"/>
              </a:rPr>
              <a:t> {</a:t>
            </a:r>
          </a:p>
          <a:p>
            <a:pPr lvl="3"/>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balance</a:t>
            </a:r>
            <a:r>
              <a:rPr lang="en-US" b="1" dirty="0">
                <a:solidFill>
                  <a:srgbClr val="000000"/>
                </a:solidFill>
                <a:latin typeface="Consolas" panose="020B0609020204030204" pitchFamily="49" charset="0"/>
              </a:rPr>
              <a:t> - </a:t>
            </a:r>
            <a:r>
              <a:rPr lang="en-US" b="1" dirty="0">
                <a:solidFill>
                  <a:srgbClr val="6A3E3E"/>
                </a:solidFill>
                <a:latin typeface="Consolas" panose="020B0609020204030204" pitchFamily="49" charset="0"/>
              </a:rPr>
              <a:t>withdraw</a:t>
            </a:r>
            <a:r>
              <a:rPr lang="en-US" b="1" dirty="0">
                <a:solidFill>
                  <a:srgbClr val="000000"/>
                </a:solidFill>
                <a:latin typeface="Consolas" panose="020B0609020204030204" pitchFamily="49" charset="0"/>
              </a:rPr>
              <a:t> &lt; 1000) {</a:t>
            </a:r>
          </a:p>
          <a:p>
            <a:pPr lvl="3"/>
            <a:r>
              <a:rPr lang="en-US" b="1" dirty="0">
                <a:solidFill>
                  <a:srgbClr val="7F0055"/>
                </a:solidFill>
                <a:latin typeface="Consolas" panose="020B0609020204030204" pitchFamily="49" charset="0"/>
              </a:rPr>
              <a:t>   throw</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new</a:t>
            </a:r>
            <a:r>
              <a:rPr lang="en-US" b="1" dirty="0">
                <a:solidFill>
                  <a:srgbClr val="000000"/>
                </a:solidFill>
                <a:latin typeface="Consolas" panose="020B0609020204030204" pitchFamily="49" charset="0"/>
              </a:rPr>
              <a:t> Exception(</a:t>
            </a:r>
            <a:r>
              <a:rPr lang="en-US" b="1" dirty="0">
                <a:solidFill>
                  <a:srgbClr val="2A00FF"/>
                </a:solidFill>
                <a:latin typeface="Consolas" panose="020B0609020204030204" pitchFamily="49" charset="0"/>
              </a:rPr>
              <a:t>"Balance &lt; 1000 error"</a:t>
            </a:r>
            <a:r>
              <a:rPr lang="en-US" b="1" dirty="0">
                <a:solidFill>
                  <a:srgbClr val="000000"/>
                </a:solidFill>
                <a:latin typeface="Consolas" panose="020B0609020204030204" pitchFamily="49" charset="0"/>
              </a:rPr>
              <a:t>);</a:t>
            </a:r>
          </a:p>
          <a:p>
            <a:pPr lvl="3"/>
            <a:r>
              <a:rPr lang="en-US" dirty="0">
                <a:solidFill>
                  <a:srgbClr val="000000"/>
                </a:solidFill>
                <a:latin typeface="Consolas" panose="020B0609020204030204" pitchFamily="49" charset="0"/>
              </a:rPr>
              <a:t>}</a:t>
            </a:r>
          </a:p>
          <a:p>
            <a:pPr lvl="3"/>
            <a:r>
              <a:rPr lang="en-US" b="1" dirty="0">
                <a:solidFill>
                  <a:srgbClr val="7F0055"/>
                </a:solidFill>
                <a:latin typeface="Consolas" panose="020B0609020204030204" pitchFamily="49" charset="0"/>
              </a:rPr>
              <a:t>else</a:t>
            </a:r>
            <a:r>
              <a:rPr lang="en-US" b="1" dirty="0">
                <a:solidFill>
                  <a:srgbClr val="000000"/>
                </a:solidFill>
                <a:latin typeface="Consolas" panose="020B0609020204030204" pitchFamily="49" charset="0"/>
              </a:rPr>
              <a:t> {</a:t>
            </a:r>
          </a:p>
          <a:p>
            <a:pPr lvl="3"/>
            <a:r>
              <a:rPr lang="en-US" dirty="0">
                <a:solidFill>
                  <a:srgbClr val="6A3E3E"/>
                </a:solidFill>
                <a:latin typeface="Consolas" panose="020B0609020204030204" pitchFamily="49" charset="0"/>
              </a:rPr>
              <a:t>   balance</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balance</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withdraw</a:t>
            </a:r>
            <a:r>
              <a:rPr lang="en-US" dirty="0">
                <a:solidFill>
                  <a:srgbClr val="000000"/>
                </a:solidFill>
                <a:latin typeface="Consolas" panose="020B0609020204030204" pitchFamily="49" charset="0"/>
              </a:rPr>
              <a:t>;</a:t>
            </a:r>
          </a:p>
          <a:p>
            <a:pPr lvl="3"/>
            <a:r>
              <a:rPr lang="en-US"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r>
              <a:rPr lang="en-US" b="1" dirty="0">
                <a:solidFill>
                  <a:srgbClr val="7F0055"/>
                </a:solidFill>
                <a:latin typeface="Consolas" panose="020B0609020204030204" pitchFamily="49" charset="0"/>
              </a:rPr>
              <a:t>catch</a:t>
            </a:r>
            <a:r>
              <a:rPr lang="en-US" b="1" dirty="0">
                <a:solidFill>
                  <a:srgbClr val="000000"/>
                </a:solidFill>
                <a:latin typeface="Consolas" panose="020B0609020204030204" pitchFamily="49" charset="0"/>
              </a:rPr>
              <a:t>(Exception </a:t>
            </a:r>
            <a:r>
              <a:rPr lang="en-US" b="1" dirty="0">
                <a:solidFill>
                  <a:srgbClr val="6A3E3E"/>
                </a:solidFill>
                <a:latin typeface="Consolas" panose="020B0609020204030204" pitchFamily="49" charset="0"/>
              </a:rPr>
              <a:t>e</a:t>
            </a:r>
            <a:r>
              <a:rPr lang="en-US" b="1" dirty="0">
                <a:solidFill>
                  <a:srgbClr val="000000"/>
                </a:solidFill>
                <a:latin typeface="Consolas" panose="020B0609020204030204" pitchFamily="49" charset="0"/>
              </a:rPr>
              <a:t>) {</a:t>
            </a:r>
          </a:p>
          <a:p>
            <a:pPr lvl="2"/>
            <a:r>
              <a:rPr lang="en-US" dirty="0">
                <a:solidFill>
                  <a:srgbClr val="6A3E3E"/>
                </a:solidFill>
                <a:latin typeface="Consolas" panose="020B0609020204030204" pitchFamily="49" charset="0"/>
              </a:rPr>
              <a:t>    </a:t>
            </a:r>
            <a:r>
              <a:rPr lang="en-US" dirty="0" err="1">
                <a:solidFill>
                  <a:srgbClr val="6A3E3E"/>
                </a:solidFill>
                <a:latin typeface="Consolas" panose="020B0609020204030204" pitchFamily="49" charset="0"/>
              </a:rPr>
              <a:t>e</a:t>
            </a:r>
            <a:r>
              <a:rPr lang="en-US" dirty="0" err="1">
                <a:solidFill>
                  <a:srgbClr val="000000"/>
                </a:solidFill>
                <a:latin typeface="Consolas" panose="020B0609020204030204" pitchFamily="49" charset="0"/>
              </a:rPr>
              <a:t>.printStackTrace</a:t>
            </a:r>
            <a:r>
              <a:rPr lang="en-US"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p>
          <a:p>
            <a:pPr lvl="2"/>
            <a:r>
              <a:rPr lang="en-US" b="1" dirty="0">
                <a:solidFill>
                  <a:srgbClr val="7F0055"/>
                </a:solidFill>
                <a:latin typeface="Consolas" panose="020B0609020204030204" pitchFamily="49" charset="0"/>
              </a:rPr>
              <a:t>finally</a:t>
            </a:r>
            <a:r>
              <a:rPr lang="en-US" b="1" dirty="0">
                <a:solidFill>
                  <a:srgbClr val="000000"/>
                </a:solidFill>
                <a:latin typeface="Consolas" panose="020B0609020204030204" pitchFamily="49" charset="0"/>
              </a:rPr>
              <a:t> {</a:t>
            </a:r>
          </a:p>
          <a:p>
            <a:pPr lvl="2"/>
            <a:r>
              <a:rPr lang="en-US" dirty="0">
                <a:solidFill>
                  <a:srgbClr val="6A3E3E"/>
                </a:solidFill>
                <a:latin typeface="Consolas" panose="020B0609020204030204" pitchFamily="49" charset="0"/>
              </a:rPr>
              <a:t>    </a:t>
            </a:r>
            <a:r>
              <a:rPr lang="en-US" dirty="0" err="1">
                <a:solidFill>
                  <a:srgbClr val="6A3E3E"/>
                </a:solidFill>
                <a:latin typeface="Consolas" panose="020B0609020204030204" pitchFamily="49" charset="0"/>
              </a:rPr>
              <a:t>sc</a:t>
            </a:r>
            <a:r>
              <a:rPr lang="en-US" dirty="0" err="1">
                <a:solidFill>
                  <a:srgbClr val="000000"/>
                </a:solidFill>
                <a:latin typeface="Consolas" panose="020B0609020204030204" pitchFamily="49" charset="0"/>
              </a:rPr>
              <a:t>.close</a:t>
            </a:r>
            <a:r>
              <a:rPr lang="en-US"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endParaRPr lang="en-US" dirty="0">
              <a:solidFill>
                <a:srgbClr val="000000"/>
              </a:solidFill>
              <a:latin typeface="Consolas"/>
            </a:endParaRPr>
          </a:p>
          <a:p>
            <a:pPr lvl="1"/>
            <a:r>
              <a:rPr lang="en-US" dirty="0">
                <a:solidFill>
                  <a:srgbClr val="000000"/>
                </a:solidFill>
                <a:latin typeface="Consolas"/>
              </a:rPr>
              <a:t>}}</a:t>
            </a:r>
          </a:p>
        </p:txBody>
      </p:sp>
    </p:spTree>
    <p:extLst>
      <p:ext uri="{BB962C8B-B14F-4D97-AF65-F5344CB8AC3E}">
        <p14:creationId xmlns:p14="http://schemas.microsoft.com/office/powerpoint/2010/main" val="309143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4" end="1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5" end="1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6" end="16"/>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17" end="17"/>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66A9D-5590-F0D3-BAFE-E7AFBDA7C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9A190-8EF9-4E21-53D6-49FFD590FCF9}"/>
              </a:ext>
            </a:extLst>
          </p:cNvPr>
          <p:cNvSpPr>
            <a:spLocks noGrp="1"/>
          </p:cNvSpPr>
          <p:nvPr>
            <p:ph type="title"/>
          </p:nvPr>
        </p:nvSpPr>
        <p:spPr>
          <a:xfrm>
            <a:off x="0" y="1"/>
            <a:ext cx="12192000" cy="711200"/>
          </a:xfrm>
        </p:spPr>
        <p:txBody>
          <a:bodyPr/>
          <a:lstStyle/>
          <a:p>
            <a:r>
              <a:rPr lang="en-US" dirty="0"/>
              <a:t>throw statement</a:t>
            </a:r>
          </a:p>
        </p:txBody>
      </p:sp>
      <p:sp>
        <p:nvSpPr>
          <p:cNvPr id="3" name="Content Placeholder 2">
            <a:extLst>
              <a:ext uri="{FF2B5EF4-FFF2-40B4-BE49-F238E27FC236}">
                <a16:creationId xmlns:a16="http://schemas.microsoft.com/office/drawing/2014/main" id="{3A3D0F65-2DDA-029A-44E3-872DB25A26DF}"/>
              </a:ext>
            </a:extLst>
          </p:cNvPr>
          <p:cNvSpPr>
            <a:spLocks noGrp="1"/>
          </p:cNvSpPr>
          <p:nvPr>
            <p:ph idx="1"/>
          </p:nvPr>
        </p:nvSpPr>
        <p:spPr>
          <a:xfrm>
            <a:off x="131180" y="863444"/>
            <a:ext cx="11929641" cy="5590565"/>
          </a:xfrm>
        </p:spPr>
        <p:txBody>
          <a:bodyPr/>
          <a:lstStyle/>
          <a:p>
            <a:r>
              <a:rPr lang="en-US" dirty="0"/>
              <a:t>I</a:t>
            </a:r>
            <a:r>
              <a:rPr lang="en-US" dirty="0" smtClean="0"/>
              <a:t>t </a:t>
            </a:r>
            <a:r>
              <a:rPr lang="en-US" dirty="0"/>
              <a:t>is possible for your program to throw an exception </a:t>
            </a:r>
            <a:r>
              <a:rPr lang="en-US" b="1" dirty="0">
                <a:solidFill>
                  <a:srgbClr val="B71B1C"/>
                </a:solidFill>
              </a:rPr>
              <a:t>explicitly</a:t>
            </a:r>
            <a:r>
              <a:rPr lang="en-US" dirty="0"/>
              <a:t>, using the </a:t>
            </a:r>
            <a:r>
              <a:rPr lang="en-US" b="1" dirty="0">
                <a:solidFill>
                  <a:srgbClr val="B71B1C"/>
                </a:solidFill>
                <a:latin typeface="Cambria" pitchFamily="18" charset="0"/>
                <a:ea typeface="Cambria" pitchFamily="18" charset="0"/>
              </a:rPr>
              <a:t>throw</a:t>
            </a:r>
            <a:r>
              <a:rPr lang="en-US" b="1" dirty="0"/>
              <a:t> </a:t>
            </a:r>
            <a:r>
              <a:rPr lang="en-US" dirty="0"/>
              <a:t>statement. </a:t>
            </a:r>
          </a:p>
          <a:p>
            <a:r>
              <a:rPr lang="en-US" dirty="0"/>
              <a:t>The general form of throw is shown here:</a:t>
            </a:r>
          </a:p>
          <a:p>
            <a:pPr lvl="1">
              <a:buNone/>
            </a:pPr>
            <a:r>
              <a:rPr lang="en-US" dirty="0"/>
              <a:t>			</a:t>
            </a:r>
            <a:r>
              <a:rPr lang="en-US" dirty="0">
                <a:latin typeface="Cambria" pitchFamily="18" charset="0"/>
                <a:ea typeface="Cambria" pitchFamily="18" charset="0"/>
              </a:rPr>
              <a:t>throw </a:t>
            </a:r>
            <a:r>
              <a:rPr lang="en-US" i="1" dirty="0" err="1">
                <a:latin typeface="Cambria" pitchFamily="18" charset="0"/>
                <a:ea typeface="Cambria" pitchFamily="18" charset="0"/>
              </a:rPr>
              <a:t>ThrowableInstance</a:t>
            </a:r>
            <a:r>
              <a:rPr lang="en-US" i="1" dirty="0">
                <a:latin typeface="Cambria" pitchFamily="18" charset="0"/>
                <a:ea typeface="Cambria" pitchFamily="18" charset="0"/>
              </a:rPr>
              <a:t>;</a:t>
            </a:r>
          </a:p>
          <a:p>
            <a:r>
              <a:rPr lang="en-US" dirty="0"/>
              <a:t>Here, </a:t>
            </a:r>
            <a:r>
              <a:rPr lang="en-US" b="1" i="1" dirty="0" err="1">
                <a:solidFill>
                  <a:srgbClr val="B71B1C"/>
                </a:solidFill>
              </a:rPr>
              <a:t>ThrowableInstance</a:t>
            </a:r>
            <a:r>
              <a:rPr lang="en-US" i="1" dirty="0"/>
              <a:t> must be an object of type </a:t>
            </a:r>
            <a:r>
              <a:rPr lang="en-US" b="1" i="1" dirty="0" err="1">
                <a:solidFill>
                  <a:srgbClr val="B71B1C"/>
                </a:solidFill>
              </a:rPr>
              <a:t>Throwable</a:t>
            </a:r>
            <a:r>
              <a:rPr lang="en-US" i="1" dirty="0"/>
              <a:t> or a </a:t>
            </a:r>
            <a:r>
              <a:rPr lang="en-US" b="1" i="1" dirty="0">
                <a:solidFill>
                  <a:srgbClr val="B71B1C"/>
                </a:solidFill>
              </a:rPr>
              <a:t>subclass</a:t>
            </a:r>
            <a:r>
              <a:rPr lang="en-US" i="1" dirty="0"/>
              <a:t> of </a:t>
            </a:r>
            <a:r>
              <a:rPr lang="en-US" i="1" dirty="0" err="1"/>
              <a:t>Throwable</a:t>
            </a:r>
            <a:r>
              <a:rPr lang="en-US" i="1" dirty="0"/>
              <a:t>. </a:t>
            </a:r>
          </a:p>
          <a:p>
            <a:r>
              <a:rPr lang="en-US" dirty="0"/>
              <a:t>Primitive types, such as </a:t>
            </a:r>
            <a:r>
              <a:rPr lang="en-US" dirty="0" err="1"/>
              <a:t>int</a:t>
            </a:r>
            <a:r>
              <a:rPr lang="en-US" dirty="0"/>
              <a:t> or char, as well as non-</a:t>
            </a:r>
            <a:r>
              <a:rPr lang="en-US" dirty="0" err="1"/>
              <a:t>throwable</a:t>
            </a:r>
            <a:r>
              <a:rPr lang="en-US" dirty="0"/>
              <a:t> classes, such as String and Object, cannot be used as exceptions. </a:t>
            </a:r>
          </a:p>
          <a:p>
            <a:r>
              <a:rPr lang="en-US" dirty="0"/>
              <a:t>There are two ways you can obtain a </a:t>
            </a:r>
            <a:r>
              <a:rPr lang="en-US" dirty="0" err="1"/>
              <a:t>Throwable</a:t>
            </a:r>
            <a:r>
              <a:rPr lang="en-US" dirty="0"/>
              <a:t> object:</a:t>
            </a:r>
          </a:p>
          <a:p>
            <a:pPr lvl="1"/>
            <a:r>
              <a:rPr lang="en-US" sz="2200" dirty="0"/>
              <a:t>using a parameter in a catch clause, </a:t>
            </a:r>
          </a:p>
          <a:p>
            <a:pPr lvl="1"/>
            <a:r>
              <a:rPr lang="en-US" sz="2200" dirty="0"/>
              <a:t>or creating one with the new operator.</a:t>
            </a:r>
          </a:p>
          <a:p>
            <a:endParaRPr lang="en-US" dirty="0"/>
          </a:p>
        </p:txBody>
      </p:sp>
    </p:spTree>
    <p:extLst>
      <p:ext uri="{BB962C8B-B14F-4D97-AF65-F5344CB8AC3E}">
        <p14:creationId xmlns:p14="http://schemas.microsoft.com/office/powerpoint/2010/main" val="2774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2AA63-3382-B905-0A04-CB440C158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316BE-0AEF-B819-C00C-FFAA86678B02}"/>
              </a:ext>
            </a:extLst>
          </p:cNvPr>
          <p:cNvSpPr>
            <a:spLocks noGrp="1"/>
          </p:cNvSpPr>
          <p:nvPr>
            <p:ph type="title"/>
          </p:nvPr>
        </p:nvSpPr>
        <p:spPr>
          <a:xfrm>
            <a:off x="0" y="1"/>
            <a:ext cx="12192000" cy="711200"/>
          </a:xfrm>
        </p:spPr>
        <p:txBody>
          <a:bodyPr/>
          <a:lstStyle/>
          <a:p>
            <a:r>
              <a:rPr lang="en-US" dirty="0"/>
              <a:t>Throw (Example)</a:t>
            </a:r>
          </a:p>
        </p:txBody>
      </p:sp>
      <p:sp>
        <p:nvSpPr>
          <p:cNvPr id="3" name="Rectangle 2">
            <a:extLst>
              <a:ext uri="{FF2B5EF4-FFF2-40B4-BE49-F238E27FC236}">
                <a16:creationId xmlns:a16="http://schemas.microsoft.com/office/drawing/2014/main" id="{89EF9009-B9F2-1F41-C4B4-29DF661FCA42}"/>
              </a:ext>
            </a:extLst>
          </p:cNvPr>
          <p:cNvSpPr/>
          <p:nvPr/>
        </p:nvSpPr>
        <p:spPr>
          <a:xfrm>
            <a:off x="181495" y="925483"/>
            <a:ext cx="9278390" cy="5355312"/>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DemoException</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endParaRPr lang="en-US" b="1" dirty="0">
              <a:solidFill>
                <a:srgbClr val="7F0055"/>
              </a:solidFill>
              <a:latin typeface="Consolas"/>
            </a:endParaRPr>
          </a:p>
          <a:p>
            <a:pPr lvl="2"/>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balance</a:t>
            </a:r>
            <a:r>
              <a:rPr lang="en-US" b="1" dirty="0">
                <a:solidFill>
                  <a:srgbClr val="000000"/>
                </a:solidFill>
                <a:latin typeface="Consolas" panose="020B0609020204030204" pitchFamily="49" charset="0"/>
              </a:rPr>
              <a:t> = 5000;</a:t>
            </a:r>
          </a:p>
          <a:p>
            <a:pPr lvl="2"/>
            <a:endParaRPr lang="en-US" dirty="0">
              <a:latin typeface="Consolas" panose="020B0609020204030204" pitchFamily="49" charset="0"/>
            </a:endParaRPr>
          </a:p>
          <a:p>
            <a:pPr lvl="2"/>
            <a:r>
              <a:rPr lang="en-US" dirty="0">
                <a:solidFill>
                  <a:srgbClr val="000000"/>
                </a:solidFill>
                <a:latin typeface="Consolas" panose="020B0609020204030204" pitchFamily="49" charset="0"/>
              </a:rPr>
              <a:t>Scanner </a:t>
            </a:r>
            <a:r>
              <a:rPr lang="en-US" dirty="0" err="1">
                <a:solidFill>
                  <a:srgbClr val="6A3E3E"/>
                </a:solidFill>
                <a:latin typeface="Consolas" panose="020B0609020204030204" pitchFamily="49" charset="0"/>
              </a:rPr>
              <a:t>sc</a:t>
            </a:r>
            <a:r>
              <a:rPr lang="en-US"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new</a:t>
            </a:r>
            <a:r>
              <a:rPr lang="en-US" b="1" dirty="0">
                <a:solidFill>
                  <a:srgbClr val="000000"/>
                </a:solidFill>
                <a:latin typeface="Consolas" panose="020B0609020204030204" pitchFamily="49" charset="0"/>
              </a:rPr>
              <a:t> Scanner(System.</a:t>
            </a:r>
            <a:r>
              <a:rPr lang="en-US" b="1" i="1" dirty="0">
                <a:solidFill>
                  <a:srgbClr val="0000C0"/>
                </a:solidFill>
                <a:latin typeface="Consolas" panose="020B0609020204030204" pitchFamily="49" charset="0"/>
              </a:rPr>
              <a:t>in</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"Enter Amount to withdraw"</a:t>
            </a:r>
            <a:r>
              <a:rPr lang="en-US" b="1" i="1" dirty="0">
                <a:solidFill>
                  <a:srgbClr val="000000"/>
                </a:solidFill>
                <a:latin typeface="Consolas" panose="020B0609020204030204" pitchFamily="49" charset="0"/>
              </a:rPr>
              <a:t>);</a:t>
            </a:r>
          </a:p>
          <a:p>
            <a:pPr lvl="2"/>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withdraw</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sc</a:t>
            </a:r>
            <a:r>
              <a:rPr lang="en-US" b="1" dirty="0" err="1">
                <a:solidFill>
                  <a:srgbClr val="000000"/>
                </a:solidFill>
                <a:latin typeface="Consolas" panose="020B0609020204030204" pitchFamily="49" charset="0"/>
              </a:rPr>
              <a:t>.nextInt</a:t>
            </a:r>
            <a:r>
              <a:rPr lang="en-US" b="1" dirty="0">
                <a:solidFill>
                  <a:srgbClr val="000000"/>
                </a:solidFill>
                <a:latin typeface="Consolas" panose="020B0609020204030204" pitchFamily="49" charset="0"/>
              </a:rPr>
              <a:t>();</a:t>
            </a:r>
          </a:p>
          <a:p>
            <a:pPr lvl="2"/>
            <a:r>
              <a:rPr lang="en-US" b="1" dirty="0">
                <a:solidFill>
                  <a:srgbClr val="7F0055"/>
                </a:solidFill>
                <a:latin typeface="Consolas" panose="020B0609020204030204" pitchFamily="49" charset="0"/>
              </a:rPr>
              <a:t>try</a:t>
            </a:r>
            <a:r>
              <a:rPr lang="en-US" b="1" dirty="0">
                <a:solidFill>
                  <a:srgbClr val="000000"/>
                </a:solidFill>
                <a:latin typeface="Consolas" panose="020B0609020204030204" pitchFamily="49" charset="0"/>
              </a:rPr>
              <a:t> {</a:t>
            </a:r>
          </a:p>
          <a:p>
            <a:pPr lvl="3"/>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balance</a:t>
            </a:r>
            <a:r>
              <a:rPr lang="en-US" b="1" dirty="0">
                <a:solidFill>
                  <a:srgbClr val="000000"/>
                </a:solidFill>
                <a:latin typeface="Consolas" panose="020B0609020204030204" pitchFamily="49" charset="0"/>
              </a:rPr>
              <a:t> - </a:t>
            </a:r>
            <a:r>
              <a:rPr lang="en-US" b="1" dirty="0">
                <a:solidFill>
                  <a:srgbClr val="6A3E3E"/>
                </a:solidFill>
                <a:latin typeface="Consolas" panose="020B0609020204030204" pitchFamily="49" charset="0"/>
              </a:rPr>
              <a:t>withdraw</a:t>
            </a:r>
            <a:r>
              <a:rPr lang="en-US" b="1" dirty="0">
                <a:solidFill>
                  <a:srgbClr val="000000"/>
                </a:solidFill>
                <a:latin typeface="Consolas" panose="020B0609020204030204" pitchFamily="49" charset="0"/>
              </a:rPr>
              <a:t> &lt; 1000) {</a:t>
            </a:r>
          </a:p>
          <a:p>
            <a:pPr lvl="3"/>
            <a:r>
              <a:rPr lang="en-US" b="1" dirty="0">
                <a:solidFill>
                  <a:srgbClr val="7F0055"/>
                </a:solidFill>
                <a:latin typeface="Consolas" panose="020B0609020204030204" pitchFamily="49" charset="0"/>
              </a:rPr>
              <a:t>	throw</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new</a:t>
            </a:r>
            <a:r>
              <a:rPr lang="en-US" b="1" dirty="0">
                <a:solidFill>
                  <a:srgbClr val="000000"/>
                </a:solidFill>
                <a:latin typeface="Consolas" panose="020B0609020204030204" pitchFamily="49" charset="0"/>
              </a:rPr>
              <a:t> Exception(</a:t>
            </a:r>
            <a:r>
              <a:rPr lang="en-US" b="1" dirty="0">
                <a:solidFill>
                  <a:srgbClr val="2A00FF"/>
                </a:solidFill>
                <a:latin typeface="Consolas" panose="020B0609020204030204" pitchFamily="49" charset="0"/>
              </a:rPr>
              <a:t>"Balance must be grater than 1000"</a:t>
            </a:r>
            <a:r>
              <a:rPr lang="en-US" b="1" dirty="0">
                <a:solidFill>
                  <a:srgbClr val="000000"/>
                </a:solidFill>
                <a:latin typeface="Consolas" panose="020B0609020204030204" pitchFamily="49" charset="0"/>
              </a:rPr>
              <a:t>);</a:t>
            </a:r>
          </a:p>
          <a:p>
            <a:pPr lvl="3"/>
            <a:r>
              <a:rPr lang="en-US" dirty="0">
                <a:solidFill>
                  <a:srgbClr val="000000"/>
                </a:solidFill>
                <a:latin typeface="Consolas" panose="020B0609020204030204" pitchFamily="49" charset="0"/>
              </a:rPr>
              <a:t>}</a:t>
            </a:r>
          </a:p>
          <a:p>
            <a:pPr lvl="3"/>
            <a:r>
              <a:rPr lang="en-US" b="1" dirty="0">
                <a:solidFill>
                  <a:srgbClr val="7F0055"/>
                </a:solidFill>
                <a:latin typeface="Consolas" panose="020B0609020204030204" pitchFamily="49" charset="0"/>
              </a:rPr>
              <a:t>else</a:t>
            </a:r>
            <a:r>
              <a:rPr lang="en-US" b="1" dirty="0">
                <a:solidFill>
                  <a:srgbClr val="000000"/>
                </a:solidFill>
                <a:latin typeface="Consolas" panose="020B0609020204030204" pitchFamily="49" charset="0"/>
              </a:rPr>
              <a:t> {</a:t>
            </a:r>
          </a:p>
          <a:p>
            <a:pPr lvl="3"/>
            <a:r>
              <a:rPr lang="en-US" dirty="0">
                <a:solidFill>
                  <a:srgbClr val="6A3E3E"/>
                </a:solidFill>
                <a:latin typeface="Consolas" panose="020B0609020204030204" pitchFamily="49" charset="0"/>
              </a:rPr>
              <a:t>	balance</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balance</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withdraw</a:t>
            </a:r>
            <a:r>
              <a:rPr lang="en-US" dirty="0">
                <a:solidFill>
                  <a:srgbClr val="000000"/>
                </a:solidFill>
                <a:latin typeface="Consolas" panose="020B0609020204030204" pitchFamily="49" charset="0"/>
              </a:rPr>
              <a:t>;</a:t>
            </a:r>
          </a:p>
          <a:p>
            <a:pPr lvl="3"/>
            <a:r>
              <a:rPr lang="en-US"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r>
              <a:rPr lang="en-US" b="1" dirty="0">
                <a:solidFill>
                  <a:srgbClr val="7F0055"/>
                </a:solidFill>
                <a:latin typeface="Consolas" panose="020B0609020204030204" pitchFamily="49" charset="0"/>
              </a:rPr>
              <a:t>catch</a:t>
            </a:r>
            <a:r>
              <a:rPr lang="en-US" b="1" dirty="0">
                <a:solidFill>
                  <a:srgbClr val="000000"/>
                </a:solidFill>
                <a:latin typeface="Consolas" panose="020B0609020204030204" pitchFamily="49" charset="0"/>
              </a:rPr>
              <a:t>(Exception </a:t>
            </a:r>
            <a:r>
              <a:rPr lang="en-US" b="1" dirty="0">
                <a:solidFill>
                  <a:srgbClr val="6A3E3E"/>
                </a:solidFill>
                <a:latin typeface="Consolas" panose="020B0609020204030204" pitchFamily="49" charset="0"/>
              </a:rPr>
              <a:t>e</a:t>
            </a:r>
            <a:r>
              <a:rPr lang="en-US" b="1" dirty="0">
                <a:solidFill>
                  <a:srgbClr val="000000"/>
                </a:solidFill>
                <a:latin typeface="Consolas" panose="020B0609020204030204" pitchFamily="49" charset="0"/>
              </a:rPr>
              <a:t>) {</a:t>
            </a:r>
          </a:p>
          <a:p>
            <a:pPr lvl="2"/>
            <a:r>
              <a:rPr lang="en-US" dirty="0">
                <a:solidFill>
                  <a:srgbClr val="6A3E3E"/>
                </a:solidFill>
                <a:latin typeface="Consolas" panose="020B0609020204030204" pitchFamily="49" charset="0"/>
              </a:rPr>
              <a:t>	</a:t>
            </a:r>
            <a:r>
              <a:rPr lang="en-US" dirty="0" err="1">
                <a:solidFill>
                  <a:srgbClr val="6A3E3E"/>
                </a:solidFill>
                <a:latin typeface="Consolas" panose="020B0609020204030204" pitchFamily="49" charset="0"/>
              </a:rPr>
              <a:t>e</a:t>
            </a:r>
            <a:r>
              <a:rPr lang="en-US" dirty="0" err="1">
                <a:solidFill>
                  <a:srgbClr val="000000"/>
                </a:solidFill>
                <a:latin typeface="Consolas" panose="020B0609020204030204" pitchFamily="49" charset="0"/>
              </a:rPr>
              <a:t>.printStackTrace</a:t>
            </a:r>
            <a:r>
              <a:rPr lang="en-US"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endParaRPr lang="en-US" dirty="0">
              <a:solidFill>
                <a:srgbClr val="000000"/>
              </a:solidFill>
              <a:latin typeface="Consolas"/>
            </a:endParaRPr>
          </a:p>
          <a:p>
            <a:pPr lvl="1"/>
            <a:r>
              <a:rPr lang="en-US" dirty="0">
                <a:solidFill>
                  <a:srgbClr val="000000"/>
                </a:solidFill>
                <a:latin typeface="Consolas"/>
              </a:rPr>
              <a:t>}</a:t>
            </a: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133085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4" end="1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5" end="1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AE3C0-A30A-2F80-CA18-4D9BA4423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EE3CD-2BE9-6D04-9B6F-99E8CB8D2CAE}"/>
              </a:ext>
            </a:extLst>
          </p:cNvPr>
          <p:cNvSpPr>
            <a:spLocks noGrp="1"/>
          </p:cNvSpPr>
          <p:nvPr>
            <p:ph type="title"/>
          </p:nvPr>
        </p:nvSpPr>
        <p:spPr>
          <a:xfrm>
            <a:off x="0" y="1"/>
            <a:ext cx="12192000" cy="711200"/>
          </a:xfrm>
        </p:spPr>
        <p:txBody>
          <a:bodyPr/>
          <a:lstStyle/>
          <a:p>
            <a:r>
              <a:rPr lang="en-US" dirty="0"/>
              <a:t>throws statement</a:t>
            </a:r>
          </a:p>
        </p:txBody>
      </p:sp>
      <p:sp>
        <p:nvSpPr>
          <p:cNvPr id="3" name="Content Placeholder 2">
            <a:extLst>
              <a:ext uri="{FF2B5EF4-FFF2-40B4-BE49-F238E27FC236}">
                <a16:creationId xmlns:a16="http://schemas.microsoft.com/office/drawing/2014/main" id="{7D9B7F9D-CD2B-0E61-D2C5-1402402A843C}"/>
              </a:ext>
            </a:extLst>
          </p:cNvPr>
          <p:cNvSpPr>
            <a:spLocks noGrp="1"/>
          </p:cNvSpPr>
          <p:nvPr>
            <p:ph idx="1"/>
          </p:nvPr>
        </p:nvSpPr>
        <p:spPr>
          <a:xfrm>
            <a:off x="131180" y="863444"/>
            <a:ext cx="11929641" cy="5590565"/>
          </a:xfrm>
        </p:spPr>
        <p:txBody>
          <a:bodyPr/>
          <a:lstStyle/>
          <a:p>
            <a:r>
              <a:rPr lang="en-US" dirty="0"/>
              <a:t>A throws statement lists the types of exceptions that a </a:t>
            </a:r>
            <a:r>
              <a:rPr lang="en-US" b="1" dirty="0"/>
              <a:t>method</a:t>
            </a:r>
            <a:r>
              <a:rPr lang="en-US" dirty="0"/>
              <a:t> might throw. </a:t>
            </a:r>
          </a:p>
          <a:p>
            <a:r>
              <a:rPr lang="en-US" dirty="0"/>
              <a:t>This is necessary for all exceptions, except those of type Error or </a:t>
            </a:r>
            <a:r>
              <a:rPr lang="en-US" dirty="0" err="1"/>
              <a:t>RuntimeException</a:t>
            </a:r>
            <a:r>
              <a:rPr lang="en-US" dirty="0"/>
              <a:t>, or any of their subclasses. </a:t>
            </a:r>
          </a:p>
          <a:p>
            <a:r>
              <a:rPr lang="en-US" dirty="0"/>
              <a:t>All other exceptions that a method can throw must be declared in the throws clause. If they are not, a compile-time error will result.</a:t>
            </a:r>
          </a:p>
          <a:p>
            <a:r>
              <a:rPr lang="en-US" dirty="0"/>
              <a:t>This is the general form of a method declaration that includes a </a:t>
            </a:r>
            <a:r>
              <a:rPr lang="en-US" b="1" dirty="0">
                <a:solidFill>
                  <a:srgbClr val="B71B1C"/>
                </a:solidFill>
              </a:rPr>
              <a:t>throws clause</a:t>
            </a:r>
            <a:r>
              <a:rPr lang="en-US" b="1" dirty="0"/>
              <a:t>:</a:t>
            </a:r>
          </a:p>
          <a:p>
            <a:pPr lvl="1">
              <a:buNone/>
            </a:pPr>
            <a:r>
              <a:rPr lang="en-US" sz="2400" i="1" dirty="0"/>
              <a:t>type method-name(parameter-list) </a:t>
            </a:r>
            <a:r>
              <a:rPr lang="en-US" sz="2400" b="1" i="1" dirty="0">
                <a:solidFill>
                  <a:srgbClr val="B71B1C"/>
                </a:solidFill>
              </a:rPr>
              <a:t>throws</a:t>
            </a:r>
            <a:r>
              <a:rPr lang="en-US" sz="2400" i="1" dirty="0"/>
              <a:t> exception-list </a:t>
            </a:r>
            <a:r>
              <a:rPr lang="en-US" sz="2400" dirty="0"/>
              <a:t>{</a:t>
            </a:r>
          </a:p>
          <a:p>
            <a:pPr lvl="2">
              <a:buNone/>
            </a:pPr>
            <a:r>
              <a:rPr lang="en-US" sz="2000" dirty="0"/>
              <a:t>// body of method</a:t>
            </a:r>
          </a:p>
          <a:p>
            <a:pPr lvl="1">
              <a:buNone/>
            </a:pPr>
            <a:r>
              <a:rPr lang="en-US" sz="2400" dirty="0"/>
              <a:t>}</a:t>
            </a:r>
          </a:p>
          <a:p>
            <a:r>
              <a:rPr lang="en-US" dirty="0"/>
              <a:t>Here, </a:t>
            </a:r>
            <a:r>
              <a:rPr lang="en-US" i="1" dirty="0"/>
              <a:t>exception-list is a comma-separated list of the exceptions that a method can throw.</a:t>
            </a:r>
          </a:p>
          <a:p>
            <a:r>
              <a:rPr lang="en-IN" dirty="0"/>
              <a:t>Example :</a:t>
            </a:r>
            <a:endParaRPr lang="en-US" dirty="0"/>
          </a:p>
          <a:p>
            <a:endParaRPr lang="en-US" dirty="0"/>
          </a:p>
        </p:txBody>
      </p:sp>
      <p:sp>
        <p:nvSpPr>
          <p:cNvPr id="4" name="Rectangle 3">
            <a:extLst>
              <a:ext uri="{FF2B5EF4-FFF2-40B4-BE49-F238E27FC236}">
                <a16:creationId xmlns:a16="http://schemas.microsoft.com/office/drawing/2014/main" id="{555CCAB0-50C3-D5C6-81CF-B7F0B43679E4}"/>
              </a:ext>
            </a:extLst>
          </p:cNvPr>
          <p:cNvSpPr/>
          <p:nvPr/>
        </p:nvSpPr>
        <p:spPr>
          <a:xfrm>
            <a:off x="2050847" y="5323776"/>
            <a:ext cx="8305800" cy="1200329"/>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void</a:t>
            </a:r>
            <a:r>
              <a:rPr lang="en-US" b="1" dirty="0">
                <a:solidFill>
                  <a:srgbClr val="000000"/>
                </a:solidFill>
                <a:latin typeface="Consolas"/>
              </a:rPr>
              <a:t> </a:t>
            </a:r>
            <a:r>
              <a:rPr lang="en-US" b="1" dirty="0" err="1">
                <a:solidFill>
                  <a:srgbClr val="000000"/>
                </a:solidFill>
                <a:latin typeface="Consolas"/>
              </a:rPr>
              <a:t>myMethod</a:t>
            </a:r>
            <a:r>
              <a:rPr lang="en-US" b="1" dirty="0">
                <a:solidFill>
                  <a:srgbClr val="000000"/>
                </a:solidFill>
                <a:latin typeface="Consolas"/>
              </a:rPr>
              <a:t>() </a:t>
            </a:r>
            <a:r>
              <a:rPr lang="en-US" b="1" dirty="0">
                <a:solidFill>
                  <a:srgbClr val="7F0055"/>
                </a:solidFill>
                <a:latin typeface="Consolas"/>
              </a:rPr>
              <a:t>throws</a:t>
            </a:r>
            <a:r>
              <a:rPr lang="en-US" b="1" dirty="0">
                <a:solidFill>
                  <a:srgbClr val="000000"/>
                </a:solidFill>
                <a:latin typeface="Consolas"/>
              </a:rPr>
              <a:t> </a:t>
            </a:r>
            <a:r>
              <a:rPr lang="en-US" dirty="0" err="1">
                <a:solidFill>
                  <a:srgbClr val="000000"/>
                </a:solidFill>
                <a:latin typeface="Consolas"/>
              </a:rPr>
              <a:t>ArithmeticException</a:t>
            </a:r>
            <a:r>
              <a:rPr lang="en-US" dirty="0">
                <a:solidFill>
                  <a:srgbClr val="000000"/>
                </a:solidFill>
                <a:latin typeface="Consolas"/>
              </a:rPr>
              <a:t>, </a:t>
            </a:r>
            <a:r>
              <a:rPr lang="en-US" dirty="0" err="1">
                <a:solidFill>
                  <a:srgbClr val="000000"/>
                </a:solidFill>
                <a:latin typeface="Consolas"/>
              </a:rPr>
              <a:t>NullPointerException</a:t>
            </a:r>
            <a:r>
              <a:rPr lang="en-US" dirty="0">
                <a:solidFill>
                  <a:srgbClr val="000000"/>
                </a:solidFill>
                <a:latin typeface="Consolas"/>
              </a:rPr>
              <a:t> </a:t>
            </a:r>
            <a:endParaRPr lang="en-US" b="1" dirty="0">
              <a:solidFill>
                <a:srgbClr val="000000"/>
              </a:solidFill>
              <a:latin typeface="Consolas"/>
            </a:endParaRPr>
          </a:p>
          <a:p>
            <a:r>
              <a:rPr lang="en-US" dirty="0">
                <a:solidFill>
                  <a:srgbClr val="000000"/>
                </a:solidFill>
                <a:latin typeface="Consolas"/>
              </a:rPr>
              <a:t>{</a:t>
            </a:r>
          </a:p>
          <a:p>
            <a:pPr lvl="1"/>
            <a:r>
              <a:rPr lang="en-US" dirty="0">
                <a:solidFill>
                  <a:srgbClr val="3F7F5F"/>
                </a:solidFill>
                <a:latin typeface="Consolas"/>
              </a:rPr>
              <a:t>// code that may cause exception</a:t>
            </a:r>
            <a:endParaRPr lang="en-US" dirty="0">
              <a:solidFill>
                <a:srgbClr val="000000"/>
              </a:solidFill>
              <a:latin typeface="Consolas"/>
            </a:endParaRP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1409851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bg/>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B7A7-ACD3-EC47-757B-EEFAE9E97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8F3FB-B15D-BFBC-4840-3FB835581B27}"/>
              </a:ext>
            </a:extLst>
          </p:cNvPr>
          <p:cNvSpPr>
            <a:spLocks noGrp="1"/>
          </p:cNvSpPr>
          <p:nvPr>
            <p:ph type="title"/>
          </p:nvPr>
        </p:nvSpPr>
        <p:spPr>
          <a:xfrm>
            <a:off x="0" y="1"/>
            <a:ext cx="12192000" cy="711200"/>
          </a:xfrm>
        </p:spPr>
        <p:txBody>
          <a:bodyPr/>
          <a:lstStyle/>
          <a:p>
            <a:r>
              <a:rPr lang="en-US" dirty="0"/>
              <a:t>Create Your Own Exception</a:t>
            </a:r>
          </a:p>
        </p:txBody>
      </p:sp>
      <p:sp>
        <p:nvSpPr>
          <p:cNvPr id="3" name="Content Placeholder 2">
            <a:extLst>
              <a:ext uri="{FF2B5EF4-FFF2-40B4-BE49-F238E27FC236}">
                <a16:creationId xmlns:a16="http://schemas.microsoft.com/office/drawing/2014/main" id="{A291563B-DA1F-F321-B451-56AFCA4C7D73}"/>
              </a:ext>
            </a:extLst>
          </p:cNvPr>
          <p:cNvSpPr>
            <a:spLocks noGrp="1"/>
          </p:cNvSpPr>
          <p:nvPr>
            <p:ph idx="1"/>
          </p:nvPr>
        </p:nvSpPr>
        <p:spPr>
          <a:xfrm>
            <a:off x="131180" y="863444"/>
            <a:ext cx="11929641" cy="5590565"/>
          </a:xfrm>
        </p:spPr>
        <p:txBody>
          <a:bodyPr/>
          <a:lstStyle/>
          <a:p>
            <a:r>
              <a:rPr lang="en-US" dirty="0"/>
              <a:t>Although Java’s built-in exceptions handle most common errors, you will probably want to create your own exception types to handle situations specific to your applications. </a:t>
            </a:r>
          </a:p>
          <a:p>
            <a:r>
              <a:rPr lang="en-US" dirty="0"/>
              <a:t>This is quite easy to do: just define a subclass of Exception (which is, of course, a subclass of </a:t>
            </a:r>
            <a:r>
              <a:rPr lang="en-US" dirty="0" err="1">
                <a:latin typeface="Cambria" pitchFamily="18" charset="0"/>
                <a:ea typeface="Cambria" pitchFamily="18" charset="0"/>
              </a:rPr>
              <a:t>Throwable</a:t>
            </a:r>
            <a:r>
              <a:rPr lang="en-US" dirty="0"/>
              <a:t>).</a:t>
            </a:r>
          </a:p>
          <a:p>
            <a:r>
              <a:rPr lang="en-US" dirty="0"/>
              <a:t>The Exception class does not define any methods of its own. It does inherit those methods provided by </a:t>
            </a:r>
            <a:r>
              <a:rPr lang="en-US" dirty="0" err="1">
                <a:latin typeface="Cambria" pitchFamily="18" charset="0"/>
                <a:ea typeface="Cambria" pitchFamily="18" charset="0"/>
              </a:rPr>
              <a:t>Throwable</a:t>
            </a:r>
            <a:r>
              <a:rPr lang="en-US" dirty="0"/>
              <a:t>. </a:t>
            </a:r>
          </a:p>
          <a:p>
            <a:r>
              <a:rPr lang="en-US" dirty="0"/>
              <a:t>Thus, all exceptions have methods that you create and defined by </a:t>
            </a:r>
            <a:r>
              <a:rPr lang="en-US" dirty="0" err="1">
                <a:latin typeface="Cambria" pitchFamily="18" charset="0"/>
                <a:ea typeface="Cambria" pitchFamily="18" charset="0"/>
              </a:rPr>
              <a:t>Throwable</a:t>
            </a:r>
            <a:r>
              <a:rPr lang="en-US" dirty="0"/>
              <a:t>.</a:t>
            </a:r>
          </a:p>
          <a:p>
            <a:endParaRPr lang="en-US" dirty="0"/>
          </a:p>
        </p:txBody>
      </p:sp>
    </p:spTree>
    <p:extLst>
      <p:ext uri="{BB962C8B-B14F-4D97-AF65-F5344CB8AC3E}">
        <p14:creationId xmlns:p14="http://schemas.microsoft.com/office/powerpoint/2010/main" val="2536507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4C4F6-EA5C-DDFC-A528-A5D319C3A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17660-491F-41AB-C45D-A8566F956212}"/>
              </a:ext>
            </a:extLst>
          </p:cNvPr>
          <p:cNvSpPr>
            <a:spLocks noGrp="1"/>
          </p:cNvSpPr>
          <p:nvPr>
            <p:ph type="title"/>
          </p:nvPr>
        </p:nvSpPr>
        <p:spPr>
          <a:xfrm>
            <a:off x="0" y="1"/>
            <a:ext cx="12192000" cy="711200"/>
          </a:xfrm>
        </p:spPr>
        <p:txBody>
          <a:bodyPr/>
          <a:lstStyle/>
          <a:p>
            <a:r>
              <a:rPr lang="en-US" dirty="0"/>
              <a:t>Methods of Exception class</a:t>
            </a:r>
          </a:p>
        </p:txBody>
      </p:sp>
      <p:graphicFrame>
        <p:nvGraphicFramePr>
          <p:cNvPr id="3" name="Content Placeholder 3">
            <a:extLst>
              <a:ext uri="{FF2B5EF4-FFF2-40B4-BE49-F238E27FC236}">
                <a16:creationId xmlns:a16="http://schemas.microsoft.com/office/drawing/2014/main" id="{19ECD442-74A0-1567-8C86-7B0482D1C9F9}"/>
              </a:ext>
            </a:extLst>
          </p:cNvPr>
          <p:cNvGraphicFramePr>
            <a:graphicFrameLocks noGrp="1"/>
          </p:cNvGraphicFramePr>
          <p:nvPr>
            <p:ph idx="1"/>
          </p:nvPr>
        </p:nvGraphicFramePr>
        <p:xfrm>
          <a:off x="282632" y="965662"/>
          <a:ext cx="10731731" cy="4541520"/>
        </p:xfrm>
        <a:graphic>
          <a:graphicData uri="http://schemas.openxmlformats.org/drawingml/2006/table">
            <a:tbl>
              <a:tblPr firstRow="1" bandRow="1">
                <a:tableStyleId>{00A15C55-8517-42AA-B614-E9B94910E393}</a:tableStyleId>
              </a:tblPr>
              <a:tblGrid>
                <a:gridCol w="4372187">
                  <a:extLst>
                    <a:ext uri="{9D8B030D-6E8A-4147-A177-3AD203B41FA5}">
                      <a16:colId xmlns:a16="http://schemas.microsoft.com/office/drawing/2014/main" val="20000"/>
                    </a:ext>
                  </a:extLst>
                </a:gridCol>
                <a:gridCol w="6359544">
                  <a:extLst>
                    <a:ext uri="{9D8B030D-6E8A-4147-A177-3AD203B41FA5}">
                      <a16:colId xmlns:a16="http://schemas.microsoft.com/office/drawing/2014/main" val="20001"/>
                    </a:ext>
                  </a:extLst>
                </a:gridCol>
              </a:tblGrid>
              <a:tr h="370840">
                <a:tc>
                  <a:txBody>
                    <a:bodyPr/>
                    <a:lstStyle/>
                    <a:p>
                      <a:r>
                        <a:rPr lang="en-US" sz="1600" kern="1200" baseline="0" dirty="0"/>
                        <a:t>Method</a:t>
                      </a:r>
                      <a:endParaRPr lang="en-US" sz="1600" dirty="0"/>
                    </a:p>
                  </a:txBody>
                  <a:tcPr/>
                </a:tc>
                <a:tc>
                  <a:txBody>
                    <a:bodyPr/>
                    <a:lstStyle/>
                    <a:p>
                      <a:r>
                        <a:rPr lang="en-US" sz="1600" kern="1200" baseline="0" dirty="0"/>
                        <a:t>Description</a:t>
                      </a:r>
                      <a:endParaRPr lang="en-US" sz="1600" dirty="0"/>
                    </a:p>
                  </a:txBody>
                  <a:tcPr/>
                </a:tc>
                <a:extLst>
                  <a:ext uri="{0D108BD9-81ED-4DB2-BD59-A6C34878D82A}">
                    <a16:rowId xmlns:a16="http://schemas.microsoft.com/office/drawing/2014/main" val="10000"/>
                  </a:ext>
                </a:extLst>
              </a:tr>
              <a:tr h="370840">
                <a:tc>
                  <a:txBody>
                    <a:bodyPr/>
                    <a:lstStyle/>
                    <a:p>
                      <a:r>
                        <a:rPr lang="en-US" sz="1600" kern="1200" baseline="0" dirty="0" err="1"/>
                        <a:t>Throwable</a:t>
                      </a:r>
                      <a:r>
                        <a:rPr lang="en-US" sz="1600" kern="1200" baseline="0" dirty="0"/>
                        <a:t> </a:t>
                      </a:r>
                      <a:r>
                        <a:rPr lang="en-US" sz="1600" kern="1200" baseline="0" dirty="0" err="1"/>
                        <a:t>fillInStackTrace</a:t>
                      </a:r>
                      <a:r>
                        <a:rPr lang="en-US" sz="1600" kern="1200" baseline="0" dirty="0"/>
                        <a:t>( )</a:t>
                      </a:r>
                      <a:endParaRPr lang="en-US" sz="1600" dirty="0"/>
                    </a:p>
                  </a:txBody>
                  <a:tcPr/>
                </a:tc>
                <a:tc>
                  <a:txBody>
                    <a:bodyPr/>
                    <a:lstStyle/>
                    <a:p>
                      <a:r>
                        <a:rPr lang="en-US" sz="1600" kern="1200" baseline="0" dirty="0"/>
                        <a:t>Returns a </a:t>
                      </a:r>
                      <a:r>
                        <a:rPr lang="en-US" sz="1600" kern="1200" baseline="0" dirty="0" err="1"/>
                        <a:t>Throwable</a:t>
                      </a:r>
                      <a:r>
                        <a:rPr lang="en-US" sz="1600" kern="1200" baseline="0" dirty="0"/>
                        <a:t> object that contains a completed stack trace. This object can be </a:t>
                      </a:r>
                      <a:r>
                        <a:rPr lang="en-US" sz="1600" kern="1200" baseline="0" dirty="0" err="1"/>
                        <a:t>rethrown</a:t>
                      </a:r>
                      <a:r>
                        <a:rPr lang="en-US" sz="1600" kern="1200" baseline="0" dirty="0"/>
                        <a:t>.</a:t>
                      </a:r>
                      <a:endParaRPr lang="en-US" sz="1600" dirty="0"/>
                    </a:p>
                  </a:txBody>
                  <a:tcPr/>
                </a:tc>
                <a:extLst>
                  <a:ext uri="{0D108BD9-81ED-4DB2-BD59-A6C34878D82A}">
                    <a16:rowId xmlns:a16="http://schemas.microsoft.com/office/drawing/2014/main" val="10001"/>
                  </a:ext>
                </a:extLst>
              </a:tr>
              <a:tr h="370840">
                <a:tc>
                  <a:txBody>
                    <a:bodyPr/>
                    <a:lstStyle/>
                    <a:p>
                      <a:r>
                        <a:rPr lang="en-US" sz="1600" kern="1200" baseline="0" dirty="0" err="1"/>
                        <a:t>Throwable</a:t>
                      </a:r>
                      <a:r>
                        <a:rPr lang="en-US" sz="1600" kern="1200" baseline="0" dirty="0"/>
                        <a:t> </a:t>
                      </a:r>
                      <a:r>
                        <a:rPr lang="en-US" sz="1600" kern="1200" baseline="0" dirty="0" err="1"/>
                        <a:t>getCause</a:t>
                      </a:r>
                      <a:r>
                        <a:rPr lang="en-US" sz="1600" kern="1200" baseline="0" dirty="0"/>
                        <a:t>( )</a:t>
                      </a:r>
                      <a:endParaRPr lang="en-US" sz="1600" dirty="0"/>
                    </a:p>
                  </a:txBody>
                  <a:tcPr/>
                </a:tc>
                <a:tc>
                  <a:txBody>
                    <a:bodyPr/>
                    <a:lstStyle/>
                    <a:p>
                      <a:r>
                        <a:rPr lang="en-US" sz="1600" kern="1200" baseline="0" dirty="0"/>
                        <a:t>Returns the exception that underlies the current exception. If there is no underlying exception, null is returned.</a:t>
                      </a:r>
                      <a:endParaRPr lang="en-US" sz="1600" dirty="0"/>
                    </a:p>
                  </a:txBody>
                  <a:tcPr/>
                </a:tc>
                <a:extLst>
                  <a:ext uri="{0D108BD9-81ED-4DB2-BD59-A6C34878D82A}">
                    <a16:rowId xmlns:a16="http://schemas.microsoft.com/office/drawing/2014/main" val="10002"/>
                  </a:ext>
                </a:extLst>
              </a:tr>
              <a:tr h="370840">
                <a:tc>
                  <a:txBody>
                    <a:bodyPr/>
                    <a:lstStyle/>
                    <a:p>
                      <a:r>
                        <a:rPr lang="en-US" sz="1600" kern="1200" baseline="0" dirty="0"/>
                        <a:t>String </a:t>
                      </a:r>
                      <a:r>
                        <a:rPr lang="en-US" sz="1600" kern="1200" baseline="0" dirty="0" err="1"/>
                        <a:t>getMessage</a:t>
                      </a:r>
                      <a:r>
                        <a:rPr lang="en-US" sz="1600" kern="1200" baseline="0" dirty="0"/>
                        <a:t>( )</a:t>
                      </a:r>
                      <a:endParaRPr lang="en-US" sz="1600" dirty="0"/>
                    </a:p>
                  </a:txBody>
                  <a:tcPr/>
                </a:tc>
                <a:tc>
                  <a:txBody>
                    <a:bodyPr/>
                    <a:lstStyle/>
                    <a:p>
                      <a:r>
                        <a:rPr lang="en-US" sz="1600" kern="1200" baseline="0" dirty="0"/>
                        <a:t>Returns a description of the exception.</a:t>
                      </a:r>
                      <a:endParaRPr lang="en-US" sz="1600" dirty="0"/>
                    </a:p>
                  </a:txBody>
                  <a:tcPr/>
                </a:tc>
                <a:extLst>
                  <a:ext uri="{0D108BD9-81ED-4DB2-BD59-A6C34878D82A}">
                    <a16:rowId xmlns:a16="http://schemas.microsoft.com/office/drawing/2014/main" val="10003"/>
                  </a:ext>
                </a:extLst>
              </a:tr>
              <a:tr h="370840">
                <a:tc>
                  <a:txBody>
                    <a:bodyPr/>
                    <a:lstStyle/>
                    <a:p>
                      <a:r>
                        <a:rPr lang="en-US" sz="1600" kern="1200" baseline="0" dirty="0" err="1"/>
                        <a:t>StackTraceElement</a:t>
                      </a:r>
                      <a:r>
                        <a:rPr lang="en-US" sz="1600" kern="1200" baseline="0" dirty="0"/>
                        <a:t>[ ] </a:t>
                      </a:r>
                      <a:r>
                        <a:rPr lang="en-US" sz="1600" kern="1200" baseline="0" dirty="0" err="1"/>
                        <a:t>getStackTrace</a:t>
                      </a:r>
                      <a:r>
                        <a:rPr lang="en-US" sz="1600" kern="1200" baseline="0" dirty="0"/>
                        <a:t>( )</a:t>
                      </a:r>
                      <a:endParaRPr lang="en-US" sz="1600" dirty="0"/>
                    </a:p>
                  </a:txBody>
                  <a:tcPr/>
                </a:tc>
                <a:tc>
                  <a:txBody>
                    <a:bodyPr/>
                    <a:lstStyle/>
                    <a:p>
                      <a:r>
                        <a:rPr lang="en-US" sz="1600" kern="1200" baseline="0" dirty="0"/>
                        <a:t>Returns an array that contains the stack trace, one element at a time, as an array of </a:t>
                      </a:r>
                      <a:r>
                        <a:rPr lang="en-US" sz="1600" kern="1200" baseline="0" dirty="0" err="1"/>
                        <a:t>StackTraceElement</a:t>
                      </a:r>
                      <a:r>
                        <a:rPr lang="en-US" sz="1600" kern="1200" baseline="0" dirty="0"/>
                        <a:t>.</a:t>
                      </a:r>
                      <a:endParaRPr lang="en-US" sz="1600" dirty="0"/>
                    </a:p>
                  </a:txBody>
                  <a:tcPr/>
                </a:tc>
                <a:extLst>
                  <a:ext uri="{0D108BD9-81ED-4DB2-BD59-A6C34878D82A}">
                    <a16:rowId xmlns:a16="http://schemas.microsoft.com/office/drawing/2014/main" val="10004"/>
                  </a:ext>
                </a:extLst>
              </a:tr>
              <a:tr h="370840">
                <a:tc>
                  <a:txBody>
                    <a:bodyPr/>
                    <a:lstStyle/>
                    <a:p>
                      <a:r>
                        <a:rPr lang="en-US" sz="1600" kern="1200" baseline="0" dirty="0" err="1"/>
                        <a:t>Throwable</a:t>
                      </a:r>
                      <a:r>
                        <a:rPr lang="en-US" sz="1600" kern="1200" baseline="0" dirty="0"/>
                        <a:t> </a:t>
                      </a:r>
                      <a:r>
                        <a:rPr lang="en-US" sz="1600" kern="1200" baseline="0" dirty="0" err="1"/>
                        <a:t>initCause</a:t>
                      </a:r>
                      <a:r>
                        <a:rPr lang="en-US" sz="1600" kern="1200" baseline="0" dirty="0"/>
                        <a:t>(</a:t>
                      </a:r>
                      <a:r>
                        <a:rPr lang="en-US" sz="1600" kern="1200" baseline="0" dirty="0" err="1"/>
                        <a:t>Throwable</a:t>
                      </a:r>
                      <a:r>
                        <a:rPr lang="en-US" sz="1600" kern="1200" baseline="0" dirty="0"/>
                        <a:t> </a:t>
                      </a:r>
                      <a:r>
                        <a:rPr lang="en-US" sz="1600" kern="1200" baseline="0" dirty="0" err="1"/>
                        <a:t>causeExc</a:t>
                      </a:r>
                      <a:r>
                        <a:rPr lang="en-US" sz="1600" kern="1200" baseline="0" dirty="0"/>
                        <a:t>)</a:t>
                      </a:r>
                      <a:endParaRPr lang="en-US" sz="1600" dirty="0"/>
                    </a:p>
                  </a:txBody>
                  <a:tcPr/>
                </a:tc>
                <a:tc>
                  <a:txBody>
                    <a:bodyPr/>
                    <a:lstStyle/>
                    <a:p>
                      <a:r>
                        <a:rPr lang="en-US" sz="1600" kern="1200" baseline="0" dirty="0"/>
                        <a:t>Associates </a:t>
                      </a:r>
                      <a:r>
                        <a:rPr lang="en-US" sz="1600" kern="1200" baseline="0" dirty="0" err="1"/>
                        <a:t>causeExc</a:t>
                      </a:r>
                      <a:r>
                        <a:rPr lang="en-US" sz="1600" kern="1200" baseline="0" dirty="0"/>
                        <a:t> with the invoking exception as a cause of the invoking exception. Returns a reference to the exception.</a:t>
                      </a:r>
                      <a:endParaRPr lang="en-US" sz="1600" dirty="0"/>
                    </a:p>
                  </a:txBody>
                  <a:tcPr/>
                </a:tc>
                <a:extLst>
                  <a:ext uri="{0D108BD9-81ED-4DB2-BD59-A6C34878D82A}">
                    <a16:rowId xmlns:a16="http://schemas.microsoft.com/office/drawing/2014/main" val="10005"/>
                  </a:ext>
                </a:extLst>
              </a:tr>
              <a:tr h="370840">
                <a:tc>
                  <a:txBody>
                    <a:bodyPr/>
                    <a:lstStyle/>
                    <a:p>
                      <a:r>
                        <a:rPr lang="en-US" sz="1600" kern="1200" baseline="0" dirty="0"/>
                        <a:t>void </a:t>
                      </a:r>
                      <a:r>
                        <a:rPr lang="en-US" sz="1600" kern="1200" baseline="0" dirty="0" err="1"/>
                        <a:t>printStackTrace</a:t>
                      </a:r>
                      <a:r>
                        <a:rPr lang="en-US" sz="1600" kern="1200" baseline="0" dirty="0"/>
                        <a:t>( )</a:t>
                      </a:r>
                      <a:endParaRPr lang="en-US" sz="1600" dirty="0"/>
                    </a:p>
                  </a:txBody>
                  <a:tcPr/>
                </a:tc>
                <a:tc>
                  <a:txBody>
                    <a:bodyPr/>
                    <a:lstStyle/>
                    <a:p>
                      <a:r>
                        <a:rPr lang="en-US" sz="1600" kern="1200" baseline="0" dirty="0"/>
                        <a:t>Displays the stack trace.</a:t>
                      </a:r>
                      <a:endParaRPr lang="en-US" sz="1600" dirty="0"/>
                    </a:p>
                  </a:txBody>
                  <a:tcPr/>
                </a:tc>
                <a:extLst>
                  <a:ext uri="{0D108BD9-81ED-4DB2-BD59-A6C34878D82A}">
                    <a16:rowId xmlns:a16="http://schemas.microsoft.com/office/drawing/2014/main" val="10006"/>
                  </a:ext>
                </a:extLst>
              </a:tr>
              <a:tr h="370840">
                <a:tc>
                  <a:txBody>
                    <a:bodyPr/>
                    <a:lstStyle/>
                    <a:p>
                      <a:r>
                        <a:rPr lang="en-US" sz="1600" kern="1200" baseline="0" dirty="0"/>
                        <a:t>void </a:t>
                      </a:r>
                      <a:r>
                        <a:rPr lang="en-US" sz="1600" kern="1200" baseline="0" dirty="0" err="1"/>
                        <a:t>printStackTrace</a:t>
                      </a:r>
                      <a:r>
                        <a:rPr lang="en-US" sz="1600" kern="1200" baseline="0" dirty="0"/>
                        <a:t>(</a:t>
                      </a:r>
                      <a:r>
                        <a:rPr lang="en-US" sz="1600" kern="1200" baseline="0" dirty="0" err="1"/>
                        <a:t>PrintStream</a:t>
                      </a:r>
                      <a:r>
                        <a:rPr lang="en-US" sz="1600" kern="1200" baseline="0" dirty="0"/>
                        <a:t> stream)</a:t>
                      </a:r>
                      <a:endParaRPr lang="en-US" sz="1600" dirty="0"/>
                    </a:p>
                  </a:txBody>
                  <a:tcPr/>
                </a:tc>
                <a:tc>
                  <a:txBody>
                    <a:bodyPr/>
                    <a:lstStyle/>
                    <a:p>
                      <a:r>
                        <a:rPr lang="en-US" sz="1600" kern="1200" baseline="0" dirty="0"/>
                        <a:t>Sends the stack trace to the specified stream.</a:t>
                      </a:r>
                      <a:endParaRPr lang="en-US" sz="1600" dirty="0"/>
                    </a:p>
                  </a:txBody>
                  <a:tcPr/>
                </a:tc>
                <a:extLst>
                  <a:ext uri="{0D108BD9-81ED-4DB2-BD59-A6C34878D82A}">
                    <a16:rowId xmlns:a16="http://schemas.microsoft.com/office/drawing/2014/main" val="10007"/>
                  </a:ext>
                </a:extLst>
              </a:tr>
              <a:tr h="370840">
                <a:tc>
                  <a:txBody>
                    <a:bodyPr/>
                    <a:lstStyle/>
                    <a:p>
                      <a:r>
                        <a:rPr lang="en-US" sz="1600" kern="1200" baseline="0" dirty="0"/>
                        <a:t>void </a:t>
                      </a:r>
                      <a:r>
                        <a:rPr lang="en-US" sz="1600" kern="1200" baseline="0" dirty="0" err="1"/>
                        <a:t>setStackTrace</a:t>
                      </a:r>
                      <a:r>
                        <a:rPr lang="en-US" sz="1600" kern="1200" baseline="0" dirty="0"/>
                        <a:t>(</a:t>
                      </a:r>
                      <a:r>
                        <a:rPr lang="en-US" sz="1600" kern="1200" baseline="0" dirty="0" err="1"/>
                        <a:t>StackTraceElement</a:t>
                      </a:r>
                      <a:r>
                        <a:rPr lang="en-US" sz="1600" kern="1200" baseline="0" dirty="0"/>
                        <a:t> elements[ ])</a:t>
                      </a:r>
                      <a:endParaRPr lang="en-US" sz="1600" dirty="0"/>
                    </a:p>
                  </a:txBody>
                  <a:tcPr/>
                </a:tc>
                <a:tc>
                  <a:txBody>
                    <a:bodyPr/>
                    <a:lstStyle/>
                    <a:p>
                      <a:r>
                        <a:rPr lang="en-US" sz="1600" kern="1200" baseline="0" dirty="0"/>
                        <a:t>Sets the stack trace to the elements passed in elements.</a:t>
                      </a:r>
                      <a:endParaRPr lang="en-US" sz="1600" dirty="0"/>
                    </a:p>
                  </a:txBody>
                  <a:tcPr/>
                </a:tc>
                <a:extLst>
                  <a:ext uri="{0D108BD9-81ED-4DB2-BD59-A6C34878D82A}">
                    <a16:rowId xmlns:a16="http://schemas.microsoft.com/office/drawing/2014/main" val="10008"/>
                  </a:ext>
                </a:extLst>
              </a:tr>
              <a:tr h="370840">
                <a:tc>
                  <a:txBody>
                    <a:bodyPr/>
                    <a:lstStyle/>
                    <a:p>
                      <a:r>
                        <a:rPr lang="en-US" sz="1600" kern="1200" baseline="0" dirty="0"/>
                        <a:t>String </a:t>
                      </a:r>
                      <a:r>
                        <a:rPr lang="en-US" sz="1600" kern="1200" baseline="0" dirty="0" err="1"/>
                        <a:t>toString</a:t>
                      </a:r>
                      <a:r>
                        <a:rPr lang="en-US" sz="1600" kern="1200" baseline="0" dirty="0"/>
                        <a:t>( )</a:t>
                      </a:r>
                      <a:endParaRPr lang="en-US" sz="1600" dirty="0"/>
                    </a:p>
                  </a:txBody>
                  <a:tcPr/>
                </a:tc>
                <a:tc>
                  <a:txBody>
                    <a:bodyPr/>
                    <a:lstStyle/>
                    <a:p>
                      <a:r>
                        <a:rPr lang="en-US" sz="1600" kern="1200" baseline="0" dirty="0"/>
                        <a:t>Returns a String object containing a description of the exception.</a:t>
                      </a:r>
                      <a:endParaRPr lang="en-US" sz="16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03327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9DA4C-303F-CFFA-AEC9-F8A872D6F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2B336-EB66-5779-9500-C5D6AEA54ADB}"/>
              </a:ext>
            </a:extLst>
          </p:cNvPr>
          <p:cNvSpPr>
            <a:spLocks noGrp="1"/>
          </p:cNvSpPr>
          <p:nvPr>
            <p:ph type="title"/>
          </p:nvPr>
        </p:nvSpPr>
        <p:spPr>
          <a:xfrm>
            <a:off x="0" y="1"/>
            <a:ext cx="12192000" cy="711200"/>
          </a:xfrm>
        </p:spPr>
        <p:txBody>
          <a:bodyPr/>
          <a:lstStyle/>
          <a:p>
            <a:r>
              <a:rPr lang="en-IN" dirty="0"/>
              <a:t>Custom Exception (Example)</a:t>
            </a:r>
            <a:endParaRPr lang="en-US" dirty="0"/>
          </a:p>
        </p:txBody>
      </p:sp>
      <p:sp>
        <p:nvSpPr>
          <p:cNvPr id="3" name="Rectangle 2">
            <a:extLst>
              <a:ext uri="{FF2B5EF4-FFF2-40B4-BE49-F238E27FC236}">
                <a16:creationId xmlns:a16="http://schemas.microsoft.com/office/drawing/2014/main" id="{0BD1851E-3E99-00B6-D3FB-F4C7758DE709}"/>
              </a:ext>
            </a:extLst>
          </p:cNvPr>
          <p:cNvSpPr/>
          <p:nvPr/>
        </p:nvSpPr>
        <p:spPr>
          <a:xfrm>
            <a:off x="4375639" y="1037272"/>
            <a:ext cx="7684477" cy="5355312"/>
          </a:xfrm>
          <a:prstGeom prst="rect">
            <a:avLst/>
          </a:prstGeom>
          <a:solidFill>
            <a:schemeClr val="bg1"/>
          </a:solidFill>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MainCall</a:t>
            </a:r>
            <a:r>
              <a:rPr lang="en-US" b="1" dirty="0">
                <a:solidFill>
                  <a:srgbClr val="000000"/>
                </a:solidFill>
                <a:latin typeface="Consolas"/>
              </a:rPr>
              <a:t> {</a:t>
            </a:r>
          </a:p>
          <a:p>
            <a:pPr lvl="1"/>
            <a:r>
              <a:rPr lang="en-US" b="1" dirty="0">
                <a:solidFill>
                  <a:srgbClr val="7F0055"/>
                </a:solidFill>
                <a:latin typeface="Consolas"/>
              </a:rPr>
              <a:t>static</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i="1" dirty="0" err="1">
                <a:solidFill>
                  <a:srgbClr val="0000C0"/>
                </a:solidFill>
                <a:latin typeface="Consolas"/>
              </a:rPr>
              <a:t>currentBal</a:t>
            </a:r>
            <a:r>
              <a:rPr lang="en-US" b="1" i="1" dirty="0">
                <a:solidFill>
                  <a:srgbClr val="000000"/>
                </a:solidFill>
                <a:latin typeface="Consolas"/>
              </a:rPr>
              <a:t> = 5000;</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b="1" dirty="0">
                <a:solidFill>
                  <a:srgbClr val="7F0055"/>
                </a:solidFill>
                <a:latin typeface="Consolas"/>
              </a:rPr>
              <a:t>try</a:t>
            </a:r>
            <a:r>
              <a:rPr lang="en-US" b="1" dirty="0">
                <a:solidFill>
                  <a:srgbClr val="000000"/>
                </a:solidFill>
                <a:latin typeface="Consolas"/>
              </a:rPr>
              <a:t> {</a:t>
            </a:r>
          </a:p>
          <a:p>
            <a:r>
              <a:rPr lang="en-IN"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amount</a:t>
            </a:r>
            <a:r>
              <a:rPr lang="en-US" b="1" dirty="0">
                <a:solidFill>
                  <a:srgbClr val="000000"/>
                </a:solidFill>
                <a:latin typeface="Consolas"/>
              </a:rPr>
              <a:t> = </a:t>
            </a:r>
            <a:r>
              <a:rPr lang="en-US" b="1" dirty="0" err="1">
                <a:solidFill>
                  <a:srgbClr val="000000"/>
                </a:solidFill>
                <a:latin typeface="Consolas"/>
              </a:rPr>
              <a:t>Integer.</a:t>
            </a:r>
            <a:r>
              <a:rPr lang="en-US" b="1" i="1" dirty="0" err="1">
                <a:solidFill>
                  <a:srgbClr val="000000"/>
                </a:solidFill>
                <a:latin typeface="Consolas"/>
              </a:rPr>
              <a:t>parseInt</a:t>
            </a:r>
            <a:r>
              <a:rPr lang="en-US" b="1" i="1" dirty="0">
                <a:solidFill>
                  <a:srgbClr val="000000"/>
                </a:solidFill>
                <a:latin typeface="Consolas"/>
              </a:rPr>
              <a:t>(</a:t>
            </a:r>
            <a:r>
              <a:rPr lang="en-US" b="1" i="1" dirty="0" err="1">
                <a:solidFill>
                  <a:srgbClr val="6A3E3E"/>
                </a:solidFill>
                <a:latin typeface="Consolas"/>
              </a:rPr>
              <a:t>args</a:t>
            </a:r>
            <a:r>
              <a:rPr lang="en-US" b="1" i="1" dirty="0">
                <a:solidFill>
                  <a:srgbClr val="000000"/>
                </a:solidFill>
                <a:latin typeface="Consolas"/>
              </a:rPr>
              <a:t>[0]);</a:t>
            </a:r>
            <a:endParaRPr lang="en-US" b="1" dirty="0">
              <a:solidFill>
                <a:srgbClr val="000000"/>
              </a:solidFill>
              <a:latin typeface="Consolas"/>
            </a:endParaRPr>
          </a:p>
          <a:p>
            <a:pPr lvl="2"/>
            <a:r>
              <a:rPr lang="en-US" i="1" dirty="0">
                <a:solidFill>
                  <a:srgbClr val="000000"/>
                </a:solidFill>
                <a:latin typeface="Consolas"/>
              </a:rPr>
              <a:t>	withdraw(</a:t>
            </a:r>
            <a:r>
              <a:rPr lang="en-US" b="1" dirty="0">
                <a:solidFill>
                  <a:srgbClr val="6A3E3E"/>
                </a:solidFill>
                <a:latin typeface="Consolas"/>
              </a:rPr>
              <a:t>amount</a:t>
            </a:r>
            <a:r>
              <a:rPr lang="en-US" i="1" dirty="0">
                <a:solidFill>
                  <a:srgbClr val="000000"/>
                </a:solidFill>
                <a:latin typeface="Consolas"/>
              </a:rPr>
              <a:t>);</a:t>
            </a:r>
          </a:p>
          <a:p>
            <a:pPr lvl="2"/>
            <a:r>
              <a:rPr lang="en-US" dirty="0">
                <a:solidFill>
                  <a:srgbClr val="000000"/>
                </a:solidFill>
                <a:latin typeface="Consolas"/>
              </a:rPr>
              <a:t>} </a:t>
            </a:r>
            <a:r>
              <a:rPr lang="en-US" b="1" dirty="0">
                <a:solidFill>
                  <a:srgbClr val="7F0055"/>
                </a:solidFill>
                <a:latin typeface="Consolas"/>
              </a:rPr>
              <a:t>catch</a:t>
            </a:r>
            <a:r>
              <a:rPr lang="en-US" b="1" dirty="0">
                <a:solidFill>
                  <a:srgbClr val="000000"/>
                </a:solidFill>
                <a:latin typeface="Consolas"/>
              </a:rPr>
              <a:t> (Exception </a:t>
            </a:r>
            <a:r>
              <a:rPr lang="en-US" b="1" dirty="0">
                <a:solidFill>
                  <a:srgbClr val="6A3E3E"/>
                </a:solidFill>
                <a:latin typeface="Consolas"/>
              </a:rPr>
              <a:t>ex</a:t>
            </a:r>
            <a:r>
              <a:rPr lang="en-US" b="1" dirty="0">
                <a:solidFill>
                  <a:srgbClr val="000000"/>
                </a:solidFill>
                <a:latin typeface="Consolas"/>
              </a:rPr>
              <a:t>) {</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"Caught"</a:t>
            </a:r>
            <a:r>
              <a:rPr lang="en-US" b="1" i="1" dirty="0">
                <a:solidFill>
                  <a:srgbClr val="000000"/>
                </a:solidFill>
                <a:latin typeface="Consolas"/>
              </a:rPr>
              <a:t>);</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err="1">
                <a:solidFill>
                  <a:srgbClr val="6A3E3E"/>
                </a:solidFill>
                <a:latin typeface="Consolas"/>
              </a:rPr>
              <a:t>ex</a:t>
            </a:r>
            <a:r>
              <a:rPr lang="en-US" b="1" i="1" dirty="0" err="1">
                <a:solidFill>
                  <a:srgbClr val="000000"/>
                </a:solidFill>
                <a:latin typeface="Consolas"/>
              </a:rPr>
              <a:t>.getMessage</a:t>
            </a:r>
            <a:r>
              <a:rPr lang="en-US" b="1" i="1"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withdraw(</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amount</a:t>
            </a:r>
            <a:r>
              <a:rPr lang="en-US" b="1" dirty="0">
                <a:solidFill>
                  <a:srgbClr val="000000"/>
                </a:solidFill>
                <a:latin typeface="Consolas"/>
              </a:rPr>
              <a:t>) </a:t>
            </a:r>
            <a:r>
              <a:rPr lang="en-US" b="1" dirty="0">
                <a:solidFill>
                  <a:srgbClr val="7F0055"/>
                </a:solidFill>
                <a:latin typeface="Consolas"/>
              </a:rPr>
              <a:t>throws</a:t>
            </a:r>
            <a:r>
              <a:rPr lang="en-US" b="1" dirty="0">
                <a:solidFill>
                  <a:srgbClr val="000000"/>
                </a:solidFill>
                <a:latin typeface="Consolas"/>
              </a:rPr>
              <a:t> </a:t>
            </a:r>
            <a:r>
              <a:rPr lang="en-US" b="1" dirty="0">
                <a:solidFill>
                  <a:srgbClr val="000000"/>
                </a:solidFill>
                <a:highlight>
                  <a:srgbClr val="D4D4D4"/>
                </a:highlight>
                <a:latin typeface="Consolas"/>
              </a:rPr>
              <a:t>Exception</a:t>
            </a:r>
          </a:p>
          <a:p>
            <a:pPr lvl="1"/>
            <a:r>
              <a:rPr lang="en-US" dirty="0">
                <a:solidFill>
                  <a:srgbClr val="000000"/>
                </a:solidFill>
                <a:latin typeface="Consolas"/>
              </a:rPr>
              <a:t>{</a:t>
            </a:r>
          </a:p>
          <a:p>
            <a:pPr lvl="2"/>
            <a:r>
              <a:rPr lang="en-US" b="1" dirty="0" err="1">
                <a:solidFill>
                  <a:srgbClr val="7F0055"/>
                </a:solidFill>
                <a:latin typeface="Consolas"/>
              </a:rPr>
              <a:t>int</a:t>
            </a:r>
            <a:r>
              <a:rPr lang="en-US" b="1" dirty="0">
                <a:solidFill>
                  <a:srgbClr val="000000"/>
                </a:solidFill>
                <a:latin typeface="Consolas"/>
              </a:rPr>
              <a:t> </a:t>
            </a:r>
            <a:r>
              <a:rPr lang="en-US" b="1" dirty="0" err="1">
                <a:solidFill>
                  <a:srgbClr val="6A3E3E"/>
                </a:solidFill>
                <a:latin typeface="Consolas"/>
              </a:rPr>
              <a:t>newBalance</a:t>
            </a:r>
            <a:r>
              <a:rPr lang="en-US" b="1" dirty="0">
                <a:solidFill>
                  <a:srgbClr val="000000"/>
                </a:solidFill>
                <a:latin typeface="Consolas"/>
              </a:rPr>
              <a:t> = </a:t>
            </a:r>
            <a:r>
              <a:rPr lang="en-US" b="1" i="1" dirty="0" err="1">
                <a:solidFill>
                  <a:srgbClr val="0000C0"/>
                </a:solidFill>
                <a:latin typeface="Consolas"/>
              </a:rPr>
              <a:t>currentBal</a:t>
            </a:r>
            <a:r>
              <a:rPr lang="en-US" b="1" i="1" dirty="0">
                <a:solidFill>
                  <a:srgbClr val="000000"/>
                </a:solidFill>
                <a:latin typeface="Consolas"/>
              </a:rPr>
              <a:t> - </a:t>
            </a:r>
            <a:r>
              <a:rPr lang="en-US" b="1" i="1" dirty="0">
                <a:solidFill>
                  <a:srgbClr val="6A3E3E"/>
                </a:solidFill>
                <a:latin typeface="Consolas"/>
              </a:rPr>
              <a:t>amount</a:t>
            </a:r>
            <a:r>
              <a:rPr lang="en-US" b="1" i="1" dirty="0">
                <a:solidFill>
                  <a:srgbClr val="000000"/>
                </a:solidFill>
                <a:latin typeface="Consolas"/>
              </a:rPr>
              <a:t>;</a:t>
            </a:r>
          </a:p>
          <a:p>
            <a:pPr lvl="2"/>
            <a:r>
              <a:rPr lang="en-US" b="1" dirty="0">
                <a:solidFill>
                  <a:srgbClr val="7F0055"/>
                </a:solidFill>
                <a:latin typeface="Consolas"/>
              </a:rPr>
              <a:t>if</a:t>
            </a:r>
            <a:r>
              <a:rPr lang="en-US" b="1" dirty="0">
                <a:solidFill>
                  <a:srgbClr val="000000"/>
                </a:solidFill>
                <a:latin typeface="Consolas"/>
              </a:rPr>
              <a:t>(</a:t>
            </a:r>
            <a:r>
              <a:rPr lang="en-US" b="1" dirty="0" err="1">
                <a:solidFill>
                  <a:srgbClr val="6A3E3E"/>
                </a:solidFill>
                <a:latin typeface="Consolas"/>
              </a:rPr>
              <a:t>newBalance</a:t>
            </a:r>
            <a:r>
              <a:rPr lang="en-US" b="1" dirty="0">
                <a:solidFill>
                  <a:srgbClr val="000000"/>
                </a:solidFill>
                <a:latin typeface="Consolas"/>
              </a:rPr>
              <a:t>&lt;1000) {</a:t>
            </a:r>
          </a:p>
          <a:p>
            <a:pPr lvl="2"/>
            <a:r>
              <a:rPr lang="en-US" b="1" dirty="0">
                <a:solidFill>
                  <a:srgbClr val="7F0055"/>
                </a:solidFill>
                <a:highlight>
                  <a:srgbClr val="D4D4D4"/>
                </a:highlight>
                <a:latin typeface="Consolas"/>
              </a:rPr>
              <a:t>	throw</a:t>
            </a:r>
            <a:r>
              <a:rPr lang="en-US" b="1" dirty="0">
                <a:solidFill>
                  <a:srgbClr val="000000"/>
                </a:solidFill>
                <a:highlight>
                  <a:srgbClr val="D4D4D4"/>
                </a:highlight>
                <a:latin typeface="Consolas"/>
              </a:rPr>
              <a:t> </a:t>
            </a:r>
            <a:r>
              <a:rPr lang="en-US" b="1" dirty="0">
                <a:solidFill>
                  <a:srgbClr val="7F0055"/>
                </a:solidFill>
                <a:highlight>
                  <a:srgbClr val="D4D4D4"/>
                </a:highlight>
                <a:latin typeface="Consolas"/>
              </a:rPr>
              <a:t>new</a:t>
            </a:r>
            <a:r>
              <a:rPr lang="en-US" b="1" dirty="0">
                <a:solidFill>
                  <a:srgbClr val="000000"/>
                </a:solidFill>
                <a:highlight>
                  <a:srgbClr val="D4D4D4"/>
                </a:highlight>
                <a:latin typeface="Consolas"/>
              </a:rPr>
              <a:t> </a:t>
            </a:r>
            <a:r>
              <a:rPr lang="en-US" b="1" dirty="0" err="1">
                <a:solidFill>
                  <a:srgbClr val="000000"/>
                </a:solidFill>
                <a:highlight>
                  <a:srgbClr val="D4D4D4"/>
                </a:highlight>
                <a:latin typeface="Consolas"/>
              </a:rPr>
              <a:t>MyException</a:t>
            </a:r>
            <a:r>
              <a:rPr lang="en-US" b="1" dirty="0">
                <a:solidFill>
                  <a:srgbClr val="000000"/>
                </a:solidFill>
                <a:highlight>
                  <a:srgbClr val="D4D4D4"/>
                </a:highlight>
                <a:latin typeface="Consolas"/>
              </a:rPr>
              <a:t>(</a:t>
            </a:r>
            <a:r>
              <a:rPr lang="en-US" b="1" dirty="0">
                <a:solidFill>
                  <a:srgbClr val="2A00FF"/>
                </a:solidFill>
                <a:highlight>
                  <a:srgbClr val="D4D4D4"/>
                </a:highlight>
                <a:latin typeface="Consolas"/>
              </a:rPr>
              <a:t>"</a:t>
            </a:r>
            <a:r>
              <a:rPr lang="en-US" b="1" dirty="0" err="1">
                <a:solidFill>
                  <a:srgbClr val="2A00FF"/>
                </a:solidFill>
                <a:highlight>
                  <a:srgbClr val="D4D4D4"/>
                </a:highlight>
                <a:latin typeface="Consolas"/>
              </a:rPr>
              <a:t>Darshan</a:t>
            </a:r>
            <a:r>
              <a:rPr lang="en-US" b="1" dirty="0">
                <a:solidFill>
                  <a:srgbClr val="2A00FF"/>
                </a:solidFill>
                <a:highlight>
                  <a:srgbClr val="D4D4D4"/>
                </a:highlight>
                <a:latin typeface="Consolas"/>
              </a:rPr>
              <a:t> Exception"</a:t>
            </a:r>
            <a:r>
              <a:rPr lang="en-US" b="1" dirty="0">
                <a:solidFill>
                  <a:srgbClr val="000000"/>
                </a:solidFill>
                <a:highlight>
                  <a:srgbClr val="D4D4D4"/>
                </a:highlight>
                <a:latin typeface="Consolas"/>
              </a:rPr>
              <a:t>);</a:t>
            </a:r>
          </a:p>
          <a:p>
            <a:pPr lvl="1"/>
            <a:r>
              <a:rPr lang="en-US" dirty="0">
                <a:solidFill>
                  <a:srgbClr val="000000"/>
                </a:solidFill>
                <a:latin typeface="Consolas"/>
              </a:rPr>
              <a:t>	}</a:t>
            </a:r>
          </a:p>
          <a:p>
            <a:pPr lvl="1"/>
            <a:r>
              <a:rPr lang="en-US" dirty="0">
                <a:solidFill>
                  <a:srgbClr val="000000"/>
                </a:solidFill>
                <a:latin typeface="Consolas"/>
              </a:rPr>
              <a:t>}</a:t>
            </a:r>
          </a:p>
          <a:p>
            <a:r>
              <a:rPr lang="en-US" dirty="0">
                <a:solidFill>
                  <a:srgbClr val="000000"/>
                </a:solidFill>
                <a:latin typeface="Consolas"/>
              </a:rPr>
              <a:t>}</a:t>
            </a:r>
          </a:p>
        </p:txBody>
      </p:sp>
      <p:sp>
        <p:nvSpPr>
          <p:cNvPr id="4" name="Rectangle 3">
            <a:extLst>
              <a:ext uri="{FF2B5EF4-FFF2-40B4-BE49-F238E27FC236}">
                <a16:creationId xmlns:a16="http://schemas.microsoft.com/office/drawing/2014/main" id="{0BCE7392-B3B7-2A88-E2CD-9225E85C3016}"/>
              </a:ext>
            </a:extLst>
          </p:cNvPr>
          <p:cNvSpPr/>
          <p:nvPr/>
        </p:nvSpPr>
        <p:spPr>
          <a:xfrm>
            <a:off x="228601" y="1037272"/>
            <a:ext cx="3947745" cy="3416320"/>
          </a:xfrm>
          <a:prstGeom prst="rect">
            <a:avLst/>
          </a:prstGeom>
          <a:ln w="19050">
            <a:solidFill>
              <a:schemeClr val="accent1"/>
            </a:solidFill>
            <a:prstDash val="dash"/>
          </a:ln>
        </p:spPr>
        <p:txBody>
          <a:bodyPr wrap="square">
            <a:spAutoFit/>
          </a:bodyPr>
          <a:lstStyle/>
          <a:p>
            <a:r>
              <a:rPr lang="en-US" dirty="0">
                <a:solidFill>
                  <a:srgbClr val="3F7F5F"/>
                </a:solidFill>
                <a:latin typeface="Consolas"/>
              </a:rPr>
              <a:t>// A Class that represents user-defined exception</a:t>
            </a:r>
            <a:endParaRPr lang="en-US" b="1" dirty="0">
              <a:solidFill>
                <a:srgbClr val="7F0055"/>
              </a:solidFill>
              <a:latin typeface="Consolas"/>
            </a:endParaRPr>
          </a:p>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MyException</a:t>
            </a:r>
            <a:r>
              <a:rPr lang="en-US" b="1" dirty="0">
                <a:solidFill>
                  <a:srgbClr val="000000"/>
                </a:solidFill>
                <a:latin typeface="Consolas"/>
              </a:rPr>
              <a:t> </a:t>
            </a:r>
          </a:p>
          <a:p>
            <a:r>
              <a:rPr lang="en-US" b="1" dirty="0">
                <a:solidFill>
                  <a:srgbClr val="000000"/>
                </a:solidFill>
                <a:latin typeface="Consolas"/>
              </a:rPr>
              <a:t>	</a:t>
            </a:r>
            <a:r>
              <a:rPr lang="en-US" b="1" dirty="0">
                <a:solidFill>
                  <a:srgbClr val="7F0055"/>
                </a:solidFill>
                <a:latin typeface="Consolas"/>
              </a:rPr>
              <a:t>extends</a:t>
            </a:r>
            <a:r>
              <a:rPr lang="en-US" b="1" dirty="0">
                <a:solidFill>
                  <a:srgbClr val="000000"/>
                </a:solidFill>
                <a:latin typeface="Consolas"/>
              </a:rPr>
              <a:t> Exception </a:t>
            </a:r>
          </a:p>
          <a:p>
            <a:r>
              <a:rPr lang="en-US" b="1" dirty="0">
                <a:solidFill>
                  <a:srgbClr val="000000"/>
                </a:solidFill>
                <a:latin typeface="Consolas"/>
              </a:rPr>
              <a:t>{</a:t>
            </a:r>
          </a:p>
          <a:p>
            <a:r>
              <a:rPr lang="en-US" b="1" dirty="0">
                <a:solidFill>
                  <a:srgbClr val="000000"/>
                </a:solidFill>
                <a:latin typeface="Consolas"/>
              </a:rPr>
              <a:t>  </a:t>
            </a:r>
            <a:r>
              <a:rPr lang="en-US" b="1" dirty="0">
                <a:solidFill>
                  <a:srgbClr val="7F0055"/>
                </a:solidFill>
                <a:latin typeface="Consolas"/>
              </a:rPr>
              <a:t>public</a:t>
            </a:r>
            <a:r>
              <a:rPr lang="en-US" b="1" dirty="0">
                <a:solidFill>
                  <a:srgbClr val="000000"/>
                </a:solidFill>
                <a:latin typeface="Consolas"/>
              </a:rPr>
              <a:t> </a:t>
            </a:r>
            <a:r>
              <a:rPr lang="en-US" b="1" dirty="0" err="1">
                <a:solidFill>
                  <a:srgbClr val="000000"/>
                </a:solidFill>
                <a:latin typeface="Consolas"/>
              </a:rPr>
              <a:t>MyException</a:t>
            </a:r>
            <a:r>
              <a:rPr lang="en-US" b="1" dirty="0">
                <a:solidFill>
                  <a:srgbClr val="000000"/>
                </a:solidFill>
                <a:latin typeface="Consolas"/>
              </a:rPr>
              <a:t>(String </a:t>
            </a:r>
            <a:r>
              <a:rPr lang="en-US" b="1" dirty="0">
                <a:solidFill>
                  <a:srgbClr val="6A3E3E"/>
                </a:solidFill>
                <a:latin typeface="Consolas"/>
              </a:rPr>
              <a:t>s</a:t>
            </a:r>
            <a:r>
              <a:rPr lang="en-US" b="1" dirty="0">
                <a:solidFill>
                  <a:srgbClr val="000000"/>
                </a:solidFill>
                <a:latin typeface="Consolas"/>
              </a:rPr>
              <a:t>)</a:t>
            </a:r>
          </a:p>
          <a:p>
            <a:r>
              <a:rPr lang="en-US" b="1" dirty="0">
                <a:solidFill>
                  <a:srgbClr val="000000"/>
                </a:solidFill>
                <a:latin typeface="Consolas"/>
              </a:rPr>
              <a:t>  {</a:t>
            </a:r>
          </a:p>
          <a:p>
            <a:r>
              <a:rPr lang="en-IN" b="1" dirty="0">
                <a:solidFill>
                  <a:srgbClr val="000000"/>
                </a:solidFill>
                <a:latin typeface="Consolas"/>
              </a:rPr>
              <a:t>     </a:t>
            </a:r>
            <a:r>
              <a:rPr lang="en-US" dirty="0">
                <a:solidFill>
                  <a:srgbClr val="3F7F5F"/>
                </a:solidFill>
                <a:latin typeface="Consolas"/>
              </a:rPr>
              <a:t>// Call constructor of   	parent (Exception)</a:t>
            </a:r>
            <a:endParaRPr lang="en-US" b="1" dirty="0">
              <a:solidFill>
                <a:srgbClr val="000000"/>
              </a:solidFill>
              <a:latin typeface="Consolas"/>
            </a:endParaRPr>
          </a:p>
          <a:p>
            <a:pPr lvl="2"/>
            <a:r>
              <a:rPr lang="en-US" b="1" dirty="0">
                <a:solidFill>
                  <a:srgbClr val="7F0055"/>
                </a:solidFill>
                <a:latin typeface="Consolas"/>
              </a:rPr>
              <a:t>super</a:t>
            </a:r>
            <a:r>
              <a:rPr lang="en-US" b="1" dirty="0">
                <a:solidFill>
                  <a:srgbClr val="000000"/>
                </a:solidFill>
                <a:latin typeface="Consolas"/>
              </a:rPr>
              <a:t>(</a:t>
            </a:r>
            <a:r>
              <a:rPr lang="en-US" b="1" dirty="0">
                <a:solidFill>
                  <a:srgbClr val="6A3E3E"/>
                </a:solidFill>
                <a:latin typeface="Consolas"/>
              </a:rPr>
              <a:t>s</a:t>
            </a:r>
            <a:r>
              <a:rPr lang="en-US" b="1" dirty="0">
                <a:solidFill>
                  <a:srgbClr val="000000"/>
                </a:solidFill>
                <a:latin typeface="Consolas"/>
              </a:rPr>
              <a:t>);</a:t>
            </a:r>
          </a:p>
          <a:p>
            <a:r>
              <a:rPr lang="en-US" b="1" dirty="0">
                <a:solidFill>
                  <a:srgbClr val="000000"/>
                </a:solidFill>
                <a:latin typeface="Consolas"/>
              </a:rPr>
              <a:t>  </a:t>
            </a:r>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254406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bg/>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2" end="2"/>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1" end="11"/>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
                                            <p:txEl>
                                              <p:pRg st="12" end="12"/>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
                                            <p:txEl>
                                              <p:pRg st="13" end="13"/>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
                                            <p:txEl>
                                              <p:pRg st="14" end="14"/>
                                            </p:tx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
                                            <p:txEl>
                                              <p:pRg st="15" end="15"/>
                                            </p:txEl>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
                                            <p:txEl>
                                              <p:pRg st="3" end="3"/>
                                            </p:txEl>
                                          </p:spTgt>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
                                            <p:txEl>
                                              <p:pRg st="6" end="6"/>
                                            </p:tx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
                                            <p:txEl>
                                              <p:pRg st="7" end="7"/>
                                            </p:tx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
                                            <p:txEl>
                                              <p:pRg st="8" end="8"/>
                                            </p:txEl>
                                          </p:spTgt>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P spid="4" grpId="0" build="p" bldLvl="5"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5B0A1-1A4B-B9D4-2A00-B05BB3EEB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D9B97-9EB3-9928-D95C-975CB9005012}"/>
              </a:ext>
            </a:extLst>
          </p:cNvPr>
          <p:cNvSpPr>
            <a:spLocks noGrp="1"/>
          </p:cNvSpPr>
          <p:nvPr>
            <p:ph type="title"/>
          </p:nvPr>
        </p:nvSpPr>
        <p:spPr>
          <a:xfrm>
            <a:off x="0" y="1"/>
            <a:ext cx="12192000" cy="711200"/>
          </a:xfrm>
        </p:spPr>
        <p:txBody>
          <a:bodyPr/>
          <a:lstStyle/>
          <a:p>
            <a:r>
              <a:rPr lang="en-US" dirty="0"/>
              <a:t>File class</a:t>
            </a:r>
          </a:p>
        </p:txBody>
      </p:sp>
      <p:sp>
        <p:nvSpPr>
          <p:cNvPr id="3" name="Content Placeholder 2">
            <a:extLst>
              <a:ext uri="{FF2B5EF4-FFF2-40B4-BE49-F238E27FC236}">
                <a16:creationId xmlns:a16="http://schemas.microsoft.com/office/drawing/2014/main" id="{69F41208-56EA-E385-6570-FFA7D364AE14}"/>
              </a:ext>
            </a:extLst>
          </p:cNvPr>
          <p:cNvSpPr>
            <a:spLocks noGrp="1"/>
          </p:cNvSpPr>
          <p:nvPr>
            <p:ph idx="1"/>
          </p:nvPr>
        </p:nvSpPr>
        <p:spPr>
          <a:xfrm>
            <a:off x="131180" y="863444"/>
            <a:ext cx="11929641" cy="5590565"/>
          </a:xfrm>
        </p:spPr>
        <p:txBody>
          <a:bodyPr/>
          <a:lstStyle/>
          <a:p>
            <a:r>
              <a:rPr lang="en-US" dirty="0"/>
              <a:t>Java </a:t>
            </a:r>
            <a:r>
              <a:rPr lang="en-US" b="1" dirty="0">
                <a:solidFill>
                  <a:srgbClr val="C00000"/>
                </a:solidFill>
                <a:latin typeface="Consolas" panose="020B0609020204030204" pitchFamily="49" charset="0"/>
                <a:ea typeface="Cambria" pitchFamily="18" charset="0"/>
              </a:rPr>
              <a:t>File</a:t>
            </a:r>
            <a:r>
              <a:rPr lang="en-US" dirty="0">
                <a:solidFill>
                  <a:srgbClr val="C00000"/>
                </a:solidFill>
              </a:rPr>
              <a:t> </a:t>
            </a:r>
            <a:r>
              <a:rPr lang="en-US" dirty="0"/>
              <a:t>class represents the files and directory pathnames in an </a:t>
            </a:r>
            <a:r>
              <a:rPr lang="en-US" b="1" dirty="0">
                <a:solidFill>
                  <a:srgbClr val="B71B1C"/>
                </a:solidFill>
              </a:rPr>
              <a:t>abstract manner</a:t>
            </a:r>
            <a:r>
              <a:rPr lang="en-US" dirty="0"/>
              <a:t>. This class is used for </a:t>
            </a:r>
            <a:r>
              <a:rPr lang="en-US" b="1" dirty="0">
                <a:solidFill>
                  <a:srgbClr val="B71B1C"/>
                </a:solidFill>
              </a:rPr>
              <a:t>creation of</a:t>
            </a:r>
            <a:r>
              <a:rPr lang="en-US" dirty="0">
                <a:solidFill>
                  <a:srgbClr val="B71B1C"/>
                </a:solidFill>
              </a:rPr>
              <a:t> </a:t>
            </a:r>
            <a:r>
              <a:rPr lang="en-US" b="1" dirty="0">
                <a:solidFill>
                  <a:srgbClr val="B71B1C"/>
                </a:solidFill>
              </a:rPr>
              <a:t>files</a:t>
            </a:r>
            <a:r>
              <a:rPr lang="en-US" dirty="0">
                <a:solidFill>
                  <a:srgbClr val="B71B1C"/>
                </a:solidFill>
              </a:rPr>
              <a:t> </a:t>
            </a:r>
            <a:r>
              <a:rPr lang="en-US" dirty="0"/>
              <a:t>and </a:t>
            </a:r>
            <a:r>
              <a:rPr lang="en-US" b="1" dirty="0">
                <a:solidFill>
                  <a:srgbClr val="B71B1C"/>
                </a:solidFill>
              </a:rPr>
              <a:t>directories</a:t>
            </a:r>
            <a:r>
              <a:rPr lang="en-US" dirty="0">
                <a:solidFill>
                  <a:srgbClr val="B71B1C"/>
                </a:solidFill>
              </a:rPr>
              <a:t>, </a:t>
            </a:r>
            <a:r>
              <a:rPr lang="en-US" b="1" dirty="0">
                <a:solidFill>
                  <a:srgbClr val="B71B1C"/>
                </a:solidFill>
              </a:rPr>
              <a:t>file searching</a:t>
            </a:r>
            <a:r>
              <a:rPr lang="en-US" dirty="0">
                <a:solidFill>
                  <a:srgbClr val="B71B1C"/>
                </a:solidFill>
              </a:rPr>
              <a:t>, </a:t>
            </a:r>
            <a:r>
              <a:rPr lang="en-US" b="1" dirty="0">
                <a:solidFill>
                  <a:srgbClr val="B71B1C"/>
                </a:solidFill>
              </a:rPr>
              <a:t>file deletion </a:t>
            </a:r>
            <a:r>
              <a:rPr lang="en-US" dirty="0"/>
              <a:t>etc.</a:t>
            </a:r>
          </a:p>
          <a:p>
            <a:r>
              <a:rPr lang="en-US" dirty="0"/>
              <a:t>The File object represents the actual file/directory on the disk. Below given is the list of constructors to create a File object.</a:t>
            </a:r>
          </a:p>
          <a:p>
            <a:r>
              <a:rPr lang="en-US" dirty="0"/>
              <a:t>Constructors :</a:t>
            </a:r>
          </a:p>
        </p:txBody>
      </p:sp>
      <p:graphicFrame>
        <p:nvGraphicFramePr>
          <p:cNvPr id="4" name="Table 3">
            <a:extLst>
              <a:ext uri="{FF2B5EF4-FFF2-40B4-BE49-F238E27FC236}">
                <a16:creationId xmlns:a16="http://schemas.microsoft.com/office/drawing/2014/main" id="{DC921F25-4D39-2E20-EBCF-85F32F3EF5E3}"/>
              </a:ext>
            </a:extLst>
          </p:cNvPr>
          <p:cNvGraphicFramePr>
            <a:graphicFrameLocks noGrp="1"/>
          </p:cNvGraphicFramePr>
          <p:nvPr>
            <p:extLst>
              <p:ext uri="{D42A27DB-BD31-4B8C-83A1-F6EECF244321}">
                <p14:modId xmlns:p14="http://schemas.microsoft.com/office/powerpoint/2010/main" val="3321202402"/>
              </p:ext>
            </p:extLst>
          </p:nvPr>
        </p:nvGraphicFramePr>
        <p:xfrm>
          <a:off x="518159" y="3216726"/>
          <a:ext cx="9573491" cy="2291080"/>
        </p:xfrm>
        <a:graphic>
          <a:graphicData uri="http://schemas.openxmlformats.org/drawingml/2006/table">
            <a:tbl>
              <a:tblPr firstRow="1">
                <a:tableStyleId>{00A15C55-8517-42AA-B614-E9B94910E393}</a:tableStyleId>
              </a:tblPr>
              <a:tblGrid>
                <a:gridCol w="644369">
                  <a:extLst>
                    <a:ext uri="{9D8B030D-6E8A-4147-A177-3AD203B41FA5}">
                      <a16:colId xmlns:a16="http://schemas.microsoft.com/office/drawing/2014/main" val="20000"/>
                    </a:ext>
                  </a:extLst>
                </a:gridCol>
                <a:gridCol w="8929122">
                  <a:extLst>
                    <a:ext uri="{9D8B030D-6E8A-4147-A177-3AD203B41FA5}">
                      <a16:colId xmlns:a16="http://schemas.microsoft.com/office/drawing/2014/main" val="20001"/>
                    </a:ext>
                  </a:extLst>
                </a:gridCol>
              </a:tblGrid>
              <a:tr h="370840">
                <a:tc>
                  <a:txBody>
                    <a:bodyPr/>
                    <a:lstStyle/>
                    <a:p>
                      <a:pPr algn="ctr"/>
                      <a:r>
                        <a:rPr lang="en-US" dirty="0"/>
                        <a:t>Sr.</a:t>
                      </a:r>
                    </a:p>
                  </a:txBody>
                  <a:tcPr/>
                </a:tc>
                <a:tc>
                  <a:txBody>
                    <a:bodyPr/>
                    <a:lstStyle/>
                    <a:p>
                      <a:r>
                        <a:rPr lang="en-US" dirty="0"/>
                        <a:t>Constructor</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r>
                        <a:rPr lang="en-US" dirty="0"/>
                        <a:t>File(String pathname) </a:t>
                      </a:r>
                    </a:p>
                    <a:p>
                      <a:r>
                        <a:rPr lang="en-US" dirty="0"/>
                        <a:t>Creates a new File instance by converting the given pathname string into an abstract pathname.</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r>
                        <a:rPr lang="en-US" dirty="0"/>
                        <a:t>File(String parent, String child) </a:t>
                      </a:r>
                    </a:p>
                    <a:p>
                      <a:r>
                        <a:rPr lang="en-US" dirty="0"/>
                        <a:t>Creates a new File instance from a parent pathname string and a child pathname string.</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r>
                        <a:rPr lang="en-US" dirty="0"/>
                        <a:t>File(URI </a:t>
                      </a:r>
                      <a:r>
                        <a:rPr lang="en-US" dirty="0" err="1"/>
                        <a:t>uri</a:t>
                      </a:r>
                      <a:r>
                        <a:rPr lang="en-US" dirty="0"/>
                        <a:t>)</a:t>
                      </a:r>
                    </a:p>
                    <a:p>
                      <a:r>
                        <a:rPr lang="en-US" dirty="0"/>
                        <a:t>Creates a new File instance by converting the given file: URI into an abstract pathname.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39231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AF8A4-6667-A2C9-E861-9EC08E329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CFA2B-9FD8-9B30-A45A-9129432417F9}"/>
              </a:ext>
            </a:extLst>
          </p:cNvPr>
          <p:cNvSpPr>
            <a:spLocks noGrp="1"/>
          </p:cNvSpPr>
          <p:nvPr>
            <p:ph type="title"/>
          </p:nvPr>
        </p:nvSpPr>
        <p:spPr>
          <a:xfrm>
            <a:off x="0" y="1"/>
            <a:ext cx="12192000" cy="711200"/>
          </a:xfrm>
        </p:spPr>
        <p:txBody>
          <a:bodyPr/>
          <a:lstStyle/>
          <a:p>
            <a:r>
              <a:rPr lang="en-US" dirty="0"/>
              <a:t>Methods of File Class</a:t>
            </a:r>
          </a:p>
        </p:txBody>
      </p:sp>
      <p:graphicFrame>
        <p:nvGraphicFramePr>
          <p:cNvPr id="3" name="Content Placeholder 5">
            <a:extLst>
              <a:ext uri="{FF2B5EF4-FFF2-40B4-BE49-F238E27FC236}">
                <a16:creationId xmlns:a16="http://schemas.microsoft.com/office/drawing/2014/main" id="{03CF7C31-C7CD-3954-67DB-3E83D57FA03A}"/>
              </a:ext>
            </a:extLst>
          </p:cNvPr>
          <p:cNvGraphicFramePr>
            <a:graphicFrameLocks noGrp="1"/>
          </p:cNvGraphicFramePr>
          <p:nvPr>
            <p:ph idx="1"/>
          </p:nvPr>
        </p:nvGraphicFramePr>
        <p:xfrm>
          <a:off x="190499" y="990600"/>
          <a:ext cx="11555385" cy="4668520"/>
        </p:xfrm>
        <a:graphic>
          <a:graphicData uri="http://schemas.openxmlformats.org/drawingml/2006/table">
            <a:tbl>
              <a:tblPr firstRow="1">
                <a:tableStyleId>{00A15C55-8517-42AA-B614-E9B94910E393}</a:tableStyleId>
              </a:tblPr>
              <a:tblGrid>
                <a:gridCol w="552648">
                  <a:extLst>
                    <a:ext uri="{9D8B030D-6E8A-4147-A177-3AD203B41FA5}">
                      <a16:colId xmlns:a16="http://schemas.microsoft.com/office/drawing/2014/main" val="20000"/>
                    </a:ext>
                  </a:extLst>
                </a:gridCol>
                <a:gridCol w="11002737">
                  <a:extLst>
                    <a:ext uri="{9D8B030D-6E8A-4147-A177-3AD203B41FA5}">
                      <a16:colId xmlns:a16="http://schemas.microsoft.com/office/drawing/2014/main" val="20001"/>
                    </a:ext>
                  </a:extLst>
                </a:gridCol>
              </a:tblGrid>
              <a:tr h="370840">
                <a:tc>
                  <a:txBody>
                    <a:bodyPr/>
                    <a:lstStyle/>
                    <a:p>
                      <a:pPr algn="ctr"/>
                      <a:r>
                        <a:rPr lang="en-US" dirty="0"/>
                        <a:t>Sr.</a:t>
                      </a:r>
                    </a:p>
                  </a:txBody>
                  <a:tcPr/>
                </a:tc>
                <a:tc>
                  <a:txBody>
                    <a:bodyPr/>
                    <a:lstStyle/>
                    <a:p>
                      <a:r>
                        <a:rPr lang="en-US" dirty="0"/>
                        <a:t>Method</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r>
                        <a:rPr lang="en-US" dirty="0"/>
                        <a:t>public </a:t>
                      </a:r>
                      <a:r>
                        <a:rPr lang="en-US" dirty="0" err="1"/>
                        <a:t>boolean</a:t>
                      </a:r>
                      <a:r>
                        <a:rPr lang="en-US" dirty="0"/>
                        <a:t> </a:t>
                      </a:r>
                      <a:r>
                        <a:rPr lang="en-US" dirty="0" err="1"/>
                        <a:t>isAbsolute</a:t>
                      </a:r>
                      <a:r>
                        <a:rPr lang="en-US" dirty="0"/>
                        <a:t>() </a:t>
                      </a:r>
                    </a:p>
                    <a:p>
                      <a:r>
                        <a:rPr lang="en-US" dirty="0"/>
                        <a:t>Tests whether this abstract pathname is absolute. Returns true if this abstract pathname is absolute, false otherwise</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r>
                        <a:rPr lang="en-US" dirty="0"/>
                        <a:t>public String </a:t>
                      </a:r>
                      <a:r>
                        <a:rPr lang="en-US" dirty="0" err="1"/>
                        <a:t>getAbsolutePath</a:t>
                      </a:r>
                      <a:r>
                        <a:rPr lang="en-US" dirty="0"/>
                        <a:t>() </a:t>
                      </a:r>
                    </a:p>
                    <a:p>
                      <a:r>
                        <a:rPr lang="en-US" dirty="0"/>
                        <a:t>Returns the absolute pathname string of this abstract pathname.</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r>
                        <a:rPr lang="en-US" dirty="0"/>
                        <a:t>public </a:t>
                      </a:r>
                      <a:r>
                        <a:rPr lang="en-US" dirty="0" err="1"/>
                        <a:t>boolean</a:t>
                      </a:r>
                      <a:r>
                        <a:rPr lang="en-US" dirty="0"/>
                        <a:t> </a:t>
                      </a:r>
                      <a:r>
                        <a:rPr lang="en-US" dirty="0" err="1"/>
                        <a:t>canRead</a:t>
                      </a:r>
                      <a:r>
                        <a:rPr lang="en-US" dirty="0"/>
                        <a:t>() </a:t>
                      </a:r>
                    </a:p>
                    <a:p>
                      <a:r>
                        <a:rPr lang="en-US" dirty="0"/>
                        <a:t>Tests whether the application can read the file denoted by this abstract pathname. Returns true if and only if the file specified by this abstract pathname exists and can be read by the application; false otherwise.</a:t>
                      </a:r>
                    </a:p>
                  </a:txBody>
                  <a:tcPr/>
                </a:tc>
                <a:extLst>
                  <a:ext uri="{0D108BD9-81ED-4DB2-BD59-A6C34878D82A}">
                    <a16:rowId xmlns:a16="http://schemas.microsoft.com/office/drawing/2014/main" val="10003"/>
                  </a:ext>
                </a:extLst>
              </a:tr>
              <a:tr h="370840">
                <a:tc>
                  <a:txBody>
                    <a:bodyPr/>
                    <a:lstStyle/>
                    <a:p>
                      <a:pPr algn="ctr"/>
                      <a:r>
                        <a:rPr lang="en-US" dirty="0"/>
                        <a:t>4</a:t>
                      </a:r>
                    </a:p>
                  </a:txBody>
                  <a:tcPr/>
                </a:tc>
                <a:tc>
                  <a:txBody>
                    <a:bodyPr/>
                    <a:lstStyle/>
                    <a:p>
                      <a:r>
                        <a:rPr lang="en-US" dirty="0"/>
                        <a:t>public </a:t>
                      </a:r>
                      <a:r>
                        <a:rPr lang="en-US" dirty="0" err="1"/>
                        <a:t>boolean</a:t>
                      </a:r>
                      <a:r>
                        <a:rPr lang="en-US" dirty="0"/>
                        <a:t> </a:t>
                      </a:r>
                      <a:r>
                        <a:rPr lang="en-US" dirty="0" err="1"/>
                        <a:t>canWrite</a:t>
                      </a:r>
                      <a:r>
                        <a:rPr lang="en-US" dirty="0"/>
                        <a:t>() </a:t>
                      </a:r>
                    </a:p>
                    <a:p>
                      <a:r>
                        <a:rPr lang="en-US" dirty="0"/>
                        <a:t>Tests whether the application can modify to the file denoted by this abstract pathname. Returns true if and only if the file system actually contains a file denoted by this abstract pathname and the application is allowed to write to the file; false otherwise.</a:t>
                      </a:r>
                    </a:p>
                  </a:txBody>
                  <a:tcPr/>
                </a:tc>
                <a:extLst>
                  <a:ext uri="{0D108BD9-81ED-4DB2-BD59-A6C34878D82A}">
                    <a16:rowId xmlns:a16="http://schemas.microsoft.com/office/drawing/2014/main" val="10004"/>
                  </a:ext>
                </a:extLst>
              </a:tr>
              <a:tr h="370840">
                <a:tc>
                  <a:txBody>
                    <a:bodyPr/>
                    <a:lstStyle/>
                    <a:p>
                      <a:pPr algn="ctr"/>
                      <a:r>
                        <a:rPr lang="en-US" dirty="0"/>
                        <a:t>5</a:t>
                      </a:r>
                    </a:p>
                  </a:txBody>
                  <a:tcPr/>
                </a:tc>
                <a:tc>
                  <a:txBody>
                    <a:bodyPr/>
                    <a:lstStyle/>
                    <a:p>
                      <a:r>
                        <a:rPr lang="en-US" dirty="0"/>
                        <a:t>public </a:t>
                      </a:r>
                      <a:r>
                        <a:rPr lang="en-US" dirty="0" err="1"/>
                        <a:t>boolean</a:t>
                      </a:r>
                      <a:r>
                        <a:rPr lang="en-US" dirty="0"/>
                        <a:t> exists() </a:t>
                      </a:r>
                    </a:p>
                    <a:p>
                      <a:r>
                        <a:rPr lang="en-US" dirty="0"/>
                        <a:t>Tests whether the file or directory denoted by this abstract pathname exists. Returns true if and only if the file or directory denoted by this abstract pathname exists; false otherwise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04085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9657E-6F16-ECB4-7DD1-8635FA8CC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EE05C-EF21-A887-1D53-55DE2646D29D}"/>
              </a:ext>
            </a:extLst>
          </p:cNvPr>
          <p:cNvSpPr>
            <a:spLocks noGrp="1"/>
          </p:cNvSpPr>
          <p:nvPr>
            <p:ph type="title"/>
          </p:nvPr>
        </p:nvSpPr>
        <p:spPr>
          <a:xfrm>
            <a:off x="0" y="1"/>
            <a:ext cx="12192000" cy="711200"/>
          </a:xfrm>
        </p:spPr>
        <p:txBody>
          <a:bodyPr/>
          <a:lstStyle/>
          <a:p>
            <a:r>
              <a:rPr lang="en-US" dirty="0"/>
              <a:t>Methods of File Class (Cont.)</a:t>
            </a:r>
          </a:p>
        </p:txBody>
      </p:sp>
      <p:graphicFrame>
        <p:nvGraphicFramePr>
          <p:cNvPr id="3" name="Content Placeholder 4">
            <a:extLst>
              <a:ext uri="{FF2B5EF4-FFF2-40B4-BE49-F238E27FC236}">
                <a16:creationId xmlns:a16="http://schemas.microsoft.com/office/drawing/2014/main" id="{4A3AB6E6-83DE-C59E-8511-26F75C343A7C}"/>
              </a:ext>
            </a:extLst>
          </p:cNvPr>
          <p:cNvGraphicFramePr>
            <a:graphicFrameLocks noGrp="1"/>
          </p:cNvGraphicFramePr>
          <p:nvPr>
            <p:ph idx="1"/>
          </p:nvPr>
        </p:nvGraphicFramePr>
        <p:xfrm>
          <a:off x="190499" y="990600"/>
          <a:ext cx="11522133" cy="4495800"/>
        </p:xfrm>
        <a:graphic>
          <a:graphicData uri="http://schemas.openxmlformats.org/drawingml/2006/table">
            <a:tbl>
              <a:tblPr firstRow="1">
                <a:tableStyleId>{00A15C55-8517-42AA-B614-E9B94910E393}</a:tableStyleId>
              </a:tblPr>
              <a:tblGrid>
                <a:gridCol w="651251">
                  <a:extLst>
                    <a:ext uri="{9D8B030D-6E8A-4147-A177-3AD203B41FA5}">
                      <a16:colId xmlns:a16="http://schemas.microsoft.com/office/drawing/2014/main" val="20000"/>
                    </a:ext>
                  </a:extLst>
                </a:gridCol>
                <a:gridCol w="10870882">
                  <a:extLst>
                    <a:ext uri="{9D8B030D-6E8A-4147-A177-3AD203B41FA5}">
                      <a16:colId xmlns:a16="http://schemas.microsoft.com/office/drawing/2014/main" val="20001"/>
                    </a:ext>
                  </a:extLst>
                </a:gridCol>
              </a:tblGrid>
              <a:tr h="370840">
                <a:tc>
                  <a:txBody>
                    <a:bodyPr/>
                    <a:lstStyle/>
                    <a:p>
                      <a:pPr algn="ctr"/>
                      <a:r>
                        <a:rPr lang="en-US" dirty="0"/>
                        <a:t>Sr.</a:t>
                      </a:r>
                    </a:p>
                  </a:txBody>
                  <a:tcPr/>
                </a:tc>
                <a:tc>
                  <a:txBody>
                    <a:bodyPr/>
                    <a:lstStyle/>
                    <a:p>
                      <a:r>
                        <a:rPr lang="en-US" dirty="0"/>
                        <a:t>Method</a:t>
                      </a:r>
                    </a:p>
                  </a:txBody>
                  <a:tcPr/>
                </a:tc>
                <a:extLst>
                  <a:ext uri="{0D108BD9-81ED-4DB2-BD59-A6C34878D82A}">
                    <a16:rowId xmlns:a16="http://schemas.microsoft.com/office/drawing/2014/main" val="10000"/>
                  </a:ext>
                </a:extLst>
              </a:tr>
              <a:tr h="370840">
                <a:tc>
                  <a:txBody>
                    <a:bodyPr/>
                    <a:lstStyle/>
                    <a:p>
                      <a:pPr algn="ctr"/>
                      <a:r>
                        <a:rPr lang="en-US" dirty="0"/>
                        <a:t>6</a:t>
                      </a:r>
                    </a:p>
                  </a:txBody>
                  <a:tcPr/>
                </a:tc>
                <a:tc>
                  <a:txBody>
                    <a:bodyPr/>
                    <a:lstStyle/>
                    <a:p>
                      <a:r>
                        <a:rPr lang="en-US" dirty="0"/>
                        <a:t>public </a:t>
                      </a:r>
                      <a:r>
                        <a:rPr lang="en-US" dirty="0" err="1"/>
                        <a:t>boolean</a:t>
                      </a:r>
                      <a:r>
                        <a:rPr lang="en-US" dirty="0"/>
                        <a:t> </a:t>
                      </a:r>
                      <a:r>
                        <a:rPr lang="en-US" dirty="0" err="1"/>
                        <a:t>isDirectory</a:t>
                      </a:r>
                      <a:r>
                        <a:rPr lang="en-US" dirty="0"/>
                        <a:t>() </a:t>
                      </a:r>
                    </a:p>
                    <a:p>
                      <a:r>
                        <a:rPr lang="en-US" dirty="0"/>
                        <a:t>Tests whether the file denoted by this abstract pathname is a directory. Returns true if and only if the file denoted by this abstract pathname exists and is a directory; false otherwise.</a:t>
                      </a:r>
                    </a:p>
                  </a:txBody>
                  <a:tcPr/>
                </a:tc>
                <a:extLst>
                  <a:ext uri="{0D108BD9-81ED-4DB2-BD59-A6C34878D82A}">
                    <a16:rowId xmlns:a16="http://schemas.microsoft.com/office/drawing/2014/main" val="10001"/>
                  </a:ext>
                </a:extLst>
              </a:tr>
              <a:tr h="370840">
                <a:tc>
                  <a:txBody>
                    <a:bodyPr/>
                    <a:lstStyle/>
                    <a:p>
                      <a:pPr algn="ctr"/>
                      <a:r>
                        <a:rPr lang="en-US" dirty="0"/>
                        <a:t>7</a:t>
                      </a:r>
                    </a:p>
                  </a:txBody>
                  <a:tcPr/>
                </a:tc>
                <a:tc>
                  <a:txBody>
                    <a:bodyPr/>
                    <a:lstStyle/>
                    <a:p>
                      <a:r>
                        <a:rPr lang="en-US" dirty="0"/>
                        <a:t>public </a:t>
                      </a:r>
                      <a:r>
                        <a:rPr lang="en-US" dirty="0" err="1"/>
                        <a:t>boolean</a:t>
                      </a:r>
                      <a:r>
                        <a:rPr lang="en-US" dirty="0"/>
                        <a:t> </a:t>
                      </a:r>
                      <a:r>
                        <a:rPr lang="en-US" dirty="0" err="1"/>
                        <a:t>isFile</a:t>
                      </a:r>
                      <a:r>
                        <a:rPr lang="en-US" dirty="0"/>
                        <a:t>()</a:t>
                      </a:r>
                    </a:p>
                    <a:p>
                      <a:r>
                        <a:rPr lang="en-US" dirty="0"/>
                        <a:t>Tests whether the file denoted by this abstract pathname is a normal file. A file is normal if it is not a directory and, in addition, satisfies other system-dependent criteria</a:t>
                      </a:r>
                    </a:p>
                  </a:txBody>
                  <a:tcPr/>
                </a:tc>
                <a:extLst>
                  <a:ext uri="{0D108BD9-81ED-4DB2-BD59-A6C34878D82A}">
                    <a16:rowId xmlns:a16="http://schemas.microsoft.com/office/drawing/2014/main" val="10002"/>
                  </a:ext>
                </a:extLst>
              </a:tr>
              <a:tr h="370840">
                <a:tc>
                  <a:txBody>
                    <a:bodyPr/>
                    <a:lstStyle/>
                    <a:p>
                      <a:pPr algn="ctr"/>
                      <a:r>
                        <a:rPr lang="en-US" dirty="0"/>
                        <a:t>8</a:t>
                      </a:r>
                    </a:p>
                  </a:txBody>
                  <a:tcPr/>
                </a:tc>
                <a:tc>
                  <a:txBody>
                    <a:bodyPr/>
                    <a:lstStyle/>
                    <a:p>
                      <a:r>
                        <a:rPr lang="en-US" dirty="0"/>
                        <a:t>public long </a:t>
                      </a:r>
                      <a:r>
                        <a:rPr lang="en-US" dirty="0" err="1"/>
                        <a:t>lastModified</a:t>
                      </a:r>
                      <a:r>
                        <a:rPr lang="en-US" dirty="0"/>
                        <a:t>() </a:t>
                      </a:r>
                    </a:p>
                    <a:p>
                      <a:r>
                        <a:rPr lang="en-US" dirty="0"/>
                        <a:t>Returns the time that the file denoted by this abstract pathname was last modified. Returns a long value representing the time the file was last modified, measured in milliseconds since the epoch (00:00:00 GMT, January 1, 1970).</a:t>
                      </a:r>
                    </a:p>
                  </a:txBody>
                  <a:tcPr/>
                </a:tc>
                <a:extLst>
                  <a:ext uri="{0D108BD9-81ED-4DB2-BD59-A6C34878D82A}">
                    <a16:rowId xmlns:a16="http://schemas.microsoft.com/office/drawing/2014/main" val="10003"/>
                  </a:ext>
                </a:extLst>
              </a:tr>
              <a:tr h="370840">
                <a:tc>
                  <a:txBody>
                    <a:bodyPr/>
                    <a:lstStyle/>
                    <a:p>
                      <a:pPr algn="ctr"/>
                      <a:r>
                        <a:rPr lang="en-US" dirty="0"/>
                        <a:t>9</a:t>
                      </a:r>
                    </a:p>
                  </a:txBody>
                  <a:tcPr/>
                </a:tc>
                <a:tc>
                  <a:txBody>
                    <a:bodyPr/>
                    <a:lstStyle/>
                    <a:p>
                      <a:r>
                        <a:rPr lang="en-US" dirty="0"/>
                        <a:t>public long length() Returns the length of the file denoted by this abstract pathname.</a:t>
                      </a:r>
                    </a:p>
                  </a:txBody>
                  <a:tcPr/>
                </a:tc>
                <a:extLst>
                  <a:ext uri="{0D108BD9-81ED-4DB2-BD59-A6C34878D82A}">
                    <a16:rowId xmlns:a16="http://schemas.microsoft.com/office/drawing/2014/main" val="10004"/>
                  </a:ext>
                </a:extLst>
              </a:tr>
              <a:tr h="370840">
                <a:tc>
                  <a:txBody>
                    <a:bodyPr/>
                    <a:lstStyle/>
                    <a:p>
                      <a:pPr algn="ctr"/>
                      <a:r>
                        <a:rPr lang="en-US" dirty="0"/>
                        <a:t>10</a:t>
                      </a:r>
                    </a:p>
                  </a:txBody>
                  <a:tcPr/>
                </a:tc>
                <a:tc>
                  <a:txBody>
                    <a:bodyPr/>
                    <a:lstStyle/>
                    <a:p>
                      <a:r>
                        <a:rPr lang="en-US" dirty="0"/>
                        <a:t>public </a:t>
                      </a:r>
                      <a:r>
                        <a:rPr lang="en-US" dirty="0" err="1"/>
                        <a:t>boolean</a:t>
                      </a:r>
                      <a:r>
                        <a:rPr lang="en-US" dirty="0"/>
                        <a:t> delete() Deletes the file or directory.</a:t>
                      </a:r>
                    </a:p>
                  </a:txBody>
                  <a:tcPr/>
                </a:tc>
                <a:extLst>
                  <a:ext uri="{0D108BD9-81ED-4DB2-BD59-A6C34878D82A}">
                    <a16:rowId xmlns:a16="http://schemas.microsoft.com/office/drawing/2014/main" val="10005"/>
                  </a:ext>
                </a:extLst>
              </a:tr>
              <a:tr h="370840">
                <a:tc>
                  <a:txBody>
                    <a:bodyPr/>
                    <a:lstStyle/>
                    <a:p>
                      <a:pPr algn="ctr"/>
                      <a:r>
                        <a:rPr lang="en-US" dirty="0"/>
                        <a:t>11</a:t>
                      </a:r>
                    </a:p>
                  </a:txBody>
                  <a:tcPr/>
                </a:tc>
                <a:tc>
                  <a:txBody>
                    <a:bodyPr/>
                    <a:lstStyle/>
                    <a:p>
                      <a:r>
                        <a:rPr lang="en-US" dirty="0"/>
                        <a:t>public String[] list() </a:t>
                      </a:r>
                    </a:p>
                    <a:p>
                      <a:r>
                        <a:rPr lang="en-US" dirty="0"/>
                        <a:t>Returns an array of strings naming the files and directories in the directory denoted by this abstract pathname.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42070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FEDBA-32A0-3D32-A044-F6119311C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09260-01F5-3B26-17FD-C90BFB3787AE}"/>
              </a:ext>
            </a:extLst>
          </p:cNvPr>
          <p:cNvSpPr>
            <a:spLocks noGrp="1"/>
          </p:cNvSpPr>
          <p:nvPr>
            <p:ph type="title"/>
          </p:nvPr>
        </p:nvSpPr>
        <p:spPr>
          <a:xfrm>
            <a:off x="0" y="1"/>
            <a:ext cx="12192000" cy="711200"/>
          </a:xfrm>
        </p:spPr>
        <p:txBody>
          <a:bodyPr/>
          <a:lstStyle/>
          <a:p>
            <a:r>
              <a:rPr lang="en-US" dirty="0"/>
              <a:t>Java’s Inbuilt Unchecked Exceptions</a:t>
            </a:r>
          </a:p>
        </p:txBody>
      </p:sp>
      <p:graphicFrame>
        <p:nvGraphicFramePr>
          <p:cNvPr id="3" name="Content Placeholder 4">
            <a:extLst>
              <a:ext uri="{FF2B5EF4-FFF2-40B4-BE49-F238E27FC236}">
                <a16:creationId xmlns:a16="http://schemas.microsoft.com/office/drawing/2014/main" id="{534D7966-5160-473E-2195-EB0BD0BE5309}"/>
              </a:ext>
            </a:extLst>
          </p:cNvPr>
          <p:cNvGraphicFramePr>
            <a:graphicFrameLocks noGrp="1"/>
          </p:cNvGraphicFramePr>
          <p:nvPr>
            <p:ph idx="1"/>
            <p:extLst>
              <p:ext uri="{D42A27DB-BD31-4B8C-83A1-F6EECF244321}">
                <p14:modId xmlns:p14="http://schemas.microsoft.com/office/powerpoint/2010/main" val="4239088189"/>
              </p:ext>
            </p:extLst>
          </p:nvPr>
        </p:nvGraphicFramePr>
        <p:xfrm>
          <a:off x="349133" y="1059873"/>
          <a:ext cx="9942023" cy="4079240"/>
        </p:xfrm>
        <a:graphic>
          <a:graphicData uri="http://schemas.openxmlformats.org/drawingml/2006/table">
            <a:tbl>
              <a:tblPr firstRow="1" bandRow="1">
                <a:tableStyleId>{00A15C55-8517-42AA-B614-E9B94910E393}</a:tableStyleId>
              </a:tblPr>
              <a:tblGrid>
                <a:gridCol w="2468712">
                  <a:extLst>
                    <a:ext uri="{9D8B030D-6E8A-4147-A177-3AD203B41FA5}">
                      <a16:colId xmlns:a16="http://schemas.microsoft.com/office/drawing/2014/main" val="20000"/>
                    </a:ext>
                  </a:extLst>
                </a:gridCol>
                <a:gridCol w="7473311">
                  <a:extLst>
                    <a:ext uri="{9D8B030D-6E8A-4147-A177-3AD203B41FA5}">
                      <a16:colId xmlns:a16="http://schemas.microsoft.com/office/drawing/2014/main" val="20001"/>
                    </a:ext>
                  </a:extLst>
                </a:gridCol>
              </a:tblGrid>
              <a:tr h="370840">
                <a:tc>
                  <a:txBody>
                    <a:bodyPr/>
                    <a:lstStyle/>
                    <a:p>
                      <a:r>
                        <a:rPr lang="en-US" sz="1800" kern="1200" baseline="0" dirty="0"/>
                        <a:t>Exception</a:t>
                      </a:r>
                      <a:endParaRPr lang="en-US" dirty="0"/>
                    </a:p>
                  </a:txBody>
                  <a:tcPr/>
                </a:tc>
                <a:tc>
                  <a:txBody>
                    <a:bodyPr/>
                    <a:lstStyle/>
                    <a:p>
                      <a:r>
                        <a:rPr lang="en-US" sz="1800" kern="1200" baseline="0" dirty="0"/>
                        <a:t>Meaning</a:t>
                      </a:r>
                      <a:endParaRPr lang="en-US" dirty="0"/>
                    </a:p>
                  </a:txBody>
                  <a:tcPr/>
                </a:tc>
                <a:extLst>
                  <a:ext uri="{0D108BD9-81ED-4DB2-BD59-A6C34878D82A}">
                    <a16:rowId xmlns:a16="http://schemas.microsoft.com/office/drawing/2014/main" val="10000"/>
                  </a:ext>
                </a:extLst>
              </a:tr>
              <a:tr h="370840">
                <a:tc>
                  <a:txBody>
                    <a:bodyPr/>
                    <a:lstStyle/>
                    <a:p>
                      <a:r>
                        <a:rPr lang="en-US" sz="1800" kern="1200" baseline="0" dirty="0" err="1" smtClean="0"/>
                        <a:t>boolean</a:t>
                      </a:r>
                      <a:r>
                        <a:rPr lang="en-US" sz="1800" kern="1200" baseline="0" dirty="0" smtClean="0"/>
                        <a:t> exists()</a:t>
                      </a:r>
                      <a:endParaRPr lang="en-US" dirty="0"/>
                    </a:p>
                  </a:txBody>
                  <a:tcPr/>
                </a:tc>
                <a:tc>
                  <a:txBody>
                    <a:bodyPr/>
                    <a:lstStyle/>
                    <a:p>
                      <a:r>
                        <a:rPr lang="en-US" sz="1800" kern="1200" baseline="0" dirty="0" smtClean="0"/>
                        <a:t>Returns true if the file or directory exists, otherwise false.</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err="1" smtClean="0"/>
                        <a:t>boolean</a:t>
                      </a:r>
                      <a:r>
                        <a:rPr lang="en-US" sz="1800" kern="1200" baseline="0" dirty="0" smtClean="0"/>
                        <a:t> </a:t>
                      </a:r>
                      <a:r>
                        <a:rPr lang="en-US" sz="1800" kern="1200" baseline="0" dirty="0" err="1" smtClean="0"/>
                        <a:t>isFile</a:t>
                      </a:r>
                      <a:r>
                        <a:rPr lang="en-US" sz="1800" kern="1200" baseline="0" dirty="0" smtClean="0"/>
                        <a:t>()</a:t>
                      </a:r>
                      <a:endParaRPr lang="en-US" dirty="0" smtClean="0"/>
                    </a:p>
                  </a:txBody>
                  <a:tcPr/>
                </a:tc>
                <a:tc>
                  <a:txBody>
                    <a:bodyPr/>
                    <a:lstStyle/>
                    <a:p>
                      <a:r>
                        <a:rPr lang="en-US" sz="1800" kern="1200" baseline="0" dirty="0" smtClean="0"/>
                        <a:t>Returns true if the files exists, otherwise false.</a:t>
                      </a:r>
                      <a:endParaRPr lang="en-US"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err="1" smtClean="0"/>
                        <a:t>boolean</a:t>
                      </a:r>
                      <a:r>
                        <a:rPr lang="en-US" sz="1800" kern="1200" baseline="0" dirty="0" smtClean="0"/>
                        <a:t> </a:t>
                      </a:r>
                      <a:r>
                        <a:rPr lang="en-US" sz="1800" kern="1200" baseline="0" dirty="0" err="1" smtClean="0"/>
                        <a:t>isDirectory</a:t>
                      </a:r>
                      <a:r>
                        <a:rPr lang="en-US" sz="1800" kern="1200" baseline="0" dirty="0" smtClean="0"/>
                        <a:t>()</a:t>
                      </a:r>
                      <a:endParaRPr lang="en-US" dirty="0" smtClean="0"/>
                    </a:p>
                  </a:txBody>
                  <a:tcPr/>
                </a:tc>
                <a:tc>
                  <a:txBody>
                    <a:bodyPr/>
                    <a:lstStyle/>
                    <a:p>
                      <a:r>
                        <a:rPr lang="en-US" sz="1800" kern="1200" baseline="0" dirty="0" smtClean="0"/>
                        <a:t>Returns true if the directory exists, otherwise false.</a:t>
                      </a:r>
                      <a:endParaRPr lang="en-US"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err="1" smtClean="0"/>
                        <a:t>boolean</a:t>
                      </a:r>
                      <a:r>
                        <a:rPr lang="en-US" sz="1800" kern="1200" baseline="0" dirty="0" smtClean="0"/>
                        <a:t> </a:t>
                      </a:r>
                      <a:r>
                        <a:rPr lang="en-US" sz="1800" kern="1200" baseline="0" dirty="0" err="1" smtClean="0"/>
                        <a:t>isHidden</a:t>
                      </a:r>
                      <a:r>
                        <a:rPr lang="en-US" sz="1800" kern="1200" baseline="0" dirty="0" smtClean="0"/>
                        <a:t>()</a:t>
                      </a:r>
                      <a:endParaRPr lang="en-US" dirty="0" smtClean="0"/>
                    </a:p>
                  </a:txBody>
                  <a:tcPr/>
                </a:tc>
                <a:tc>
                  <a:txBody>
                    <a:bodyPr/>
                    <a:lstStyle/>
                    <a:p>
                      <a:r>
                        <a:rPr lang="en-US" sz="1800" kern="1200" baseline="0" dirty="0" smtClean="0"/>
                        <a:t>Returns true if the file or directory is hidden.</a:t>
                      </a:r>
                      <a:endParaRPr lang="en-US" dirty="0"/>
                    </a:p>
                  </a:txBody>
                  <a:tcPr/>
                </a:tc>
                <a:extLst>
                  <a:ext uri="{0D108BD9-81ED-4DB2-BD59-A6C34878D82A}">
                    <a16:rowId xmlns:a16="http://schemas.microsoft.com/office/drawing/2014/main" val="10004"/>
                  </a:ext>
                </a:extLst>
              </a:tr>
              <a:tr h="370840">
                <a:tc>
                  <a:txBody>
                    <a:bodyPr/>
                    <a:lstStyle/>
                    <a:p>
                      <a:r>
                        <a:rPr lang="en-US" sz="1800" kern="1200" baseline="0" dirty="0" smtClean="0"/>
                        <a:t>String </a:t>
                      </a:r>
                      <a:r>
                        <a:rPr lang="en-US" sz="1800" kern="1200" baseline="0" dirty="0" err="1" smtClean="0"/>
                        <a:t>getAbsolutePath</a:t>
                      </a:r>
                      <a:r>
                        <a:rPr lang="en-US" sz="1800" kern="1200" baseline="0" dirty="0" smtClean="0"/>
                        <a:t>()</a:t>
                      </a:r>
                      <a:endParaRPr lang="en-US" dirty="0"/>
                    </a:p>
                  </a:txBody>
                  <a:tcPr/>
                </a:tc>
                <a:tc>
                  <a:txBody>
                    <a:bodyPr/>
                    <a:lstStyle/>
                    <a:p>
                      <a:r>
                        <a:rPr lang="en-US" sz="1800" kern="1200" baseline="0" dirty="0" smtClean="0"/>
                        <a:t>Returns the absolute path of the file or directory.</a:t>
                      </a:r>
                      <a:endParaRPr lang="en-US" dirty="0"/>
                    </a:p>
                  </a:txBody>
                  <a:tcPr/>
                </a:tc>
                <a:extLst>
                  <a:ext uri="{0D108BD9-81ED-4DB2-BD59-A6C34878D82A}">
                    <a16:rowId xmlns:a16="http://schemas.microsoft.com/office/drawing/2014/main" val="10005"/>
                  </a:ext>
                </a:extLst>
              </a:tr>
              <a:tr h="370840">
                <a:tc>
                  <a:txBody>
                    <a:bodyPr/>
                    <a:lstStyle/>
                    <a:p>
                      <a:r>
                        <a:rPr lang="en-US" sz="1800" kern="1200" baseline="0" dirty="0" smtClean="0"/>
                        <a:t>String </a:t>
                      </a:r>
                      <a:r>
                        <a:rPr lang="en-US" sz="1800" kern="1200" baseline="0" dirty="0" err="1" smtClean="0"/>
                        <a:t>getName</a:t>
                      </a:r>
                      <a:r>
                        <a:rPr lang="en-US" sz="1800" kern="1200" baseline="0" dirty="0" smtClean="0"/>
                        <a:t>()</a:t>
                      </a:r>
                      <a:endParaRPr lang="en-US" dirty="0"/>
                    </a:p>
                  </a:txBody>
                  <a:tcPr/>
                </a:tc>
                <a:tc>
                  <a:txBody>
                    <a:bodyPr/>
                    <a:lstStyle/>
                    <a:p>
                      <a:r>
                        <a:rPr lang="en-US" sz="1800" kern="1200" baseline="0" dirty="0" smtClean="0"/>
                        <a:t>Returns the name of the file or directory referred by the object.</a:t>
                      </a:r>
                      <a:endParaRPr lang="en-US" dirty="0"/>
                    </a:p>
                  </a:txBody>
                  <a:tcPr/>
                </a:tc>
                <a:extLst>
                  <a:ext uri="{0D108BD9-81ED-4DB2-BD59-A6C34878D82A}">
                    <a16:rowId xmlns:a16="http://schemas.microsoft.com/office/drawing/2014/main" val="10006"/>
                  </a:ext>
                </a:extLst>
              </a:tr>
              <a:tr h="370840">
                <a:tc>
                  <a:txBody>
                    <a:bodyPr/>
                    <a:lstStyle/>
                    <a:p>
                      <a:r>
                        <a:rPr lang="en-US" sz="1800" kern="1200" baseline="0" dirty="0" smtClean="0"/>
                        <a:t>String </a:t>
                      </a:r>
                      <a:r>
                        <a:rPr lang="en-US" sz="1800" kern="1200" baseline="0" dirty="0" err="1" smtClean="0"/>
                        <a:t>getPath</a:t>
                      </a:r>
                      <a:r>
                        <a:rPr lang="en-US" sz="1800" kern="1200" baseline="0" dirty="0" smtClean="0"/>
                        <a:t>()</a:t>
                      </a:r>
                      <a:endParaRPr lang="en-US" dirty="0"/>
                    </a:p>
                  </a:txBody>
                  <a:tcPr/>
                </a:tc>
                <a:tc>
                  <a:txBody>
                    <a:bodyPr/>
                    <a:lstStyle/>
                    <a:p>
                      <a:r>
                        <a:rPr lang="en-US" sz="1800" kern="1200" baseline="0" dirty="0" smtClean="0"/>
                        <a:t>Returns the path to the file or directory.</a:t>
                      </a:r>
                      <a:endParaRPr lang="en-US" dirty="0"/>
                    </a:p>
                  </a:txBody>
                  <a:tcPr/>
                </a:tc>
                <a:extLst>
                  <a:ext uri="{0D108BD9-81ED-4DB2-BD59-A6C34878D82A}">
                    <a16:rowId xmlns:a16="http://schemas.microsoft.com/office/drawing/2014/main" val="10007"/>
                  </a:ext>
                </a:extLst>
              </a:tr>
              <a:tr h="370840">
                <a:tc>
                  <a:txBody>
                    <a:bodyPr/>
                    <a:lstStyle/>
                    <a:p>
                      <a:r>
                        <a:rPr lang="en-US" sz="1800" kern="1200" baseline="0" dirty="0" smtClean="0"/>
                        <a:t>long length()</a:t>
                      </a:r>
                      <a:endParaRPr lang="en-US" dirty="0"/>
                    </a:p>
                  </a:txBody>
                  <a:tcPr/>
                </a:tc>
                <a:tc>
                  <a:txBody>
                    <a:bodyPr/>
                    <a:lstStyle/>
                    <a:p>
                      <a:r>
                        <a:rPr lang="en-US" sz="1800" kern="1200" baseline="0" dirty="0" smtClean="0"/>
                        <a:t>Returns the number of bytes in that file.</a:t>
                      </a:r>
                      <a:endParaRPr lang="en-US" dirty="0"/>
                    </a:p>
                  </a:txBody>
                  <a:tcPr/>
                </a:tc>
                <a:extLst>
                  <a:ext uri="{0D108BD9-81ED-4DB2-BD59-A6C34878D82A}">
                    <a16:rowId xmlns:a16="http://schemas.microsoft.com/office/drawing/2014/main" val="10008"/>
                  </a:ext>
                </a:extLst>
              </a:tr>
              <a:tr h="370840">
                <a:tc>
                  <a:txBody>
                    <a:bodyPr/>
                    <a:lstStyle/>
                    <a:p>
                      <a:r>
                        <a:rPr lang="en-US" sz="1800" kern="1200" baseline="0" dirty="0" smtClean="0"/>
                        <a:t>String[] list()</a:t>
                      </a:r>
                      <a:endParaRPr lang="en-US" dirty="0"/>
                    </a:p>
                  </a:txBody>
                  <a:tcPr/>
                </a:tc>
                <a:tc>
                  <a:txBody>
                    <a:bodyPr/>
                    <a:lstStyle/>
                    <a:p>
                      <a:r>
                        <a:rPr lang="en-US" sz="1800" kern="1200" baseline="0" dirty="0" smtClean="0"/>
                        <a:t>Returns the name of files and directories in a directory.</a:t>
                      </a:r>
                      <a:endParaRPr lang="en-US" dirty="0"/>
                    </a:p>
                  </a:txBody>
                  <a:tcPr/>
                </a:tc>
                <a:extLst>
                  <a:ext uri="{0D108BD9-81ED-4DB2-BD59-A6C34878D82A}">
                    <a16:rowId xmlns:a16="http://schemas.microsoft.com/office/drawing/2014/main" val="10009"/>
                  </a:ext>
                </a:extLst>
              </a:tr>
              <a:tr h="370840">
                <a:tc>
                  <a:txBody>
                    <a:bodyPr/>
                    <a:lstStyle/>
                    <a:p>
                      <a:r>
                        <a:rPr lang="en-US" sz="1800" kern="1200" baseline="0" dirty="0" smtClean="0"/>
                        <a:t>File[] </a:t>
                      </a:r>
                      <a:r>
                        <a:rPr lang="en-US" sz="1800" kern="1200" baseline="0" dirty="0" err="1" smtClean="0"/>
                        <a:t>listFiles</a:t>
                      </a:r>
                      <a:r>
                        <a:rPr lang="en-US" sz="1800" kern="1200" baseline="0" dirty="0" smtClean="0"/>
                        <a:t>()</a:t>
                      </a:r>
                      <a:endParaRPr lang="en-US" dirty="0"/>
                    </a:p>
                  </a:txBody>
                  <a:tcPr/>
                </a:tc>
                <a:tc>
                  <a:txBody>
                    <a:bodyPr/>
                    <a:lstStyle/>
                    <a:p>
                      <a:r>
                        <a:rPr lang="en-US" sz="1800" kern="1200" baseline="0" dirty="0" smtClean="0"/>
                        <a:t>Returns an array of abstract pathnames denoting the files in the directory</a:t>
                      </a:r>
                      <a:endParaRPr lang="en-US" dirty="0"/>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222352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C6D56-836D-B333-DCD6-5F60964E53A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1A86E93-98E7-9BA1-1E17-72311E86C09C}"/>
              </a:ext>
            </a:extLst>
          </p:cNvPr>
          <p:cNvSpPr/>
          <p:nvPr/>
        </p:nvSpPr>
        <p:spPr>
          <a:xfrm>
            <a:off x="101135" y="850512"/>
            <a:ext cx="11528369" cy="5078313"/>
          </a:xfrm>
          <a:prstGeom prst="rect">
            <a:avLst/>
          </a:prstGeom>
          <a:ln w="19050">
            <a:solidFill>
              <a:schemeClr val="accent1"/>
            </a:solidFill>
            <a:prstDash val="dash"/>
          </a:ln>
        </p:spPr>
        <p:txBody>
          <a:bodyPr wrap="square">
            <a:spAutoFit/>
          </a:bodyPr>
          <a:lstStyle/>
          <a:p>
            <a:r>
              <a:rPr lang="en-IN" b="1" dirty="0">
                <a:solidFill>
                  <a:srgbClr val="7F0055"/>
                </a:solidFill>
                <a:latin typeface="Consolas" panose="020B0609020204030204" pitchFamily="49" charset="0"/>
              </a:rPr>
              <a:t>import</a:t>
            </a:r>
            <a:r>
              <a:rPr lang="en-IN" b="1" dirty="0">
                <a:solidFill>
                  <a:srgbClr val="000000"/>
                </a:solidFill>
                <a:latin typeface="Consolas" panose="020B0609020204030204" pitchFamily="49" charset="0"/>
              </a:rPr>
              <a:t> </a:t>
            </a:r>
            <a:r>
              <a:rPr lang="en-IN" b="1" dirty="0" err="1">
                <a:solidFill>
                  <a:srgbClr val="000000"/>
                </a:solidFill>
                <a:latin typeface="Consolas" panose="020B0609020204030204" pitchFamily="49" charset="0"/>
              </a:rPr>
              <a:t>java.io.File</a:t>
            </a:r>
            <a:r>
              <a:rPr lang="en-IN" b="1" dirty="0">
                <a:solidFill>
                  <a:srgbClr val="000000"/>
                </a:solidFill>
                <a:latin typeface="Consolas" panose="020B0609020204030204" pitchFamily="49" charset="0"/>
              </a:rPr>
              <a:t>;</a:t>
            </a:r>
          </a:p>
          <a:p>
            <a:r>
              <a:rPr lang="en-IN" b="1" dirty="0">
                <a:solidFill>
                  <a:srgbClr val="7F0055"/>
                </a:solidFill>
                <a:latin typeface="Consolas" panose="020B0609020204030204" pitchFamily="49" charset="0"/>
              </a:rPr>
              <a:t>class</a:t>
            </a:r>
            <a:r>
              <a:rPr lang="en-IN" b="1" dirty="0">
                <a:solidFill>
                  <a:srgbClr val="000000"/>
                </a:solidFill>
                <a:latin typeface="Consolas" panose="020B0609020204030204" pitchFamily="49" charset="0"/>
              </a:rPr>
              <a:t> </a:t>
            </a:r>
            <a:r>
              <a:rPr lang="en-IN" b="1" dirty="0" err="1">
                <a:solidFill>
                  <a:srgbClr val="000000"/>
                </a:solidFill>
                <a:latin typeface="Consolas" panose="020B0609020204030204" pitchFamily="49" charset="0"/>
              </a:rPr>
              <a:t>FileDemo</a:t>
            </a:r>
            <a:r>
              <a:rPr lang="en-IN" b="1" dirty="0">
                <a:solidFill>
                  <a:srgbClr val="000000"/>
                </a:solidFill>
                <a:latin typeface="Consolas" panose="020B0609020204030204" pitchFamily="49" charset="0"/>
              </a:rPr>
              <a:t> {</a:t>
            </a:r>
          </a:p>
          <a:p>
            <a:pPr lvl="1"/>
            <a:r>
              <a:rPr lang="en-US" b="1" dirty="0">
                <a:solidFill>
                  <a:srgbClr val="7F0055"/>
                </a:solidFill>
                <a:latin typeface="Consolas" panose="020B0609020204030204" pitchFamily="49" charset="0"/>
              </a:rPr>
              <a:t>public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static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void</a:t>
            </a:r>
            <a:r>
              <a:rPr lang="en-US" b="1" dirty="0">
                <a:solidFill>
                  <a:srgbClr val="000000"/>
                </a:solidFill>
                <a:latin typeface="Consolas" panose="020B0609020204030204" pitchFamily="49" charset="0"/>
              </a:rPr>
              <a:t> main(String </a:t>
            </a:r>
            <a:r>
              <a:rPr lang="en-US" b="1" dirty="0" err="1">
                <a:solidFill>
                  <a:srgbClr val="6A3E3E"/>
                </a:solidFill>
                <a:latin typeface="Consolas" panose="020B0609020204030204" pitchFamily="49" charset="0"/>
              </a:rPr>
              <a:t>args</a:t>
            </a:r>
            <a:r>
              <a:rPr lang="en-US" b="1" dirty="0">
                <a:solidFill>
                  <a:srgbClr val="000000"/>
                </a:solidFill>
                <a:latin typeface="Consolas" panose="020B0609020204030204" pitchFamily="49" charset="0"/>
              </a:rPr>
              <a:t>[]) { </a:t>
            </a:r>
          </a:p>
          <a:p>
            <a:pPr lvl="2"/>
            <a:r>
              <a:rPr lang="en-US" dirty="0">
                <a:solidFill>
                  <a:srgbClr val="000000"/>
                </a:solidFill>
                <a:latin typeface="Consolas" panose="020B0609020204030204" pitchFamily="49" charset="0"/>
              </a:rPr>
              <a:t>File </a:t>
            </a:r>
            <a:r>
              <a:rPr lang="en-US" dirty="0">
                <a:solidFill>
                  <a:srgbClr val="6A3E3E"/>
                </a:solidFill>
                <a:latin typeface="Consolas" panose="020B0609020204030204" pitchFamily="49" charset="0"/>
              </a:rPr>
              <a:t>f1</a:t>
            </a:r>
            <a:r>
              <a:rPr lang="en-US"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new</a:t>
            </a:r>
            <a:r>
              <a:rPr lang="en-US" b="1" dirty="0">
                <a:solidFill>
                  <a:srgbClr val="000000"/>
                </a:solidFill>
                <a:latin typeface="Consolas" panose="020B0609020204030204" pitchFamily="49" charset="0"/>
              </a:rPr>
              <a:t> File(</a:t>
            </a:r>
            <a:r>
              <a:rPr lang="en-US" b="1" dirty="0">
                <a:solidFill>
                  <a:srgbClr val="2A00FF"/>
                </a:solidFill>
                <a:latin typeface="Consolas" panose="020B0609020204030204" pitchFamily="49" charset="0"/>
              </a:rPr>
              <a:t>"FileDemo.java"</a:t>
            </a:r>
            <a:r>
              <a:rPr lang="en-US" b="1" dirty="0">
                <a:solidFill>
                  <a:srgbClr val="000000"/>
                </a:solidFill>
                <a:latin typeface="Consolas" panose="020B0609020204030204" pitchFamily="49" charset="0"/>
              </a:rPr>
              <a:t>);</a:t>
            </a:r>
          </a:p>
          <a:p>
            <a:pPr lvl="2"/>
            <a:r>
              <a:rPr lang="en-IN" dirty="0" err="1">
                <a:solidFill>
                  <a:srgbClr val="000000"/>
                </a:solidFill>
                <a:latin typeface="Consolas" panose="020B0609020204030204" pitchFamily="49" charset="0"/>
              </a:rPr>
              <a:t>System.</a:t>
            </a:r>
            <a:r>
              <a:rPr lang="en-IN" b="1" i="1" dirty="0" err="1">
                <a:solidFill>
                  <a:srgbClr val="0000C0"/>
                </a:solidFill>
                <a:latin typeface="Consolas" panose="020B0609020204030204" pitchFamily="49" charset="0"/>
              </a:rPr>
              <a:t>out</a:t>
            </a:r>
            <a:r>
              <a:rPr lang="en-IN" b="1" i="1" dirty="0" err="1">
                <a:solidFill>
                  <a:srgbClr val="000000"/>
                </a:solidFill>
                <a:latin typeface="Consolas" panose="020B0609020204030204" pitchFamily="49" charset="0"/>
              </a:rPr>
              <a:t>.println</a:t>
            </a:r>
            <a:r>
              <a:rPr lang="en-IN" b="1" i="1" dirty="0">
                <a:solidFill>
                  <a:srgbClr val="000000"/>
                </a:solidFill>
                <a:latin typeface="Consolas" panose="020B0609020204030204" pitchFamily="49" charset="0"/>
              </a:rPr>
              <a:t>(</a:t>
            </a:r>
            <a:r>
              <a:rPr lang="en-IN" b="1" i="1" dirty="0">
                <a:solidFill>
                  <a:srgbClr val="2A00FF"/>
                </a:solidFill>
                <a:latin typeface="Consolas" panose="020B0609020204030204" pitchFamily="49" charset="0"/>
              </a:rPr>
              <a:t>"File Name: "</a:t>
            </a:r>
            <a:r>
              <a:rPr lang="en-IN" b="1" i="1" dirty="0">
                <a:solidFill>
                  <a:srgbClr val="000000"/>
                </a:solidFill>
                <a:latin typeface="Consolas" panose="020B0609020204030204" pitchFamily="49" charset="0"/>
              </a:rPr>
              <a:t> + </a:t>
            </a:r>
            <a:r>
              <a:rPr lang="en-IN" b="1" i="1" dirty="0">
                <a:solidFill>
                  <a:srgbClr val="6A3E3E"/>
                </a:solidFill>
                <a:latin typeface="Consolas" panose="020B0609020204030204" pitchFamily="49" charset="0"/>
              </a:rPr>
              <a:t>f1</a:t>
            </a:r>
            <a:r>
              <a:rPr lang="en-IN" b="1" i="1" dirty="0">
                <a:solidFill>
                  <a:srgbClr val="000000"/>
                </a:solidFill>
                <a:latin typeface="Consolas" panose="020B0609020204030204" pitchFamily="49" charset="0"/>
              </a:rPr>
              <a:t>.getName());</a:t>
            </a:r>
          </a:p>
          <a:p>
            <a:pPr lvl="2"/>
            <a:r>
              <a:rPr lang="en-IN" dirty="0" err="1">
                <a:solidFill>
                  <a:srgbClr val="000000"/>
                </a:solidFill>
                <a:latin typeface="Consolas" panose="020B0609020204030204" pitchFamily="49" charset="0"/>
              </a:rPr>
              <a:t>System.</a:t>
            </a:r>
            <a:r>
              <a:rPr lang="en-IN" b="1" i="1" dirty="0" err="1">
                <a:solidFill>
                  <a:srgbClr val="0000C0"/>
                </a:solidFill>
                <a:latin typeface="Consolas" panose="020B0609020204030204" pitchFamily="49" charset="0"/>
              </a:rPr>
              <a:t>out</a:t>
            </a:r>
            <a:r>
              <a:rPr lang="en-IN" b="1" i="1" dirty="0" err="1">
                <a:solidFill>
                  <a:srgbClr val="000000"/>
                </a:solidFill>
                <a:latin typeface="Consolas" panose="020B0609020204030204" pitchFamily="49" charset="0"/>
              </a:rPr>
              <a:t>.println</a:t>
            </a:r>
            <a:r>
              <a:rPr lang="en-IN" b="1" i="1" dirty="0">
                <a:solidFill>
                  <a:srgbClr val="000000"/>
                </a:solidFill>
                <a:latin typeface="Consolas" panose="020B0609020204030204" pitchFamily="49" charset="0"/>
              </a:rPr>
              <a:t>(</a:t>
            </a:r>
            <a:r>
              <a:rPr lang="en-IN" b="1" i="1" dirty="0">
                <a:solidFill>
                  <a:srgbClr val="2A00FF"/>
                </a:solidFill>
                <a:latin typeface="Consolas" panose="020B0609020204030204" pitchFamily="49" charset="0"/>
              </a:rPr>
              <a:t>"Path: "</a:t>
            </a:r>
            <a:r>
              <a:rPr lang="en-IN" b="1" i="1" dirty="0">
                <a:solidFill>
                  <a:srgbClr val="000000"/>
                </a:solidFill>
                <a:latin typeface="Consolas" panose="020B0609020204030204" pitchFamily="49" charset="0"/>
              </a:rPr>
              <a:t> + </a:t>
            </a:r>
            <a:r>
              <a:rPr lang="en-IN" b="1" i="1" dirty="0">
                <a:solidFill>
                  <a:srgbClr val="6A3E3E"/>
                </a:solidFill>
                <a:latin typeface="Consolas" panose="020B0609020204030204" pitchFamily="49" charset="0"/>
              </a:rPr>
              <a:t>f1</a:t>
            </a:r>
            <a:r>
              <a:rPr lang="en-IN" b="1" i="1" dirty="0">
                <a:solidFill>
                  <a:srgbClr val="000000"/>
                </a:solidFill>
                <a:latin typeface="Consolas" panose="020B0609020204030204" pitchFamily="49" charset="0"/>
              </a:rPr>
              <a:t>.getPath());</a:t>
            </a:r>
          </a:p>
          <a:p>
            <a:pPr lvl="2"/>
            <a:r>
              <a:rPr lang="en-IN" dirty="0" err="1">
                <a:solidFill>
                  <a:srgbClr val="000000"/>
                </a:solidFill>
                <a:latin typeface="Consolas" panose="020B0609020204030204" pitchFamily="49" charset="0"/>
              </a:rPr>
              <a:t>System.</a:t>
            </a:r>
            <a:r>
              <a:rPr lang="en-IN" b="1" i="1" dirty="0" err="1">
                <a:solidFill>
                  <a:srgbClr val="0000C0"/>
                </a:solidFill>
                <a:latin typeface="Consolas" panose="020B0609020204030204" pitchFamily="49" charset="0"/>
              </a:rPr>
              <a:t>out</a:t>
            </a:r>
            <a:r>
              <a:rPr lang="en-IN" b="1" i="1" dirty="0" err="1">
                <a:solidFill>
                  <a:srgbClr val="000000"/>
                </a:solidFill>
                <a:latin typeface="Consolas" panose="020B0609020204030204" pitchFamily="49" charset="0"/>
              </a:rPr>
              <a:t>.println</a:t>
            </a:r>
            <a:r>
              <a:rPr lang="en-IN" b="1" i="1" dirty="0">
                <a:solidFill>
                  <a:srgbClr val="000000"/>
                </a:solidFill>
                <a:latin typeface="Consolas" panose="020B0609020204030204" pitchFamily="49" charset="0"/>
              </a:rPr>
              <a:t>(</a:t>
            </a:r>
            <a:r>
              <a:rPr lang="en-IN" b="1" i="1" dirty="0">
                <a:solidFill>
                  <a:srgbClr val="2A00FF"/>
                </a:solidFill>
                <a:latin typeface="Consolas" panose="020B0609020204030204" pitchFamily="49" charset="0"/>
              </a:rPr>
              <a:t>"Abs Path: "</a:t>
            </a:r>
            <a:r>
              <a:rPr lang="en-IN" b="1" i="1" dirty="0">
                <a:solidFill>
                  <a:srgbClr val="000000"/>
                </a:solidFill>
                <a:latin typeface="Consolas" panose="020B0609020204030204" pitchFamily="49" charset="0"/>
              </a:rPr>
              <a:t> + </a:t>
            </a:r>
            <a:r>
              <a:rPr lang="en-IN" b="1" i="1" dirty="0">
                <a:solidFill>
                  <a:srgbClr val="6A3E3E"/>
                </a:solidFill>
                <a:latin typeface="Consolas" panose="020B0609020204030204" pitchFamily="49" charset="0"/>
              </a:rPr>
              <a:t>f1</a:t>
            </a:r>
            <a:r>
              <a:rPr lang="en-IN" b="1" i="1" dirty="0">
                <a:solidFill>
                  <a:srgbClr val="000000"/>
                </a:solidFill>
                <a:latin typeface="Consolas" panose="020B0609020204030204" pitchFamily="49" charset="0"/>
              </a:rPr>
              <a:t>.getAbsolutePath());</a:t>
            </a:r>
          </a:p>
          <a:p>
            <a:pPr lvl="2"/>
            <a:r>
              <a:rPr lang="en-IN" dirty="0" err="1">
                <a:solidFill>
                  <a:srgbClr val="000000"/>
                </a:solidFill>
                <a:latin typeface="Consolas" panose="020B0609020204030204" pitchFamily="49" charset="0"/>
              </a:rPr>
              <a:t>System.</a:t>
            </a:r>
            <a:r>
              <a:rPr lang="en-IN" b="1" i="1" dirty="0" err="1">
                <a:solidFill>
                  <a:srgbClr val="0000C0"/>
                </a:solidFill>
                <a:latin typeface="Consolas" panose="020B0609020204030204" pitchFamily="49" charset="0"/>
              </a:rPr>
              <a:t>out</a:t>
            </a:r>
            <a:r>
              <a:rPr lang="en-IN" b="1" i="1" dirty="0" err="1">
                <a:solidFill>
                  <a:srgbClr val="000000"/>
                </a:solidFill>
                <a:latin typeface="Consolas" panose="020B0609020204030204" pitchFamily="49" charset="0"/>
              </a:rPr>
              <a:t>.println</a:t>
            </a:r>
            <a:r>
              <a:rPr lang="en-IN" b="1" i="1" dirty="0">
                <a:solidFill>
                  <a:srgbClr val="000000"/>
                </a:solidFill>
                <a:latin typeface="Consolas" panose="020B0609020204030204" pitchFamily="49" charset="0"/>
              </a:rPr>
              <a:t>(</a:t>
            </a:r>
            <a:r>
              <a:rPr lang="en-IN" b="1" i="1" dirty="0">
                <a:solidFill>
                  <a:srgbClr val="2A00FF"/>
                </a:solidFill>
                <a:latin typeface="Consolas" panose="020B0609020204030204" pitchFamily="49" charset="0"/>
              </a:rPr>
              <a:t>"Parent: "</a:t>
            </a:r>
            <a:r>
              <a:rPr lang="en-IN" b="1" i="1" dirty="0">
                <a:solidFill>
                  <a:srgbClr val="000000"/>
                </a:solidFill>
                <a:latin typeface="Consolas" panose="020B0609020204030204" pitchFamily="49" charset="0"/>
              </a:rPr>
              <a:t> + </a:t>
            </a:r>
            <a:r>
              <a:rPr lang="en-IN" b="1" i="1" dirty="0">
                <a:solidFill>
                  <a:srgbClr val="6A3E3E"/>
                </a:solidFill>
                <a:latin typeface="Consolas" panose="020B0609020204030204" pitchFamily="49" charset="0"/>
              </a:rPr>
              <a:t>f1</a:t>
            </a:r>
            <a:r>
              <a:rPr lang="en-IN" b="1" i="1" dirty="0">
                <a:solidFill>
                  <a:srgbClr val="000000"/>
                </a:solidFill>
                <a:latin typeface="Consolas" panose="020B0609020204030204" pitchFamily="49" charset="0"/>
              </a:rPr>
              <a:t>.getParent());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.exists() ? </a:t>
            </a:r>
            <a:r>
              <a:rPr lang="en-US" b="1" i="1" dirty="0">
                <a:solidFill>
                  <a:srgbClr val="2A00FF"/>
                </a:solidFill>
                <a:latin typeface="Consolas" panose="020B0609020204030204" pitchFamily="49" charset="0"/>
              </a:rPr>
              <a:t>"exists"</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"does not exist"</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.canWrite() ? </a:t>
            </a:r>
            <a:r>
              <a:rPr lang="en-US" b="1" i="1" dirty="0">
                <a:solidFill>
                  <a:srgbClr val="2A00FF"/>
                </a:solidFill>
                <a:latin typeface="Consolas" panose="020B0609020204030204" pitchFamily="49" charset="0"/>
              </a:rPr>
              <a:t>"is writeable"</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"is not writeable"</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 (</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.canRead () ? </a:t>
            </a:r>
            <a:r>
              <a:rPr lang="en-US" b="1" i="1" dirty="0">
                <a:solidFill>
                  <a:srgbClr val="2A00FF"/>
                </a:solidFill>
                <a:latin typeface="Consolas" panose="020B0609020204030204" pitchFamily="49" charset="0"/>
              </a:rPr>
              <a:t>"is readable"</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"is not readable"</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 (</a:t>
            </a:r>
            <a:r>
              <a:rPr lang="en-US" b="1" i="1" dirty="0">
                <a:solidFill>
                  <a:srgbClr val="2A00FF"/>
                </a:solidFill>
                <a:latin typeface="Consolas" panose="020B0609020204030204" pitchFamily="49" charset="0"/>
              </a:rPr>
              <a:t>"is "</a:t>
            </a:r>
            <a:r>
              <a:rPr lang="en-US" b="1" i="1" dirty="0">
                <a:solidFill>
                  <a:srgbClr val="000000"/>
                </a:solidFill>
                <a:latin typeface="Consolas" panose="020B0609020204030204" pitchFamily="49" charset="0"/>
              </a:rPr>
              <a:t> + (</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.isDirectory() ? </a:t>
            </a:r>
            <a:r>
              <a:rPr lang="en-US" b="1" i="1" dirty="0">
                <a:solidFill>
                  <a:srgbClr val="2A00FF"/>
                </a:solidFill>
                <a:latin typeface="Consolas" panose="020B0609020204030204" pitchFamily="49" charset="0"/>
              </a:rPr>
              <a:t>""</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"not"</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 a directory"</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.isFile() ? </a:t>
            </a:r>
            <a:r>
              <a:rPr lang="en-US" b="1" i="1" dirty="0">
                <a:solidFill>
                  <a:srgbClr val="2A00FF"/>
                </a:solidFill>
                <a:latin typeface="Consolas" panose="020B0609020204030204" pitchFamily="49" charset="0"/>
              </a:rPr>
              <a:t>"is normal file"</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"might be a named pipe"</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.isAbsolute() ? </a:t>
            </a:r>
            <a:r>
              <a:rPr lang="en-US" b="1" i="1" dirty="0">
                <a:solidFill>
                  <a:srgbClr val="2A00FF"/>
                </a:solidFill>
                <a:latin typeface="Consolas" panose="020B0609020204030204" pitchFamily="49" charset="0"/>
              </a:rPr>
              <a:t>"is absolute"</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"is not absolute"</a:t>
            </a:r>
            <a:r>
              <a:rPr lang="en-US" b="1" i="1" dirty="0">
                <a:solidFill>
                  <a:srgbClr val="000000"/>
                </a:solidFill>
                <a:latin typeface="Consolas" panose="020B0609020204030204" pitchFamily="49" charset="0"/>
              </a:rPr>
              <a:t>);</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"File last modified: "</a:t>
            </a:r>
            <a:r>
              <a:rPr lang="en-US" b="1" i="1" dirty="0">
                <a:solidFill>
                  <a:srgbClr val="000000"/>
                </a:solidFill>
                <a:latin typeface="Consolas" panose="020B0609020204030204" pitchFamily="49" charset="0"/>
              </a:rPr>
              <a:t> + </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.lastModified());</a:t>
            </a: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"File size: "</a:t>
            </a:r>
            <a:r>
              <a:rPr lang="en-US" b="1" i="1" dirty="0">
                <a:solidFill>
                  <a:srgbClr val="000000"/>
                </a:solidFill>
                <a:latin typeface="Consolas" panose="020B0609020204030204" pitchFamily="49" charset="0"/>
              </a:rPr>
              <a:t> + </a:t>
            </a:r>
            <a:r>
              <a:rPr lang="en-US" b="1" i="1" dirty="0">
                <a:solidFill>
                  <a:srgbClr val="6A3E3E"/>
                </a:solidFill>
                <a:latin typeface="Consolas" panose="020B0609020204030204" pitchFamily="49" charset="0"/>
              </a:rPr>
              <a:t>f1</a:t>
            </a:r>
            <a:r>
              <a:rPr lang="en-US" b="1" i="1" dirty="0">
                <a:solidFill>
                  <a:srgbClr val="000000"/>
                </a:solidFill>
                <a:latin typeface="Consolas" panose="020B0609020204030204" pitchFamily="49" charset="0"/>
              </a:rPr>
              <a:t>.length() + </a:t>
            </a:r>
            <a:r>
              <a:rPr lang="en-US" b="1" i="1" dirty="0">
                <a:solidFill>
                  <a:srgbClr val="2A00FF"/>
                </a:solidFill>
                <a:latin typeface="Consolas" panose="020B0609020204030204" pitchFamily="49" charset="0"/>
              </a:rPr>
              <a:t>" Bytes"</a:t>
            </a:r>
            <a:r>
              <a:rPr lang="en-US" b="1" i="1" dirty="0">
                <a:solidFill>
                  <a:srgbClr val="000000"/>
                </a:solidFill>
                <a:latin typeface="Consolas" panose="020B0609020204030204" pitchFamily="49" charset="0"/>
              </a:rPr>
              <a:t>);</a:t>
            </a:r>
          </a:p>
          <a:p>
            <a:pPr lvl="1"/>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a:t>
            </a:r>
            <a:endParaRPr lang="en-IN" dirty="0"/>
          </a:p>
        </p:txBody>
      </p:sp>
      <p:sp>
        <p:nvSpPr>
          <p:cNvPr id="3" name="Title 5">
            <a:extLst>
              <a:ext uri="{FF2B5EF4-FFF2-40B4-BE49-F238E27FC236}">
                <a16:creationId xmlns:a16="http://schemas.microsoft.com/office/drawing/2014/main" id="{B6FD4F68-B7D1-CB24-678F-5DAD65EFF4DB}"/>
              </a:ext>
            </a:extLst>
          </p:cNvPr>
          <p:cNvSpPr>
            <a:spLocks noGrp="1"/>
          </p:cNvSpPr>
          <p:nvPr>
            <p:ph type="title"/>
          </p:nvPr>
        </p:nvSpPr>
        <p:spPr>
          <a:xfrm>
            <a:off x="0" y="1"/>
            <a:ext cx="12192000" cy="711200"/>
          </a:xfrm>
        </p:spPr>
        <p:txBody>
          <a:bodyPr/>
          <a:lstStyle/>
          <a:p>
            <a:r>
              <a:rPr lang="en-US" dirty="0"/>
              <a:t>File Class Example</a:t>
            </a:r>
          </a:p>
        </p:txBody>
      </p:sp>
    </p:spTree>
    <p:extLst>
      <p:ext uri="{BB962C8B-B14F-4D97-AF65-F5344CB8AC3E}">
        <p14:creationId xmlns:p14="http://schemas.microsoft.com/office/powerpoint/2010/main" val="2160529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D9663-1873-9E63-3042-F662C8678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801B-7F75-35C0-031E-B1FA1477BD58}"/>
              </a:ext>
            </a:extLst>
          </p:cNvPr>
          <p:cNvSpPr>
            <a:spLocks noGrp="1"/>
          </p:cNvSpPr>
          <p:nvPr>
            <p:ph type="title"/>
          </p:nvPr>
        </p:nvSpPr>
        <p:spPr>
          <a:xfrm>
            <a:off x="0" y="1"/>
            <a:ext cx="12192000" cy="711200"/>
          </a:xfrm>
        </p:spPr>
        <p:txBody>
          <a:bodyPr>
            <a:normAutofit/>
          </a:bodyPr>
          <a:lstStyle/>
          <a:p>
            <a:r>
              <a:rPr lang="en-US" sz="3600" dirty="0"/>
              <a:t>Stream</a:t>
            </a:r>
            <a:endParaRPr lang="en-US" dirty="0"/>
          </a:p>
        </p:txBody>
      </p:sp>
      <p:sp>
        <p:nvSpPr>
          <p:cNvPr id="3" name="Content Placeholder 2">
            <a:extLst>
              <a:ext uri="{FF2B5EF4-FFF2-40B4-BE49-F238E27FC236}">
                <a16:creationId xmlns:a16="http://schemas.microsoft.com/office/drawing/2014/main" id="{B3D7DAA8-D239-809C-DE17-82EE0C5FB1F7}"/>
              </a:ext>
            </a:extLst>
          </p:cNvPr>
          <p:cNvSpPr>
            <a:spLocks noGrp="1"/>
          </p:cNvSpPr>
          <p:nvPr>
            <p:ph idx="1"/>
          </p:nvPr>
        </p:nvSpPr>
        <p:spPr>
          <a:xfrm>
            <a:off x="131180" y="863444"/>
            <a:ext cx="11929641" cy="5590565"/>
          </a:xfrm>
        </p:spPr>
        <p:txBody>
          <a:bodyPr/>
          <a:lstStyle/>
          <a:p>
            <a:r>
              <a:rPr lang="en-US" dirty="0"/>
              <a:t>A stream can be defined as a sequence of data. </a:t>
            </a:r>
          </a:p>
          <a:p>
            <a:r>
              <a:rPr lang="en-US" dirty="0"/>
              <a:t>All streams represent an input source and an output destination. </a:t>
            </a:r>
          </a:p>
          <a:p>
            <a:r>
              <a:rPr lang="en-US" dirty="0"/>
              <a:t>There are two kinds of Streams</a:t>
            </a:r>
          </a:p>
          <a:p>
            <a:pPr lvl="1"/>
            <a:r>
              <a:rPr lang="en-US" b="1" dirty="0">
                <a:solidFill>
                  <a:srgbClr val="B71B1C"/>
                </a:solidFill>
              </a:rPr>
              <a:t>Byte Stream</a:t>
            </a:r>
          </a:p>
          <a:p>
            <a:pPr lvl="1"/>
            <a:r>
              <a:rPr lang="en-US" b="1" dirty="0">
                <a:solidFill>
                  <a:srgbClr val="B71B1C"/>
                </a:solidFill>
              </a:rPr>
              <a:t>Character Stream</a:t>
            </a:r>
          </a:p>
          <a:p>
            <a:r>
              <a:rPr lang="en-US" dirty="0"/>
              <a:t>The </a:t>
            </a:r>
            <a:r>
              <a:rPr lang="en-US" b="1" dirty="0">
                <a:solidFill>
                  <a:srgbClr val="B71B1C"/>
                </a:solidFill>
              </a:rPr>
              <a:t>java.io</a:t>
            </a:r>
            <a:r>
              <a:rPr lang="en-US" dirty="0">
                <a:solidFill>
                  <a:srgbClr val="B71B1C"/>
                </a:solidFill>
              </a:rPr>
              <a:t> </a:t>
            </a:r>
            <a:r>
              <a:rPr lang="en-US" dirty="0"/>
              <a:t>package contains all the classes required for input-output operations.</a:t>
            </a:r>
          </a:p>
          <a:p>
            <a:r>
              <a:rPr lang="en-US" dirty="0"/>
              <a:t>The stream in the java.io package</a:t>
            </a:r>
            <a:r>
              <a:rPr lang="en-US" b="1" dirty="0"/>
              <a:t> </a:t>
            </a:r>
            <a:r>
              <a:rPr lang="en-US" dirty="0">
                <a:solidFill>
                  <a:srgbClr val="B71B1C"/>
                </a:solidFill>
              </a:rPr>
              <a:t>supports</a:t>
            </a:r>
            <a:r>
              <a:rPr lang="en-US" b="1" dirty="0">
                <a:solidFill>
                  <a:schemeClr val="tx2"/>
                </a:solidFill>
              </a:rPr>
              <a:t> </a:t>
            </a:r>
            <a:r>
              <a:rPr lang="en-US" dirty="0"/>
              <a:t>all the </a:t>
            </a:r>
            <a:r>
              <a:rPr lang="en-US" dirty="0">
                <a:solidFill>
                  <a:srgbClr val="B71B1C"/>
                </a:solidFill>
              </a:rPr>
              <a:t>datatype</a:t>
            </a:r>
            <a:r>
              <a:rPr lang="en-US" dirty="0">
                <a:solidFill>
                  <a:schemeClr val="tx2"/>
                </a:solidFill>
              </a:rPr>
              <a:t> </a:t>
            </a:r>
            <a:r>
              <a:rPr lang="en-US" dirty="0"/>
              <a:t>including primitive.</a:t>
            </a:r>
            <a:endParaRPr lang="en-US" dirty="0">
              <a:solidFill>
                <a:schemeClr val="tx2"/>
              </a:solidFill>
            </a:endParaRPr>
          </a:p>
        </p:txBody>
      </p:sp>
    </p:spTree>
    <p:extLst>
      <p:ext uri="{BB962C8B-B14F-4D97-AF65-F5344CB8AC3E}">
        <p14:creationId xmlns:p14="http://schemas.microsoft.com/office/powerpoint/2010/main" val="1573432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A3687-4F5B-AA3C-B50C-0E603EA64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387C4-C7D5-AC01-5971-03C9B05CA4E4}"/>
              </a:ext>
            </a:extLst>
          </p:cNvPr>
          <p:cNvSpPr>
            <a:spLocks noGrp="1"/>
          </p:cNvSpPr>
          <p:nvPr>
            <p:ph type="title"/>
          </p:nvPr>
        </p:nvSpPr>
        <p:spPr>
          <a:xfrm>
            <a:off x="0" y="1"/>
            <a:ext cx="12192000" cy="711200"/>
          </a:xfrm>
        </p:spPr>
        <p:txBody>
          <a:bodyPr/>
          <a:lstStyle/>
          <a:p>
            <a:r>
              <a:rPr lang="en-US" dirty="0"/>
              <a:t>Byte Streams</a:t>
            </a:r>
          </a:p>
        </p:txBody>
      </p:sp>
      <p:sp>
        <p:nvSpPr>
          <p:cNvPr id="3" name="Content Placeholder 2">
            <a:extLst>
              <a:ext uri="{FF2B5EF4-FFF2-40B4-BE49-F238E27FC236}">
                <a16:creationId xmlns:a16="http://schemas.microsoft.com/office/drawing/2014/main" id="{A9E38F9A-D4EE-EE13-1201-9A9100F6F272}"/>
              </a:ext>
            </a:extLst>
          </p:cNvPr>
          <p:cNvSpPr>
            <a:spLocks noGrp="1"/>
          </p:cNvSpPr>
          <p:nvPr>
            <p:ph idx="1"/>
          </p:nvPr>
        </p:nvSpPr>
        <p:spPr>
          <a:xfrm>
            <a:off x="131180" y="863444"/>
            <a:ext cx="11929641" cy="5590565"/>
          </a:xfrm>
        </p:spPr>
        <p:txBody>
          <a:bodyPr/>
          <a:lstStyle/>
          <a:p>
            <a:r>
              <a:rPr lang="en-US" dirty="0"/>
              <a:t>Byte streams provide a convenient means for handling input and output of bytes.</a:t>
            </a:r>
          </a:p>
          <a:p>
            <a:r>
              <a:rPr lang="en-US" dirty="0"/>
              <a:t>Byte streams are used, for example, when reading or writing binary data.</a:t>
            </a:r>
          </a:p>
          <a:p>
            <a:endParaRPr lang="en-US" dirty="0"/>
          </a:p>
        </p:txBody>
      </p:sp>
    </p:spTree>
    <p:extLst>
      <p:ext uri="{BB962C8B-B14F-4D97-AF65-F5344CB8AC3E}">
        <p14:creationId xmlns:p14="http://schemas.microsoft.com/office/powerpoint/2010/main" val="368607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3FAAD-325F-BABF-B341-6032AD61E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5D725-0527-D4A4-2966-69AB7D767039}"/>
              </a:ext>
            </a:extLst>
          </p:cNvPr>
          <p:cNvSpPr>
            <a:spLocks noGrp="1"/>
          </p:cNvSpPr>
          <p:nvPr>
            <p:ph type="title"/>
          </p:nvPr>
        </p:nvSpPr>
        <p:spPr>
          <a:xfrm>
            <a:off x="0" y="1"/>
            <a:ext cx="12192000" cy="711200"/>
          </a:xfrm>
        </p:spPr>
        <p:txBody>
          <a:bodyPr/>
          <a:lstStyle/>
          <a:p>
            <a:r>
              <a:rPr lang="en-US" dirty="0" err="1"/>
              <a:t>FileOutputStream</a:t>
            </a:r>
            <a:endParaRPr lang="en-US" dirty="0"/>
          </a:p>
        </p:txBody>
      </p:sp>
      <p:sp>
        <p:nvSpPr>
          <p:cNvPr id="3" name="Content Placeholder 2">
            <a:extLst>
              <a:ext uri="{FF2B5EF4-FFF2-40B4-BE49-F238E27FC236}">
                <a16:creationId xmlns:a16="http://schemas.microsoft.com/office/drawing/2014/main" id="{00D55CA6-73BA-F50B-F942-EA87D3D92A94}"/>
              </a:ext>
            </a:extLst>
          </p:cNvPr>
          <p:cNvSpPr>
            <a:spLocks noGrp="1"/>
          </p:cNvSpPr>
          <p:nvPr>
            <p:ph idx="1"/>
          </p:nvPr>
        </p:nvSpPr>
        <p:spPr>
          <a:xfrm>
            <a:off x="131179" y="900450"/>
            <a:ext cx="11929641" cy="5590565"/>
          </a:xfrm>
        </p:spPr>
        <p:txBody>
          <a:bodyPr/>
          <a:lstStyle/>
          <a:p>
            <a:r>
              <a:rPr lang="en-US" dirty="0"/>
              <a:t>Java </a:t>
            </a:r>
            <a:r>
              <a:rPr lang="en-US" dirty="0" err="1">
                <a:solidFill>
                  <a:srgbClr val="C00000"/>
                </a:solidFill>
                <a:latin typeface="Consolas" panose="020B0609020204030204" pitchFamily="49" charset="0"/>
              </a:rPr>
              <a:t>FileOutputStream</a:t>
            </a:r>
            <a:r>
              <a:rPr lang="en-US" dirty="0">
                <a:solidFill>
                  <a:srgbClr val="C00000"/>
                </a:solidFill>
              </a:rPr>
              <a:t> </a:t>
            </a:r>
            <a:r>
              <a:rPr lang="en-US" dirty="0"/>
              <a:t>is an output stream for writing data to a file.</a:t>
            </a:r>
          </a:p>
          <a:p>
            <a:r>
              <a:rPr lang="en-US" dirty="0" err="1">
                <a:solidFill>
                  <a:srgbClr val="C00000"/>
                </a:solidFill>
                <a:latin typeface="Consolas" panose="020B0609020204030204" pitchFamily="49" charset="0"/>
              </a:rPr>
              <a:t>FileOutputStream</a:t>
            </a:r>
            <a:r>
              <a:rPr lang="en-US" dirty="0">
                <a:solidFill>
                  <a:srgbClr val="C00000"/>
                </a:solidFill>
              </a:rPr>
              <a:t> </a:t>
            </a:r>
            <a:r>
              <a:rPr lang="en-US" dirty="0"/>
              <a:t>will create the file before opening it for output.</a:t>
            </a:r>
          </a:p>
          <a:p>
            <a:r>
              <a:rPr lang="en-US" dirty="0"/>
              <a:t>On opening a read only file, it will throw an exception.</a:t>
            </a:r>
          </a:p>
          <a:p>
            <a:endParaRPr lang="en-US" dirty="0"/>
          </a:p>
          <a:p>
            <a:endParaRPr lang="en-US" dirty="0"/>
          </a:p>
        </p:txBody>
      </p:sp>
      <p:sp>
        <p:nvSpPr>
          <p:cNvPr id="4" name="Oval 3">
            <a:extLst>
              <a:ext uri="{FF2B5EF4-FFF2-40B4-BE49-F238E27FC236}">
                <a16:creationId xmlns:a16="http://schemas.microsoft.com/office/drawing/2014/main" id="{7E5D2C41-FAA9-23D2-D432-D29EE08DD151}"/>
              </a:ext>
            </a:extLst>
          </p:cNvPr>
          <p:cNvSpPr/>
          <p:nvPr/>
        </p:nvSpPr>
        <p:spPr>
          <a:xfrm>
            <a:off x="973975" y="2272146"/>
            <a:ext cx="2286000" cy="1262743"/>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tIns="0" bIns="144000" rtlCol="0" anchor="ctr"/>
          <a:lstStyle/>
          <a:p>
            <a:pPr algn="ctr"/>
            <a:r>
              <a:rPr lang="en-US" sz="2400" dirty="0"/>
              <a:t>Java Application</a:t>
            </a:r>
          </a:p>
        </p:txBody>
      </p:sp>
      <p:sp>
        <p:nvSpPr>
          <p:cNvPr id="5" name="Rectangle 4">
            <a:extLst>
              <a:ext uri="{FF2B5EF4-FFF2-40B4-BE49-F238E27FC236}">
                <a16:creationId xmlns:a16="http://schemas.microsoft.com/office/drawing/2014/main" id="{ABA1EA02-EA8F-2FC8-B803-21486B207789}"/>
              </a:ext>
            </a:extLst>
          </p:cNvPr>
          <p:cNvSpPr/>
          <p:nvPr/>
        </p:nvSpPr>
        <p:spPr>
          <a:xfrm>
            <a:off x="3793375" y="2636817"/>
            <a:ext cx="2438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1011011101 ….</a:t>
            </a:r>
          </a:p>
        </p:txBody>
      </p:sp>
      <p:sp>
        <p:nvSpPr>
          <p:cNvPr id="6" name="Rectangle 5">
            <a:extLst>
              <a:ext uri="{FF2B5EF4-FFF2-40B4-BE49-F238E27FC236}">
                <a16:creationId xmlns:a16="http://schemas.microsoft.com/office/drawing/2014/main" id="{220CEF97-750A-996D-9FA7-6AE276E4F34A}"/>
              </a:ext>
            </a:extLst>
          </p:cNvPr>
          <p:cNvSpPr/>
          <p:nvPr/>
        </p:nvSpPr>
        <p:spPr>
          <a:xfrm>
            <a:off x="6860425" y="2541567"/>
            <a:ext cx="1676400" cy="72390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File</a:t>
            </a:r>
          </a:p>
        </p:txBody>
      </p:sp>
      <p:cxnSp>
        <p:nvCxnSpPr>
          <p:cNvPr id="7" name="Straight Arrow Connector 6">
            <a:extLst>
              <a:ext uri="{FF2B5EF4-FFF2-40B4-BE49-F238E27FC236}">
                <a16:creationId xmlns:a16="http://schemas.microsoft.com/office/drawing/2014/main" id="{3F0C9FF9-12EB-2D8D-140F-F0A8BAAAA875}"/>
              </a:ext>
            </a:extLst>
          </p:cNvPr>
          <p:cNvCxnSpPr>
            <a:stCxn id="4" idx="6"/>
            <a:endCxn id="5" idx="1"/>
          </p:cNvCxnSpPr>
          <p:nvPr/>
        </p:nvCxnSpPr>
        <p:spPr>
          <a:xfrm flipV="1">
            <a:off x="3259975" y="2903517"/>
            <a:ext cx="533400" cy="1"/>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4F4EF7D-1356-6E54-DAD0-55024C9A9969}"/>
              </a:ext>
            </a:extLst>
          </p:cNvPr>
          <p:cNvCxnSpPr>
            <a:stCxn id="5" idx="3"/>
            <a:endCxn id="6" idx="1"/>
          </p:cNvCxnSpPr>
          <p:nvPr/>
        </p:nvCxnSpPr>
        <p:spPr>
          <a:xfrm>
            <a:off x="6231775" y="2903517"/>
            <a:ext cx="62865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graphicFrame>
        <p:nvGraphicFramePr>
          <p:cNvPr id="9" name="Content Placeholder 5">
            <a:extLst>
              <a:ext uri="{FF2B5EF4-FFF2-40B4-BE49-F238E27FC236}">
                <a16:creationId xmlns:a16="http://schemas.microsoft.com/office/drawing/2014/main" id="{249AF3EE-EDFC-61E0-8B4E-D61D03C682D3}"/>
              </a:ext>
            </a:extLst>
          </p:cNvPr>
          <p:cNvGraphicFramePr>
            <a:graphicFrameLocks/>
          </p:cNvGraphicFramePr>
          <p:nvPr/>
        </p:nvGraphicFramePr>
        <p:xfrm>
          <a:off x="365066" y="3579578"/>
          <a:ext cx="10882054" cy="1010920"/>
        </p:xfrm>
        <a:graphic>
          <a:graphicData uri="http://schemas.openxmlformats.org/drawingml/2006/table">
            <a:tbl>
              <a:tblPr firstRow="1">
                <a:tableStyleId>{5C22544A-7EE6-4342-B048-85BDC9FD1C3A}</a:tableStyleId>
              </a:tblPr>
              <a:tblGrid>
                <a:gridCol w="520446">
                  <a:extLst>
                    <a:ext uri="{9D8B030D-6E8A-4147-A177-3AD203B41FA5}">
                      <a16:colId xmlns:a16="http://schemas.microsoft.com/office/drawing/2014/main" val="20000"/>
                    </a:ext>
                  </a:extLst>
                </a:gridCol>
                <a:gridCol w="10361608">
                  <a:extLst>
                    <a:ext uri="{9D8B030D-6E8A-4147-A177-3AD203B41FA5}">
                      <a16:colId xmlns:a16="http://schemas.microsoft.com/office/drawing/2014/main" val="20001"/>
                    </a:ext>
                  </a:extLst>
                </a:gridCol>
              </a:tblGrid>
              <a:tr h="370840">
                <a:tc>
                  <a:txBody>
                    <a:bodyPr/>
                    <a:lstStyle/>
                    <a:p>
                      <a:r>
                        <a:rPr lang="en-US" dirty="0"/>
                        <a:t>Sr.</a:t>
                      </a:r>
                    </a:p>
                  </a:txBody>
                  <a:tcPr/>
                </a:tc>
                <a:tc>
                  <a:txBody>
                    <a:bodyPr/>
                    <a:lstStyle/>
                    <a:p>
                      <a:r>
                        <a:rPr lang="en-US" dirty="0"/>
                        <a:t>Method</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b="1" dirty="0"/>
                        <a:t>void write(byte[] b)</a:t>
                      </a:r>
                    </a:p>
                    <a:p>
                      <a:pPr algn="just"/>
                      <a:r>
                        <a:rPr lang="en-US" dirty="0"/>
                        <a:t>This method writes </a:t>
                      </a:r>
                      <a:r>
                        <a:rPr lang="en-US" dirty="0" err="1"/>
                        <a:t>b.length</a:t>
                      </a:r>
                      <a:r>
                        <a:rPr lang="en-US" dirty="0"/>
                        <a:t> bytes from the specified byte array to this file output stream.</a:t>
                      </a:r>
                    </a:p>
                  </a:txBody>
                  <a:tcPr/>
                </a:tc>
                <a:extLst>
                  <a:ext uri="{0D108BD9-81ED-4DB2-BD59-A6C34878D82A}">
                    <a16:rowId xmlns:a16="http://schemas.microsoft.com/office/drawing/2014/main" val="10001"/>
                  </a:ext>
                </a:extLst>
              </a:tr>
            </a:tbl>
          </a:graphicData>
        </a:graphic>
      </p:graphicFrame>
      <p:graphicFrame>
        <p:nvGraphicFramePr>
          <p:cNvPr id="10" name="Table 9">
            <a:extLst>
              <a:ext uri="{FF2B5EF4-FFF2-40B4-BE49-F238E27FC236}">
                <a16:creationId xmlns:a16="http://schemas.microsoft.com/office/drawing/2014/main" id="{E1329EAC-A3B7-E74B-9925-B3FEA16FB7FB}"/>
              </a:ext>
            </a:extLst>
          </p:cNvPr>
          <p:cNvGraphicFramePr>
            <a:graphicFrameLocks noGrp="1"/>
          </p:cNvGraphicFramePr>
          <p:nvPr/>
        </p:nvGraphicFramePr>
        <p:xfrm>
          <a:off x="365065" y="4581640"/>
          <a:ext cx="10882055" cy="640080"/>
        </p:xfrm>
        <a:graphic>
          <a:graphicData uri="http://schemas.openxmlformats.org/drawingml/2006/table">
            <a:tbl>
              <a:tblPr>
                <a:tableStyleId>{5C22544A-7EE6-4342-B048-85BDC9FD1C3A}</a:tableStyleId>
              </a:tblPr>
              <a:tblGrid>
                <a:gridCol w="520446">
                  <a:extLst>
                    <a:ext uri="{9D8B030D-6E8A-4147-A177-3AD203B41FA5}">
                      <a16:colId xmlns:a16="http://schemas.microsoft.com/office/drawing/2014/main" val="20000"/>
                    </a:ext>
                  </a:extLst>
                </a:gridCol>
                <a:gridCol w="10361609">
                  <a:extLst>
                    <a:ext uri="{9D8B030D-6E8A-4147-A177-3AD203B41FA5}">
                      <a16:colId xmlns:a16="http://schemas.microsoft.com/office/drawing/2014/main" val="20001"/>
                    </a:ext>
                  </a:extLst>
                </a:gridCol>
              </a:tblGrid>
              <a:tr h="370840">
                <a:tc>
                  <a:txBody>
                    <a:bodyPr/>
                    <a:lstStyle/>
                    <a:p>
                      <a:r>
                        <a:rPr lang="en-US" dirty="0"/>
                        <a:t>2</a:t>
                      </a:r>
                    </a:p>
                  </a:txBody>
                  <a:tcPr/>
                </a:tc>
                <a:tc>
                  <a:txBody>
                    <a:bodyPr/>
                    <a:lstStyle/>
                    <a:p>
                      <a:r>
                        <a:rPr lang="en-US" b="1" dirty="0"/>
                        <a:t>void write(byte[] b, </a:t>
                      </a:r>
                      <a:r>
                        <a:rPr lang="en-US" b="1" dirty="0" err="1"/>
                        <a:t>int</a:t>
                      </a:r>
                      <a:r>
                        <a:rPr lang="en-US" b="1" dirty="0"/>
                        <a:t> off, </a:t>
                      </a:r>
                      <a:r>
                        <a:rPr lang="en-US" b="1" dirty="0" err="1"/>
                        <a:t>int</a:t>
                      </a:r>
                      <a:r>
                        <a:rPr lang="en-US" b="1" dirty="0"/>
                        <a:t> </a:t>
                      </a:r>
                      <a:r>
                        <a:rPr lang="en-US" b="1" dirty="0" err="1"/>
                        <a:t>len</a:t>
                      </a:r>
                      <a:r>
                        <a:rPr lang="en-US" b="1" dirty="0"/>
                        <a:t>)</a:t>
                      </a:r>
                    </a:p>
                    <a:p>
                      <a:pPr algn="just"/>
                      <a:r>
                        <a:rPr lang="en-US" dirty="0"/>
                        <a:t>This method writes </a:t>
                      </a:r>
                      <a:r>
                        <a:rPr lang="en-US" dirty="0" err="1"/>
                        <a:t>len</a:t>
                      </a:r>
                      <a:r>
                        <a:rPr lang="en-US" dirty="0"/>
                        <a:t> bytes from the specified byte array starting at offset off to this file output stream.</a:t>
                      </a:r>
                    </a:p>
                  </a:txBody>
                  <a:tcPr/>
                </a:tc>
                <a:extLst>
                  <a:ext uri="{0D108BD9-81ED-4DB2-BD59-A6C34878D82A}">
                    <a16:rowId xmlns:a16="http://schemas.microsoft.com/office/drawing/2014/main" val="10000"/>
                  </a:ext>
                </a:extLst>
              </a:tr>
            </a:tbl>
          </a:graphicData>
        </a:graphic>
      </p:graphicFrame>
      <p:graphicFrame>
        <p:nvGraphicFramePr>
          <p:cNvPr id="11" name="Table 10">
            <a:extLst>
              <a:ext uri="{FF2B5EF4-FFF2-40B4-BE49-F238E27FC236}">
                <a16:creationId xmlns:a16="http://schemas.microsoft.com/office/drawing/2014/main" id="{9AA43E30-899E-50D9-1C5F-22022D97C5A3}"/>
              </a:ext>
            </a:extLst>
          </p:cNvPr>
          <p:cNvGraphicFramePr>
            <a:graphicFrameLocks noGrp="1"/>
          </p:cNvGraphicFramePr>
          <p:nvPr/>
        </p:nvGraphicFramePr>
        <p:xfrm>
          <a:off x="365064" y="5221671"/>
          <a:ext cx="10882056" cy="640080"/>
        </p:xfrm>
        <a:graphic>
          <a:graphicData uri="http://schemas.openxmlformats.org/drawingml/2006/table">
            <a:tbl>
              <a:tblPr>
                <a:tableStyleId>{5C22544A-7EE6-4342-B048-85BDC9FD1C3A}</a:tableStyleId>
              </a:tblPr>
              <a:tblGrid>
                <a:gridCol w="520446">
                  <a:extLst>
                    <a:ext uri="{9D8B030D-6E8A-4147-A177-3AD203B41FA5}">
                      <a16:colId xmlns:a16="http://schemas.microsoft.com/office/drawing/2014/main" val="20000"/>
                    </a:ext>
                  </a:extLst>
                </a:gridCol>
                <a:gridCol w="10361610">
                  <a:extLst>
                    <a:ext uri="{9D8B030D-6E8A-4147-A177-3AD203B41FA5}">
                      <a16:colId xmlns:a16="http://schemas.microsoft.com/office/drawing/2014/main" val="20001"/>
                    </a:ext>
                  </a:extLst>
                </a:gridCol>
              </a:tblGrid>
              <a:tr h="370840">
                <a:tc>
                  <a:txBody>
                    <a:bodyPr/>
                    <a:lstStyle/>
                    <a:p>
                      <a:r>
                        <a:rPr lang="en-US" dirty="0"/>
                        <a:t>3</a:t>
                      </a:r>
                    </a:p>
                  </a:txBody>
                  <a:tcPr/>
                </a:tc>
                <a:tc>
                  <a:txBody>
                    <a:bodyPr/>
                    <a:lstStyle/>
                    <a:p>
                      <a:r>
                        <a:rPr lang="en-US" b="1" dirty="0"/>
                        <a:t>void write(</a:t>
                      </a:r>
                      <a:r>
                        <a:rPr lang="en-US" b="1" dirty="0" err="1"/>
                        <a:t>int</a:t>
                      </a:r>
                      <a:r>
                        <a:rPr lang="en-US" b="1" dirty="0"/>
                        <a:t> b)</a:t>
                      </a:r>
                    </a:p>
                    <a:p>
                      <a:pPr algn="just"/>
                      <a:r>
                        <a:rPr lang="en-US" dirty="0"/>
                        <a:t>This method writes the specified byte to this file output stream.</a:t>
                      </a:r>
                    </a:p>
                  </a:txBody>
                  <a:tcPr/>
                </a:tc>
                <a:extLst>
                  <a:ext uri="{0D108BD9-81ED-4DB2-BD59-A6C34878D82A}">
                    <a16:rowId xmlns:a16="http://schemas.microsoft.com/office/drawing/2014/main" val="10000"/>
                  </a:ext>
                </a:extLst>
              </a:tr>
            </a:tbl>
          </a:graphicData>
        </a:graphic>
      </p:graphicFrame>
      <p:graphicFrame>
        <p:nvGraphicFramePr>
          <p:cNvPr id="12" name="Table 11">
            <a:extLst>
              <a:ext uri="{FF2B5EF4-FFF2-40B4-BE49-F238E27FC236}">
                <a16:creationId xmlns:a16="http://schemas.microsoft.com/office/drawing/2014/main" id="{85497420-C024-818E-5ECF-463E2B500A11}"/>
              </a:ext>
            </a:extLst>
          </p:cNvPr>
          <p:cNvGraphicFramePr>
            <a:graphicFrameLocks noGrp="1"/>
          </p:cNvGraphicFramePr>
          <p:nvPr/>
        </p:nvGraphicFramePr>
        <p:xfrm>
          <a:off x="365062" y="5852893"/>
          <a:ext cx="10882057" cy="640080"/>
        </p:xfrm>
        <a:graphic>
          <a:graphicData uri="http://schemas.openxmlformats.org/drawingml/2006/table">
            <a:tbl>
              <a:tblPr>
                <a:tableStyleId>{5C22544A-7EE6-4342-B048-85BDC9FD1C3A}</a:tableStyleId>
              </a:tblPr>
              <a:tblGrid>
                <a:gridCol w="520446">
                  <a:extLst>
                    <a:ext uri="{9D8B030D-6E8A-4147-A177-3AD203B41FA5}">
                      <a16:colId xmlns:a16="http://schemas.microsoft.com/office/drawing/2014/main" val="20000"/>
                    </a:ext>
                  </a:extLst>
                </a:gridCol>
                <a:gridCol w="10361611">
                  <a:extLst>
                    <a:ext uri="{9D8B030D-6E8A-4147-A177-3AD203B41FA5}">
                      <a16:colId xmlns:a16="http://schemas.microsoft.com/office/drawing/2014/main" val="20001"/>
                    </a:ext>
                  </a:extLst>
                </a:gridCol>
              </a:tblGrid>
              <a:tr h="370840">
                <a:tc>
                  <a:txBody>
                    <a:bodyPr/>
                    <a:lstStyle/>
                    <a:p>
                      <a:r>
                        <a:rPr lang="en-US" dirty="0"/>
                        <a:t>4</a:t>
                      </a:r>
                    </a:p>
                  </a:txBody>
                  <a:tcPr/>
                </a:tc>
                <a:tc>
                  <a:txBody>
                    <a:bodyPr/>
                    <a:lstStyle/>
                    <a:p>
                      <a:r>
                        <a:rPr lang="en-US" b="1" dirty="0"/>
                        <a:t>void close()</a:t>
                      </a:r>
                    </a:p>
                    <a:p>
                      <a:pPr algn="just"/>
                      <a:r>
                        <a:rPr lang="en-US" b="0" dirty="0"/>
                        <a:t>This method closes this file output stream and releases any system resources associated with this stream.</a:t>
                      </a: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87823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down)">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8884F-F0F2-4823-29EC-0F19CE27B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0A4F3-1EB0-83B5-981F-B63946F03EE8}"/>
              </a:ext>
            </a:extLst>
          </p:cNvPr>
          <p:cNvSpPr>
            <a:spLocks noGrp="1"/>
          </p:cNvSpPr>
          <p:nvPr>
            <p:ph type="title"/>
          </p:nvPr>
        </p:nvSpPr>
        <p:spPr>
          <a:xfrm>
            <a:off x="0" y="1"/>
            <a:ext cx="12192000" cy="711200"/>
          </a:xfrm>
        </p:spPr>
        <p:txBody>
          <a:bodyPr/>
          <a:lstStyle/>
          <a:p>
            <a:r>
              <a:rPr lang="en-US" dirty="0" err="1"/>
              <a:t>FileOutputStream</a:t>
            </a:r>
            <a:r>
              <a:rPr lang="en-US" dirty="0"/>
              <a:t> Example</a:t>
            </a:r>
          </a:p>
        </p:txBody>
      </p:sp>
      <p:sp>
        <p:nvSpPr>
          <p:cNvPr id="3" name="Rectangle 2">
            <a:extLst>
              <a:ext uri="{FF2B5EF4-FFF2-40B4-BE49-F238E27FC236}">
                <a16:creationId xmlns:a16="http://schemas.microsoft.com/office/drawing/2014/main" id="{58AEDA91-182D-65F5-2985-B4EDAF8DFF18}"/>
              </a:ext>
            </a:extLst>
          </p:cNvPr>
          <p:cNvSpPr/>
          <p:nvPr/>
        </p:nvSpPr>
        <p:spPr>
          <a:xfrm>
            <a:off x="101136" y="850512"/>
            <a:ext cx="9633068" cy="3970318"/>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t>
            </a:r>
            <a:r>
              <a:rPr lang="en-US" b="1" dirty="0">
                <a:latin typeface="Consolas" panose="020B0609020204030204" pitchFamily="49" charset="0"/>
              </a:rPr>
              <a:t>FileOutDemo {</a:t>
            </a:r>
            <a:endParaRPr lang="en-US" b="1" dirty="0">
              <a:solidFill>
                <a:srgbClr val="000000"/>
              </a:solidFill>
              <a:highlight>
                <a:srgbClr val="D4D4D4"/>
              </a:highlight>
              <a:latin typeface="Consolas" panose="020B0609020204030204" pitchFamily="49" charset="0"/>
            </a:endParaRP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b="1" dirty="0">
                <a:solidFill>
                  <a:srgbClr val="7F0055"/>
                </a:solidFill>
                <a:latin typeface="Consolas"/>
              </a:rPr>
              <a:t>try</a:t>
            </a:r>
            <a:r>
              <a:rPr lang="en-US" b="1" dirty="0">
                <a:solidFill>
                  <a:srgbClr val="000000"/>
                </a:solidFill>
                <a:latin typeface="Consolas"/>
              </a:rPr>
              <a:t> {</a:t>
            </a:r>
          </a:p>
          <a:p>
            <a:pPr lvl="3"/>
            <a:r>
              <a:rPr lang="en-US" dirty="0" err="1">
                <a:solidFill>
                  <a:srgbClr val="000000"/>
                </a:solidFill>
                <a:latin typeface="Consolas"/>
              </a:rPr>
              <a:t>FileOutputStream</a:t>
            </a:r>
            <a:r>
              <a:rPr lang="en-US" dirty="0">
                <a:solidFill>
                  <a:srgbClr val="000000"/>
                </a:solidFill>
                <a:latin typeface="Consolas"/>
              </a:rPr>
              <a:t> </a:t>
            </a:r>
            <a:r>
              <a:rPr lang="en-US" dirty="0" err="1">
                <a:solidFill>
                  <a:srgbClr val="6A3E3E"/>
                </a:solidFill>
                <a:latin typeface="Consolas"/>
              </a:rPr>
              <a:t>fout</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FileOutputStream</a:t>
            </a:r>
            <a:r>
              <a:rPr lang="en-US" b="1" dirty="0">
                <a:solidFill>
                  <a:srgbClr val="000000"/>
                </a:solidFill>
                <a:latin typeface="Consolas"/>
              </a:rPr>
              <a:t>(</a:t>
            </a:r>
            <a:r>
              <a:rPr lang="en-US" b="1" dirty="0">
                <a:solidFill>
                  <a:srgbClr val="2A00FF"/>
                </a:solidFill>
                <a:latin typeface="Consolas"/>
              </a:rPr>
              <a:t>"abc.txt"</a:t>
            </a:r>
            <a:r>
              <a:rPr lang="en-US" b="1" dirty="0">
                <a:solidFill>
                  <a:srgbClr val="000000"/>
                </a:solidFill>
                <a:latin typeface="Consolas"/>
              </a:rPr>
              <a:t>);</a:t>
            </a:r>
          </a:p>
          <a:p>
            <a:pPr lvl="3"/>
            <a:r>
              <a:rPr lang="en-US" dirty="0">
                <a:solidFill>
                  <a:srgbClr val="000000"/>
                </a:solidFill>
                <a:latin typeface="Consolas"/>
              </a:rPr>
              <a:t>String </a:t>
            </a:r>
            <a:r>
              <a:rPr lang="en-US" dirty="0">
                <a:solidFill>
                  <a:srgbClr val="6A3E3E"/>
                </a:solidFill>
                <a:latin typeface="Consolas"/>
              </a:rPr>
              <a:t>s</a:t>
            </a:r>
            <a:r>
              <a:rPr lang="en-US" dirty="0">
                <a:solidFill>
                  <a:srgbClr val="000000"/>
                </a:solidFill>
                <a:latin typeface="Consolas"/>
              </a:rPr>
              <a:t> = </a:t>
            </a:r>
            <a:r>
              <a:rPr lang="en-US" dirty="0">
                <a:solidFill>
                  <a:srgbClr val="2A00FF"/>
                </a:solidFill>
                <a:latin typeface="Consolas"/>
              </a:rPr>
              <a:t>"</a:t>
            </a:r>
            <a:r>
              <a:rPr lang="en-US" dirty="0" err="1">
                <a:solidFill>
                  <a:srgbClr val="2A00FF"/>
                </a:solidFill>
                <a:latin typeface="Consolas"/>
              </a:rPr>
              <a:t>Sourav</a:t>
            </a:r>
            <a:r>
              <a:rPr lang="en-US" dirty="0">
                <a:solidFill>
                  <a:srgbClr val="2A00FF"/>
                </a:solidFill>
                <a:latin typeface="Consolas"/>
              </a:rPr>
              <a:t> </a:t>
            </a:r>
            <a:r>
              <a:rPr lang="en-US" dirty="0" err="1">
                <a:solidFill>
                  <a:srgbClr val="2A00FF"/>
                </a:solidFill>
                <a:latin typeface="Consolas"/>
              </a:rPr>
              <a:t>Ganguly</a:t>
            </a:r>
            <a:r>
              <a:rPr lang="en-US" dirty="0">
                <a:solidFill>
                  <a:srgbClr val="2A00FF"/>
                </a:solidFill>
                <a:latin typeface="Consolas"/>
              </a:rPr>
              <a:t> is my favorite player"</a:t>
            </a:r>
            <a:r>
              <a:rPr lang="en-US" dirty="0">
                <a:solidFill>
                  <a:srgbClr val="000000"/>
                </a:solidFill>
                <a:latin typeface="Consolas"/>
              </a:rPr>
              <a:t>;</a:t>
            </a:r>
          </a:p>
          <a:p>
            <a:pPr lvl="3"/>
            <a:r>
              <a:rPr lang="en-US" b="1" dirty="0">
                <a:solidFill>
                  <a:srgbClr val="7F0055"/>
                </a:solidFill>
                <a:latin typeface="Consolas"/>
              </a:rPr>
              <a:t>byte</a:t>
            </a:r>
            <a:r>
              <a:rPr lang="en-US" b="1" dirty="0">
                <a:solidFill>
                  <a:srgbClr val="000000"/>
                </a:solidFill>
                <a:latin typeface="Consolas"/>
              </a:rPr>
              <a:t> </a:t>
            </a:r>
            <a:r>
              <a:rPr lang="en-US" b="1" dirty="0">
                <a:solidFill>
                  <a:srgbClr val="6A3E3E"/>
                </a:solidFill>
                <a:latin typeface="Consolas"/>
              </a:rPr>
              <a:t>b</a:t>
            </a:r>
            <a:r>
              <a:rPr lang="en-US" b="1" dirty="0">
                <a:solidFill>
                  <a:srgbClr val="000000"/>
                </a:solidFill>
                <a:latin typeface="Consolas"/>
              </a:rPr>
              <a:t>[] = </a:t>
            </a:r>
            <a:r>
              <a:rPr lang="en-US" b="1" dirty="0" err="1">
                <a:solidFill>
                  <a:srgbClr val="6A3E3E"/>
                </a:solidFill>
                <a:latin typeface="Consolas"/>
              </a:rPr>
              <a:t>s</a:t>
            </a:r>
            <a:r>
              <a:rPr lang="en-US" b="1" dirty="0" err="1">
                <a:solidFill>
                  <a:srgbClr val="000000"/>
                </a:solidFill>
                <a:latin typeface="Consolas"/>
              </a:rPr>
              <a:t>.getBytes</a:t>
            </a:r>
            <a:r>
              <a:rPr lang="en-US" b="1" dirty="0">
                <a:solidFill>
                  <a:srgbClr val="000000"/>
                </a:solidFill>
                <a:latin typeface="Consolas"/>
              </a:rPr>
              <a:t>();</a:t>
            </a:r>
          </a:p>
          <a:p>
            <a:pPr lvl="3"/>
            <a:r>
              <a:rPr lang="en-US" dirty="0" err="1">
                <a:solidFill>
                  <a:srgbClr val="6A3E3E"/>
                </a:solidFill>
                <a:latin typeface="Consolas"/>
              </a:rPr>
              <a:t>fout</a:t>
            </a:r>
            <a:r>
              <a:rPr lang="en-US" dirty="0" err="1">
                <a:solidFill>
                  <a:srgbClr val="000000"/>
                </a:solidFill>
                <a:latin typeface="Consolas"/>
              </a:rPr>
              <a:t>.write</a:t>
            </a:r>
            <a:r>
              <a:rPr lang="en-US" dirty="0">
                <a:solidFill>
                  <a:srgbClr val="000000"/>
                </a:solidFill>
                <a:latin typeface="Consolas"/>
              </a:rPr>
              <a:t>(</a:t>
            </a:r>
            <a:r>
              <a:rPr lang="en-US" dirty="0">
                <a:solidFill>
                  <a:srgbClr val="6A3E3E"/>
                </a:solidFill>
                <a:latin typeface="Consolas"/>
              </a:rPr>
              <a:t>b</a:t>
            </a:r>
            <a:r>
              <a:rPr lang="en-US" dirty="0">
                <a:solidFill>
                  <a:srgbClr val="000000"/>
                </a:solidFill>
                <a:latin typeface="Consolas"/>
              </a:rPr>
              <a:t>);</a:t>
            </a:r>
          </a:p>
          <a:p>
            <a:pPr lvl="3"/>
            <a:r>
              <a:rPr lang="en-US" dirty="0" err="1">
                <a:solidFill>
                  <a:srgbClr val="6A3E3E"/>
                </a:solidFill>
                <a:latin typeface="Consolas"/>
              </a:rPr>
              <a:t>fout</a:t>
            </a:r>
            <a:r>
              <a:rPr lang="en-US" dirty="0" err="1">
                <a:solidFill>
                  <a:srgbClr val="000000"/>
                </a:solidFill>
                <a:latin typeface="Consolas"/>
              </a:rPr>
              <a:t>.close</a:t>
            </a:r>
            <a:r>
              <a:rPr lang="en-US" dirty="0">
                <a:solidFill>
                  <a:srgbClr val="000000"/>
                </a:solidFill>
                <a:latin typeface="Consolas"/>
              </a:rPr>
              <a:t>();</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"Success..."</a:t>
            </a:r>
            <a:r>
              <a:rPr lang="en-US" b="1" i="1" dirty="0">
                <a:solidFill>
                  <a:srgbClr val="000000"/>
                </a:solidFill>
                <a:latin typeface="Consolas"/>
              </a:rPr>
              <a:t>);</a:t>
            </a:r>
          </a:p>
          <a:p>
            <a:pPr lvl="2"/>
            <a:r>
              <a:rPr lang="en-US" dirty="0">
                <a:solidFill>
                  <a:srgbClr val="000000"/>
                </a:solidFill>
                <a:latin typeface="Consolas"/>
              </a:rPr>
              <a:t>} </a:t>
            </a:r>
            <a:r>
              <a:rPr lang="en-US" b="1" dirty="0">
                <a:solidFill>
                  <a:srgbClr val="7F0055"/>
                </a:solidFill>
                <a:latin typeface="Consolas"/>
              </a:rPr>
              <a:t>catch</a:t>
            </a:r>
            <a:r>
              <a:rPr lang="en-US" b="1" dirty="0">
                <a:solidFill>
                  <a:srgbClr val="000000"/>
                </a:solidFill>
                <a:latin typeface="Consolas"/>
              </a:rPr>
              <a:t> (Exception </a:t>
            </a:r>
            <a:r>
              <a:rPr lang="en-US" b="1" dirty="0">
                <a:solidFill>
                  <a:srgbClr val="6A3E3E"/>
                </a:solidFill>
                <a:latin typeface="Consolas"/>
              </a:rPr>
              <a:t>e</a:t>
            </a:r>
            <a:r>
              <a:rPr lang="en-US" b="1" dirty="0">
                <a:solidFill>
                  <a:srgbClr val="000000"/>
                </a:solidFill>
                <a:latin typeface="Consolas"/>
              </a:rPr>
              <a:t>) {</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e</a:t>
            </a:r>
            <a:r>
              <a:rPr lang="en-US" b="1" i="1"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168884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4"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6CAA9-BA8A-B8A0-1586-F9CE64247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9563A-6C7E-D559-CADA-61613F3D26AB}"/>
              </a:ext>
            </a:extLst>
          </p:cNvPr>
          <p:cNvSpPr>
            <a:spLocks noGrp="1"/>
          </p:cNvSpPr>
          <p:nvPr>
            <p:ph type="title"/>
          </p:nvPr>
        </p:nvSpPr>
        <p:spPr>
          <a:xfrm>
            <a:off x="0" y="1"/>
            <a:ext cx="12192000" cy="711200"/>
          </a:xfrm>
        </p:spPr>
        <p:txBody>
          <a:bodyPr/>
          <a:lstStyle/>
          <a:p>
            <a:r>
              <a:rPr lang="en-US" dirty="0" err="1"/>
              <a:t>FileInputStream</a:t>
            </a:r>
            <a:endParaRPr lang="en-US" dirty="0"/>
          </a:p>
        </p:txBody>
      </p:sp>
      <p:sp>
        <p:nvSpPr>
          <p:cNvPr id="3" name="Content Placeholder 2">
            <a:extLst>
              <a:ext uri="{FF2B5EF4-FFF2-40B4-BE49-F238E27FC236}">
                <a16:creationId xmlns:a16="http://schemas.microsoft.com/office/drawing/2014/main" id="{66C07C15-6319-58E1-9E06-49CF3D944437}"/>
              </a:ext>
            </a:extLst>
          </p:cNvPr>
          <p:cNvSpPr>
            <a:spLocks noGrp="1"/>
          </p:cNvSpPr>
          <p:nvPr>
            <p:ph idx="1"/>
          </p:nvPr>
        </p:nvSpPr>
        <p:spPr>
          <a:xfrm>
            <a:off x="131180" y="863444"/>
            <a:ext cx="4540573" cy="5590565"/>
          </a:xfrm>
        </p:spPr>
        <p:txBody>
          <a:bodyPr/>
          <a:lstStyle/>
          <a:p>
            <a:r>
              <a:rPr lang="en-US" dirty="0" err="1">
                <a:solidFill>
                  <a:srgbClr val="C00000"/>
                </a:solidFill>
                <a:latin typeface="Consolas" panose="020B0609020204030204" pitchFamily="49" charset="0"/>
              </a:rPr>
              <a:t>FileInputStream</a:t>
            </a:r>
            <a:r>
              <a:rPr lang="en-US" dirty="0">
                <a:solidFill>
                  <a:srgbClr val="C00000"/>
                </a:solidFill>
              </a:rPr>
              <a:t> </a:t>
            </a:r>
            <a:r>
              <a:rPr lang="en-US" dirty="0"/>
              <a:t>class is used to read bytes from a file.</a:t>
            </a:r>
          </a:p>
          <a:p>
            <a:r>
              <a:rPr lang="en-US" dirty="0"/>
              <a:t>It should be used to read byte-oriented data for example to read image, audio, video etc.</a:t>
            </a:r>
          </a:p>
        </p:txBody>
      </p:sp>
      <p:sp>
        <p:nvSpPr>
          <p:cNvPr id="4" name="Oval 3">
            <a:extLst>
              <a:ext uri="{FF2B5EF4-FFF2-40B4-BE49-F238E27FC236}">
                <a16:creationId xmlns:a16="http://schemas.microsoft.com/office/drawing/2014/main" id="{9F13A4DC-5A3C-6AA5-8F50-BA994044B06F}"/>
              </a:ext>
            </a:extLst>
          </p:cNvPr>
          <p:cNvSpPr/>
          <p:nvPr/>
        </p:nvSpPr>
        <p:spPr>
          <a:xfrm>
            <a:off x="1112869" y="2967695"/>
            <a:ext cx="2577193" cy="1055915"/>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algn="ctr"/>
            <a:r>
              <a:rPr lang="en-US" sz="2400" dirty="0"/>
              <a:t>Java Application</a:t>
            </a:r>
          </a:p>
        </p:txBody>
      </p:sp>
      <p:sp>
        <p:nvSpPr>
          <p:cNvPr id="5" name="Rectangle 4">
            <a:extLst>
              <a:ext uri="{FF2B5EF4-FFF2-40B4-BE49-F238E27FC236}">
                <a16:creationId xmlns:a16="http://schemas.microsoft.com/office/drawing/2014/main" id="{B04A50BD-C947-72B7-3083-5171A7093285}"/>
              </a:ext>
            </a:extLst>
          </p:cNvPr>
          <p:cNvSpPr/>
          <p:nvPr/>
        </p:nvSpPr>
        <p:spPr>
          <a:xfrm>
            <a:off x="1182266" y="4407264"/>
            <a:ext cx="2438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1011011101 ….</a:t>
            </a:r>
          </a:p>
        </p:txBody>
      </p:sp>
      <p:sp>
        <p:nvSpPr>
          <p:cNvPr id="6" name="Rectangle 5">
            <a:extLst>
              <a:ext uri="{FF2B5EF4-FFF2-40B4-BE49-F238E27FC236}">
                <a16:creationId xmlns:a16="http://schemas.microsoft.com/office/drawing/2014/main" id="{93D580DD-147B-2117-1E62-B2E032B971DD}"/>
              </a:ext>
            </a:extLst>
          </p:cNvPr>
          <p:cNvSpPr/>
          <p:nvPr/>
        </p:nvSpPr>
        <p:spPr>
          <a:xfrm>
            <a:off x="1439635" y="5352794"/>
            <a:ext cx="1905000" cy="95794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File</a:t>
            </a:r>
          </a:p>
        </p:txBody>
      </p:sp>
      <p:cxnSp>
        <p:nvCxnSpPr>
          <p:cNvPr id="7" name="Straight Arrow Connector 6">
            <a:extLst>
              <a:ext uri="{FF2B5EF4-FFF2-40B4-BE49-F238E27FC236}">
                <a16:creationId xmlns:a16="http://schemas.microsoft.com/office/drawing/2014/main" id="{C26959C2-AE1F-48C9-1939-F92289D0A691}"/>
              </a:ext>
            </a:extLst>
          </p:cNvPr>
          <p:cNvCxnSpPr>
            <a:endCxn id="5" idx="2"/>
          </p:cNvCxnSpPr>
          <p:nvPr/>
        </p:nvCxnSpPr>
        <p:spPr>
          <a:xfrm flipV="1">
            <a:off x="2401466" y="4940664"/>
            <a:ext cx="0" cy="41213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graphicFrame>
        <p:nvGraphicFramePr>
          <p:cNvPr id="8" name="Content Placeholder 5">
            <a:extLst>
              <a:ext uri="{FF2B5EF4-FFF2-40B4-BE49-F238E27FC236}">
                <a16:creationId xmlns:a16="http://schemas.microsoft.com/office/drawing/2014/main" id="{08ECE041-4F88-23B7-D4EB-1C638F17FA9D}"/>
              </a:ext>
            </a:extLst>
          </p:cNvPr>
          <p:cNvGraphicFramePr>
            <a:graphicFrameLocks/>
          </p:cNvGraphicFramePr>
          <p:nvPr>
            <p:extLst>
              <p:ext uri="{D42A27DB-BD31-4B8C-83A1-F6EECF244321}">
                <p14:modId xmlns:p14="http://schemas.microsoft.com/office/powerpoint/2010/main" val="3842186395"/>
              </p:ext>
            </p:extLst>
          </p:nvPr>
        </p:nvGraphicFramePr>
        <p:xfrm>
          <a:off x="4746312" y="768310"/>
          <a:ext cx="7340831" cy="1010920"/>
        </p:xfrm>
        <a:graphic>
          <a:graphicData uri="http://schemas.openxmlformats.org/drawingml/2006/table">
            <a:tbl>
              <a:tblPr firstRow="1">
                <a:tableStyleId>{5C22544A-7EE6-4342-B048-85BDC9FD1C3A}</a:tableStyleId>
              </a:tblPr>
              <a:tblGrid>
                <a:gridCol w="587688">
                  <a:extLst>
                    <a:ext uri="{9D8B030D-6E8A-4147-A177-3AD203B41FA5}">
                      <a16:colId xmlns:a16="http://schemas.microsoft.com/office/drawing/2014/main" val="20000"/>
                    </a:ext>
                  </a:extLst>
                </a:gridCol>
                <a:gridCol w="6753143">
                  <a:extLst>
                    <a:ext uri="{9D8B030D-6E8A-4147-A177-3AD203B41FA5}">
                      <a16:colId xmlns:a16="http://schemas.microsoft.com/office/drawing/2014/main" val="20001"/>
                    </a:ext>
                  </a:extLst>
                </a:gridCol>
              </a:tblGrid>
              <a:tr h="370840">
                <a:tc>
                  <a:txBody>
                    <a:bodyPr/>
                    <a:lstStyle/>
                    <a:p>
                      <a:r>
                        <a:rPr lang="en-US" dirty="0"/>
                        <a:t>No.</a:t>
                      </a:r>
                    </a:p>
                  </a:txBody>
                  <a:tcPr/>
                </a:tc>
                <a:tc>
                  <a:txBody>
                    <a:bodyPr/>
                    <a:lstStyle/>
                    <a:p>
                      <a:r>
                        <a:rPr lang="en-US" dirty="0"/>
                        <a:t>Method</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b="1" dirty="0"/>
                        <a:t>public </a:t>
                      </a:r>
                      <a:r>
                        <a:rPr lang="en-US" b="1" dirty="0" err="1"/>
                        <a:t>int</a:t>
                      </a:r>
                      <a:r>
                        <a:rPr lang="en-US" b="1" dirty="0"/>
                        <a:t> read() </a:t>
                      </a:r>
                    </a:p>
                    <a:p>
                      <a:r>
                        <a:rPr lang="en-US" dirty="0"/>
                        <a:t>the next byte of data, or -1 if the end of the file is reached.</a:t>
                      </a:r>
                    </a:p>
                  </a:txBody>
                  <a:tcPr/>
                </a:tc>
                <a:extLst>
                  <a:ext uri="{0D108BD9-81ED-4DB2-BD59-A6C34878D82A}">
                    <a16:rowId xmlns:a16="http://schemas.microsoft.com/office/drawing/2014/main" val="10001"/>
                  </a:ext>
                </a:extLst>
              </a:tr>
            </a:tbl>
          </a:graphicData>
        </a:graphic>
      </p:graphicFrame>
      <p:graphicFrame>
        <p:nvGraphicFramePr>
          <p:cNvPr id="9" name="Table 8">
            <a:extLst>
              <a:ext uri="{FF2B5EF4-FFF2-40B4-BE49-F238E27FC236}">
                <a16:creationId xmlns:a16="http://schemas.microsoft.com/office/drawing/2014/main" id="{ADA05EF4-6D95-448C-DD6E-EECEF0F16AA6}"/>
              </a:ext>
            </a:extLst>
          </p:cNvPr>
          <p:cNvGraphicFramePr>
            <a:graphicFrameLocks noGrp="1"/>
          </p:cNvGraphicFramePr>
          <p:nvPr>
            <p:extLst>
              <p:ext uri="{D42A27DB-BD31-4B8C-83A1-F6EECF244321}">
                <p14:modId xmlns:p14="http://schemas.microsoft.com/office/powerpoint/2010/main" val="2346765594"/>
              </p:ext>
            </p:extLst>
          </p:nvPr>
        </p:nvGraphicFramePr>
        <p:xfrm>
          <a:off x="4746312" y="1758910"/>
          <a:ext cx="7340831" cy="914400"/>
        </p:xfrm>
        <a:graphic>
          <a:graphicData uri="http://schemas.openxmlformats.org/drawingml/2006/table">
            <a:tbl>
              <a:tblPr>
                <a:tableStyleId>{5C22544A-7EE6-4342-B048-85BDC9FD1C3A}</a:tableStyleId>
              </a:tblPr>
              <a:tblGrid>
                <a:gridCol w="597213">
                  <a:extLst>
                    <a:ext uri="{9D8B030D-6E8A-4147-A177-3AD203B41FA5}">
                      <a16:colId xmlns:a16="http://schemas.microsoft.com/office/drawing/2014/main" val="20000"/>
                    </a:ext>
                  </a:extLst>
                </a:gridCol>
                <a:gridCol w="6743618">
                  <a:extLst>
                    <a:ext uri="{9D8B030D-6E8A-4147-A177-3AD203B41FA5}">
                      <a16:colId xmlns:a16="http://schemas.microsoft.com/office/drawing/2014/main" val="20001"/>
                    </a:ext>
                  </a:extLst>
                </a:gridCol>
              </a:tblGrid>
              <a:tr h="370840">
                <a:tc>
                  <a:txBody>
                    <a:bodyPr/>
                    <a:lstStyle/>
                    <a:p>
                      <a:r>
                        <a:rPr lang="en-US" dirty="0"/>
                        <a:t>2</a:t>
                      </a:r>
                    </a:p>
                  </a:txBody>
                  <a:tcPr/>
                </a:tc>
                <a:tc>
                  <a:txBody>
                    <a:bodyPr/>
                    <a:lstStyle/>
                    <a:p>
                      <a:r>
                        <a:rPr lang="en-US" b="1" dirty="0"/>
                        <a:t>public </a:t>
                      </a:r>
                      <a:r>
                        <a:rPr lang="en-US" b="1" dirty="0" err="1"/>
                        <a:t>int</a:t>
                      </a:r>
                      <a:r>
                        <a:rPr lang="en-US" b="1" dirty="0"/>
                        <a:t> read(byte[] b) </a:t>
                      </a:r>
                    </a:p>
                    <a:p>
                      <a:r>
                        <a:rPr lang="en-US" dirty="0"/>
                        <a:t>b - the buffer into which the data is read.</a:t>
                      </a:r>
                    </a:p>
                    <a:p>
                      <a:r>
                        <a:rPr lang="en-US" dirty="0"/>
                        <a:t>Returns: the total number of bytes read into the buffer, or -1.</a:t>
                      </a:r>
                    </a:p>
                  </a:txBody>
                  <a:tcPr/>
                </a:tc>
                <a:extLst>
                  <a:ext uri="{0D108BD9-81ED-4DB2-BD59-A6C34878D82A}">
                    <a16:rowId xmlns:a16="http://schemas.microsoft.com/office/drawing/2014/main" val="10000"/>
                  </a:ext>
                </a:extLst>
              </a:tr>
            </a:tbl>
          </a:graphicData>
        </a:graphic>
      </p:graphicFrame>
      <p:graphicFrame>
        <p:nvGraphicFramePr>
          <p:cNvPr id="10" name="Table 9">
            <a:extLst>
              <a:ext uri="{FF2B5EF4-FFF2-40B4-BE49-F238E27FC236}">
                <a16:creationId xmlns:a16="http://schemas.microsoft.com/office/drawing/2014/main" id="{D7C43EBF-6A42-564F-F91A-52A5181FCFFB}"/>
              </a:ext>
            </a:extLst>
          </p:cNvPr>
          <p:cNvGraphicFramePr>
            <a:graphicFrameLocks noGrp="1"/>
          </p:cNvGraphicFramePr>
          <p:nvPr>
            <p:extLst>
              <p:ext uri="{D42A27DB-BD31-4B8C-83A1-F6EECF244321}">
                <p14:modId xmlns:p14="http://schemas.microsoft.com/office/powerpoint/2010/main" val="195108111"/>
              </p:ext>
            </p:extLst>
          </p:nvPr>
        </p:nvGraphicFramePr>
        <p:xfrm>
          <a:off x="4746312" y="2642830"/>
          <a:ext cx="7340831" cy="1463040"/>
        </p:xfrm>
        <a:graphic>
          <a:graphicData uri="http://schemas.openxmlformats.org/drawingml/2006/table">
            <a:tbl>
              <a:tblPr>
                <a:tableStyleId>{5C22544A-7EE6-4342-B048-85BDC9FD1C3A}</a:tableStyleId>
              </a:tblPr>
              <a:tblGrid>
                <a:gridCol w="616263">
                  <a:extLst>
                    <a:ext uri="{9D8B030D-6E8A-4147-A177-3AD203B41FA5}">
                      <a16:colId xmlns:a16="http://schemas.microsoft.com/office/drawing/2014/main" val="20000"/>
                    </a:ext>
                  </a:extLst>
                </a:gridCol>
                <a:gridCol w="6724568">
                  <a:extLst>
                    <a:ext uri="{9D8B030D-6E8A-4147-A177-3AD203B41FA5}">
                      <a16:colId xmlns:a16="http://schemas.microsoft.com/office/drawing/2014/main" val="20001"/>
                    </a:ext>
                  </a:extLst>
                </a:gridCol>
              </a:tblGrid>
              <a:tr h="370840">
                <a:tc>
                  <a:txBody>
                    <a:bodyPr/>
                    <a:lstStyle/>
                    <a:p>
                      <a:r>
                        <a:rPr lang="en-US" dirty="0"/>
                        <a:t>3</a:t>
                      </a:r>
                    </a:p>
                  </a:txBody>
                  <a:tcPr/>
                </a:tc>
                <a:tc>
                  <a:txBody>
                    <a:bodyPr/>
                    <a:lstStyle/>
                    <a:p>
                      <a:r>
                        <a:rPr lang="en-US" b="1" dirty="0"/>
                        <a:t>public </a:t>
                      </a:r>
                      <a:r>
                        <a:rPr lang="en-US" b="1" dirty="0" err="1"/>
                        <a:t>int</a:t>
                      </a:r>
                      <a:r>
                        <a:rPr lang="en-US" b="1" dirty="0"/>
                        <a:t> read(byte[] b, </a:t>
                      </a:r>
                      <a:r>
                        <a:rPr lang="en-US" b="1" dirty="0" err="1"/>
                        <a:t>int</a:t>
                      </a:r>
                      <a:r>
                        <a:rPr lang="en-US" b="1" dirty="0"/>
                        <a:t> off, </a:t>
                      </a:r>
                      <a:r>
                        <a:rPr lang="en-US" b="1" dirty="0" err="1"/>
                        <a:t>int</a:t>
                      </a:r>
                      <a:r>
                        <a:rPr lang="en-US" b="1" dirty="0"/>
                        <a:t> </a:t>
                      </a:r>
                      <a:r>
                        <a:rPr lang="en-US" b="1" dirty="0" err="1"/>
                        <a:t>len</a:t>
                      </a:r>
                      <a:r>
                        <a:rPr lang="en-US" b="1" dirty="0"/>
                        <a:t>)</a:t>
                      </a:r>
                      <a:r>
                        <a:rPr lang="en-US" dirty="0"/>
                        <a:t> </a:t>
                      </a:r>
                    </a:p>
                    <a:p>
                      <a:r>
                        <a:rPr lang="en-US" dirty="0"/>
                        <a:t>b - the buffer into which the data is read.</a:t>
                      </a:r>
                    </a:p>
                    <a:p>
                      <a:r>
                        <a:rPr lang="en-US" dirty="0"/>
                        <a:t>off - the start offset in the destination array b</a:t>
                      </a:r>
                    </a:p>
                    <a:p>
                      <a:r>
                        <a:rPr lang="en-US" dirty="0" err="1"/>
                        <a:t>len</a:t>
                      </a:r>
                      <a:r>
                        <a:rPr lang="en-US" dirty="0"/>
                        <a:t> - the maximum number of bytes read.</a:t>
                      </a:r>
                    </a:p>
                    <a:p>
                      <a:r>
                        <a:rPr lang="en-US" dirty="0"/>
                        <a:t>Returns: the total number of bytes read into the buffer, or -1</a:t>
                      </a:r>
                    </a:p>
                  </a:txBody>
                  <a:tcPr/>
                </a:tc>
                <a:extLst>
                  <a:ext uri="{0D108BD9-81ED-4DB2-BD59-A6C34878D82A}">
                    <a16:rowId xmlns:a16="http://schemas.microsoft.com/office/drawing/2014/main" val="10000"/>
                  </a:ext>
                </a:extLst>
              </a:tr>
            </a:tbl>
          </a:graphicData>
        </a:graphic>
      </p:graphicFrame>
      <p:graphicFrame>
        <p:nvGraphicFramePr>
          <p:cNvPr id="11" name="Table 10">
            <a:extLst>
              <a:ext uri="{FF2B5EF4-FFF2-40B4-BE49-F238E27FC236}">
                <a16:creationId xmlns:a16="http://schemas.microsoft.com/office/drawing/2014/main" id="{E25D438A-6077-102A-124D-DA7930F77258}"/>
              </a:ext>
            </a:extLst>
          </p:cNvPr>
          <p:cNvGraphicFramePr>
            <a:graphicFrameLocks noGrp="1"/>
          </p:cNvGraphicFramePr>
          <p:nvPr>
            <p:extLst>
              <p:ext uri="{D42A27DB-BD31-4B8C-83A1-F6EECF244321}">
                <p14:modId xmlns:p14="http://schemas.microsoft.com/office/powerpoint/2010/main" val="1763829422"/>
              </p:ext>
            </p:extLst>
          </p:nvPr>
        </p:nvGraphicFramePr>
        <p:xfrm>
          <a:off x="4746312" y="4090630"/>
          <a:ext cx="7340831" cy="914400"/>
        </p:xfrm>
        <a:graphic>
          <a:graphicData uri="http://schemas.openxmlformats.org/drawingml/2006/table">
            <a:tbl>
              <a:tblPr>
                <a:tableStyleId>{5C22544A-7EE6-4342-B048-85BDC9FD1C3A}</a:tableStyleId>
              </a:tblPr>
              <a:tblGrid>
                <a:gridCol w="625788">
                  <a:extLst>
                    <a:ext uri="{9D8B030D-6E8A-4147-A177-3AD203B41FA5}">
                      <a16:colId xmlns:a16="http://schemas.microsoft.com/office/drawing/2014/main" val="20000"/>
                    </a:ext>
                  </a:extLst>
                </a:gridCol>
                <a:gridCol w="6715043">
                  <a:extLst>
                    <a:ext uri="{9D8B030D-6E8A-4147-A177-3AD203B41FA5}">
                      <a16:colId xmlns:a16="http://schemas.microsoft.com/office/drawing/2014/main" val="20001"/>
                    </a:ext>
                  </a:extLst>
                </a:gridCol>
              </a:tblGrid>
              <a:tr h="370840">
                <a:tc>
                  <a:txBody>
                    <a:bodyPr/>
                    <a:lstStyle/>
                    <a:p>
                      <a:r>
                        <a:rPr lang="en-US" dirty="0"/>
                        <a:t>4</a:t>
                      </a:r>
                    </a:p>
                  </a:txBody>
                  <a:tcPr/>
                </a:tc>
                <a:tc>
                  <a:txBody>
                    <a:bodyPr/>
                    <a:lstStyle/>
                    <a:p>
                      <a:r>
                        <a:rPr lang="en-US" b="1" dirty="0"/>
                        <a:t>public long skip(long n)</a:t>
                      </a:r>
                      <a:r>
                        <a:rPr lang="en-US" dirty="0"/>
                        <a:t> </a:t>
                      </a:r>
                    </a:p>
                    <a:p>
                      <a:r>
                        <a:rPr lang="en-US" dirty="0"/>
                        <a:t>n - the number of bytes to be skipped.</a:t>
                      </a:r>
                    </a:p>
                    <a:p>
                      <a:r>
                        <a:rPr lang="en-US" dirty="0"/>
                        <a:t>Returns: the actual number of bytes skipped.</a:t>
                      </a:r>
                    </a:p>
                  </a:txBody>
                  <a:tcPr/>
                </a:tc>
                <a:extLst>
                  <a:ext uri="{0D108BD9-81ED-4DB2-BD59-A6C34878D82A}">
                    <a16:rowId xmlns:a16="http://schemas.microsoft.com/office/drawing/2014/main" val="10000"/>
                  </a:ext>
                </a:extLst>
              </a:tr>
            </a:tbl>
          </a:graphicData>
        </a:graphic>
      </p:graphicFrame>
      <p:graphicFrame>
        <p:nvGraphicFramePr>
          <p:cNvPr id="12" name="Table 11">
            <a:extLst>
              <a:ext uri="{FF2B5EF4-FFF2-40B4-BE49-F238E27FC236}">
                <a16:creationId xmlns:a16="http://schemas.microsoft.com/office/drawing/2014/main" id="{5D07293E-3F4F-025C-7FBA-F0059BC43A7C}"/>
              </a:ext>
            </a:extLst>
          </p:cNvPr>
          <p:cNvGraphicFramePr>
            <a:graphicFrameLocks noGrp="1"/>
          </p:cNvGraphicFramePr>
          <p:nvPr>
            <p:extLst>
              <p:ext uri="{D42A27DB-BD31-4B8C-83A1-F6EECF244321}">
                <p14:modId xmlns:p14="http://schemas.microsoft.com/office/powerpoint/2010/main" val="3408134382"/>
              </p:ext>
            </p:extLst>
          </p:nvPr>
        </p:nvGraphicFramePr>
        <p:xfrm>
          <a:off x="4746312" y="5005030"/>
          <a:ext cx="7340831" cy="640080"/>
        </p:xfrm>
        <a:graphic>
          <a:graphicData uri="http://schemas.openxmlformats.org/drawingml/2006/table">
            <a:tbl>
              <a:tblPr>
                <a:tableStyleId>{5C22544A-7EE6-4342-B048-85BDC9FD1C3A}</a:tableStyleId>
              </a:tblPr>
              <a:tblGrid>
                <a:gridCol w="635313">
                  <a:extLst>
                    <a:ext uri="{9D8B030D-6E8A-4147-A177-3AD203B41FA5}">
                      <a16:colId xmlns:a16="http://schemas.microsoft.com/office/drawing/2014/main" val="20000"/>
                    </a:ext>
                  </a:extLst>
                </a:gridCol>
                <a:gridCol w="6705518">
                  <a:extLst>
                    <a:ext uri="{9D8B030D-6E8A-4147-A177-3AD203B41FA5}">
                      <a16:colId xmlns:a16="http://schemas.microsoft.com/office/drawing/2014/main" val="20001"/>
                    </a:ext>
                  </a:extLst>
                </a:gridCol>
              </a:tblGrid>
              <a:tr h="370840">
                <a:tc>
                  <a:txBody>
                    <a:bodyPr/>
                    <a:lstStyle/>
                    <a:p>
                      <a:r>
                        <a:rPr lang="en-US" dirty="0"/>
                        <a:t>5</a:t>
                      </a:r>
                    </a:p>
                  </a:txBody>
                  <a:tcPr/>
                </a:tc>
                <a:tc>
                  <a:txBody>
                    <a:bodyPr/>
                    <a:lstStyle/>
                    <a:p>
                      <a:r>
                        <a:rPr lang="en-US" b="1" dirty="0"/>
                        <a:t>public </a:t>
                      </a:r>
                      <a:r>
                        <a:rPr lang="en-US" b="1" dirty="0" err="1"/>
                        <a:t>int</a:t>
                      </a:r>
                      <a:r>
                        <a:rPr lang="en-US" b="1" dirty="0"/>
                        <a:t> available()</a:t>
                      </a:r>
                    </a:p>
                    <a:p>
                      <a:r>
                        <a:rPr lang="en-US" dirty="0"/>
                        <a:t>an estimate of the number of remaining bytes that can be read</a:t>
                      </a:r>
                    </a:p>
                  </a:txBody>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CAC33FB8-F22C-3359-FF91-CF4C557850EF}"/>
              </a:ext>
            </a:extLst>
          </p:cNvPr>
          <p:cNvGraphicFramePr>
            <a:graphicFrameLocks noGrp="1"/>
          </p:cNvGraphicFramePr>
          <p:nvPr>
            <p:extLst>
              <p:ext uri="{D42A27DB-BD31-4B8C-83A1-F6EECF244321}">
                <p14:modId xmlns:p14="http://schemas.microsoft.com/office/powerpoint/2010/main" val="3441509609"/>
              </p:ext>
            </p:extLst>
          </p:nvPr>
        </p:nvGraphicFramePr>
        <p:xfrm>
          <a:off x="4746312" y="5645110"/>
          <a:ext cx="7340831" cy="914400"/>
        </p:xfrm>
        <a:graphic>
          <a:graphicData uri="http://schemas.openxmlformats.org/drawingml/2006/table">
            <a:tbl>
              <a:tblPr>
                <a:tableStyleId>{5C22544A-7EE6-4342-B048-85BDC9FD1C3A}</a:tableStyleId>
              </a:tblPr>
              <a:tblGrid>
                <a:gridCol w="644838">
                  <a:extLst>
                    <a:ext uri="{9D8B030D-6E8A-4147-A177-3AD203B41FA5}">
                      <a16:colId xmlns:a16="http://schemas.microsoft.com/office/drawing/2014/main" val="20000"/>
                    </a:ext>
                  </a:extLst>
                </a:gridCol>
                <a:gridCol w="6695993">
                  <a:extLst>
                    <a:ext uri="{9D8B030D-6E8A-4147-A177-3AD203B41FA5}">
                      <a16:colId xmlns:a16="http://schemas.microsoft.com/office/drawing/2014/main" val="20001"/>
                    </a:ext>
                  </a:extLst>
                </a:gridCol>
              </a:tblGrid>
              <a:tr h="370840">
                <a:tc>
                  <a:txBody>
                    <a:bodyPr/>
                    <a:lstStyle/>
                    <a:p>
                      <a:r>
                        <a:rPr lang="en-US" dirty="0"/>
                        <a:t>6</a:t>
                      </a:r>
                    </a:p>
                  </a:txBody>
                  <a:tcPr/>
                </a:tc>
                <a:tc>
                  <a:txBody>
                    <a:bodyPr/>
                    <a:lstStyle/>
                    <a:p>
                      <a:r>
                        <a:rPr lang="en-US" b="1" dirty="0"/>
                        <a:t>public void close()</a:t>
                      </a:r>
                    </a:p>
                    <a:p>
                      <a:r>
                        <a:rPr lang="en-US" dirty="0"/>
                        <a:t>Closes this file input stream and releases any system resources associated.</a:t>
                      </a:r>
                    </a:p>
                  </a:txBody>
                  <a:tcPr/>
                </a:tc>
                <a:extLst>
                  <a:ext uri="{0D108BD9-81ED-4DB2-BD59-A6C34878D82A}">
                    <a16:rowId xmlns:a16="http://schemas.microsoft.com/office/drawing/2014/main" val="10000"/>
                  </a:ext>
                </a:extLst>
              </a:tr>
            </a:tbl>
          </a:graphicData>
        </a:graphic>
      </p:graphicFrame>
      <p:cxnSp>
        <p:nvCxnSpPr>
          <p:cNvPr id="14" name="Straight Arrow Connector 13">
            <a:extLst>
              <a:ext uri="{FF2B5EF4-FFF2-40B4-BE49-F238E27FC236}">
                <a16:creationId xmlns:a16="http://schemas.microsoft.com/office/drawing/2014/main" id="{AB4944B4-2414-3CA9-F6FE-6CE5D740E083}"/>
              </a:ext>
            </a:extLst>
          </p:cNvPr>
          <p:cNvCxnSpPr>
            <a:stCxn id="5" idx="0"/>
          </p:cNvCxnSpPr>
          <p:nvPr/>
        </p:nvCxnSpPr>
        <p:spPr>
          <a:xfrm flipV="1">
            <a:off x="2401466" y="4024530"/>
            <a:ext cx="0" cy="382734"/>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98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righ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down)">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right)">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down)">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343E2-EFE6-0F21-795B-66BE1B3D8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1977B-029B-D897-386F-155596B698BD}"/>
              </a:ext>
            </a:extLst>
          </p:cNvPr>
          <p:cNvSpPr>
            <a:spLocks noGrp="1"/>
          </p:cNvSpPr>
          <p:nvPr>
            <p:ph type="title"/>
          </p:nvPr>
        </p:nvSpPr>
        <p:spPr>
          <a:xfrm>
            <a:off x="0" y="1"/>
            <a:ext cx="12192000" cy="711200"/>
          </a:xfrm>
        </p:spPr>
        <p:txBody>
          <a:bodyPr>
            <a:normAutofit/>
          </a:bodyPr>
          <a:lstStyle/>
          <a:p>
            <a:r>
              <a:rPr lang="en-IN" dirty="0" err="1"/>
              <a:t>FileInputStream</a:t>
            </a:r>
            <a:r>
              <a:rPr lang="en-IN" dirty="0"/>
              <a:t> Example</a:t>
            </a:r>
            <a:endParaRPr lang="en-US" dirty="0"/>
          </a:p>
        </p:txBody>
      </p:sp>
      <p:sp>
        <p:nvSpPr>
          <p:cNvPr id="3" name="Rectangle 2">
            <a:extLst>
              <a:ext uri="{FF2B5EF4-FFF2-40B4-BE49-F238E27FC236}">
                <a16:creationId xmlns:a16="http://schemas.microsoft.com/office/drawing/2014/main" id="{5F19EA01-D622-2CAF-A557-FFFF5E65BE95}"/>
              </a:ext>
            </a:extLst>
          </p:cNvPr>
          <p:cNvSpPr/>
          <p:nvPr/>
        </p:nvSpPr>
        <p:spPr>
          <a:xfrm>
            <a:off x="101135" y="850512"/>
            <a:ext cx="9209119" cy="3970318"/>
          </a:xfrm>
          <a:prstGeom prst="rect">
            <a:avLst/>
          </a:prstGeom>
          <a:ln w="19050">
            <a:solidFill>
              <a:schemeClr val="accent1"/>
            </a:solidFill>
            <a:prstDash val="dash"/>
          </a:ln>
        </p:spPr>
        <p:txBody>
          <a:bodyPr wrap="square">
            <a:spAutoFit/>
          </a:bodyPr>
          <a:lstStyle/>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SimpleRead</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b="1" dirty="0">
                <a:solidFill>
                  <a:srgbClr val="7F0055"/>
                </a:solidFill>
                <a:latin typeface="Consolas"/>
              </a:rPr>
              <a:t>try</a:t>
            </a:r>
            <a:r>
              <a:rPr lang="en-US" b="1" dirty="0">
                <a:solidFill>
                  <a:srgbClr val="000000"/>
                </a:solidFill>
                <a:latin typeface="Consolas"/>
              </a:rPr>
              <a:t> {</a:t>
            </a:r>
          </a:p>
          <a:p>
            <a:pPr lvl="3"/>
            <a:r>
              <a:rPr lang="en-US" dirty="0" err="1">
                <a:solidFill>
                  <a:srgbClr val="000000"/>
                </a:solidFill>
                <a:latin typeface="Consolas"/>
              </a:rPr>
              <a:t>FileInputStream</a:t>
            </a:r>
            <a:r>
              <a:rPr lang="en-US" dirty="0">
                <a:solidFill>
                  <a:srgbClr val="000000"/>
                </a:solidFill>
                <a:latin typeface="Consolas"/>
              </a:rPr>
              <a:t> </a:t>
            </a:r>
            <a:r>
              <a:rPr lang="en-US" dirty="0">
                <a:solidFill>
                  <a:srgbClr val="6A3E3E"/>
                </a:solidFill>
                <a:latin typeface="Consolas"/>
              </a:rPr>
              <a:t>fin</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FileInputStream</a:t>
            </a:r>
            <a:r>
              <a:rPr lang="en-US" b="1" dirty="0">
                <a:solidFill>
                  <a:srgbClr val="000000"/>
                </a:solidFill>
                <a:latin typeface="Consolas"/>
              </a:rPr>
              <a:t>(</a:t>
            </a:r>
            <a:r>
              <a:rPr lang="en-US" b="1" dirty="0">
                <a:solidFill>
                  <a:srgbClr val="2A00FF"/>
                </a:solidFill>
                <a:latin typeface="Consolas"/>
              </a:rPr>
              <a:t>"abc.txt"</a:t>
            </a:r>
            <a:r>
              <a:rPr lang="en-US" b="1" dirty="0">
                <a:solidFill>
                  <a:srgbClr val="000000"/>
                </a:solidFill>
                <a:latin typeface="Consolas"/>
              </a:rPr>
              <a:t>);</a:t>
            </a:r>
          </a:p>
          <a:p>
            <a:pPr lvl="3"/>
            <a:r>
              <a:rPr lang="en-US" b="1" dirty="0" err="1">
                <a:solidFill>
                  <a:srgbClr val="7F0055"/>
                </a:solidFill>
                <a:latin typeface="Consolas"/>
              </a:rPr>
              <a:t>int</a:t>
            </a:r>
            <a:r>
              <a:rPr lang="en-US" b="1" dirty="0">
                <a:solidFill>
                  <a:srgbClr val="000000"/>
                </a:solidFill>
                <a:latin typeface="Consolas"/>
              </a:rPr>
              <a:t> </a:t>
            </a:r>
            <a:r>
              <a:rPr lang="en-US" b="1" dirty="0" err="1">
                <a:solidFill>
                  <a:srgbClr val="6A3E3E"/>
                </a:solidFill>
                <a:latin typeface="Consolas"/>
              </a:rPr>
              <a:t>i</a:t>
            </a:r>
            <a:r>
              <a:rPr lang="en-US" b="1" dirty="0">
                <a:solidFill>
                  <a:srgbClr val="000000"/>
                </a:solidFill>
                <a:latin typeface="Consolas"/>
              </a:rPr>
              <a:t> = 0;</a:t>
            </a:r>
          </a:p>
          <a:p>
            <a:pPr lvl="3"/>
            <a:r>
              <a:rPr lang="en-US" b="1" dirty="0">
                <a:solidFill>
                  <a:srgbClr val="7F0055"/>
                </a:solidFill>
                <a:latin typeface="Consolas"/>
              </a:rPr>
              <a:t>while</a:t>
            </a:r>
            <a:r>
              <a:rPr lang="en-US" b="1" dirty="0">
                <a:solidFill>
                  <a:srgbClr val="000000"/>
                </a:solidFill>
                <a:latin typeface="Consolas"/>
              </a:rPr>
              <a:t> ((</a:t>
            </a:r>
            <a:r>
              <a:rPr lang="en-US" b="1" dirty="0" err="1">
                <a:solidFill>
                  <a:srgbClr val="6A3E3E"/>
                </a:solidFill>
                <a:latin typeface="Consolas"/>
              </a:rPr>
              <a:t>i</a:t>
            </a:r>
            <a:r>
              <a:rPr lang="en-US" b="1" dirty="0">
                <a:solidFill>
                  <a:srgbClr val="000000"/>
                </a:solidFill>
                <a:latin typeface="Consolas"/>
              </a:rPr>
              <a:t> = </a:t>
            </a:r>
            <a:r>
              <a:rPr lang="en-US" b="1" dirty="0" err="1">
                <a:solidFill>
                  <a:srgbClr val="6A3E3E"/>
                </a:solidFill>
                <a:latin typeface="Consolas"/>
              </a:rPr>
              <a:t>fin</a:t>
            </a:r>
            <a:r>
              <a:rPr lang="en-US" b="1" dirty="0" err="1">
                <a:solidFill>
                  <a:srgbClr val="000000"/>
                </a:solidFill>
                <a:latin typeface="Consolas"/>
              </a:rPr>
              <a:t>.read</a:t>
            </a:r>
            <a:r>
              <a:rPr lang="en-US" b="1" dirty="0">
                <a:solidFill>
                  <a:srgbClr val="000000"/>
                </a:solidFill>
                <a:latin typeface="Consolas"/>
              </a:rPr>
              <a:t>()) != -1) {</a:t>
            </a:r>
          </a:p>
          <a:p>
            <a:pPr lvl="3"/>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(char) </a:t>
            </a:r>
            <a:r>
              <a:rPr lang="en-US" b="1" i="1" dirty="0" err="1">
                <a:solidFill>
                  <a:srgbClr val="6A3E3E"/>
                </a:solidFill>
                <a:latin typeface="Consolas"/>
              </a:rPr>
              <a:t>i</a:t>
            </a:r>
            <a:r>
              <a:rPr lang="en-US" b="1" i="1" dirty="0">
                <a:solidFill>
                  <a:srgbClr val="000000"/>
                </a:solidFill>
                <a:latin typeface="Consolas"/>
              </a:rPr>
              <a:t>);</a:t>
            </a:r>
            <a:endParaRPr lang="en-US" b="1" i="1" dirty="0">
              <a:solidFill>
                <a:srgbClr val="000000"/>
              </a:solidFill>
              <a:highlight>
                <a:srgbClr val="D4D4D4"/>
              </a:highlight>
              <a:latin typeface="Consolas"/>
            </a:endParaRPr>
          </a:p>
          <a:p>
            <a:pPr lvl="3"/>
            <a:r>
              <a:rPr lang="en-US" dirty="0">
                <a:solidFill>
                  <a:srgbClr val="000000"/>
                </a:solidFill>
                <a:latin typeface="Consolas"/>
              </a:rPr>
              <a:t>}</a:t>
            </a:r>
          </a:p>
          <a:p>
            <a:pPr lvl="3"/>
            <a:r>
              <a:rPr lang="en-US" dirty="0" err="1">
                <a:solidFill>
                  <a:srgbClr val="6A3E3E"/>
                </a:solidFill>
                <a:latin typeface="Consolas"/>
              </a:rPr>
              <a:t>fin</a:t>
            </a:r>
            <a:r>
              <a:rPr lang="en-US" dirty="0" err="1">
                <a:solidFill>
                  <a:srgbClr val="000000"/>
                </a:solidFill>
                <a:latin typeface="Consolas"/>
              </a:rPr>
              <a:t>.close</a:t>
            </a:r>
            <a:r>
              <a:rPr lang="en-US" dirty="0">
                <a:solidFill>
                  <a:srgbClr val="000000"/>
                </a:solidFill>
                <a:latin typeface="Consolas"/>
              </a:rPr>
              <a:t>();</a:t>
            </a:r>
          </a:p>
          <a:p>
            <a:pPr lvl="2"/>
            <a:r>
              <a:rPr lang="en-US" dirty="0">
                <a:solidFill>
                  <a:srgbClr val="000000"/>
                </a:solidFill>
                <a:latin typeface="Consolas"/>
              </a:rPr>
              <a:t>} </a:t>
            </a:r>
            <a:r>
              <a:rPr lang="en-US" b="1" dirty="0">
                <a:solidFill>
                  <a:srgbClr val="7F0055"/>
                </a:solidFill>
                <a:latin typeface="Consolas"/>
              </a:rPr>
              <a:t>catch</a:t>
            </a:r>
            <a:r>
              <a:rPr lang="en-US" b="1" dirty="0">
                <a:solidFill>
                  <a:srgbClr val="000000"/>
                </a:solidFill>
                <a:latin typeface="Consolas"/>
              </a:rPr>
              <a:t> (Exception </a:t>
            </a:r>
            <a:r>
              <a:rPr lang="en-US" b="1" dirty="0">
                <a:solidFill>
                  <a:srgbClr val="6A3E3E"/>
                </a:solidFill>
                <a:latin typeface="Consolas"/>
              </a:rPr>
              <a:t>e</a:t>
            </a:r>
            <a:r>
              <a:rPr lang="en-US" b="1" dirty="0">
                <a:solidFill>
                  <a:srgbClr val="000000"/>
                </a:solidFill>
                <a:latin typeface="Consolas"/>
              </a:rPr>
              <a:t>) {</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e</a:t>
            </a:r>
            <a:r>
              <a:rPr lang="en-US" b="1" i="1" dirty="0">
                <a:solidFill>
                  <a:srgbClr val="000000"/>
                </a:solidFill>
                <a:latin typeface="Consolas"/>
              </a:rPr>
              <a:t>);</a:t>
            </a:r>
            <a:endParaRPr lang="en-US" b="1" i="1" dirty="0">
              <a:solidFill>
                <a:srgbClr val="000000"/>
              </a:solidFill>
              <a:highlight>
                <a:srgbClr val="D4D4D4"/>
              </a:highlight>
              <a:latin typeface="Consolas"/>
            </a:endParaRP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76910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4"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7A1C5-16A4-9C5E-837E-5D66CAD96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1226F-9A69-9440-5359-DB1EFC402972}"/>
              </a:ext>
            </a:extLst>
          </p:cNvPr>
          <p:cNvSpPr>
            <a:spLocks noGrp="1"/>
          </p:cNvSpPr>
          <p:nvPr>
            <p:ph type="title"/>
          </p:nvPr>
        </p:nvSpPr>
        <p:spPr>
          <a:xfrm>
            <a:off x="0" y="1"/>
            <a:ext cx="12192000" cy="711200"/>
          </a:xfrm>
        </p:spPr>
        <p:txBody>
          <a:bodyPr/>
          <a:lstStyle/>
          <a:p>
            <a:r>
              <a:rPr lang="en-US" dirty="0"/>
              <a:t>Example of Byte Streams</a:t>
            </a:r>
          </a:p>
        </p:txBody>
      </p:sp>
      <p:sp>
        <p:nvSpPr>
          <p:cNvPr id="3" name="Rectangle 2">
            <a:extLst>
              <a:ext uri="{FF2B5EF4-FFF2-40B4-BE49-F238E27FC236}">
                <a16:creationId xmlns:a16="http://schemas.microsoft.com/office/drawing/2014/main" id="{0C6724A7-EAFA-6870-31F3-898EC6DA4950}"/>
              </a:ext>
            </a:extLst>
          </p:cNvPr>
          <p:cNvSpPr/>
          <p:nvPr/>
        </p:nvSpPr>
        <p:spPr>
          <a:xfrm>
            <a:off x="0" y="711201"/>
            <a:ext cx="9346277" cy="5909310"/>
          </a:xfrm>
          <a:prstGeom prst="rect">
            <a:avLst/>
          </a:prstGeom>
          <a:ln w="19050">
            <a:solidFill>
              <a:schemeClr val="tx2">
                <a:lumMod val="60000"/>
                <a:lumOff val="40000"/>
              </a:schemeClr>
            </a:solidFill>
            <a:prstDash val="dash"/>
          </a:ln>
        </p:spPr>
        <p:txBody>
          <a:bodyPr wrap="square">
            <a:spAutoFit/>
          </a:bodyPr>
          <a:lstStyle/>
          <a:p>
            <a:r>
              <a:rPr lang="en-US" b="1" dirty="0">
                <a:solidFill>
                  <a:srgbClr val="7F0055"/>
                </a:solidFill>
                <a:latin typeface="Consolas"/>
              </a:rPr>
              <a:t>import</a:t>
            </a:r>
            <a:r>
              <a:rPr lang="en-US" b="1" dirty="0">
                <a:solidFill>
                  <a:srgbClr val="000000"/>
                </a:solidFill>
                <a:latin typeface="Consolas"/>
              </a:rPr>
              <a:t> java.io.*;</a:t>
            </a:r>
          </a:p>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CopyFile</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r>
              <a:rPr lang="en-US" b="1" dirty="0">
                <a:solidFill>
                  <a:srgbClr val="7F0055"/>
                </a:solidFill>
                <a:latin typeface="Consolas"/>
              </a:rPr>
              <a:t>throws</a:t>
            </a:r>
            <a:r>
              <a:rPr lang="en-US" b="1" dirty="0">
                <a:solidFill>
                  <a:srgbClr val="000000"/>
                </a:solidFill>
                <a:latin typeface="Consolas"/>
              </a:rPr>
              <a:t> </a:t>
            </a:r>
            <a:r>
              <a:rPr lang="en-US" b="1" dirty="0" err="1">
                <a:solidFill>
                  <a:srgbClr val="000000"/>
                </a:solidFill>
                <a:latin typeface="Consolas"/>
              </a:rPr>
              <a:t>IOException</a:t>
            </a:r>
            <a:r>
              <a:rPr lang="en-US" b="1" dirty="0">
                <a:solidFill>
                  <a:srgbClr val="000000"/>
                </a:solidFill>
                <a:latin typeface="Consolas"/>
              </a:rPr>
              <a:t> {</a:t>
            </a:r>
          </a:p>
          <a:p>
            <a:pPr lvl="2"/>
            <a:r>
              <a:rPr lang="en-US" dirty="0" err="1">
                <a:solidFill>
                  <a:srgbClr val="000000"/>
                </a:solidFill>
                <a:latin typeface="Consolas"/>
              </a:rPr>
              <a:t>FileInputStream</a:t>
            </a:r>
            <a:r>
              <a:rPr lang="en-US" dirty="0">
                <a:solidFill>
                  <a:srgbClr val="000000"/>
                </a:solidFill>
                <a:latin typeface="Consolas"/>
              </a:rPr>
              <a:t> </a:t>
            </a:r>
            <a:r>
              <a:rPr lang="en-US" dirty="0">
                <a:solidFill>
                  <a:srgbClr val="6A3E3E"/>
                </a:solidFill>
                <a:latin typeface="Consolas"/>
              </a:rPr>
              <a:t>in</a:t>
            </a:r>
            <a:r>
              <a:rPr lang="en-US" dirty="0">
                <a:solidFill>
                  <a:srgbClr val="000000"/>
                </a:solidFill>
                <a:latin typeface="Consolas"/>
              </a:rPr>
              <a:t> = </a:t>
            </a:r>
            <a:r>
              <a:rPr lang="en-US" b="1" dirty="0">
                <a:solidFill>
                  <a:srgbClr val="7F0055"/>
                </a:solidFill>
                <a:latin typeface="Consolas"/>
              </a:rPr>
              <a:t>null</a:t>
            </a:r>
            <a:r>
              <a:rPr lang="en-US" b="1" dirty="0">
                <a:solidFill>
                  <a:srgbClr val="000000"/>
                </a:solidFill>
                <a:latin typeface="Consolas"/>
              </a:rPr>
              <a:t>;</a:t>
            </a:r>
          </a:p>
          <a:p>
            <a:pPr lvl="2"/>
            <a:r>
              <a:rPr lang="en-US" dirty="0" err="1">
                <a:solidFill>
                  <a:srgbClr val="000000"/>
                </a:solidFill>
                <a:latin typeface="Consolas"/>
              </a:rPr>
              <a:t>FileOutputStream</a:t>
            </a:r>
            <a:r>
              <a:rPr lang="en-US" dirty="0">
                <a:solidFill>
                  <a:srgbClr val="000000"/>
                </a:solidFill>
                <a:latin typeface="Consolas"/>
              </a:rPr>
              <a:t> </a:t>
            </a:r>
            <a:r>
              <a:rPr lang="en-US" dirty="0">
                <a:solidFill>
                  <a:srgbClr val="6A3E3E"/>
                </a:solidFill>
                <a:latin typeface="Consolas"/>
              </a:rPr>
              <a:t>out</a:t>
            </a:r>
            <a:r>
              <a:rPr lang="en-US" dirty="0">
                <a:solidFill>
                  <a:srgbClr val="000000"/>
                </a:solidFill>
                <a:latin typeface="Consolas"/>
              </a:rPr>
              <a:t> = </a:t>
            </a:r>
            <a:r>
              <a:rPr lang="en-US" b="1" dirty="0">
                <a:solidFill>
                  <a:srgbClr val="7F0055"/>
                </a:solidFill>
                <a:latin typeface="Consolas"/>
              </a:rPr>
              <a:t>null</a:t>
            </a:r>
            <a:r>
              <a:rPr lang="en-US" b="1" dirty="0">
                <a:solidFill>
                  <a:srgbClr val="000000"/>
                </a:solidFill>
                <a:latin typeface="Consolas"/>
              </a:rPr>
              <a:t>;</a:t>
            </a:r>
          </a:p>
          <a:p>
            <a:pPr lvl="2"/>
            <a:r>
              <a:rPr lang="en-US" b="1" dirty="0">
                <a:solidFill>
                  <a:srgbClr val="7F0055"/>
                </a:solidFill>
                <a:latin typeface="Consolas"/>
              </a:rPr>
              <a:t>try</a:t>
            </a:r>
            <a:r>
              <a:rPr lang="en-US" b="1" dirty="0">
                <a:solidFill>
                  <a:srgbClr val="000000"/>
                </a:solidFill>
                <a:latin typeface="Consolas"/>
              </a:rPr>
              <a:t> {</a:t>
            </a:r>
          </a:p>
          <a:p>
            <a:pPr lvl="3"/>
            <a:r>
              <a:rPr lang="en-US" dirty="0">
                <a:solidFill>
                  <a:srgbClr val="6A3E3E"/>
                </a:solidFill>
                <a:latin typeface="Consolas"/>
              </a:rPr>
              <a:t>in</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FileInputStream</a:t>
            </a:r>
            <a:r>
              <a:rPr lang="en-US" b="1" dirty="0">
                <a:solidFill>
                  <a:srgbClr val="000000"/>
                </a:solidFill>
                <a:latin typeface="Consolas"/>
              </a:rPr>
              <a:t>(</a:t>
            </a:r>
            <a:r>
              <a:rPr lang="en-US" b="1" dirty="0">
                <a:solidFill>
                  <a:srgbClr val="2A00FF"/>
                </a:solidFill>
                <a:latin typeface="Consolas"/>
              </a:rPr>
              <a:t>"input.txt"</a:t>
            </a:r>
            <a:r>
              <a:rPr lang="en-US" b="1" dirty="0">
                <a:solidFill>
                  <a:srgbClr val="000000"/>
                </a:solidFill>
                <a:latin typeface="Consolas"/>
              </a:rPr>
              <a:t>);</a:t>
            </a:r>
          </a:p>
          <a:p>
            <a:pPr lvl="3"/>
            <a:r>
              <a:rPr lang="en-US" dirty="0">
                <a:solidFill>
                  <a:srgbClr val="6A3E3E"/>
                </a:solidFill>
                <a:latin typeface="Consolas"/>
              </a:rPr>
              <a:t>out</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FileOutputStream</a:t>
            </a:r>
            <a:r>
              <a:rPr lang="en-US" b="1" dirty="0">
                <a:solidFill>
                  <a:srgbClr val="000000"/>
                </a:solidFill>
                <a:latin typeface="Consolas"/>
              </a:rPr>
              <a:t>(</a:t>
            </a:r>
            <a:r>
              <a:rPr lang="en-US" b="1" dirty="0">
                <a:solidFill>
                  <a:srgbClr val="2A00FF"/>
                </a:solidFill>
                <a:latin typeface="Consolas"/>
              </a:rPr>
              <a:t>"output.txt"</a:t>
            </a:r>
            <a:r>
              <a:rPr lang="en-US" b="1" dirty="0">
                <a:solidFill>
                  <a:srgbClr val="000000"/>
                </a:solidFill>
                <a:latin typeface="Consolas"/>
              </a:rPr>
              <a:t>);</a:t>
            </a:r>
          </a:p>
          <a:p>
            <a:pPr lvl="3"/>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c</a:t>
            </a:r>
            <a:r>
              <a:rPr lang="en-US" b="1" dirty="0">
                <a:solidFill>
                  <a:srgbClr val="000000"/>
                </a:solidFill>
                <a:latin typeface="Consolas"/>
              </a:rPr>
              <a:t>;</a:t>
            </a:r>
          </a:p>
          <a:p>
            <a:pPr lvl="3"/>
            <a:r>
              <a:rPr lang="en-US" b="1" dirty="0">
                <a:solidFill>
                  <a:srgbClr val="7F0055"/>
                </a:solidFill>
                <a:latin typeface="Consolas"/>
              </a:rPr>
              <a:t>while</a:t>
            </a:r>
            <a:r>
              <a:rPr lang="en-US" b="1" dirty="0">
                <a:solidFill>
                  <a:srgbClr val="000000"/>
                </a:solidFill>
                <a:latin typeface="Consolas"/>
              </a:rPr>
              <a:t> ((</a:t>
            </a:r>
            <a:r>
              <a:rPr lang="en-US" b="1" dirty="0">
                <a:solidFill>
                  <a:srgbClr val="6A3E3E"/>
                </a:solidFill>
                <a:latin typeface="Consolas"/>
              </a:rPr>
              <a:t>c</a:t>
            </a:r>
            <a:r>
              <a:rPr lang="en-US" b="1" dirty="0">
                <a:solidFill>
                  <a:srgbClr val="000000"/>
                </a:solidFill>
                <a:latin typeface="Consolas"/>
              </a:rPr>
              <a:t> = </a:t>
            </a:r>
            <a:r>
              <a:rPr lang="en-US" b="1" dirty="0" err="1">
                <a:solidFill>
                  <a:srgbClr val="6A3E3E"/>
                </a:solidFill>
                <a:latin typeface="Consolas"/>
              </a:rPr>
              <a:t>in</a:t>
            </a:r>
            <a:r>
              <a:rPr lang="en-US" b="1" dirty="0" err="1">
                <a:solidFill>
                  <a:srgbClr val="000000"/>
                </a:solidFill>
                <a:latin typeface="Consolas"/>
              </a:rPr>
              <a:t>.read</a:t>
            </a:r>
            <a:r>
              <a:rPr lang="en-US" b="1" dirty="0">
                <a:solidFill>
                  <a:srgbClr val="000000"/>
                </a:solidFill>
                <a:latin typeface="Consolas"/>
              </a:rPr>
              <a:t>()) != -1) {</a:t>
            </a:r>
          </a:p>
          <a:p>
            <a:pPr lvl="3"/>
            <a:r>
              <a:rPr lang="en-US" dirty="0">
                <a:solidFill>
                  <a:srgbClr val="6A3E3E"/>
                </a:solidFill>
                <a:latin typeface="Consolas"/>
              </a:rPr>
              <a:t>	</a:t>
            </a:r>
            <a:r>
              <a:rPr lang="en-US" dirty="0" err="1">
                <a:solidFill>
                  <a:srgbClr val="6A3E3E"/>
                </a:solidFill>
                <a:latin typeface="Consolas"/>
              </a:rPr>
              <a:t>out</a:t>
            </a:r>
            <a:r>
              <a:rPr lang="en-US" dirty="0" err="1">
                <a:solidFill>
                  <a:srgbClr val="000000"/>
                </a:solidFill>
                <a:latin typeface="Consolas"/>
              </a:rPr>
              <a:t>.write</a:t>
            </a:r>
            <a:r>
              <a:rPr lang="en-US" dirty="0">
                <a:solidFill>
                  <a:srgbClr val="000000"/>
                </a:solidFill>
                <a:latin typeface="Consolas"/>
              </a:rPr>
              <a:t>(</a:t>
            </a:r>
            <a:r>
              <a:rPr lang="en-US" dirty="0">
                <a:solidFill>
                  <a:srgbClr val="6A3E3E"/>
                </a:solidFill>
                <a:latin typeface="Consolas"/>
              </a:rPr>
              <a:t>c</a:t>
            </a:r>
            <a:r>
              <a:rPr lang="en-US" dirty="0">
                <a:solidFill>
                  <a:srgbClr val="000000"/>
                </a:solidFill>
                <a:latin typeface="Consolas"/>
              </a:rPr>
              <a:t>);</a:t>
            </a:r>
          </a:p>
          <a:p>
            <a:pPr lvl="3"/>
            <a:r>
              <a:rPr lang="en-US" dirty="0">
                <a:solidFill>
                  <a:srgbClr val="000000"/>
                </a:solidFill>
                <a:latin typeface="Consolas"/>
              </a:rPr>
              <a:t>}</a:t>
            </a:r>
          </a:p>
          <a:p>
            <a:pPr lvl="2"/>
            <a:r>
              <a:rPr lang="en-US" dirty="0">
                <a:solidFill>
                  <a:srgbClr val="000000"/>
                </a:solidFill>
                <a:latin typeface="Consolas"/>
              </a:rPr>
              <a:t>} </a:t>
            </a:r>
            <a:r>
              <a:rPr lang="en-US" b="1" dirty="0">
                <a:solidFill>
                  <a:srgbClr val="7F0055"/>
                </a:solidFill>
                <a:latin typeface="Consolas"/>
              </a:rPr>
              <a:t>finally</a:t>
            </a:r>
            <a:r>
              <a:rPr lang="en-US" b="1" dirty="0">
                <a:solidFill>
                  <a:srgbClr val="000000"/>
                </a:solidFill>
                <a:latin typeface="Consolas"/>
              </a:rPr>
              <a:t> {</a:t>
            </a:r>
          </a:p>
          <a:p>
            <a:pPr lvl="3"/>
            <a:r>
              <a:rPr lang="en-US" b="1" dirty="0">
                <a:solidFill>
                  <a:srgbClr val="7F0055"/>
                </a:solidFill>
                <a:latin typeface="Consolas"/>
              </a:rPr>
              <a:t>if</a:t>
            </a:r>
            <a:r>
              <a:rPr lang="en-US" b="1" dirty="0">
                <a:solidFill>
                  <a:srgbClr val="000000"/>
                </a:solidFill>
                <a:latin typeface="Consolas"/>
              </a:rPr>
              <a:t> (</a:t>
            </a:r>
            <a:r>
              <a:rPr lang="en-US" b="1" dirty="0">
                <a:solidFill>
                  <a:srgbClr val="6A3E3E"/>
                </a:solidFill>
                <a:latin typeface="Consolas"/>
              </a:rPr>
              <a:t>in</a:t>
            </a:r>
            <a:r>
              <a:rPr lang="en-US" b="1" dirty="0">
                <a:solidFill>
                  <a:srgbClr val="000000"/>
                </a:solidFill>
                <a:latin typeface="Consolas"/>
              </a:rPr>
              <a:t> != </a:t>
            </a:r>
            <a:r>
              <a:rPr lang="en-US" b="1" dirty="0">
                <a:solidFill>
                  <a:srgbClr val="7F0055"/>
                </a:solidFill>
                <a:latin typeface="Consolas"/>
              </a:rPr>
              <a:t>null</a:t>
            </a:r>
            <a:r>
              <a:rPr lang="en-US" b="1" dirty="0">
                <a:solidFill>
                  <a:srgbClr val="000000"/>
                </a:solidFill>
                <a:latin typeface="Consolas"/>
              </a:rPr>
              <a:t>) {</a:t>
            </a:r>
          </a:p>
          <a:p>
            <a:pPr lvl="3"/>
            <a:r>
              <a:rPr lang="en-US" dirty="0">
                <a:solidFill>
                  <a:srgbClr val="6A3E3E"/>
                </a:solidFill>
                <a:latin typeface="Consolas"/>
              </a:rPr>
              <a:t>	</a:t>
            </a:r>
            <a:r>
              <a:rPr lang="en-US" dirty="0" err="1">
                <a:solidFill>
                  <a:srgbClr val="6A3E3E"/>
                </a:solidFill>
                <a:latin typeface="Consolas"/>
              </a:rPr>
              <a:t>in</a:t>
            </a:r>
            <a:r>
              <a:rPr lang="en-US" dirty="0" err="1">
                <a:solidFill>
                  <a:srgbClr val="000000"/>
                </a:solidFill>
                <a:latin typeface="Consolas"/>
              </a:rPr>
              <a:t>.close</a:t>
            </a:r>
            <a:r>
              <a:rPr lang="en-US" dirty="0">
                <a:solidFill>
                  <a:srgbClr val="000000"/>
                </a:solidFill>
                <a:latin typeface="Consolas"/>
              </a:rPr>
              <a:t>();</a:t>
            </a:r>
          </a:p>
          <a:p>
            <a:pPr lvl="3"/>
            <a:r>
              <a:rPr lang="en-US" dirty="0">
                <a:solidFill>
                  <a:srgbClr val="000000"/>
                </a:solidFill>
                <a:latin typeface="Consolas"/>
              </a:rPr>
              <a:t>}</a:t>
            </a:r>
          </a:p>
          <a:p>
            <a:pPr lvl="3"/>
            <a:r>
              <a:rPr lang="en-US" b="1" dirty="0">
                <a:solidFill>
                  <a:srgbClr val="7F0055"/>
                </a:solidFill>
                <a:latin typeface="Consolas"/>
              </a:rPr>
              <a:t>if</a:t>
            </a:r>
            <a:r>
              <a:rPr lang="en-US" b="1" dirty="0">
                <a:solidFill>
                  <a:srgbClr val="000000"/>
                </a:solidFill>
                <a:latin typeface="Consolas"/>
              </a:rPr>
              <a:t> (</a:t>
            </a:r>
            <a:r>
              <a:rPr lang="en-US" b="1" dirty="0">
                <a:solidFill>
                  <a:srgbClr val="6A3E3E"/>
                </a:solidFill>
                <a:latin typeface="Consolas"/>
              </a:rPr>
              <a:t>out</a:t>
            </a:r>
            <a:r>
              <a:rPr lang="en-US" b="1" dirty="0">
                <a:solidFill>
                  <a:srgbClr val="000000"/>
                </a:solidFill>
                <a:latin typeface="Consolas"/>
              </a:rPr>
              <a:t> != </a:t>
            </a:r>
            <a:r>
              <a:rPr lang="en-US" b="1" dirty="0">
                <a:solidFill>
                  <a:srgbClr val="7F0055"/>
                </a:solidFill>
                <a:latin typeface="Consolas"/>
              </a:rPr>
              <a:t>null</a:t>
            </a:r>
            <a:r>
              <a:rPr lang="en-US" b="1" dirty="0">
                <a:solidFill>
                  <a:srgbClr val="000000"/>
                </a:solidFill>
                <a:latin typeface="Consolas"/>
              </a:rPr>
              <a:t>) {</a:t>
            </a:r>
          </a:p>
          <a:p>
            <a:pPr lvl="3"/>
            <a:r>
              <a:rPr lang="en-US" dirty="0">
                <a:solidFill>
                  <a:srgbClr val="6A3E3E"/>
                </a:solidFill>
                <a:latin typeface="Consolas"/>
              </a:rPr>
              <a:t>	</a:t>
            </a:r>
            <a:r>
              <a:rPr lang="en-US" dirty="0" err="1">
                <a:solidFill>
                  <a:srgbClr val="6A3E3E"/>
                </a:solidFill>
                <a:latin typeface="Consolas"/>
              </a:rPr>
              <a:t>out</a:t>
            </a:r>
            <a:r>
              <a:rPr lang="en-US" dirty="0" err="1">
                <a:solidFill>
                  <a:srgbClr val="000000"/>
                </a:solidFill>
                <a:latin typeface="Consolas"/>
              </a:rPr>
              <a:t>.close</a:t>
            </a:r>
            <a:r>
              <a:rPr lang="en-US" dirty="0">
                <a:solidFill>
                  <a:srgbClr val="000000"/>
                </a:solidFill>
                <a:latin typeface="Consolas"/>
              </a:rPr>
              <a:t>();</a:t>
            </a:r>
          </a:p>
          <a:p>
            <a:pPr lvl="3"/>
            <a:r>
              <a:rPr lang="en-US"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 }</a:t>
            </a:r>
            <a:endParaRPr lang="en-US" dirty="0"/>
          </a:p>
        </p:txBody>
      </p:sp>
    </p:spTree>
    <p:extLst>
      <p:ext uri="{BB962C8B-B14F-4D97-AF65-F5344CB8AC3E}">
        <p14:creationId xmlns:p14="http://schemas.microsoft.com/office/powerpoint/2010/main" val="266517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38160-91A1-84ED-0A06-EFDAA1DB9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28D6D-5D47-7B41-735F-530CBE14E072}"/>
              </a:ext>
            </a:extLst>
          </p:cNvPr>
          <p:cNvSpPr>
            <a:spLocks noGrp="1"/>
          </p:cNvSpPr>
          <p:nvPr>
            <p:ph type="title"/>
          </p:nvPr>
        </p:nvSpPr>
        <p:spPr>
          <a:xfrm>
            <a:off x="0" y="1"/>
            <a:ext cx="12192000" cy="711200"/>
          </a:xfrm>
        </p:spPr>
        <p:txBody>
          <a:bodyPr/>
          <a:lstStyle/>
          <a:p>
            <a:r>
              <a:rPr lang="en-US" dirty="0"/>
              <a:t>Character Streams</a:t>
            </a:r>
          </a:p>
        </p:txBody>
      </p:sp>
      <p:sp>
        <p:nvSpPr>
          <p:cNvPr id="3" name="Content Placeholder 2">
            <a:extLst>
              <a:ext uri="{FF2B5EF4-FFF2-40B4-BE49-F238E27FC236}">
                <a16:creationId xmlns:a16="http://schemas.microsoft.com/office/drawing/2014/main" id="{01BD8F7F-78E8-914A-CD27-F911221E4EF4}"/>
              </a:ext>
            </a:extLst>
          </p:cNvPr>
          <p:cNvSpPr>
            <a:spLocks noGrp="1"/>
          </p:cNvSpPr>
          <p:nvPr>
            <p:ph idx="1"/>
          </p:nvPr>
        </p:nvSpPr>
        <p:spPr>
          <a:xfrm>
            <a:off x="131180" y="863444"/>
            <a:ext cx="11929641" cy="5590565"/>
          </a:xfrm>
        </p:spPr>
        <p:txBody>
          <a:bodyPr/>
          <a:lstStyle/>
          <a:p>
            <a:r>
              <a:rPr lang="en-US" dirty="0"/>
              <a:t>Character Streams provide a convenient means for handling input and output of characters.</a:t>
            </a:r>
          </a:p>
          <a:p>
            <a:r>
              <a:rPr lang="en-US" dirty="0"/>
              <a:t>Internationalization is possible as it uses Unicode.</a:t>
            </a:r>
          </a:p>
          <a:p>
            <a:r>
              <a:rPr lang="en-US" dirty="0"/>
              <a:t>For character streams we have two base classes</a:t>
            </a:r>
          </a:p>
          <a:p>
            <a:pPr lvl="1"/>
            <a:r>
              <a:rPr lang="en-US" sz="2200" dirty="0">
                <a:solidFill>
                  <a:srgbClr val="B71B1C"/>
                </a:solidFill>
              </a:rPr>
              <a:t>Reader</a:t>
            </a:r>
          </a:p>
          <a:p>
            <a:pPr lvl="1"/>
            <a:r>
              <a:rPr lang="en-US" sz="2200" dirty="0">
                <a:solidFill>
                  <a:srgbClr val="B71B1C"/>
                </a:solidFill>
              </a:rPr>
              <a:t>Writer</a:t>
            </a:r>
          </a:p>
        </p:txBody>
      </p:sp>
    </p:spTree>
    <p:extLst>
      <p:ext uri="{BB962C8B-B14F-4D97-AF65-F5344CB8AC3E}">
        <p14:creationId xmlns:p14="http://schemas.microsoft.com/office/powerpoint/2010/main" val="114401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70D8A-B4F1-1B1B-92D5-12F0704B87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3B2CE-F891-DB2D-B155-A5FF0A38A1F4}"/>
              </a:ext>
            </a:extLst>
          </p:cNvPr>
          <p:cNvSpPr>
            <a:spLocks noGrp="1"/>
          </p:cNvSpPr>
          <p:nvPr>
            <p:ph type="title"/>
          </p:nvPr>
        </p:nvSpPr>
        <p:spPr>
          <a:xfrm>
            <a:off x="0" y="1"/>
            <a:ext cx="12192000" cy="711200"/>
          </a:xfrm>
        </p:spPr>
        <p:txBody>
          <a:bodyPr/>
          <a:lstStyle/>
          <a:p>
            <a:r>
              <a:rPr lang="en-US" dirty="0"/>
              <a:t>Reader</a:t>
            </a:r>
          </a:p>
        </p:txBody>
      </p:sp>
      <p:sp>
        <p:nvSpPr>
          <p:cNvPr id="3" name="Content Placeholder 2">
            <a:extLst>
              <a:ext uri="{FF2B5EF4-FFF2-40B4-BE49-F238E27FC236}">
                <a16:creationId xmlns:a16="http://schemas.microsoft.com/office/drawing/2014/main" id="{8A6BF68A-C781-C424-F3E8-8799DCCE4891}"/>
              </a:ext>
            </a:extLst>
          </p:cNvPr>
          <p:cNvSpPr>
            <a:spLocks noGrp="1"/>
          </p:cNvSpPr>
          <p:nvPr>
            <p:ph idx="1"/>
          </p:nvPr>
        </p:nvSpPr>
        <p:spPr>
          <a:xfrm>
            <a:off x="131180" y="863444"/>
            <a:ext cx="11929641" cy="5590565"/>
          </a:xfrm>
        </p:spPr>
        <p:txBody>
          <a:bodyPr/>
          <a:lstStyle/>
          <a:p>
            <a:r>
              <a:rPr lang="en-US" dirty="0"/>
              <a:t>The Java </a:t>
            </a:r>
            <a:r>
              <a:rPr lang="en-US" dirty="0">
                <a:solidFill>
                  <a:srgbClr val="C00000"/>
                </a:solidFill>
                <a:latin typeface="Consolas" panose="020B0609020204030204" pitchFamily="49" charset="0"/>
                <a:ea typeface="Cambria" pitchFamily="18" charset="0"/>
              </a:rPr>
              <a:t>Reader</a:t>
            </a:r>
            <a:r>
              <a:rPr lang="en-US" dirty="0">
                <a:solidFill>
                  <a:srgbClr val="C00000"/>
                </a:solidFill>
                <a:latin typeface="Cambria" pitchFamily="18" charset="0"/>
                <a:ea typeface="Cambria" pitchFamily="18" charset="0"/>
              </a:rPr>
              <a:t> </a:t>
            </a:r>
            <a:r>
              <a:rPr lang="en-US" dirty="0"/>
              <a:t>class is the base class of all Reader's in the IO API.</a:t>
            </a:r>
          </a:p>
          <a:p>
            <a:r>
              <a:rPr lang="en-US" dirty="0"/>
              <a:t>Subclasses include a </a:t>
            </a:r>
            <a:r>
              <a:rPr lang="en-US" dirty="0" err="1">
                <a:latin typeface="Consolas" panose="020B0609020204030204" pitchFamily="49" charset="0"/>
              </a:rPr>
              <a:t>FileReader</a:t>
            </a:r>
            <a:r>
              <a:rPr lang="en-US" dirty="0">
                <a:latin typeface="Consolas" panose="020B0609020204030204" pitchFamily="49" charset="0"/>
              </a:rPr>
              <a:t>, </a:t>
            </a:r>
            <a:r>
              <a:rPr lang="en-US" dirty="0" err="1">
                <a:latin typeface="Consolas" panose="020B0609020204030204" pitchFamily="49" charset="0"/>
              </a:rPr>
              <a:t>BufferedReader</a:t>
            </a:r>
            <a:r>
              <a:rPr lang="en-US" dirty="0">
                <a:latin typeface="Consolas" panose="020B0609020204030204" pitchFamily="49" charset="0"/>
              </a:rPr>
              <a:t>, </a:t>
            </a:r>
            <a:r>
              <a:rPr lang="en-US" dirty="0" err="1">
                <a:latin typeface="Consolas" panose="020B0609020204030204" pitchFamily="49" charset="0"/>
              </a:rPr>
              <a:t>InputStreamReader</a:t>
            </a:r>
            <a:r>
              <a:rPr lang="en-US" dirty="0">
                <a:latin typeface="Consolas" panose="020B0609020204030204" pitchFamily="49" charset="0"/>
              </a:rPr>
              <a:t>, </a:t>
            </a:r>
            <a:r>
              <a:rPr lang="en-US" dirty="0" err="1">
                <a:latin typeface="Consolas" panose="020B0609020204030204" pitchFamily="49" charset="0"/>
              </a:rPr>
              <a:t>StringReader</a:t>
            </a:r>
            <a:r>
              <a:rPr lang="en-US" dirty="0"/>
              <a:t> and several others.</a:t>
            </a:r>
          </a:p>
          <a:p>
            <a:r>
              <a:rPr lang="en-US" dirty="0"/>
              <a:t>Here is a simple Java IO Reader example:</a:t>
            </a:r>
          </a:p>
          <a:p>
            <a:endParaRPr lang="en-US" dirty="0"/>
          </a:p>
          <a:p>
            <a:endParaRPr lang="en-US" dirty="0"/>
          </a:p>
          <a:p>
            <a:endParaRPr lang="en-US" dirty="0"/>
          </a:p>
          <a:p>
            <a:endParaRPr lang="en-US" dirty="0"/>
          </a:p>
          <a:p>
            <a:pPr>
              <a:spcBef>
                <a:spcPts val="2400"/>
              </a:spcBef>
            </a:pPr>
            <a:r>
              <a:rPr lang="en-US" dirty="0"/>
              <a:t>Combining Readers with </a:t>
            </a:r>
            <a:r>
              <a:rPr lang="en-US" dirty="0" err="1"/>
              <a:t>InputStream</a:t>
            </a:r>
            <a:endParaRPr lang="en-US" dirty="0"/>
          </a:p>
          <a:p>
            <a:endParaRPr lang="en-US" dirty="0"/>
          </a:p>
          <a:p>
            <a:endParaRPr lang="en-US" dirty="0"/>
          </a:p>
        </p:txBody>
      </p:sp>
      <p:sp>
        <p:nvSpPr>
          <p:cNvPr id="4" name="Rectangle 3">
            <a:extLst>
              <a:ext uri="{FF2B5EF4-FFF2-40B4-BE49-F238E27FC236}">
                <a16:creationId xmlns:a16="http://schemas.microsoft.com/office/drawing/2014/main" id="{4ED47D74-1F20-60C4-A0EC-4B0857B58A62}"/>
              </a:ext>
            </a:extLst>
          </p:cNvPr>
          <p:cNvSpPr/>
          <p:nvPr/>
        </p:nvSpPr>
        <p:spPr>
          <a:xfrm>
            <a:off x="518160" y="2478237"/>
            <a:ext cx="7696200" cy="1754326"/>
          </a:xfrm>
          <a:prstGeom prst="rect">
            <a:avLst/>
          </a:prstGeom>
          <a:ln w="19050">
            <a:solidFill>
              <a:schemeClr val="tx2">
                <a:lumMod val="60000"/>
                <a:lumOff val="40000"/>
              </a:schemeClr>
            </a:solidFill>
            <a:prstDash val="dash"/>
          </a:ln>
        </p:spPr>
        <p:txBody>
          <a:bodyPr wrap="square">
            <a:spAutoFit/>
          </a:bodyPr>
          <a:lstStyle/>
          <a:p>
            <a:r>
              <a:rPr lang="en-US" dirty="0">
                <a:solidFill>
                  <a:srgbClr val="000000"/>
                </a:solidFill>
                <a:latin typeface="Consolas"/>
              </a:rPr>
              <a:t>Reader </a:t>
            </a:r>
            <a:r>
              <a:rPr lang="en-US" dirty="0" err="1">
                <a:solidFill>
                  <a:srgbClr val="6A3E3E"/>
                </a:solidFill>
                <a:latin typeface="Consolas"/>
              </a:rPr>
              <a:t>reader</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FileReader</a:t>
            </a:r>
            <a:r>
              <a:rPr lang="en-US" b="1" dirty="0">
                <a:solidFill>
                  <a:srgbClr val="000000"/>
                </a:solidFill>
                <a:latin typeface="Consolas"/>
              </a:rPr>
              <a:t>(</a:t>
            </a:r>
            <a:r>
              <a:rPr lang="en-US" b="1" dirty="0">
                <a:solidFill>
                  <a:srgbClr val="2A00FF"/>
                </a:solidFill>
                <a:latin typeface="Consolas"/>
              </a:rPr>
              <a:t>"c:\\data\\myfile.txt"</a:t>
            </a:r>
            <a:r>
              <a:rPr lang="en-US" b="1" dirty="0">
                <a:solidFill>
                  <a:srgbClr val="000000"/>
                </a:solidFill>
                <a:latin typeface="Consolas"/>
              </a:rPr>
              <a:t>);</a:t>
            </a:r>
          </a:p>
          <a:p>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data</a:t>
            </a:r>
            <a:r>
              <a:rPr lang="en-US" b="1" dirty="0">
                <a:solidFill>
                  <a:srgbClr val="000000"/>
                </a:solidFill>
                <a:latin typeface="Consolas"/>
              </a:rPr>
              <a:t> = </a:t>
            </a:r>
            <a:r>
              <a:rPr lang="en-US" b="1" dirty="0" err="1">
                <a:solidFill>
                  <a:srgbClr val="6A3E3E"/>
                </a:solidFill>
                <a:latin typeface="Consolas"/>
              </a:rPr>
              <a:t>reader</a:t>
            </a:r>
            <a:r>
              <a:rPr lang="en-US" b="1" dirty="0" err="1">
                <a:solidFill>
                  <a:srgbClr val="000000"/>
                </a:solidFill>
                <a:latin typeface="Consolas"/>
              </a:rPr>
              <a:t>.read</a:t>
            </a:r>
            <a:r>
              <a:rPr lang="en-US" b="1" dirty="0">
                <a:solidFill>
                  <a:srgbClr val="000000"/>
                </a:solidFill>
                <a:latin typeface="Consolas"/>
              </a:rPr>
              <a:t>();</a:t>
            </a:r>
          </a:p>
          <a:p>
            <a:r>
              <a:rPr lang="en-US" b="1" dirty="0">
                <a:solidFill>
                  <a:srgbClr val="7F0055"/>
                </a:solidFill>
                <a:latin typeface="Consolas"/>
              </a:rPr>
              <a:t>while</a:t>
            </a:r>
            <a:r>
              <a:rPr lang="en-US" b="1" dirty="0">
                <a:solidFill>
                  <a:srgbClr val="000000"/>
                </a:solidFill>
                <a:latin typeface="Consolas"/>
              </a:rPr>
              <a:t> (</a:t>
            </a:r>
            <a:r>
              <a:rPr lang="en-US" b="1" dirty="0">
                <a:solidFill>
                  <a:srgbClr val="6A3E3E"/>
                </a:solidFill>
                <a:latin typeface="Consolas"/>
              </a:rPr>
              <a:t>data</a:t>
            </a:r>
            <a:r>
              <a:rPr lang="en-US" b="1" dirty="0">
                <a:solidFill>
                  <a:srgbClr val="000000"/>
                </a:solidFill>
                <a:latin typeface="Consolas"/>
              </a:rPr>
              <a:t> != -1) {</a:t>
            </a:r>
          </a:p>
          <a:p>
            <a:pPr lvl="1"/>
            <a:r>
              <a:rPr lang="en-US" b="1" dirty="0">
                <a:solidFill>
                  <a:srgbClr val="7F0055"/>
                </a:solidFill>
                <a:latin typeface="Consolas"/>
              </a:rPr>
              <a:t>char</a:t>
            </a:r>
            <a:r>
              <a:rPr lang="en-US" b="1" dirty="0">
                <a:solidFill>
                  <a:srgbClr val="000000"/>
                </a:solidFill>
                <a:latin typeface="Consolas"/>
              </a:rPr>
              <a:t> </a:t>
            </a:r>
            <a:r>
              <a:rPr lang="en-US" b="1" dirty="0" err="1">
                <a:solidFill>
                  <a:srgbClr val="6A3E3E"/>
                </a:solidFill>
                <a:latin typeface="Consolas"/>
              </a:rPr>
              <a:t>dataChar</a:t>
            </a:r>
            <a:r>
              <a:rPr lang="en-US" b="1" dirty="0">
                <a:solidFill>
                  <a:srgbClr val="000000"/>
                </a:solidFill>
                <a:latin typeface="Consolas"/>
              </a:rPr>
              <a:t> = (</a:t>
            </a:r>
            <a:r>
              <a:rPr lang="en-US" b="1" dirty="0">
                <a:solidFill>
                  <a:srgbClr val="7F0055"/>
                </a:solidFill>
                <a:latin typeface="Consolas"/>
              </a:rPr>
              <a:t>char</a:t>
            </a:r>
            <a:r>
              <a:rPr lang="en-US" b="1" dirty="0">
                <a:solidFill>
                  <a:srgbClr val="000000"/>
                </a:solidFill>
                <a:latin typeface="Consolas"/>
              </a:rPr>
              <a:t>) </a:t>
            </a:r>
            <a:r>
              <a:rPr lang="en-US" b="1" dirty="0">
                <a:solidFill>
                  <a:srgbClr val="6A3E3E"/>
                </a:solidFill>
                <a:latin typeface="Consolas"/>
              </a:rPr>
              <a:t>data</a:t>
            </a:r>
            <a:r>
              <a:rPr lang="en-US" b="1" dirty="0">
                <a:solidFill>
                  <a:srgbClr val="000000"/>
                </a:solidFill>
                <a:latin typeface="Consolas"/>
              </a:rPr>
              <a:t>;</a:t>
            </a:r>
          </a:p>
          <a:p>
            <a:pPr lvl="1"/>
            <a:r>
              <a:rPr lang="en-US" dirty="0">
                <a:solidFill>
                  <a:srgbClr val="6A3E3E"/>
                </a:solidFill>
                <a:latin typeface="Consolas"/>
              </a:rPr>
              <a:t>data</a:t>
            </a:r>
            <a:r>
              <a:rPr lang="en-US" dirty="0">
                <a:solidFill>
                  <a:srgbClr val="000000"/>
                </a:solidFill>
                <a:latin typeface="Consolas"/>
              </a:rPr>
              <a:t> = </a:t>
            </a:r>
            <a:r>
              <a:rPr lang="en-US" dirty="0" err="1">
                <a:solidFill>
                  <a:srgbClr val="6A3E3E"/>
                </a:solidFill>
                <a:latin typeface="Consolas"/>
              </a:rPr>
              <a:t>reader</a:t>
            </a:r>
            <a:r>
              <a:rPr lang="en-US" dirty="0" err="1">
                <a:solidFill>
                  <a:srgbClr val="000000"/>
                </a:solidFill>
                <a:latin typeface="Consolas"/>
              </a:rPr>
              <a:t>.read</a:t>
            </a:r>
            <a:r>
              <a:rPr lang="en-US" dirty="0">
                <a:solidFill>
                  <a:srgbClr val="000000"/>
                </a:solidFill>
                <a:latin typeface="Consolas"/>
              </a:rPr>
              <a:t>();</a:t>
            </a:r>
          </a:p>
          <a:p>
            <a:r>
              <a:rPr lang="en-US" dirty="0">
                <a:solidFill>
                  <a:srgbClr val="000000"/>
                </a:solidFill>
                <a:latin typeface="Consolas"/>
              </a:rPr>
              <a:t>}</a:t>
            </a:r>
            <a:endParaRPr lang="en-US" dirty="0"/>
          </a:p>
        </p:txBody>
      </p:sp>
      <p:sp>
        <p:nvSpPr>
          <p:cNvPr id="5" name="Rectangle 4">
            <a:extLst>
              <a:ext uri="{FF2B5EF4-FFF2-40B4-BE49-F238E27FC236}">
                <a16:creationId xmlns:a16="http://schemas.microsoft.com/office/drawing/2014/main" id="{84046042-6757-47D2-7109-4FEB0177EFEE}"/>
              </a:ext>
            </a:extLst>
          </p:cNvPr>
          <p:cNvSpPr/>
          <p:nvPr/>
        </p:nvSpPr>
        <p:spPr>
          <a:xfrm>
            <a:off x="518160" y="5045825"/>
            <a:ext cx="8153400" cy="369332"/>
          </a:xfrm>
          <a:prstGeom prst="rect">
            <a:avLst/>
          </a:prstGeom>
          <a:ln w="19050">
            <a:solidFill>
              <a:schemeClr val="tx2">
                <a:lumMod val="60000"/>
                <a:lumOff val="40000"/>
              </a:schemeClr>
            </a:solidFill>
            <a:prstDash val="dash"/>
          </a:ln>
        </p:spPr>
        <p:txBody>
          <a:bodyPr wrap="square">
            <a:spAutoFit/>
          </a:bodyPr>
          <a:lstStyle/>
          <a:p>
            <a:r>
              <a:rPr lang="en-US" dirty="0">
                <a:solidFill>
                  <a:srgbClr val="000000"/>
                </a:solidFill>
                <a:latin typeface="Consolas"/>
              </a:rPr>
              <a:t>Reader </a:t>
            </a:r>
            <a:r>
              <a:rPr lang="en-US" dirty="0" err="1">
                <a:solidFill>
                  <a:srgbClr val="6A3E3E"/>
                </a:solidFill>
                <a:latin typeface="Consolas"/>
              </a:rPr>
              <a:t>reader</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InputStreamReader</a:t>
            </a:r>
            <a:r>
              <a:rPr lang="en-US" b="1" dirty="0">
                <a:solidFill>
                  <a:srgbClr val="000000"/>
                </a:solidFill>
                <a:latin typeface="Consolas"/>
              </a:rPr>
              <a:t>(</a:t>
            </a:r>
            <a:r>
              <a:rPr lang="en-US" b="1" dirty="0">
                <a:solidFill>
                  <a:srgbClr val="2A00FF"/>
                </a:solidFill>
                <a:latin typeface="Consolas"/>
              </a:rPr>
              <a:t>"c:\\data\\myfile.txt"</a:t>
            </a:r>
            <a:r>
              <a:rPr lang="en-US" b="1" dirty="0">
                <a:solidFill>
                  <a:srgbClr val="000000"/>
                </a:solidFill>
                <a:latin typeface="Consolas"/>
              </a:rPr>
              <a:t>);</a:t>
            </a:r>
          </a:p>
        </p:txBody>
      </p:sp>
    </p:spTree>
    <p:extLst>
      <p:ext uri="{BB962C8B-B14F-4D97-AF65-F5344CB8AC3E}">
        <p14:creationId xmlns:p14="http://schemas.microsoft.com/office/powerpoint/2010/main" val="2093838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CE12A-0A19-50EA-1D39-6503A21B1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D58E8-9E81-201C-F583-2DACD4DA8233}"/>
              </a:ext>
            </a:extLst>
          </p:cNvPr>
          <p:cNvSpPr>
            <a:spLocks noGrp="1"/>
          </p:cNvSpPr>
          <p:nvPr>
            <p:ph type="title"/>
          </p:nvPr>
        </p:nvSpPr>
        <p:spPr>
          <a:xfrm>
            <a:off x="0" y="1"/>
            <a:ext cx="12192000" cy="711200"/>
          </a:xfrm>
        </p:spPr>
        <p:txBody>
          <a:bodyPr/>
          <a:lstStyle/>
          <a:p>
            <a:r>
              <a:rPr lang="en-US" dirty="0"/>
              <a:t>Writer</a:t>
            </a:r>
          </a:p>
        </p:txBody>
      </p:sp>
      <p:sp>
        <p:nvSpPr>
          <p:cNvPr id="3" name="Content Placeholder 2">
            <a:extLst>
              <a:ext uri="{FF2B5EF4-FFF2-40B4-BE49-F238E27FC236}">
                <a16:creationId xmlns:a16="http://schemas.microsoft.com/office/drawing/2014/main" id="{86DBABD2-44A1-7CA6-247A-564498341767}"/>
              </a:ext>
            </a:extLst>
          </p:cNvPr>
          <p:cNvSpPr>
            <a:spLocks noGrp="1"/>
          </p:cNvSpPr>
          <p:nvPr>
            <p:ph idx="1"/>
          </p:nvPr>
        </p:nvSpPr>
        <p:spPr>
          <a:xfrm>
            <a:off x="131180" y="863444"/>
            <a:ext cx="11929641" cy="5590565"/>
          </a:xfrm>
        </p:spPr>
        <p:txBody>
          <a:bodyPr/>
          <a:lstStyle/>
          <a:p>
            <a:r>
              <a:rPr lang="en-US" dirty="0"/>
              <a:t>The Java </a:t>
            </a:r>
            <a:r>
              <a:rPr lang="en-US" dirty="0">
                <a:latin typeface="Consolas" panose="020B0609020204030204" pitchFamily="49" charset="0"/>
                <a:ea typeface="Cambria" pitchFamily="18" charset="0"/>
              </a:rPr>
              <a:t>Writer</a:t>
            </a:r>
            <a:r>
              <a:rPr lang="en-US" dirty="0"/>
              <a:t> class is the base class of all Writers in the I-O API. </a:t>
            </a:r>
          </a:p>
          <a:p>
            <a:r>
              <a:rPr lang="en-US" dirty="0"/>
              <a:t>Subclasses include </a:t>
            </a:r>
            <a:r>
              <a:rPr lang="en-US" dirty="0" err="1">
                <a:latin typeface="Consolas" panose="020B0609020204030204" pitchFamily="49" charset="0"/>
              </a:rPr>
              <a:t>BufferedWriter</a:t>
            </a:r>
            <a:r>
              <a:rPr lang="en-US" dirty="0">
                <a:latin typeface="Consolas" panose="020B0609020204030204" pitchFamily="49" charset="0"/>
              </a:rPr>
              <a:t>, </a:t>
            </a:r>
            <a:r>
              <a:rPr lang="en-US" dirty="0" err="1">
                <a:latin typeface="Consolas" panose="020B0609020204030204" pitchFamily="49" charset="0"/>
              </a:rPr>
              <a:t>PrintWriter</a:t>
            </a:r>
            <a:r>
              <a:rPr lang="en-US" dirty="0">
                <a:latin typeface="Consolas" panose="020B0609020204030204" pitchFamily="49" charset="0"/>
              </a:rPr>
              <a:t>, </a:t>
            </a:r>
            <a:r>
              <a:rPr lang="en-US" dirty="0" err="1">
                <a:latin typeface="Consolas" panose="020B0609020204030204" pitchFamily="49" charset="0"/>
              </a:rPr>
              <a:t>StringWriter</a:t>
            </a:r>
            <a:r>
              <a:rPr lang="en-US" dirty="0"/>
              <a:t> and several others.</a:t>
            </a:r>
          </a:p>
          <a:p>
            <a:r>
              <a:rPr lang="en-US" dirty="0"/>
              <a:t>Here is a simple Java IO Writer example:</a:t>
            </a:r>
          </a:p>
          <a:p>
            <a:endParaRPr lang="en-US" dirty="0"/>
          </a:p>
          <a:p>
            <a:endParaRPr lang="en-US" dirty="0"/>
          </a:p>
          <a:p>
            <a:r>
              <a:rPr lang="en-US" dirty="0"/>
              <a:t>Combining Readers With </a:t>
            </a:r>
            <a:r>
              <a:rPr lang="en-US" dirty="0" err="1"/>
              <a:t>OutputStreams</a:t>
            </a:r>
            <a:endParaRPr lang="en-US" dirty="0"/>
          </a:p>
          <a:p>
            <a:endParaRPr lang="en-US" dirty="0"/>
          </a:p>
        </p:txBody>
      </p:sp>
      <p:sp>
        <p:nvSpPr>
          <p:cNvPr id="4" name="Rectangle 3">
            <a:extLst>
              <a:ext uri="{FF2B5EF4-FFF2-40B4-BE49-F238E27FC236}">
                <a16:creationId xmlns:a16="http://schemas.microsoft.com/office/drawing/2014/main" id="{EB762F79-9F07-C24A-F428-F53B42A5219E}"/>
              </a:ext>
            </a:extLst>
          </p:cNvPr>
          <p:cNvSpPr/>
          <p:nvPr/>
        </p:nvSpPr>
        <p:spPr>
          <a:xfrm>
            <a:off x="501535" y="2500804"/>
            <a:ext cx="8999912" cy="923330"/>
          </a:xfrm>
          <a:prstGeom prst="rect">
            <a:avLst/>
          </a:prstGeom>
          <a:ln w="19050">
            <a:solidFill>
              <a:schemeClr val="tx2">
                <a:lumMod val="60000"/>
                <a:lumOff val="40000"/>
              </a:schemeClr>
            </a:solidFill>
            <a:prstDash val="dash"/>
          </a:ln>
        </p:spPr>
        <p:txBody>
          <a:bodyPr wrap="square">
            <a:spAutoFit/>
          </a:bodyPr>
          <a:lstStyle/>
          <a:p>
            <a:r>
              <a:rPr lang="en-US" dirty="0">
                <a:solidFill>
                  <a:srgbClr val="000000"/>
                </a:solidFill>
                <a:latin typeface="Consolas"/>
              </a:rPr>
              <a:t>Writer </a:t>
            </a:r>
            <a:r>
              <a:rPr lang="en-US" dirty="0" err="1">
                <a:solidFill>
                  <a:srgbClr val="6A3E3E"/>
                </a:solidFill>
                <a:latin typeface="Consolas"/>
              </a:rPr>
              <a:t>writer</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FileWriter</a:t>
            </a:r>
            <a:r>
              <a:rPr lang="en-US" b="1" dirty="0">
                <a:solidFill>
                  <a:srgbClr val="000000"/>
                </a:solidFill>
                <a:latin typeface="Consolas"/>
              </a:rPr>
              <a:t>(</a:t>
            </a:r>
            <a:r>
              <a:rPr lang="en-US" b="1" dirty="0">
                <a:solidFill>
                  <a:srgbClr val="2A00FF"/>
                </a:solidFill>
                <a:latin typeface="Consolas"/>
              </a:rPr>
              <a:t>"c:\\data\\file-output.txt"</a:t>
            </a:r>
            <a:r>
              <a:rPr lang="en-US" b="1" dirty="0">
                <a:solidFill>
                  <a:srgbClr val="000000"/>
                </a:solidFill>
                <a:latin typeface="Consolas"/>
              </a:rPr>
              <a:t>);</a:t>
            </a:r>
          </a:p>
          <a:p>
            <a:r>
              <a:rPr lang="en-US" dirty="0" err="1">
                <a:solidFill>
                  <a:srgbClr val="6A3E3E"/>
                </a:solidFill>
                <a:latin typeface="Consolas"/>
              </a:rPr>
              <a:t>writer</a:t>
            </a:r>
            <a:r>
              <a:rPr lang="en-US" dirty="0" err="1">
                <a:solidFill>
                  <a:srgbClr val="000000"/>
                </a:solidFill>
                <a:latin typeface="Consolas"/>
              </a:rPr>
              <a:t>.write</a:t>
            </a:r>
            <a:r>
              <a:rPr lang="en-US" dirty="0">
                <a:solidFill>
                  <a:srgbClr val="000000"/>
                </a:solidFill>
                <a:latin typeface="Consolas"/>
              </a:rPr>
              <a:t>(</a:t>
            </a:r>
            <a:r>
              <a:rPr lang="en-US" dirty="0">
                <a:solidFill>
                  <a:srgbClr val="2A00FF"/>
                </a:solidFill>
                <a:latin typeface="Consolas"/>
              </a:rPr>
              <a:t>"Hello World Writer"</a:t>
            </a:r>
            <a:r>
              <a:rPr lang="en-US" dirty="0">
                <a:solidFill>
                  <a:srgbClr val="000000"/>
                </a:solidFill>
                <a:latin typeface="Consolas"/>
              </a:rPr>
              <a:t>);</a:t>
            </a:r>
          </a:p>
          <a:p>
            <a:r>
              <a:rPr lang="en-US" dirty="0" err="1">
                <a:solidFill>
                  <a:srgbClr val="6A3E3E"/>
                </a:solidFill>
                <a:latin typeface="Consolas"/>
              </a:rPr>
              <a:t>writer</a:t>
            </a:r>
            <a:r>
              <a:rPr lang="en-US" dirty="0" err="1">
                <a:solidFill>
                  <a:srgbClr val="000000"/>
                </a:solidFill>
                <a:latin typeface="Consolas"/>
              </a:rPr>
              <a:t>.close</a:t>
            </a:r>
            <a:r>
              <a:rPr lang="en-US" dirty="0">
                <a:solidFill>
                  <a:srgbClr val="000000"/>
                </a:solidFill>
                <a:latin typeface="Consolas"/>
              </a:rPr>
              <a:t>();</a:t>
            </a:r>
            <a:endParaRPr lang="en-US" dirty="0"/>
          </a:p>
        </p:txBody>
      </p:sp>
      <p:sp>
        <p:nvSpPr>
          <p:cNvPr id="5" name="Rectangle 4">
            <a:extLst>
              <a:ext uri="{FF2B5EF4-FFF2-40B4-BE49-F238E27FC236}">
                <a16:creationId xmlns:a16="http://schemas.microsoft.com/office/drawing/2014/main" id="{5E01C492-F3C4-D506-D36F-331B3FAFA2DE}"/>
              </a:ext>
            </a:extLst>
          </p:cNvPr>
          <p:cNvSpPr/>
          <p:nvPr/>
        </p:nvSpPr>
        <p:spPr>
          <a:xfrm>
            <a:off x="501535" y="3969575"/>
            <a:ext cx="8999912" cy="369332"/>
          </a:xfrm>
          <a:prstGeom prst="rect">
            <a:avLst/>
          </a:prstGeom>
          <a:ln w="19050">
            <a:solidFill>
              <a:schemeClr val="tx2">
                <a:lumMod val="60000"/>
                <a:lumOff val="40000"/>
              </a:schemeClr>
            </a:solidFill>
            <a:prstDash val="dash"/>
          </a:ln>
        </p:spPr>
        <p:txBody>
          <a:bodyPr wrap="square">
            <a:spAutoFit/>
          </a:bodyPr>
          <a:lstStyle/>
          <a:p>
            <a:r>
              <a:rPr lang="en-US" dirty="0">
                <a:solidFill>
                  <a:srgbClr val="000000"/>
                </a:solidFill>
                <a:latin typeface="Consolas"/>
              </a:rPr>
              <a:t>Writer </a:t>
            </a:r>
            <a:r>
              <a:rPr lang="en-US" dirty="0" err="1">
                <a:solidFill>
                  <a:srgbClr val="6A3E3E"/>
                </a:solidFill>
                <a:latin typeface="Consolas"/>
              </a:rPr>
              <a:t>writer</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OutputStreamWriter</a:t>
            </a:r>
            <a:r>
              <a:rPr lang="en-US" b="1" dirty="0">
                <a:solidFill>
                  <a:srgbClr val="000000"/>
                </a:solidFill>
                <a:latin typeface="Consolas"/>
              </a:rPr>
              <a:t>(</a:t>
            </a:r>
            <a:r>
              <a:rPr lang="en-US" b="1" dirty="0">
                <a:solidFill>
                  <a:srgbClr val="2A00FF"/>
                </a:solidFill>
                <a:latin typeface="Consolas"/>
              </a:rPr>
              <a:t>"c:\\data\\file-output.txt"</a:t>
            </a:r>
            <a:r>
              <a:rPr lang="en-US" b="1" dirty="0">
                <a:solidFill>
                  <a:srgbClr val="000000"/>
                </a:solidFill>
                <a:latin typeface="Consolas"/>
              </a:rPr>
              <a:t>);</a:t>
            </a:r>
          </a:p>
        </p:txBody>
      </p:sp>
    </p:spTree>
    <p:extLst>
      <p:ext uri="{BB962C8B-B14F-4D97-AF65-F5344CB8AC3E}">
        <p14:creationId xmlns:p14="http://schemas.microsoft.com/office/powerpoint/2010/main" val="308143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87B8E-1BE7-BFAB-386B-7D8C815FB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ABBFB-2757-98E7-8093-EECF649E7B1B}"/>
              </a:ext>
            </a:extLst>
          </p:cNvPr>
          <p:cNvSpPr>
            <a:spLocks noGrp="1"/>
          </p:cNvSpPr>
          <p:nvPr>
            <p:ph type="title"/>
          </p:nvPr>
        </p:nvSpPr>
        <p:spPr>
          <a:xfrm>
            <a:off x="0" y="1"/>
            <a:ext cx="12192000" cy="711200"/>
          </a:xfrm>
        </p:spPr>
        <p:txBody>
          <a:bodyPr/>
          <a:lstStyle/>
          <a:p>
            <a:r>
              <a:rPr lang="en-US" dirty="0" err="1"/>
              <a:t>BufferedReader</a:t>
            </a:r>
            <a:endParaRPr lang="en-US" dirty="0"/>
          </a:p>
        </p:txBody>
      </p:sp>
      <p:sp>
        <p:nvSpPr>
          <p:cNvPr id="3" name="Content Placeholder 2">
            <a:extLst>
              <a:ext uri="{FF2B5EF4-FFF2-40B4-BE49-F238E27FC236}">
                <a16:creationId xmlns:a16="http://schemas.microsoft.com/office/drawing/2014/main" id="{8500DA7D-EA74-CB82-F730-2282BAFA9C84}"/>
              </a:ext>
            </a:extLst>
          </p:cNvPr>
          <p:cNvSpPr>
            <a:spLocks noGrp="1"/>
          </p:cNvSpPr>
          <p:nvPr>
            <p:ph idx="1"/>
          </p:nvPr>
        </p:nvSpPr>
        <p:spPr>
          <a:xfrm>
            <a:off x="131180" y="863444"/>
            <a:ext cx="11929641" cy="5590565"/>
          </a:xfrm>
        </p:spPr>
        <p:txBody>
          <a:bodyPr/>
          <a:lstStyle/>
          <a:p>
            <a:r>
              <a:rPr lang="en-US" dirty="0"/>
              <a:t>The </a:t>
            </a:r>
            <a:r>
              <a:rPr lang="en-US" dirty="0" err="1">
                <a:solidFill>
                  <a:srgbClr val="C00000"/>
                </a:solidFill>
                <a:latin typeface="Consolas" panose="020B0609020204030204" pitchFamily="49" charset="0"/>
              </a:rPr>
              <a:t>java.io.BufferedReader</a:t>
            </a:r>
            <a:r>
              <a:rPr lang="en-US" dirty="0">
                <a:solidFill>
                  <a:srgbClr val="C00000"/>
                </a:solidFill>
              </a:rPr>
              <a:t> </a:t>
            </a:r>
            <a:r>
              <a:rPr lang="en-US" dirty="0"/>
              <a:t>class reads text from a character-input stream, buffering characters so as to provide for the efficient reading of characters, arrays, and lines.</a:t>
            </a:r>
          </a:p>
          <a:p>
            <a:r>
              <a:rPr lang="en-US" dirty="0"/>
              <a:t>Following are the important points about </a:t>
            </a:r>
            <a:r>
              <a:rPr lang="en-US" dirty="0" err="1">
                <a:solidFill>
                  <a:srgbClr val="C00000"/>
                </a:solidFill>
                <a:latin typeface="Consolas" panose="020B0609020204030204" pitchFamily="49" charset="0"/>
              </a:rPr>
              <a:t>BufferedReader</a:t>
            </a:r>
            <a:r>
              <a:rPr lang="en-US" dirty="0"/>
              <a:t>:</a:t>
            </a:r>
          </a:p>
          <a:p>
            <a:pPr lvl="1"/>
            <a:r>
              <a:rPr lang="en-US" sz="2200" dirty="0"/>
              <a:t>The buffer size may be specified, or the default size may be used.</a:t>
            </a:r>
          </a:p>
          <a:p>
            <a:pPr lvl="1"/>
            <a:r>
              <a:rPr lang="en-US" sz="2200" dirty="0"/>
              <a:t>Each read request made of a Reader causes a corresponding read request to be made of the underlying character or byte stream.</a:t>
            </a:r>
          </a:p>
          <a:p>
            <a:r>
              <a:rPr lang="en-US" dirty="0"/>
              <a:t>Constructors :</a:t>
            </a:r>
          </a:p>
        </p:txBody>
      </p:sp>
      <p:graphicFrame>
        <p:nvGraphicFramePr>
          <p:cNvPr id="4" name="Table 3">
            <a:extLst>
              <a:ext uri="{FF2B5EF4-FFF2-40B4-BE49-F238E27FC236}">
                <a16:creationId xmlns:a16="http://schemas.microsoft.com/office/drawing/2014/main" id="{1532E9D8-980B-4279-B55E-B237AA81F492}"/>
              </a:ext>
            </a:extLst>
          </p:cNvPr>
          <p:cNvGraphicFramePr>
            <a:graphicFrameLocks noGrp="1"/>
          </p:cNvGraphicFramePr>
          <p:nvPr>
            <p:extLst>
              <p:ext uri="{D42A27DB-BD31-4B8C-83A1-F6EECF244321}">
                <p14:modId xmlns:p14="http://schemas.microsoft.com/office/powerpoint/2010/main" val="2935552784"/>
              </p:ext>
            </p:extLst>
          </p:nvPr>
        </p:nvGraphicFramePr>
        <p:xfrm>
          <a:off x="490181" y="4013304"/>
          <a:ext cx="10554395" cy="1651000"/>
        </p:xfrm>
        <a:graphic>
          <a:graphicData uri="http://schemas.openxmlformats.org/drawingml/2006/table">
            <a:tbl>
              <a:tblPr firstRow="1">
                <a:tableStyleId>{00A15C55-8517-42AA-B614-E9B94910E393}</a:tableStyleId>
              </a:tblPr>
              <a:tblGrid>
                <a:gridCol w="710392">
                  <a:extLst>
                    <a:ext uri="{9D8B030D-6E8A-4147-A177-3AD203B41FA5}">
                      <a16:colId xmlns:a16="http://schemas.microsoft.com/office/drawing/2014/main" val="20000"/>
                    </a:ext>
                  </a:extLst>
                </a:gridCol>
                <a:gridCol w="9844003">
                  <a:extLst>
                    <a:ext uri="{9D8B030D-6E8A-4147-A177-3AD203B41FA5}">
                      <a16:colId xmlns:a16="http://schemas.microsoft.com/office/drawing/2014/main" val="20001"/>
                    </a:ext>
                  </a:extLst>
                </a:gridCol>
              </a:tblGrid>
              <a:tr h="370840">
                <a:tc>
                  <a:txBody>
                    <a:bodyPr/>
                    <a:lstStyle/>
                    <a:p>
                      <a:pPr algn="ctr"/>
                      <a:r>
                        <a:rPr lang="en-US" dirty="0"/>
                        <a:t>Sr.</a:t>
                      </a:r>
                    </a:p>
                  </a:txBody>
                  <a:tcPr/>
                </a:tc>
                <a:tc>
                  <a:txBody>
                    <a:bodyPr/>
                    <a:lstStyle/>
                    <a:p>
                      <a:r>
                        <a:rPr lang="en-US" dirty="0"/>
                        <a:t>Constructor</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r>
                        <a:rPr lang="en-US" dirty="0" err="1"/>
                        <a:t>BufferedReader</a:t>
                      </a:r>
                      <a:r>
                        <a:rPr lang="en-US" dirty="0"/>
                        <a:t>(Reader in)</a:t>
                      </a:r>
                    </a:p>
                    <a:p>
                      <a:r>
                        <a:rPr lang="en-US" dirty="0"/>
                        <a:t>This creates a buffering character-input stream that uses a default-sized input buffer.</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r>
                        <a:rPr lang="en-US" dirty="0" err="1"/>
                        <a:t>BufferedReader</a:t>
                      </a:r>
                      <a:r>
                        <a:rPr lang="en-US" dirty="0"/>
                        <a:t>(Reader in, </a:t>
                      </a:r>
                      <a:r>
                        <a:rPr lang="en-US" dirty="0" err="1"/>
                        <a:t>int</a:t>
                      </a:r>
                      <a:r>
                        <a:rPr lang="en-US" dirty="0"/>
                        <a:t> </a:t>
                      </a:r>
                      <a:r>
                        <a:rPr lang="en-US" dirty="0" err="1"/>
                        <a:t>sz</a:t>
                      </a:r>
                      <a:r>
                        <a:rPr lang="en-US" dirty="0"/>
                        <a:t>)</a:t>
                      </a:r>
                    </a:p>
                    <a:p>
                      <a:r>
                        <a:rPr lang="en-US" dirty="0"/>
                        <a:t>This creates a buffering character-input stream that uses an input buffer of the specified size.</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005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2E966-1F79-A881-2800-68E2DD28B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07754-0054-2FF5-5638-1DE2DED7C6A8}"/>
              </a:ext>
            </a:extLst>
          </p:cNvPr>
          <p:cNvSpPr>
            <a:spLocks noGrp="1"/>
          </p:cNvSpPr>
          <p:nvPr>
            <p:ph type="title"/>
          </p:nvPr>
        </p:nvSpPr>
        <p:spPr>
          <a:xfrm>
            <a:off x="0" y="1"/>
            <a:ext cx="12192000" cy="711200"/>
          </a:xfrm>
        </p:spPr>
        <p:txBody>
          <a:bodyPr/>
          <a:lstStyle/>
          <a:p>
            <a:r>
              <a:rPr lang="en-US" dirty="0" err="1"/>
              <a:t>BufferedReader</a:t>
            </a:r>
            <a:r>
              <a:rPr lang="en-US" dirty="0"/>
              <a:t> (Methods)</a:t>
            </a:r>
          </a:p>
        </p:txBody>
      </p:sp>
      <p:graphicFrame>
        <p:nvGraphicFramePr>
          <p:cNvPr id="3" name="Table 2">
            <a:extLst>
              <a:ext uri="{FF2B5EF4-FFF2-40B4-BE49-F238E27FC236}">
                <a16:creationId xmlns:a16="http://schemas.microsoft.com/office/drawing/2014/main" id="{E9934E79-C654-429D-7D24-473B6F3922DE}"/>
              </a:ext>
            </a:extLst>
          </p:cNvPr>
          <p:cNvGraphicFramePr>
            <a:graphicFrameLocks noGrp="1"/>
          </p:cNvGraphicFramePr>
          <p:nvPr/>
        </p:nvGraphicFramePr>
        <p:xfrm>
          <a:off x="190499" y="1066800"/>
          <a:ext cx="10882054" cy="4602480"/>
        </p:xfrm>
        <a:graphic>
          <a:graphicData uri="http://schemas.openxmlformats.org/drawingml/2006/table">
            <a:tbl>
              <a:tblPr firstRow="1">
                <a:tableStyleId>{00A15C55-8517-42AA-B614-E9B94910E393}</a:tableStyleId>
              </a:tblPr>
              <a:tblGrid>
                <a:gridCol w="732445">
                  <a:extLst>
                    <a:ext uri="{9D8B030D-6E8A-4147-A177-3AD203B41FA5}">
                      <a16:colId xmlns:a16="http://schemas.microsoft.com/office/drawing/2014/main" val="20000"/>
                    </a:ext>
                  </a:extLst>
                </a:gridCol>
                <a:gridCol w="10149609">
                  <a:extLst>
                    <a:ext uri="{9D8B030D-6E8A-4147-A177-3AD203B41FA5}">
                      <a16:colId xmlns:a16="http://schemas.microsoft.com/office/drawing/2014/main" val="20001"/>
                    </a:ext>
                  </a:extLst>
                </a:gridCol>
              </a:tblGrid>
              <a:tr h="370840">
                <a:tc>
                  <a:txBody>
                    <a:bodyPr/>
                    <a:lstStyle/>
                    <a:p>
                      <a:pPr algn="ctr"/>
                      <a:r>
                        <a:rPr lang="en-US" sz="2000" dirty="0"/>
                        <a:t>Sr.</a:t>
                      </a:r>
                    </a:p>
                  </a:txBody>
                  <a:tcPr/>
                </a:tc>
                <a:tc>
                  <a:txBody>
                    <a:bodyPr/>
                    <a:lstStyle/>
                    <a:p>
                      <a:r>
                        <a:rPr lang="en-US" sz="2000" dirty="0"/>
                        <a:t>Methods</a:t>
                      </a:r>
                    </a:p>
                  </a:txBody>
                  <a:tcPr/>
                </a:tc>
                <a:extLst>
                  <a:ext uri="{0D108BD9-81ED-4DB2-BD59-A6C34878D82A}">
                    <a16:rowId xmlns:a16="http://schemas.microsoft.com/office/drawing/2014/main" val="10000"/>
                  </a:ext>
                </a:extLst>
              </a:tr>
              <a:tr h="370840">
                <a:tc>
                  <a:txBody>
                    <a:bodyPr/>
                    <a:lstStyle/>
                    <a:p>
                      <a:pPr algn="ctr"/>
                      <a:r>
                        <a:rPr lang="en-US" sz="2000" dirty="0"/>
                        <a:t>1</a:t>
                      </a:r>
                    </a:p>
                  </a:txBody>
                  <a:tcPr/>
                </a:tc>
                <a:tc>
                  <a:txBody>
                    <a:bodyPr/>
                    <a:lstStyle/>
                    <a:p>
                      <a:r>
                        <a:rPr lang="en-US" sz="2000" dirty="0"/>
                        <a:t>void close()</a:t>
                      </a:r>
                    </a:p>
                    <a:p>
                      <a:r>
                        <a:rPr lang="en-US" sz="2000" dirty="0"/>
                        <a:t>This method closes the stream and releases any system resources associated with it.</a:t>
                      </a:r>
                    </a:p>
                  </a:txBody>
                  <a:tcPr/>
                </a:tc>
                <a:extLst>
                  <a:ext uri="{0D108BD9-81ED-4DB2-BD59-A6C34878D82A}">
                    <a16:rowId xmlns:a16="http://schemas.microsoft.com/office/drawing/2014/main" val="10001"/>
                  </a:ext>
                </a:extLst>
              </a:tr>
              <a:tr h="370840">
                <a:tc>
                  <a:txBody>
                    <a:bodyPr/>
                    <a:lstStyle/>
                    <a:p>
                      <a:pPr algn="ctr"/>
                      <a:r>
                        <a:rPr lang="en-US" sz="2000" dirty="0"/>
                        <a:t>2</a:t>
                      </a:r>
                    </a:p>
                  </a:txBody>
                  <a:tcPr/>
                </a:tc>
                <a:tc>
                  <a:txBody>
                    <a:bodyPr/>
                    <a:lstStyle/>
                    <a:p>
                      <a:r>
                        <a:rPr lang="en-US" sz="2000" dirty="0" err="1"/>
                        <a:t>int</a:t>
                      </a:r>
                      <a:r>
                        <a:rPr lang="en-US" sz="2000" dirty="0"/>
                        <a:t> read()</a:t>
                      </a:r>
                    </a:p>
                    <a:p>
                      <a:r>
                        <a:rPr lang="en-US" sz="2000" dirty="0"/>
                        <a:t>This method reads a single character.</a:t>
                      </a:r>
                    </a:p>
                  </a:txBody>
                  <a:tcPr/>
                </a:tc>
                <a:extLst>
                  <a:ext uri="{0D108BD9-81ED-4DB2-BD59-A6C34878D82A}">
                    <a16:rowId xmlns:a16="http://schemas.microsoft.com/office/drawing/2014/main" val="10002"/>
                  </a:ext>
                </a:extLst>
              </a:tr>
              <a:tr h="370840">
                <a:tc>
                  <a:txBody>
                    <a:bodyPr/>
                    <a:lstStyle/>
                    <a:p>
                      <a:pPr algn="ctr"/>
                      <a:r>
                        <a:rPr lang="en-US" sz="2000" dirty="0"/>
                        <a:t>3</a:t>
                      </a:r>
                    </a:p>
                  </a:txBody>
                  <a:tcPr/>
                </a:tc>
                <a:tc>
                  <a:txBody>
                    <a:bodyPr/>
                    <a:lstStyle/>
                    <a:p>
                      <a:r>
                        <a:rPr lang="en-US" sz="2000" dirty="0" err="1"/>
                        <a:t>int</a:t>
                      </a:r>
                      <a:r>
                        <a:rPr lang="en-US" sz="2000" dirty="0"/>
                        <a:t> read(char[] </a:t>
                      </a:r>
                      <a:r>
                        <a:rPr lang="en-US" sz="2000" dirty="0" err="1"/>
                        <a:t>cbuf</a:t>
                      </a:r>
                      <a:r>
                        <a:rPr lang="en-US" sz="2000" dirty="0"/>
                        <a:t>, </a:t>
                      </a:r>
                      <a:r>
                        <a:rPr lang="en-US" sz="2000" dirty="0" err="1"/>
                        <a:t>int</a:t>
                      </a:r>
                      <a:r>
                        <a:rPr lang="en-US" sz="2000" dirty="0"/>
                        <a:t> off, </a:t>
                      </a:r>
                      <a:r>
                        <a:rPr lang="en-US" sz="2000" dirty="0" err="1"/>
                        <a:t>int</a:t>
                      </a:r>
                      <a:r>
                        <a:rPr lang="en-US" sz="2000" dirty="0"/>
                        <a:t> </a:t>
                      </a:r>
                      <a:r>
                        <a:rPr lang="en-US" sz="2000" dirty="0" err="1"/>
                        <a:t>len</a:t>
                      </a:r>
                      <a:r>
                        <a:rPr lang="en-US" sz="2000" dirty="0"/>
                        <a:t>)</a:t>
                      </a:r>
                    </a:p>
                    <a:p>
                      <a:r>
                        <a:rPr lang="en-US" sz="2000" dirty="0"/>
                        <a:t>This method reads characters into a portion of an array.</a:t>
                      </a:r>
                    </a:p>
                  </a:txBody>
                  <a:tcPr/>
                </a:tc>
                <a:extLst>
                  <a:ext uri="{0D108BD9-81ED-4DB2-BD59-A6C34878D82A}">
                    <a16:rowId xmlns:a16="http://schemas.microsoft.com/office/drawing/2014/main" val="10003"/>
                  </a:ext>
                </a:extLst>
              </a:tr>
              <a:tr h="370840">
                <a:tc>
                  <a:txBody>
                    <a:bodyPr/>
                    <a:lstStyle/>
                    <a:p>
                      <a:pPr algn="ctr"/>
                      <a:r>
                        <a:rPr lang="en-US" sz="2000" dirty="0"/>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String </a:t>
                      </a:r>
                      <a:r>
                        <a:rPr lang="en-US" sz="2000" dirty="0" err="1"/>
                        <a:t>readLine</a:t>
                      </a:r>
                      <a:r>
                        <a:rPr lang="en-US" sz="200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This method reads a line of text.</a:t>
                      </a:r>
                    </a:p>
                  </a:txBody>
                  <a:tcPr/>
                </a:tc>
                <a:extLst>
                  <a:ext uri="{0D108BD9-81ED-4DB2-BD59-A6C34878D82A}">
                    <a16:rowId xmlns:a16="http://schemas.microsoft.com/office/drawing/2014/main" val="10004"/>
                  </a:ext>
                </a:extLst>
              </a:tr>
              <a:tr h="370840">
                <a:tc>
                  <a:txBody>
                    <a:bodyPr/>
                    <a:lstStyle/>
                    <a:p>
                      <a:pPr algn="ctr"/>
                      <a:r>
                        <a:rPr lang="en-US" sz="2000" dirty="0"/>
                        <a:t>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void reset()</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This method resets the stream.</a:t>
                      </a:r>
                    </a:p>
                  </a:txBody>
                  <a:tcPr/>
                </a:tc>
                <a:extLst>
                  <a:ext uri="{0D108BD9-81ED-4DB2-BD59-A6C34878D82A}">
                    <a16:rowId xmlns:a16="http://schemas.microsoft.com/office/drawing/2014/main" val="10005"/>
                  </a:ext>
                </a:extLst>
              </a:tr>
              <a:tr h="370840">
                <a:tc>
                  <a:txBody>
                    <a:bodyPr/>
                    <a:lstStyle/>
                    <a:p>
                      <a:pPr algn="ctr"/>
                      <a:r>
                        <a:rPr lang="en-US" sz="2000" dirty="0"/>
                        <a:t>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long skip(long n)</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This method skips characters.</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8263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D803E-23AD-6CBA-8B24-BB61EBA75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C50DE-0284-9271-156D-495A62F41EFF}"/>
              </a:ext>
            </a:extLst>
          </p:cNvPr>
          <p:cNvSpPr>
            <a:spLocks noGrp="1"/>
          </p:cNvSpPr>
          <p:nvPr>
            <p:ph type="title"/>
          </p:nvPr>
        </p:nvSpPr>
        <p:spPr>
          <a:xfrm>
            <a:off x="0" y="1"/>
            <a:ext cx="12192000" cy="711200"/>
          </a:xfrm>
        </p:spPr>
        <p:txBody>
          <a:bodyPr/>
          <a:lstStyle/>
          <a:p>
            <a:r>
              <a:rPr lang="en-US" dirty="0" err="1"/>
              <a:t>BufferedReader</a:t>
            </a:r>
            <a:r>
              <a:rPr lang="en-US" dirty="0"/>
              <a:t> – Example</a:t>
            </a:r>
          </a:p>
        </p:txBody>
      </p:sp>
      <p:sp>
        <p:nvSpPr>
          <p:cNvPr id="3" name="Rectangle 2">
            <a:extLst>
              <a:ext uri="{FF2B5EF4-FFF2-40B4-BE49-F238E27FC236}">
                <a16:creationId xmlns:a16="http://schemas.microsoft.com/office/drawing/2014/main" id="{2632F4BA-017F-508D-21DF-4D403DE37AC4}"/>
              </a:ext>
            </a:extLst>
          </p:cNvPr>
          <p:cNvSpPr/>
          <p:nvPr/>
        </p:nvSpPr>
        <p:spPr>
          <a:xfrm>
            <a:off x="228600" y="969288"/>
            <a:ext cx="8534400" cy="5355312"/>
          </a:xfrm>
          <a:prstGeom prst="rect">
            <a:avLst/>
          </a:prstGeom>
          <a:ln w="19050">
            <a:solidFill>
              <a:schemeClr val="tx2">
                <a:lumMod val="60000"/>
                <a:lumOff val="40000"/>
              </a:schemeClr>
            </a:solidFill>
            <a:prstDash val="dash"/>
          </a:ln>
        </p:spPr>
        <p:txBody>
          <a:bodyPr wrap="square">
            <a:spAutoFit/>
          </a:bodyPr>
          <a:lstStyle/>
          <a:p>
            <a:r>
              <a:rPr lang="en-US" b="1" dirty="0">
                <a:solidFill>
                  <a:srgbClr val="7F0055"/>
                </a:solidFill>
                <a:latin typeface="Consolas"/>
              </a:rPr>
              <a:t>import</a:t>
            </a:r>
            <a:r>
              <a:rPr lang="en-US" b="1" dirty="0">
                <a:solidFill>
                  <a:srgbClr val="000000"/>
                </a:solidFill>
                <a:latin typeface="Consolas"/>
              </a:rPr>
              <a:t> </a:t>
            </a:r>
            <a:r>
              <a:rPr lang="en-US" b="1" dirty="0" err="1">
                <a:solidFill>
                  <a:srgbClr val="000000"/>
                </a:solidFill>
                <a:latin typeface="Consolas"/>
              </a:rPr>
              <a:t>java.io.BufferedReader</a:t>
            </a:r>
            <a:r>
              <a:rPr lang="en-US" b="1" dirty="0">
                <a:solidFill>
                  <a:srgbClr val="000000"/>
                </a:solidFill>
                <a:latin typeface="Consolas"/>
              </a:rPr>
              <a:t>;</a:t>
            </a:r>
          </a:p>
          <a:p>
            <a:r>
              <a:rPr lang="en-US" b="1" dirty="0">
                <a:solidFill>
                  <a:srgbClr val="7F0055"/>
                </a:solidFill>
                <a:latin typeface="Consolas"/>
              </a:rPr>
              <a:t>import</a:t>
            </a:r>
            <a:r>
              <a:rPr lang="en-US" b="1" dirty="0">
                <a:solidFill>
                  <a:srgbClr val="000000"/>
                </a:solidFill>
                <a:latin typeface="Consolas"/>
              </a:rPr>
              <a:t> </a:t>
            </a:r>
            <a:r>
              <a:rPr lang="en-US" b="1" dirty="0" err="1">
                <a:solidFill>
                  <a:srgbClr val="000000"/>
                </a:solidFill>
                <a:latin typeface="Consolas"/>
              </a:rPr>
              <a:t>java.io.FileReader</a:t>
            </a:r>
            <a:r>
              <a:rPr lang="en-US" b="1" dirty="0">
                <a:solidFill>
                  <a:srgbClr val="000000"/>
                </a:solidFill>
                <a:latin typeface="Consolas"/>
              </a:rPr>
              <a:t>;</a:t>
            </a:r>
          </a:p>
          <a:p>
            <a:r>
              <a:rPr lang="en-US" b="1" dirty="0">
                <a:solidFill>
                  <a:srgbClr val="7F0055"/>
                </a:solidFill>
                <a:latin typeface="Consolas"/>
              </a:rPr>
              <a:t>import</a:t>
            </a:r>
            <a:r>
              <a:rPr lang="en-US" b="1" dirty="0">
                <a:solidFill>
                  <a:srgbClr val="000000"/>
                </a:solidFill>
                <a:latin typeface="Consolas"/>
              </a:rPr>
              <a:t> </a:t>
            </a:r>
            <a:r>
              <a:rPr lang="en-US" b="1" dirty="0" err="1">
                <a:solidFill>
                  <a:srgbClr val="000000"/>
                </a:solidFill>
                <a:latin typeface="Consolas"/>
              </a:rPr>
              <a:t>java.io.IOException</a:t>
            </a:r>
            <a:r>
              <a:rPr lang="en-US" b="1" dirty="0">
                <a:solidFill>
                  <a:srgbClr val="000000"/>
                </a:solidFill>
                <a:latin typeface="Consolas"/>
              </a:rPr>
              <a:t>;</a:t>
            </a:r>
          </a:p>
          <a:p>
            <a:endParaRPr lang="en-US" dirty="0">
              <a:latin typeface="Consolas"/>
            </a:endParaRPr>
          </a:p>
          <a:p>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BufferedReaderDemo</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r>
              <a:rPr lang="en-US" b="1" dirty="0">
                <a:solidFill>
                  <a:srgbClr val="7F0055"/>
                </a:solidFill>
                <a:latin typeface="Consolas"/>
              </a:rPr>
              <a:t>throws</a:t>
            </a:r>
            <a:r>
              <a:rPr lang="en-US" b="1" dirty="0">
                <a:solidFill>
                  <a:srgbClr val="000000"/>
                </a:solidFill>
                <a:latin typeface="Consolas"/>
              </a:rPr>
              <a:t> </a:t>
            </a:r>
            <a:r>
              <a:rPr lang="en-US" b="1" dirty="0" err="1">
                <a:solidFill>
                  <a:srgbClr val="000000"/>
                </a:solidFill>
                <a:latin typeface="Consolas"/>
              </a:rPr>
              <a:t>IOException</a:t>
            </a:r>
            <a:r>
              <a:rPr lang="en-US" b="1" dirty="0">
                <a:solidFill>
                  <a:srgbClr val="000000"/>
                </a:solidFill>
                <a:latin typeface="Consolas"/>
              </a:rPr>
              <a:t> {</a:t>
            </a:r>
          </a:p>
          <a:p>
            <a:pPr lvl="2"/>
            <a:r>
              <a:rPr lang="en-US" dirty="0" err="1">
                <a:solidFill>
                  <a:srgbClr val="000000"/>
                </a:solidFill>
                <a:latin typeface="Consolas"/>
              </a:rPr>
              <a:t>FileReader</a:t>
            </a:r>
            <a:r>
              <a:rPr lang="en-US" dirty="0">
                <a:solidFill>
                  <a:srgbClr val="000000"/>
                </a:solidFill>
                <a:latin typeface="Consolas"/>
              </a:rPr>
              <a:t> </a:t>
            </a:r>
            <a:r>
              <a:rPr lang="en-US" dirty="0" err="1">
                <a:solidFill>
                  <a:srgbClr val="6A3E3E"/>
                </a:solidFill>
                <a:latin typeface="Consolas"/>
              </a:rPr>
              <a:t>fr</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FileReader</a:t>
            </a:r>
            <a:r>
              <a:rPr lang="en-US" b="1" dirty="0">
                <a:solidFill>
                  <a:srgbClr val="000000"/>
                </a:solidFill>
                <a:latin typeface="Consolas"/>
              </a:rPr>
              <a:t>(</a:t>
            </a:r>
            <a:r>
              <a:rPr lang="en-US" b="1" dirty="0">
                <a:solidFill>
                  <a:srgbClr val="2A00FF"/>
                </a:solidFill>
                <a:latin typeface="Consolas"/>
              </a:rPr>
              <a:t>"input.txt"</a:t>
            </a:r>
            <a:r>
              <a:rPr lang="en-US" b="1" dirty="0">
                <a:solidFill>
                  <a:srgbClr val="000000"/>
                </a:solidFill>
                <a:latin typeface="Consolas"/>
              </a:rPr>
              <a:t>);</a:t>
            </a:r>
          </a:p>
          <a:p>
            <a:pPr lvl="2"/>
            <a:r>
              <a:rPr lang="en-US" dirty="0" err="1">
                <a:solidFill>
                  <a:srgbClr val="000000"/>
                </a:solidFill>
                <a:latin typeface="Consolas"/>
              </a:rPr>
              <a:t>BufferedReader</a:t>
            </a:r>
            <a:r>
              <a:rPr lang="en-US" dirty="0">
                <a:solidFill>
                  <a:srgbClr val="000000"/>
                </a:solidFill>
                <a:latin typeface="Consolas"/>
              </a:rPr>
              <a:t> </a:t>
            </a:r>
            <a:r>
              <a:rPr lang="en-US" dirty="0" err="1">
                <a:solidFill>
                  <a:srgbClr val="6A3E3E"/>
                </a:solidFill>
                <a:latin typeface="Consolas"/>
              </a:rPr>
              <a:t>br</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000000"/>
                </a:solidFill>
                <a:latin typeface="Consolas"/>
              </a:rPr>
              <a:t>BufferedReader</a:t>
            </a:r>
            <a:r>
              <a:rPr lang="en-US" b="1" dirty="0">
                <a:solidFill>
                  <a:srgbClr val="000000"/>
                </a:solidFill>
                <a:latin typeface="Consolas"/>
              </a:rPr>
              <a:t>(</a:t>
            </a:r>
            <a:r>
              <a:rPr lang="en-US" b="1" dirty="0" err="1">
                <a:solidFill>
                  <a:srgbClr val="6A3E3E"/>
                </a:solidFill>
                <a:latin typeface="Consolas"/>
              </a:rPr>
              <a:t>fr</a:t>
            </a:r>
            <a:r>
              <a:rPr lang="en-US" b="1" dirty="0">
                <a:solidFill>
                  <a:srgbClr val="000000"/>
                </a:solidFill>
                <a:latin typeface="Consolas"/>
              </a:rPr>
              <a:t>);</a:t>
            </a:r>
          </a:p>
          <a:p>
            <a:pPr lvl="2"/>
            <a:r>
              <a:rPr lang="en-US" b="1" dirty="0">
                <a:solidFill>
                  <a:srgbClr val="7F0055"/>
                </a:solidFill>
                <a:latin typeface="Consolas"/>
              </a:rPr>
              <a:t>char</a:t>
            </a:r>
            <a:r>
              <a:rPr lang="en-US" b="1" dirty="0">
                <a:solidFill>
                  <a:srgbClr val="000000"/>
                </a:solidFill>
                <a:latin typeface="Consolas"/>
              </a:rPr>
              <a:t> </a:t>
            </a:r>
            <a:r>
              <a:rPr lang="en-US" b="1" dirty="0">
                <a:solidFill>
                  <a:srgbClr val="6A3E3E"/>
                </a:solidFill>
                <a:latin typeface="Consolas"/>
              </a:rPr>
              <a:t>c</a:t>
            </a:r>
            <a:r>
              <a:rPr lang="en-US" b="1"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a:solidFill>
                  <a:srgbClr val="7F0055"/>
                </a:solidFill>
                <a:latin typeface="Consolas"/>
              </a:rPr>
              <a:t>char</a:t>
            </a:r>
            <a:r>
              <a:rPr lang="en-US" b="1" dirty="0">
                <a:solidFill>
                  <a:srgbClr val="000000"/>
                </a:solidFill>
                <a:latin typeface="Consolas"/>
              </a:rPr>
              <a:t>[20];</a:t>
            </a:r>
          </a:p>
          <a:p>
            <a:pPr lvl="2"/>
            <a:r>
              <a:rPr lang="en-US" dirty="0" err="1">
                <a:solidFill>
                  <a:srgbClr val="6A3E3E"/>
                </a:solidFill>
                <a:latin typeface="Consolas"/>
              </a:rPr>
              <a:t>br</a:t>
            </a:r>
            <a:r>
              <a:rPr lang="en-US" dirty="0" err="1">
                <a:solidFill>
                  <a:srgbClr val="000000"/>
                </a:solidFill>
                <a:latin typeface="Consolas"/>
              </a:rPr>
              <a:t>.skip</a:t>
            </a:r>
            <a:r>
              <a:rPr lang="en-US" dirty="0">
                <a:solidFill>
                  <a:srgbClr val="000000"/>
                </a:solidFill>
                <a:latin typeface="Consolas"/>
              </a:rPr>
              <a:t>(8);</a:t>
            </a:r>
          </a:p>
          <a:p>
            <a:pPr lvl="2"/>
            <a:r>
              <a:rPr lang="en-US" b="1" dirty="0">
                <a:solidFill>
                  <a:srgbClr val="7F0055"/>
                </a:solidFill>
                <a:latin typeface="Consolas"/>
              </a:rPr>
              <a:t>if</a:t>
            </a:r>
            <a:r>
              <a:rPr lang="en-US" b="1" dirty="0">
                <a:solidFill>
                  <a:srgbClr val="000000"/>
                </a:solidFill>
                <a:latin typeface="Consolas"/>
              </a:rPr>
              <a:t> (</a:t>
            </a:r>
            <a:r>
              <a:rPr lang="en-US" dirty="0" err="1">
                <a:solidFill>
                  <a:srgbClr val="6A3E3E"/>
                </a:solidFill>
                <a:latin typeface="Consolas"/>
              </a:rPr>
              <a:t>br</a:t>
            </a:r>
            <a:r>
              <a:rPr lang="en-US" dirty="0" err="1">
                <a:solidFill>
                  <a:srgbClr val="000000"/>
                </a:solidFill>
                <a:latin typeface="Consolas"/>
              </a:rPr>
              <a:t>.ready</a:t>
            </a:r>
            <a:r>
              <a:rPr lang="en-US" dirty="0">
                <a:solidFill>
                  <a:srgbClr val="000000"/>
                </a:solidFill>
                <a:latin typeface="Consolas"/>
              </a:rPr>
              <a:t>()) {</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err="1">
                <a:solidFill>
                  <a:srgbClr val="6A3E3E"/>
                </a:solidFill>
                <a:latin typeface="Consolas"/>
              </a:rPr>
              <a:t>br</a:t>
            </a:r>
            <a:r>
              <a:rPr lang="en-US" b="1" i="1" dirty="0" err="1">
                <a:solidFill>
                  <a:srgbClr val="000000"/>
                </a:solidFill>
                <a:latin typeface="Consolas"/>
              </a:rPr>
              <a:t>.readLine</a:t>
            </a:r>
            <a:r>
              <a:rPr lang="en-US" b="1" i="1" dirty="0">
                <a:solidFill>
                  <a:srgbClr val="000000"/>
                </a:solidFill>
                <a:latin typeface="Consolas"/>
              </a:rPr>
              <a:t>());</a:t>
            </a:r>
          </a:p>
          <a:p>
            <a:pPr lvl="3"/>
            <a:r>
              <a:rPr lang="en-US" dirty="0" err="1">
                <a:solidFill>
                  <a:srgbClr val="6A3E3E"/>
                </a:solidFill>
                <a:latin typeface="Consolas"/>
              </a:rPr>
              <a:t>br</a:t>
            </a:r>
            <a:r>
              <a:rPr lang="en-US" dirty="0" err="1">
                <a:solidFill>
                  <a:srgbClr val="000000"/>
                </a:solidFill>
                <a:latin typeface="Consolas"/>
              </a:rPr>
              <a:t>.read</a:t>
            </a:r>
            <a:r>
              <a:rPr lang="en-US" dirty="0">
                <a:solidFill>
                  <a:srgbClr val="000000"/>
                </a:solidFill>
                <a:latin typeface="Consolas"/>
              </a:rPr>
              <a:t>(</a:t>
            </a:r>
            <a:r>
              <a:rPr lang="en-US" dirty="0">
                <a:solidFill>
                  <a:srgbClr val="6A3E3E"/>
                </a:solidFill>
                <a:latin typeface="Consolas"/>
              </a:rPr>
              <a:t>c</a:t>
            </a:r>
            <a:r>
              <a:rPr lang="en-US" dirty="0">
                <a:solidFill>
                  <a:srgbClr val="000000"/>
                </a:solidFill>
                <a:latin typeface="Consolas"/>
              </a:rPr>
              <a:t>);</a:t>
            </a:r>
          </a:p>
          <a:p>
            <a:pPr lvl="3"/>
            <a:r>
              <a:rPr lang="nn-NO" b="1" dirty="0">
                <a:solidFill>
                  <a:srgbClr val="7F0055"/>
                </a:solidFill>
                <a:latin typeface="Consolas"/>
              </a:rPr>
              <a:t>for</a:t>
            </a:r>
            <a:r>
              <a:rPr lang="nn-NO" b="1" dirty="0">
                <a:solidFill>
                  <a:srgbClr val="000000"/>
                </a:solidFill>
                <a:latin typeface="Consolas"/>
              </a:rPr>
              <a:t> (</a:t>
            </a:r>
            <a:r>
              <a:rPr lang="nn-NO" b="1" dirty="0">
                <a:solidFill>
                  <a:srgbClr val="7F0055"/>
                </a:solidFill>
                <a:latin typeface="Consolas"/>
              </a:rPr>
              <a:t>int</a:t>
            </a:r>
            <a:r>
              <a:rPr lang="nn-NO" b="1" dirty="0">
                <a:solidFill>
                  <a:srgbClr val="000000"/>
                </a:solidFill>
                <a:latin typeface="Consolas"/>
              </a:rPr>
              <a:t> </a:t>
            </a:r>
            <a:r>
              <a:rPr lang="nn-NO" b="1" dirty="0">
                <a:solidFill>
                  <a:srgbClr val="6A3E3E"/>
                </a:solidFill>
                <a:latin typeface="Consolas"/>
              </a:rPr>
              <a:t>i</a:t>
            </a:r>
            <a:r>
              <a:rPr lang="nn-NO" b="1" dirty="0">
                <a:solidFill>
                  <a:srgbClr val="000000"/>
                </a:solidFill>
                <a:latin typeface="Consolas"/>
              </a:rPr>
              <a:t> = 0; </a:t>
            </a:r>
            <a:r>
              <a:rPr lang="nn-NO" b="1" dirty="0">
                <a:solidFill>
                  <a:srgbClr val="6A3E3E"/>
                </a:solidFill>
                <a:latin typeface="Consolas"/>
              </a:rPr>
              <a:t>i</a:t>
            </a:r>
            <a:r>
              <a:rPr lang="nn-NO" b="1" dirty="0">
                <a:solidFill>
                  <a:srgbClr val="000000"/>
                </a:solidFill>
                <a:latin typeface="Consolas"/>
              </a:rPr>
              <a:t> &lt; 20; </a:t>
            </a:r>
            <a:r>
              <a:rPr lang="nn-NO" b="1" dirty="0">
                <a:solidFill>
                  <a:srgbClr val="6A3E3E"/>
                </a:solidFill>
                <a:latin typeface="Consolas"/>
              </a:rPr>
              <a:t>i</a:t>
            </a:r>
            <a:r>
              <a:rPr lang="nn-NO" b="1" dirty="0">
                <a:solidFill>
                  <a:srgbClr val="000000"/>
                </a:solidFill>
                <a:latin typeface="Consolas"/>
              </a:rPr>
              <a:t>++) {</a:t>
            </a:r>
          </a:p>
          <a:p>
            <a:pPr lvl="3"/>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a:t>
            </a:r>
            <a:r>
              <a:rPr lang="en-US" b="1" i="1" dirty="0">
                <a:solidFill>
                  <a:srgbClr val="000000"/>
                </a:solidFill>
                <a:latin typeface="Consolas"/>
              </a:rPr>
              <a:t>(</a:t>
            </a:r>
            <a:r>
              <a:rPr lang="en-US" b="1" i="1" dirty="0">
                <a:solidFill>
                  <a:srgbClr val="6A3E3E"/>
                </a:solidFill>
                <a:latin typeface="Consolas"/>
              </a:rPr>
              <a:t>c</a:t>
            </a:r>
            <a:r>
              <a:rPr lang="en-US" b="1" i="1" dirty="0">
                <a:solidFill>
                  <a:srgbClr val="000000"/>
                </a:solidFill>
                <a:latin typeface="Consolas"/>
              </a:rPr>
              <a:t>[</a:t>
            </a:r>
            <a:r>
              <a:rPr lang="en-US" b="1" i="1" dirty="0" err="1">
                <a:solidFill>
                  <a:srgbClr val="6A3E3E"/>
                </a:solidFill>
                <a:latin typeface="Consolas"/>
              </a:rPr>
              <a:t>i</a:t>
            </a:r>
            <a:r>
              <a:rPr lang="en-US" b="1" i="1" dirty="0">
                <a:solidFill>
                  <a:srgbClr val="000000"/>
                </a:solidFill>
                <a:latin typeface="Consolas"/>
              </a:rPr>
              <a:t>]);</a:t>
            </a:r>
          </a:p>
          <a:p>
            <a:pPr lvl="3"/>
            <a:r>
              <a:rPr lang="en-US"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Tree>
    <p:extLst>
      <p:ext uri="{BB962C8B-B14F-4D97-AF65-F5344CB8AC3E}">
        <p14:creationId xmlns:p14="http://schemas.microsoft.com/office/powerpoint/2010/main" val="393427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13" end="13"/>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chirag.sakhrani@darshan.ac.in</a:t>
            </a:r>
            <a:endParaRPr lang="en-US" dirty="0"/>
          </a:p>
        </p:txBody>
      </p:sp>
      <p:sp>
        <p:nvSpPr>
          <p:cNvPr id="3" name="Text Placeholder 2"/>
          <p:cNvSpPr>
            <a:spLocks noGrp="1"/>
          </p:cNvSpPr>
          <p:nvPr>
            <p:ph type="body" sz="quarter" idx="12"/>
          </p:nvPr>
        </p:nvSpPr>
        <p:spPr/>
        <p:txBody>
          <a:bodyPr/>
          <a:lstStyle/>
          <a:p>
            <a:r>
              <a:rPr lang="en-IN" dirty="0"/>
              <a:t>8401191184</a:t>
            </a:r>
            <a:endParaRPr lang="en-US" dirty="0"/>
          </a:p>
        </p:txBody>
      </p:sp>
      <p:sp>
        <p:nvSpPr>
          <p:cNvPr id="4" name="Text Placeholder 3"/>
          <p:cNvSpPr>
            <a:spLocks noGrp="1"/>
          </p:cNvSpPr>
          <p:nvPr>
            <p:ph type="body" sz="quarter" idx="13"/>
          </p:nvPr>
        </p:nvSpPr>
        <p:spPr/>
        <p:txBody>
          <a:bodyPr/>
          <a:lstStyle/>
          <a:p>
            <a:r>
              <a:rPr lang="en-US" dirty="0"/>
              <a:t>Department of Computer Applications</a:t>
            </a:r>
          </a:p>
        </p:txBody>
      </p:sp>
      <p:sp>
        <p:nvSpPr>
          <p:cNvPr id="5" name="Text Placeholder 4"/>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6" name="Text Placeholder 5"/>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0" name="Picture Placeholder 9"/>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121899175"/>
      </p:ext>
    </p:extLst>
  </p:cSld>
  <p:clrMapOvr>
    <a:masterClrMapping/>
  </p:clrMapOvr>
  <p:transition/>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6769</TotalTime>
  <Words>4070</Words>
  <Application>Microsoft Office PowerPoint</Application>
  <PresentationFormat>Widescreen</PresentationFormat>
  <Paragraphs>681</Paragraphs>
  <Slides>45</Slides>
  <Notes>0</Notes>
  <HiddenSlides>1</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45</vt:i4>
      </vt:variant>
    </vt:vector>
  </HeadingPairs>
  <TitlesOfParts>
    <vt:vector size="58" baseType="lpstr">
      <vt:lpstr>Arial</vt:lpstr>
      <vt:lpstr>Cambria</vt:lpstr>
      <vt:lpstr>Wingdings 3</vt:lpstr>
      <vt:lpstr>Wingdings 2</vt:lpstr>
      <vt:lpstr>Segoe UI Black</vt:lpstr>
      <vt:lpstr>Roboto Condensed</vt:lpstr>
      <vt:lpstr>Times New Roman</vt:lpstr>
      <vt:lpstr>Wingdings</vt:lpstr>
      <vt:lpstr>Roboto Condensed Light</vt:lpstr>
      <vt:lpstr>Calibri</vt:lpstr>
      <vt:lpstr>Consolas</vt:lpstr>
      <vt:lpstr>Office Theme</vt:lpstr>
      <vt:lpstr>1_Office Theme</vt:lpstr>
      <vt:lpstr>Unit-05  Package, Exception Handling and IO Programming</vt:lpstr>
      <vt:lpstr>PowerPoint Presentation</vt:lpstr>
      <vt:lpstr>Package</vt:lpstr>
      <vt:lpstr>Creating a package</vt:lpstr>
      <vt:lpstr>Accessing a package</vt:lpstr>
      <vt:lpstr>Setting CLASSPATH</vt:lpstr>
      <vt:lpstr>Access specifiers</vt:lpstr>
      <vt:lpstr>Access specifiers</vt:lpstr>
      <vt:lpstr>Exceptions</vt:lpstr>
      <vt:lpstr>Exception handling using try and catch block</vt:lpstr>
      <vt:lpstr>Exception handling using try and catch block</vt:lpstr>
      <vt:lpstr>Exception handling using try and catch block</vt:lpstr>
      <vt:lpstr>Using try and catch</vt:lpstr>
      <vt:lpstr>Nested try statements</vt:lpstr>
      <vt:lpstr>Types of Exceptions</vt:lpstr>
      <vt:lpstr>The Exception Class Hierarchy</vt:lpstr>
      <vt:lpstr>The Exception Class Hierarchy</vt:lpstr>
      <vt:lpstr>Java’s Inbuilt Unchecked Exceptions</vt:lpstr>
      <vt:lpstr>Java’s Inbuilt Checked Exceptions</vt:lpstr>
      <vt:lpstr>The finally statement</vt:lpstr>
      <vt:lpstr>throw statement</vt:lpstr>
      <vt:lpstr>Throw (Example)</vt:lpstr>
      <vt:lpstr>throws statement</vt:lpstr>
      <vt:lpstr>Create Your Own Exception</vt:lpstr>
      <vt:lpstr>Methods of Exception class</vt:lpstr>
      <vt:lpstr>Custom Exception (Example)</vt:lpstr>
      <vt:lpstr>File class</vt:lpstr>
      <vt:lpstr>Methods of File Class</vt:lpstr>
      <vt:lpstr>Methods of File Class (Cont.)</vt:lpstr>
      <vt:lpstr>Java’s Inbuilt Unchecked Exceptions</vt:lpstr>
      <vt:lpstr>File Class Example</vt:lpstr>
      <vt:lpstr>Stream</vt:lpstr>
      <vt:lpstr>Byte Streams</vt:lpstr>
      <vt:lpstr>FileOutputStream</vt:lpstr>
      <vt:lpstr>FileOutputStream Example</vt:lpstr>
      <vt:lpstr>FileInputStream</vt:lpstr>
      <vt:lpstr>FileInputStream Example</vt:lpstr>
      <vt:lpstr>Example of Byte Streams</vt:lpstr>
      <vt:lpstr>Character Streams</vt:lpstr>
      <vt:lpstr>Reader</vt:lpstr>
      <vt:lpstr>Writer</vt:lpstr>
      <vt:lpstr>BufferedReader</vt:lpstr>
      <vt:lpstr>BufferedReader (Methods)</vt:lpstr>
      <vt:lpstr>BufferedReader –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1134</cp:revision>
  <dcterms:created xsi:type="dcterms:W3CDTF">2020-05-01T05:09:15Z</dcterms:created>
  <dcterms:modified xsi:type="dcterms:W3CDTF">2025-09-15T16:10:24Z</dcterms:modified>
</cp:coreProperties>
</file>